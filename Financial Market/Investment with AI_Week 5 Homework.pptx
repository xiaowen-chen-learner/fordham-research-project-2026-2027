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7" roundtripDataSignature="AMtx7mh6gGgz8RFONRtv1O4nkDdCe/kb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7C04448-9542-46E3-BF30-04DBAA183EC1}">
  <a:tblStyle styleId="{67C04448-9542-46E3-BF30-04DBAA183EC1}"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73E05E1D-DC12-4CE8-90A4-E3FEB1B50801}"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78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 name="Google Shape;19;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 name="Google Shape;26;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LBNL, 2024 United States Data Center Energy Usage Report (https://newscenter.lbl.gov/2025/01/15/berkeley-lab-report-evaluates-increase-in-electricity-demand-from-data-centers/); RTO Insider, PJM 2028/29 auction (https://www.rtoinsider.com/136577-pjm-capacity-auction-clears-325-cap-short-reliability-requirement/).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 name="Google Shape;40;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 name="Google Shape;48;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CLAUDE_WEEK_5_PROJECT_INSTRUCTIONS §3 (cohorts); REDTEAM_Nuclear_Equity_Criteria_Review_v3 (extended screen, Solstice); US DOE (waivers for Russian enriched uranium end no later than Jan 1, 2028).</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Kazatomprom 1H2026 results (spot US$85.98/lb; realized US$67.88/lb); SHORT_Mandate_Research_Matrix (Jared Mount, signed off Sep 26); LONG_Mandate_Research_Matrix_Xiaowen_Chen_2026-09-27 (signed off Sep 27); COUNCIL_REVIEW_Alternative_Claude_2026-09-27 (Watchlist adopted by Michael Kiernan as interim chair, Sep 27, then reviewed and signed off by Shawyan Tabari as human chair, Sep 28, assisted by David Vargas).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CLAUDE_WEEK_5_PROJECT_INSTRUCTIONS, Sections 2, 4 and 5; Week 5 Team Project Guide in Claude; TEAM_PROJECT_WEEK_5_MEMORY.</a:t>
            </a:r>
            <a:endParaRPr/>
          </a:p>
        </p:txBody>
      </p:sp>
      <p:sp>
        <p:nvSpPr>
          <p:cNvPr id="102" name="Google Shape;10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135" name="Google Shape;135;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Ben Beauchamp's evaluation criteria (revised Sep 25, 2026); REDTEAM_Nuclear_Equity_Criteria_Review_v3.</a:t>
            </a:r>
            <a:endParaRPr/>
          </a:p>
        </p:txBody>
      </p:sp>
      <p:sp>
        <p:nvSpPr>
          <p:cNvPr id="142" name="Google Shape;14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Ben Beauchamp's evaluation criteria; REDTEAM_Nuclear_Equity_Criteria_Review_v3.</a:t>
            </a:r>
            <a:endParaRPr/>
          </a:p>
        </p:txBody>
      </p:sp>
      <p:sp>
        <p:nvSpPr>
          <p:cNvPr id="179" name="Google Shape;179;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LONG_Mandate_Research_Matrix_Xiaowen_Chen_2026-09-27; Week 4 Cameco analysis (benchmark).</a:t>
            </a:r>
            <a:endParaRPr/>
          </a:p>
        </p:txBody>
      </p:sp>
      <p:sp>
        <p:nvSpPr>
          <p:cNvPr id="228" name="Google Shape;22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SHORT_Mandate_Research_Matrix (Jared Mount).</a:t>
            </a:r>
            <a:endParaRPr/>
          </a:p>
        </p:txBody>
      </p:sp>
      <p:sp>
        <p:nvSpPr>
          <p:cNvPr id="269" name="Google Shape;269;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ALT_Vertical_Mandate_Research_Matrix; CLAUDE_WEEK_5_PROJECT_INSTRUCTIONS §3B and §6.</a:t>
            </a:r>
            <a:endParaRPr/>
          </a:p>
        </p:txBody>
      </p:sp>
      <p:sp>
        <p:nvSpPr>
          <p:cNvPr id="324" name="Google Shape;32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8" name="Google Shape;378;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SHORT_Mandate_Research_Matrix (signed off Sep 26); LONG_Mandate_Research_Matrix_Xiaowen_Chen_2026-09-27 (signed off Sep 27); ALT_Vertical_Mandate_Research_Matrix_DRAFT_Claude_2026-09-26.</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386" name="Google Shape;386;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Scores: SHORT_Mandate_Research_Matrix, signed off by Jared Mount (human chair), Sep 26, 2026, then reconciled with the Long matrix on Sep 28, 2026. Market confirmation is the measured 12-1 month return against the seven-name average (Yahoo Finance closes). Other sources: SEC 8-K filings; FINRA short interest via equibles.com; companiesmarketcap.com (Interactive Brokers borrow data).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0" name="Google Shape;40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Detail: SHORT_Mandate_Research_Matrix · Energy Fuels 8-K, Jun 26, 2026 (Items 1.01, 8.01) · Energy Fuels press release, Jun 23, 2026</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6" name="Google Shape;41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Prices as of Sep 25, 2026 close (stockanalysis.com). Deal terms: Energy Fuels 8-K, Jun 23–26, 2026.</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3" name="Google Shape;443;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Factor 6 detail: SHORT_Mandate_Research_Matrix, Section 4 · FINRA short interest via equibles.com, Sep 15, 2026 settlement · Interactive Brokers borrow data via companiesmarketcap.com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9" name="Google Shape;45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Detail: COUNCIL_REVIEW_Short_Jared_Mount_2026-09-26 (03_Deliverables_and_Memos)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475" name="Google Shape;475;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2" name="Google Shape;48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0" name="Google Shape;49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9" name="Google Shape;49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1" name="Google Shape;511;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Paladin Energy Investor Day, Sep 2, 2026 (https://www.paladinenergy.com/wp-content/uploads/2026/09/Paladin-Energy-Investor-Day-Presentation.pdf) · Paladin FY2026 MD&amp;A (Aug 26, 2026) and FY2027 guidance (Jul 22, 2026) · LONG_Mandate_Research_Matrix_Xiaowen_Chen_2026-09-27.</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1" name="Google Shape;521;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3" name="Google Shape;573;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Detail: LONG_Mandate_Research_Matrix_Xiaowen_Chen_2026-09-27 · Paladin FY2026 MD&amp;A (Aug 26, 2026) and FY2027 guidance (Jul 22, 2026) · consensus: MarketScreener, FNArena (Sep 2026) · Ord Minnett forecast (FY28–30 at 5.7 Mlb): source to be added by Xiaowen Chen.</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5" name="Google Shape;585;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2" name="Google Shape;602;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619" name="Google Shape;61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hfca5d1e675fc023_0_0:notes"/>
          <p:cNvSpPr>
            <a:spLocks noGrp="1" noRot="1" noChangeAspect="1"/>
          </p:cNvSpPr>
          <p:nvPr>
            <p:ph type="sldImg" idx="2"/>
          </p:nvPr>
        </p:nvSpPr>
        <p:spPr>
          <a:xfrm>
            <a:off x="-500063" y="0"/>
            <a:ext cx="40005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6" name="Google Shape;626;hfca5d1e675fc023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Peter Lynch, One Up on Wall Street; Thornton L. O'glove, Quality of Earnings; Benjamin Graham, Security Analysis; Nassim Taleb, The Black Swan; Morgan Housel, The Psychology of Money; Tim Koller et al., Valuation.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4" name="Google Shape;634;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the six books on slide 30; the views are the team's application of each book.</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3" name="Google Shape;643;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IC Memo §4.3 and §6; Paladin FY2027 guidance (Jul 22, 2026).</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3" name="Google Shape;653;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Detail: COUNCIL_REVIEW_Long_Xiaowen_Chen_2026-09-27 (https://docs.google.com/document/d/1Jpmu-nybWhvZJ8khx10em6AJOMqp98pT8dC_yFiGVW0/edit) (Rev. 3) · LONG_Mandate_Research_Matrix_Xiaowen_Chen_2026-09-27 (https://docs.google.com/document/d/1K7mopTixxJ2JqoyJ6qdVTvjMPMTeSOO_fptjoHgXqxE/edit) (sign-off)</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670" name="Google Shape;670;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7" name="Google Shape;677;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Rules: CLAUDE_WEEK_5_PROJECT_INSTRUCTIONS (https://docs.google.com/document/d/1ObDdAqX1uep6v_xQuRnUmeMMtNivBAD3DO5MCyAZP2c/edit) §3B, §6 · Sprott (https://sprott.com/investment-strategies/physical-commodity-funds/uranium/) · BWXT FY2025 10-K (https://www.sec.gov/Archives/edgar/data/1486957/000148695726000007/bwxt-20251231.htm) · CEG Q2 2026 (https://www.constellationenergy.com/news/2026/08/constellation-reports-second-quarter-2026-results.html) · Centrus Q2 2026 (https://www.prnewswire.com/news-releases/centrus-reports-second-quarter-2026-results-302843983.html) · NuScale Q2 2026 (https://www.nuscalepower.com/press-releases/2026/nuscale-power-reports-second-quarter-2026-results) · Oklo 10-Q (https://www.sec.gov/Archives/edgar/data/1849056/000162828026054571/oklo-20260630.htm), Meta agreement (https://oklo.com/newsroom/news-details/2026/Oklo-Meta-Announce-Agreement-in-Support-of-1-2-GW-Nuclear-Energy-Development-in-Southern-Ohio/default.aspx) · Estimates: ALT draft §1 (https://docs.google.com/document/d/1_QWehVyT3AkP6-klJpIgFUbes-qFehNv8MG1QzGN4lg/edit)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5:notes"/>
          <p:cNvSpPr>
            <a:spLocks noGrp="1" noRot="1" noChangeAspect="1"/>
          </p:cNvSpPr>
          <p:nvPr>
            <p:ph type="sldImg" idx="2"/>
          </p:nvPr>
        </p:nvSpPr>
        <p:spPr>
          <a:xfrm>
            <a:off x="-500063" y="0"/>
            <a:ext cx="40005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8" name="Google Shape;688;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BWXT Q2 2026 release (https://www.businesswire.com/news/home/20260803655700/en/BWX-Technologies-Reports-Second-Quarter-2026-Results) · Sprott SPUT page (https://sprott.com/investment-strategies/physical-commodity-funds/uranium/) · Cameco price indicators (https://www.cameco.com/invest/markets/uranium-price) · CEG (https://www.constellationenergy.com/news/2026/08/constellation-reports-second-quarter-2026-results.html), LEU (https://www.prnewswire.com/news-releases/centrus-reports-second-quarter-2026-results-302843983.html), SMR (https://www.nuscalepower.com/press-releases/2026/nuscale-power-reports-second-quarter-2026-results) Q2 2026 results · OKLO 10-Q (https://www.sec.gov/Archives/edgar/data/1849056/000162828026054571/oklo-20260630.htm) · prices: stockanalysis.com (https://stockanalysis.com/stocks/bwxt/), Sep 25, 2026 · Scores: ALT_Vertical_Mandate_Research_Matrix_DRAFT_Claude_2026-09-26 (https://docs.google.com/document/d/1_QWehVyT3AkP6-klJpIgFUbes-qFehNv8MG1QzGN4lg/edit) (Claude inference) · Naval reactors: BWXT FY2025 10-K, Item 1 (Government Operations “manufactures naval nuclear reactors … for use in submarines and aircraft carriers”) (https://www.sec.gov/Archives/edgar/data/1486957/000148695726000007/bwxt-20251231.htm); “sole manufacturer of naval nuclear reactors and fuel for US submarines and aircraft carriers”: BWXT Nuclear Operations Group President, BWXT contract announcement (Q4 2021, reported by Naval Technology and NEI Magazine), and BWXT’s corporate profile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7" name="Google Shape;69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Sprott SPUT page (https://sprott.com/investment-strategies/physical-commodity-funds/uranium/), prospectus supplement (https://sprott.com/media/eg0onhs4/sput-prospectus-supplement.pdf) · Cameco prices (https://www.cameco.com/invest/markets/uranium-price) · BWXT Q2 2026 release (https://www.businesswire.com/news/home/20260803655700/en/BWX-Technologies-Reports-Second-Quarter-2026-Results), Q2 call (https://www.fool.com/earnings/call-transcripts/2026/08/10/bwxt-bwxt-q2-2026-earnings-call-transcript/) · Janus selection (https://investors.bwxt.com/news-releases/news-release-details/us-army-chooses-bwxt-advanced-nuclear-reactor-banr-janus-program) · returns: stockanalysis.com (https://stockanalysis.com/) (Sep 25, 2026) · Scores: Claude judgment, ALT draft §2–3 (https://docs.google.com/document/d/1_QWehVyT3AkP6-klJpIgFUbes-qFehNv8MG1QzGN4lg/edit) · Eligibility proxy: BWXT FY2025 Form 10-K, segment revenues (https://www.sec.gov/Archives/edgar/data/1486957/000148695726000007/bwxt-20251231.htm) · SPUT price US$19.00 and NAV US$21.52 (−11.72%), as of Sep 25, 2026: Sprott SPUT page · Backlog $8.4B, +40% YoY: BWXT Q2 2026 earnings call, Aug 3, 2026</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5" name="Google Shape;705;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CEG Q2 2026 results (https://www.constellationenergy.com/news/2026/08/constellation-reports-second-quarter-2026-results.html), Calpine closing (https://www.constellationenergy.com/news/2026/01/constellation-completes-calpine-transaction-powering-americas-clean-energy-future.html) · Centrus Q2 2026 results (https://www.prnewswire.com/news-releases/centrus-reports-second-quarter-2026-results-302843983.html), Sep 2026 offering (https://www.prnewswire.com/news-releases/centrus-announces-pricing-of-500-million-underwritten-public-offering-of-class-a-common-stock-and-warrants-302874493.html) · prices: stockanalysis.com (https://stockanalysis.com/) (Sep 25, 2026) · Scores: Claude judgment, ALT draft §1–2 (https://docs.google.com/document/d/1_QWehVyT3AkP6-klJpIgFUbes-qFehNv8MG1QzGN4lg/edit)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3" name="Google Shape;713;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NuScale Q2 2026 results (https://www.nuscalepower.com/press-releases/2026/nuscale-power-reports-second-quarter-2026-results), UBS downgrade (https://www.investing.com/news/stock-market-news/nuscale-power-stock-falls-after-ubs-downgrade-to-sell-93CH-4898010) · Oklo 10-Q (https://www.sec.gov/Archives/edgar/data/1849056/000162828026054571/oklo-20260630.htm), Groves criticality (https://oklo.com/newsroom/news-details/2026/Oklos-Groves-Reactor-Achieves-First-Criticality-in-Under-a-Year/default.aspx) · prices: stockanalysis.com (https://stockanalysis.com/) (Sep 25, 2026) · Scores: Claude judgment, ALT draft §2, §4 (https://docs.google.com/document/d/1_QWehVyT3AkP6-klJpIgFUbes-qFehNv8MG1QzGN4lg/edit)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7:notes"/>
          <p:cNvSpPr>
            <a:spLocks noGrp="1" noRot="1" noChangeAspect="1"/>
          </p:cNvSpPr>
          <p:nvPr>
            <p:ph type="sldImg" idx="2"/>
          </p:nvPr>
        </p:nvSpPr>
        <p:spPr>
          <a:xfrm>
            <a:off x="-500063" y="0"/>
            <a:ext cx="40005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1" name="Google Shape;721;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BWXT Q2 2026 release (Aug 3) (https://www.businesswire.com/news/home/20260803655700/en/BWX-Technologies-Reports-Second-Quarter-2026-Results) · Q2 earnings call (https://www.fool.com/earnings/call-transcripts/2026/08/10/bwxt-bwxt-q2-2026-earnings-call-transcript/) (book-to-bill) · stockanalysis.com (https://stockanalysis.com/) (Sep 25, 2026 close) · Target: Claude calc., ALT draft (https://docs.google.com/document/d/1_QWehVyT3AkP6-klJpIgFUbes-qFehNv8MG1QzGN4lg/edit) · Investor Day date: BWXT press release, Aug 31, 2026, “BWX Technologies to Hold Investor Day on September 29, 2026” (https://investors.bwxt.com/news-releases/news-release-details/bwx-technologies-hold-investor-day-september-29-2026) · Guidance raised twice: BWXT Q1 2026 release, May 4, 2026 (“we are raising our 2026 financial guidance”) and Q2 2026 release, Aug 3, 2026 (https://investors.bwxt.com/news-releases/news-release-details/bwx-technologies-reports-second-quarter-2026-results) · Backlog $8.4B (+40% YoY) and trailing-12-month book-to-bill 1.7x: BWXT Q2 2026 earnings call, Aug 3, 2026 · Share reaction after Q2 (secondary, not company-sourced): Investing.com Q2 2026 call transcript, “EPS beat, shares slip after hours”; TipRanks, Q2 non-GAAP EPS $1.07 vs. $1.04 consensus · 52-week drawdown: $138.47 ÷ $241.82 − 1 = −42.7%</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0" name="Google Shape;74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Prices: stockanalysis.com (https://stockanalysis.com/) (Sep 25, 2026 close; 52-week high) · Street targets: MarketBeat (https://www.marketbeat.com/stocks/NYSE/BWXT/forecast/) (stockanalysis shows $222; sources differ) · Stop and target: Claude calc., ALT draft §7 (https://docs.google.com/document/d/1_QWehVyT3AkP6-klJpIgFUbes-qFehNv8MG1QzGN4lg/edit) · Guidance inputs: BWXT Q2 2026 release (https://www.businesswire.com/news/home/20260803655700/en/BWX-Technologies-Reports-Second-Quarter-2026-Results)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0" name="Google Shape;77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Implied prices and multiples: Claude calc. from BWXT Q2 2026 guidance (https://www.businesswire.com/news/home/20260803655700/en/BWX-Technologies-Reports-Second-Quarter-2026-Results) ($667M midpoint), net debt $1.41B, 91.62M shares · Investor Day notice, BWXT press release Aug 31, 2026 (https://www.businesswire.com/news/home/20260831075127/en/BWX-Technologies-to-Hold-Investor-Day-on-September-29-2026) · Street target: MarketBeat (https://www.marketbeat.com/stocks/NYSE/BWXT/forecast/) · Cases: ALT draft §6–7, not forecasts (https://docs.google.com/document/d/1_QWehVyT3AkP6-klJpIgFUbes-qFehNv8MG1QzGN4lg/edit) · Investor Day, BWXT IR page (https://investors.bwxt.com/news-releases/news-release-details/bwx-technologies-hold-investor-day-september-29-2026) · Imagination multiple (40x): our assumption, not sourced · U.S. government = ~68% of FY2025 consolidated revenue: BWXT FY2025 10-K · Army Janus selection of BWXT’s BANR microreactor for Fort Campbell: BWXT press release, Aug 26, 2026 (https://investors.bwxt.com/news-releases/news-release-details/us-army-chooses-bwxt-advanced-nuclear-reactor-banr-janus-program) · Data-center demand for small reactors: our scenario assumption, not a sourced order</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0" name="Google Shape;780;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Detail: COUNCIL_REVIEW_Alternative_Claude_2026-09-27 (https://docs.google.com/document/d/17ilrGzu8esUwSSxhzQ1fYSHRaIFM6FA9rejaYd2nVAA/edit) (03_Deliverables_and_Memos)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9" name="Google Shape;799;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(from the GPT Sol 6.0 red team): Oklo June 2026 Form 10-Q: the basis for my findings about the disclosed Meta prepayment agreement and engineering-services revenue. SEC filing. [sec.gov], [bing.com] | BWXT 2025 Form 10-K: the basis for checking how its business and segments are described, rather than accepting the deck’s estimated nuclear-revenue percentage as a disclosed fact. SEC filing. [sec.gov] | Sprott Physical Uranium Trust product page: the basis for identifying SPUT as a physical-uranium trust and checking its stated NAV and market price. Sprott page. [sprott.com]</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815" name="Google Shape;815;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60:notes"/>
          <p:cNvSpPr>
            <a:spLocks noGrp="1" noRot="1" noChangeAspect="1"/>
          </p:cNvSpPr>
          <p:nvPr>
            <p:ph type="sldImg" idx="2"/>
          </p:nvPr>
        </p:nvSpPr>
        <p:spPr>
          <a:xfrm>
            <a:off x="-500063" y="0"/>
            <a:ext cx="40005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2" name="Google Shape;822;p6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COUNCIL_REVIEW_Short_Jared_Mount_2026-09-26; COUNCIL_REVIEW_Long_Xiaowen_Chen_2026-09-27 (Rev. 3); COUNCIL_REVIEW_Alternative_Claude_2026-09-27; REDTEAM By GPT 6.0 Sol on Claude Opus 5.5 Alternate Investment Deck.</a:t>
            </a:r>
            <a:endParaRPr/>
          </a:p>
          <a:p>
            <a:pPr marL="457200" marR="0" lvl="0" indent="-228600" algn="l" rtl="0">
              <a:lnSpc>
                <a:spcPct val="100000"/>
              </a:lnSpc>
              <a:spcBef>
                <a:spcPts val="0"/>
              </a:spcBef>
              <a:spcAft>
                <a:spcPts val="0"/>
              </a:spcAft>
              <a:buClr>
                <a:srgbClr val="000000"/>
              </a:buClr>
              <a:buSzPts val="1100"/>
              <a:buFont typeface="Arial"/>
              <a:buNone/>
            </a:pPr>
            <a:endParaRPr/>
          </a:p>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Short: COUNCIL_REVIEW_Short_Jared_Mount_2026-09-26 · Long: COUNCIL_REVIEW_Long_Xiaowen_Chen_2026-09-27 (https://docs.google.com/document/d/1Jpmu-nybWhvZJ8khx10em6AJOMqp98pT8dC_yFiGVW0/edit) (Rev. 3) · Alternative: COUNCIL_REVIEW_Alternative_Claude_2026-09-27 · GPT Sol 6.0 red team (https://docs.google.com/document/d/1d_Ut-bwI0bhvkNn3_bmvZ8VyCKYZSsJuDNod2IVON30/edit)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h63c2feeac685873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832" name="Google Shape;832;h63c2feeac6858736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p6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9" name="Google Shape;839;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Tech Times, Aug 12, 2026 https://www.techtimes.com/articles/324160/20260812/nvidia-ships-co-packaged-optics-switch-ecosystem-testing-gap-widens.htm; IEA, Energy and AI https://www.iea.org/reports/energy-and-ai/executive-summary; pv magazine, May 7, 2026 https://www.pv-magazine.com/2026/05/07/large-scale-heat-pumps-utilize-excess-heat-from-microsoft-data-centers-in-finland/; Rice University https://news.rice.edu/news/2025/rice-researchers-turn-wasted-data-center-heat-clean-power; Utility Dive, Jan 27, 2025 https://www.utilitydive.com/news/ipp-stocks-reel-as-low-cost-deepseek-chills-ai-load-growth-thesis/738482/</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0" name="Google Shape;850;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Helion, Orion https://www.helionenergy.com/orion; GeekWire, Sep 15, 2026 https://www.geekwire.com/2026/helion-funding-round-grows-to-500m-amid-uncertainty-over-fusion-startups-microsoft-timeline/; CFS–Google https://cfs.energy/news-and-media/google-and-commonwealth-fusion-systems-sign-strategic-partnership/; DCD, Mar 24, 2026 https://www.datacenterdynamics.com/en/news/openai-in-talks-to-purchase-energy-from-nuclear-fusion-startup-helion-energy-report/; DCD (CFS $863M) https://www.datacenterdynamics.com/en/news/commonwealth-fusion-systems-raises-863m-in-series-b2-funding-with-backing-from-nvidia/; LBNL 2024 US Data Center Energy Usage Report.</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1" name="Google Shape;861;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DOJ, May 1, 2025 https://www.justice.gov/opa/pr/justice-department-files-complaints-against-hawaii-michigan-new-york-and-vermont-over; DOJ (New York superfund blocked) https://www.justice.gov/opa/pr/new-york-judge-blocks-state-new-yorks-unconstitutional-climate-superfund-act; Stock Titan, Jun 26, 2026 https://www.stocktitan.net/news/CEG/constellation-seeks-license-renewals-for-two-new-york-units-through-czosgvadafro.html</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2" name="Google Shape;872;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RTO Insider (PJM 2028/29 auction); LBNL 2024 US Data Center Energy Usage Report; Constellation–Microsoft Crane agreement (Sep 2024).</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3" name="Google Shape;883;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the four futures on slides 48–51 (sources in their notes).</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893" name="Google Shape;893;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0" name="Google Shape;90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team deck slides 13 (scores), 18 (UUUU plan), 21 (Long ranking), 26 (Paladin plan) and 33 (Long Council) · Paladin Energy Investor Day, Sep 2, 2026 (https://www.paladinenergy.com/wp-content/uploads/2026/09/Paladin-Energy-Investor-Day-Presentation.pdf) · Energy Fuels, definitive agreement to acquire VAC, Jun 23, 2026 (https://investors.energyfuels.com/2026-06-23-Energy-Fuels-Announces-Definitive-Agreement-to-Acquire-VAC-for-1-9-Billion-Equity-Value).</a:t>
            </a:r>
            <a:endParaRPr/>
          </a:p>
        </p:txBody>
      </p:sp>
      <p:sp>
        <p:nvSpPr>
          <p:cNvPr id="901" name="Google Shape;901;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4" name="Google Shape;93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Paladin Energy Investor Day, Sep 2, 2026 (https://www.paladinenergy.com/wp-content/uploads/2026/09/Paladin-Energy-Investor-Day-Presentation.pdf) · slide 26 (entry, target, review level, size) · LONG_Mandate_Research_Matrix_Xiaowen_Chen_2026-09-27.</a:t>
            </a:r>
            <a:endParaRPr/>
          </a:p>
        </p:txBody>
      </p:sp>
      <p:sp>
        <p:nvSpPr>
          <p:cNvPr id="935" name="Google Shape;935;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0" name="Google Shape;98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Energy Fuels, definitive agreement to acquire VAC, Jun 23, 2026 (https://investors.energyfuels.com/2026-06-23-Energy-Fuels-Announces-Definitive-Agreement-to-Acquire-VAC-for-1-9-Billion-Equity-Value) · SEC-filed supplementary scheme information, preliminary pro-forma adjustments (https://www.sec.gov/Archives/edgar/data/1385849/000106299326003884/exhibit99-1.htm) · SEC/Investor.gov, An Introduction to Short Sales (https://www.investor.gov/introduction-investing/general-resources/news-alerts/alerts-bulletins/investor-bulletins-51) · slides 16–18.</a:t>
            </a:r>
            <a:endParaRPr/>
          </a:p>
        </p:txBody>
      </p:sp>
      <p:sp>
        <p:nvSpPr>
          <p:cNvPr id="981" name="Google Shape;981;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1" name="Google Shape;1021;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slide 13 (scores), slides 27–28 (Denison, Kazatomprom), slides 35–42 (Alternative).</a:t>
            </a:r>
            <a:endParaRPr/>
          </a:p>
        </p:txBody>
      </p:sp>
      <p:sp>
        <p:nvSpPr>
          <p:cNvPr id="1022" name="Google Shape;1022;p6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0" name="Google Shape;1060;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[P1] Paladin Energy Investor Day, Sep 2, 2026 (https://www.paladinenergy.com/wp-content/uploads/2026/09/Paladin-Energy-Investor-Day-Presentation.pdf) · [P2] Energy Fuels, definitive agreement to acquire VAC, Jun 23, 2026 (https://investors.energyfuels.com/2026-06-23-Energy-Fuels-Announces-Definitive-Agreement-to-Acquire-VAC-for-1-9-Billion-Equity-Value) · [P3] SEC-filed supplementary scheme information (https://www.sec.gov/Archives/edgar/data/1385849/000106299326003884/exhibit99-1.htm) · [P4] SEC/Investor.gov, An Introduction to Short Sales (https://www.investor.gov/introduction-investing/general-resources/news-alerts/alerts-bulletins/investor-bulletins-51).</a:t>
            </a:r>
            <a:endParaRPr/>
          </a:p>
        </p:txBody>
      </p:sp>
      <p:sp>
        <p:nvSpPr>
          <p:cNvPr id="1061" name="Google Shape;1061;p6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p27:notes"/>
          <p:cNvSpPr>
            <a:spLocks noGrp="1" noRot="1" noChangeAspect="1"/>
          </p:cNvSpPr>
          <p:nvPr>
            <p:ph type="sldImg" idx="2"/>
          </p:nvPr>
        </p:nvSpPr>
        <p:spPr>
          <a:xfrm>
            <a:off x="-500063" y="0"/>
            <a:ext cx="40005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3" name="Google Shape;1093;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BWXT Investor Day notice (https://www.businesswire.com/news/home/20260831075127/en/BWX-Technologies-to-Hold-Investor-Day-on-September-29-2026); COUNCIL_REVIEW_Long_Xiaowen_Chen_2026-09-27 (Kazatomprom tour, Cameco Oct 30); LONG_Mandate_Research_Matrix_Xiaowen_Chen_2026-09-27 (Paladin report); SHORT_Mandate_Research_Matrix (VAC close, $16.12); Utility Dive on CFS SPARC; US DOE (waivers).</a:t>
            </a:r>
            <a:endParaRPr/>
          </a:p>
          <a:p>
            <a:pPr marL="457200" marR="0" lvl="0" indent="-228600" algn="l" rtl="0">
              <a:lnSpc>
                <a:spcPct val="100000"/>
              </a:lnSpc>
              <a:spcBef>
                <a:spcPts val="0"/>
              </a:spcBef>
              <a:spcAft>
                <a:spcPts val="0"/>
              </a:spcAft>
              <a:buClr>
                <a:srgbClr val="000000"/>
              </a:buClr>
              <a:buSzPts val="1100"/>
              <a:buFont typeface="Arial"/>
              <a:buNone/>
            </a:pPr>
            <a:endParaRPr/>
          </a:p>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Detail: SHORT_Mandate_Research_Matrix · LONG_Mandate_Research_Matrix_Xiaowen_Chen_2026-09-27 · ALT draft (Claude, Sep 26; Watchlist adopted Sep 27) (https://docs.google.com/document/d/1_QWehVyT3AkP6-klJpIgFUbes-qFehNv8MG1QzGN4lg/edit) · BWXT: Q2 2026 release (https://www.businesswire.com/news/home/20260803655700/en/BWX-Technologies-Reports-Second-Quarter-2026-Results), stockanalysis.com (https://stockanalysis.com/stocks/bwxt/) (Sep 25)</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1" name="Google Shape;110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rtl="0">
              <a:lnSpc>
                <a:spcPct val="100000"/>
              </a:lnSpc>
              <a:spcBef>
                <a:spcPts val="0"/>
              </a:spcBef>
              <a:spcAft>
                <a:spcPts val="0"/>
              </a:spcAft>
              <a:buClr>
                <a:srgbClr val="000000"/>
              </a:buClr>
              <a:buSzPts val="1100"/>
              <a:buFont typeface="Arial"/>
              <a:buChar char="●"/>
            </a:pPr>
            <a:r>
              <a:rPr lang="en-US" sz="1100" b="0" i="0" u="none" strike="noStrike" cap="none">
                <a:solidFill>
                  <a:srgbClr val="000000"/>
                </a:solidFill>
                <a:latin typeface="Arial"/>
                <a:ea typeface="Arial"/>
                <a:cs typeface="Arial"/>
                <a:sym typeface="Arial"/>
              </a:rPr>
              <a:t>Sources: TEAM_PROJECT_WEEK_5_MEMORY: Ben Beauchamp criteria (Sep 25 16:07); Xiaowen Chen outline (Sep 25 16:22), V10 (Sep 27 00:43), Long sign-off (Sep 27 16:06), V36 conclusion (saved Sep 28, 10:08–10:11 p.m.); Jared Mount SHORT matrix (Sep 26 15:45), V13 (Sep 27 14:00), V31 (Sep 28 19:15); Shawyan Tabari V8 (Sep 26 23:55), review of his V8 chat record (Sep 27 12:29), Alternative rebuild and sign-off (Sep 28 16:50); David Vargas slide split (Sep 28, per Shawyan's entry); Michael Kiernan entries Sep 25 15:29 to Sep 28 20:02.</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1109" name="Google Shape;1109;p6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
        <p:cNvGrpSpPr/>
        <p:nvPr/>
      </p:nvGrpSpPr>
      <p:grpSpPr>
        <a:xfrm>
          <a:off x="0" y="0"/>
          <a:ext cx="0" cy="0"/>
          <a:chOff x="0" y="0"/>
          <a:chExt cx="0" cy="0"/>
        </a:xfrm>
      </p:grpSpPr>
      <p:sp>
        <p:nvSpPr>
          <p:cNvPr id="7" name="Google Shape;7;p29"/>
          <p:cNvSpPr txBox="1">
            <a:spLocks noGrp="1"/>
          </p:cNvSpPr>
          <p:nvPr>
            <p:ph type="ctrTitle"/>
          </p:nvPr>
        </p:nvSpPr>
        <p:spPr>
          <a:xfrm>
            <a:off x="514350" y="2130428"/>
            <a:ext cx="58293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29"/>
          <p:cNvSpPr txBox="1">
            <a:spLocks noGrp="1"/>
          </p:cNvSpPr>
          <p:nvPr>
            <p:ph type="subTitle" idx="1"/>
          </p:nvPr>
        </p:nvSpPr>
        <p:spPr>
          <a:xfrm>
            <a:off x="1028700" y="3886200"/>
            <a:ext cx="4800600" cy="17526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9" name="Google Shape;9;p29"/>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9"/>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29"/>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
        <p:cNvGrpSpPr/>
        <p:nvPr/>
      </p:nvGrpSpPr>
      <p:grpSpPr>
        <a:xfrm>
          <a:off x="0" y="0"/>
          <a:ext cx="0" cy="0"/>
          <a:chOff x="0" y="0"/>
          <a:chExt cx="0" cy="0"/>
        </a:xfrm>
      </p:grpSpPr>
      <p:sp>
        <p:nvSpPr>
          <p:cNvPr id="13" name="Google Shape;13;p3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3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0.png"/><Relationship Id="rId4" Type="http://schemas.openxmlformats.org/officeDocument/2006/relationships/image" Target="../media/image11.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
        <p:cNvGrpSpPr/>
        <p:nvPr/>
      </p:nvGrpSpPr>
      <p:grpSpPr>
        <a:xfrm>
          <a:off x="0" y="0"/>
          <a:ext cx="0" cy="0"/>
          <a:chOff x="0" y="0"/>
          <a:chExt cx="0" cy="0"/>
        </a:xfrm>
      </p:grpSpPr>
      <p:pic>
        <p:nvPicPr>
          <p:cNvPr id="21" name="Google Shape;21;p32" descr="image.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22" name="Google Shape;22;p32"/>
          <p:cNvSpPr txBox="1"/>
          <p:nvPr/>
        </p:nvSpPr>
        <p:spPr>
          <a:xfrm>
            <a:off x="548640" y="1828800"/>
            <a:ext cx="8046720" cy="1840490"/>
          </a:xfrm>
          <a:prstGeom prst="rect">
            <a:avLst/>
          </a:prstGeom>
          <a:noFill/>
          <a:ln>
            <a:noFill/>
          </a:ln>
        </p:spPr>
        <p:txBody>
          <a:bodyPr spcFirstLastPara="1" wrap="square" lIns="27425" tIns="27425" rIns="27425" bIns="27425"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Arial"/>
                <a:ea typeface="Arial"/>
                <a:cs typeface="Arial"/>
                <a:sym typeface="Arial"/>
              </a:rPr>
              <a:t>A Claude-Assisted </a:t>
            </a:r>
            <a:endParaRPr sz="32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Arial"/>
                <a:ea typeface="Arial"/>
                <a:cs typeface="Arial"/>
                <a:sym typeface="Arial"/>
              </a:rPr>
              <a:t>Uranium and Nuclear Energy Investment Analysis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555555"/>
                </a:solidFill>
                <a:latin typeface="Arial"/>
                <a:ea typeface="Arial"/>
                <a:cs typeface="Arial"/>
                <a:sym typeface="Arial"/>
              </a:rPr>
              <a:t>Short, Long + Alternate Nuclear</a:t>
            </a:r>
            <a:endParaRPr sz="1400" b="0" i="0" u="none" strike="noStrike" cap="none">
              <a:solidFill>
                <a:srgbClr val="000000"/>
              </a:solidFill>
              <a:latin typeface="Arial"/>
              <a:ea typeface="Arial"/>
              <a:cs typeface="Arial"/>
              <a:sym typeface="Arial"/>
            </a:endParaRPr>
          </a:p>
        </p:txBody>
      </p:sp>
      <p:sp>
        <p:nvSpPr>
          <p:cNvPr id="23" name="Google Shape;23;p32"/>
          <p:cNvSpPr txBox="1"/>
          <p:nvPr/>
        </p:nvSpPr>
        <p:spPr>
          <a:xfrm>
            <a:off x="317753" y="4921857"/>
            <a:ext cx="8046720" cy="146304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22222"/>
                </a:solidFill>
                <a:latin typeface="Arial"/>
                <a:ea typeface="Arial"/>
                <a:cs typeface="Arial"/>
                <a:sym typeface="Arial"/>
              </a:rPr>
              <a:t>Xiaowen Chen (Xavier) · Ben Beauchamp · Jared Mount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22222"/>
                </a:solidFill>
                <a:latin typeface="Arial"/>
                <a:ea typeface="Arial"/>
                <a:cs typeface="Arial"/>
                <a:sym typeface="Arial"/>
              </a:rPr>
              <a:t>Michael Kiernan · Shawyan Tabari · David Vargas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555555"/>
                </a:solidFill>
                <a:latin typeface="Arial"/>
                <a:ea typeface="Arial"/>
                <a:cs typeface="Arial"/>
                <a:sym typeface="Arial"/>
              </a:rPr>
              <a:t>Fordham Gabelli School of Business · September 2026</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pic>
        <p:nvPicPr>
          <p:cNvPr id="28" name="Google Shape;28;p33"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29" name="Google Shape;29;p33"/>
          <p:cNvSpPr txBox="1"/>
          <p:nvPr/>
        </p:nvSpPr>
        <p:spPr>
          <a:xfrm>
            <a:off x="548640" y="252516"/>
            <a:ext cx="8013244" cy="110799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Our Project Catalyst: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222222"/>
                </a:solidFill>
                <a:latin typeface="Arial"/>
                <a:ea typeface="Arial"/>
                <a:cs typeface="Arial"/>
                <a:sym typeface="Arial"/>
              </a:rPr>
              <a:t>US Electricity Scarcity &amp; Fossil Fuels Vilified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222222"/>
              </a:solidFill>
              <a:latin typeface="Arial"/>
              <a:ea typeface="Arial"/>
              <a:cs typeface="Arial"/>
              <a:sym typeface="Arial"/>
            </a:endParaRPr>
          </a:p>
        </p:txBody>
      </p:sp>
      <p:sp>
        <p:nvSpPr>
          <p:cNvPr id="30" name="Google Shape;30;p33"/>
          <p:cNvSpPr/>
          <p:nvPr/>
        </p:nvSpPr>
        <p:spPr>
          <a:xfrm>
            <a:off x="492983" y="2045478"/>
            <a:ext cx="1901952" cy="1600200"/>
          </a:xfrm>
          <a:prstGeom prst="roundRect">
            <a:avLst>
              <a:gd name="adj" fmla="val 16667"/>
            </a:avLst>
          </a:prstGeom>
          <a:solidFill>
            <a:srgbClr val="1F3A5F"/>
          </a:solidFill>
          <a:ln>
            <a:noFill/>
          </a:ln>
        </p:spPr>
        <p:txBody>
          <a:bodyPr spcFirstLastPara="1" wrap="square" lIns="73150" tIns="36575" rIns="73150" bIns="365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Arial"/>
                <a:ea typeface="Arial"/>
                <a:cs typeface="Arial"/>
                <a:sym typeface="Arial"/>
              </a:rPr>
              <a:t>Decarbonization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FFFFFF"/>
                </a:solidFill>
                <a:latin typeface="Arial"/>
                <a:ea typeface="Arial"/>
                <a:cs typeface="Arial"/>
                <a:sym typeface="Arial"/>
              </a:rPr>
              <a:t>Mandates push heating, transport and industry onto electricity</a:t>
            </a:r>
            <a:endParaRPr sz="1400" b="0" i="0" u="none" strike="noStrike" cap="none">
              <a:solidFill>
                <a:srgbClr val="000000"/>
              </a:solidFill>
              <a:latin typeface="Arial"/>
              <a:ea typeface="Arial"/>
              <a:cs typeface="Arial"/>
              <a:sym typeface="Arial"/>
            </a:endParaRPr>
          </a:p>
        </p:txBody>
      </p:sp>
      <p:sp>
        <p:nvSpPr>
          <p:cNvPr id="31" name="Google Shape;31;p33"/>
          <p:cNvSpPr/>
          <p:nvPr/>
        </p:nvSpPr>
        <p:spPr>
          <a:xfrm>
            <a:off x="2555948" y="2045478"/>
            <a:ext cx="1901952" cy="1600200"/>
          </a:xfrm>
          <a:prstGeom prst="roundRect">
            <a:avLst>
              <a:gd name="adj" fmla="val 16667"/>
            </a:avLst>
          </a:prstGeom>
          <a:solidFill>
            <a:srgbClr val="1F3A5F"/>
          </a:solidFill>
          <a:ln>
            <a:noFill/>
          </a:ln>
        </p:spPr>
        <p:txBody>
          <a:bodyPr spcFirstLastPara="1" wrap="square" lIns="73150" tIns="36575" rIns="73150" bIns="365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Arial"/>
                <a:ea typeface="Arial"/>
                <a:cs typeface="Arial"/>
                <a:sym typeface="Arial"/>
              </a:rPr>
              <a:t>AI factory boom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FFFFFF"/>
                </a:solidFill>
                <a:latin typeface="Arial"/>
                <a:ea typeface="Arial"/>
                <a:cs typeface="Arial"/>
                <a:sym typeface="Arial"/>
              </a:rPr>
              <a:t>US data centers: </a:t>
            </a:r>
            <a:endParaRPr sz="1150" b="0"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FFFFFF"/>
                </a:solidFill>
                <a:latin typeface="Arial"/>
                <a:ea typeface="Arial"/>
                <a:cs typeface="Arial"/>
                <a:sym typeface="Arial"/>
              </a:rPr>
              <a:t>4.4% of electricity 2023 6.7–12% by 2028</a:t>
            </a:r>
            <a:endParaRPr sz="1400" b="0" i="0" u="none" strike="noStrike" cap="none">
              <a:solidFill>
                <a:srgbClr val="000000"/>
              </a:solidFill>
              <a:latin typeface="Arial"/>
              <a:ea typeface="Arial"/>
              <a:cs typeface="Arial"/>
              <a:sym typeface="Arial"/>
            </a:endParaRPr>
          </a:p>
        </p:txBody>
      </p:sp>
      <p:sp>
        <p:nvSpPr>
          <p:cNvPr id="32" name="Google Shape;32;p33"/>
          <p:cNvSpPr/>
          <p:nvPr/>
        </p:nvSpPr>
        <p:spPr>
          <a:xfrm>
            <a:off x="4650717" y="2045478"/>
            <a:ext cx="1901952" cy="1600200"/>
          </a:xfrm>
          <a:prstGeom prst="roundRect">
            <a:avLst>
              <a:gd name="adj" fmla="val 16667"/>
            </a:avLst>
          </a:prstGeom>
          <a:solidFill>
            <a:srgbClr val="A23B2A"/>
          </a:solidFill>
          <a:ln>
            <a:noFill/>
          </a:ln>
        </p:spPr>
        <p:txBody>
          <a:bodyPr spcFirstLastPara="1" wrap="square" lIns="73150" tIns="36575" rIns="73150" bIns="365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dirty="0">
                <a:solidFill>
                  <a:srgbClr val="FFFFFF"/>
                </a:solidFill>
                <a:latin typeface="Arial"/>
                <a:ea typeface="Arial"/>
                <a:cs typeface="Arial"/>
                <a:sym typeface="Arial"/>
              </a:rPr>
              <a:t>Supply stalled</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50"/>
              <a:buFont typeface="Arial"/>
              <a:buNone/>
            </a:pPr>
            <a:r>
              <a:rPr lang="en-US" sz="1150" dirty="0">
                <a:solidFill>
                  <a:srgbClr val="FFFFFF"/>
                </a:solidFill>
              </a:rPr>
              <a:t>New plant</a:t>
            </a:r>
            <a:r>
              <a:rPr lang="en-US" sz="1150" b="0" i="0" u="none" strike="noStrike" cap="none" dirty="0">
                <a:solidFill>
                  <a:srgbClr val="FFFFFF"/>
                </a:solidFill>
                <a:latin typeface="Arial"/>
                <a:ea typeface="Arial"/>
                <a:cs typeface="Arial"/>
                <a:sym typeface="Arial"/>
              </a:rPr>
              <a:t> queues; </a:t>
            </a:r>
            <a:endParaRPr sz="1150" b="0" i="0" u="none" strike="noStrike" cap="none" dirty="0">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dirty="0">
                <a:solidFill>
                  <a:srgbClr val="FFFFFF"/>
                </a:solidFill>
                <a:latin typeface="Arial"/>
                <a:ea typeface="Arial"/>
                <a:cs typeface="Arial"/>
                <a:sym typeface="Arial"/>
              </a:rPr>
              <a:t>PJM </a:t>
            </a:r>
            <a:r>
              <a:rPr lang="en-US" sz="1150" dirty="0">
                <a:solidFill>
                  <a:srgbClr val="FFFFFF"/>
                </a:solidFill>
              </a:rPr>
              <a:t>6.8GW Shortfall</a:t>
            </a:r>
          </a:p>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dirty="0">
                <a:solidFill>
                  <a:srgbClr val="FFFFFF"/>
                </a:solidFill>
                <a:latin typeface="Arial"/>
                <a:ea typeface="Arial"/>
                <a:cs typeface="Arial"/>
                <a:sym typeface="Arial"/>
              </a:rPr>
              <a:t>@$325/MW-day</a:t>
            </a:r>
            <a:endParaRPr sz="1400" b="0" i="0" u="none" strike="noStrike" cap="none" dirty="0">
              <a:solidFill>
                <a:srgbClr val="000000"/>
              </a:solidFill>
              <a:latin typeface="Arial"/>
              <a:ea typeface="Arial"/>
              <a:cs typeface="Arial"/>
              <a:sym typeface="Arial"/>
            </a:endParaRPr>
          </a:p>
        </p:txBody>
      </p:sp>
      <p:sp>
        <p:nvSpPr>
          <p:cNvPr id="33" name="Google Shape;33;p33"/>
          <p:cNvSpPr/>
          <p:nvPr/>
        </p:nvSpPr>
        <p:spPr>
          <a:xfrm>
            <a:off x="6761387" y="2045478"/>
            <a:ext cx="1901952" cy="1600200"/>
          </a:xfrm>
          <a:prstGeom prst="roundRect">
            <a:avLst>
              <a:gd name="adj" fmla="val 16667"/>
            </a:avLst>
          </a:prstGeom>
          <a:solidFill>
            <a:srgbClr val="A23B2A"/>
          </a:solidFill>
          <a:ln>
            <a:noFill/>
          </a:ln>
        </p:spPr>
        <p:txBody>
          <a:bodyPr spcFirstLastPara="1" wrap="square" lIns="73150" tIns="36575" rIns="73150" bIns="365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Arial"/>
                <a:ea typeface="Arial"/>
                <a:cs typeface="Arial"/>
                <a:sym typeface="Arial"/>
              </a:rPr>
              <a:t>Community pushback</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FFFFFF"/>
                </a:solidFill>
                <a:latin typeface="Arial"/>
                <a:ea typeface="Arial"/>
                <a:cs typeface="Arial"/>
                <a:sym typeface="Arial"/>
              </a:rPr>
              <a:t>Protests over power, water and local impact</a:t>
            </a:r>
            <a:endParaRPr sz="1400" b="0" i="0" u="none" strike="noStrike" cap="none">
              <a:solidFill>
                <a:srgbClr val="000000"/>
              </a:solidFill>
              <a:latin typeface="Arial"/>
              <a:ea typeface="Arial"/>
              <a:cs typeface="Arial"/>
              <a:sym typeface="Arial"/>
            </a:endParaRPr>
          </a:p>
        </p:txBody>
      </p:sp>
      <p:sp>
        <p:nvSpPr>
          <p:cNvPr id="34" name="Google Shape;34;p33"/>
          <p:cNvSpPr txBox="1"/>
          <p:nvPr/>
        </p:nvSpPr>
        <p:spPr>
          <a:xfrm>
            <a:off x="548640" y="3775083"/>
            <a:ext cx="402336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1F3A5F"/>
                </a:solidFill>
                <a:latin typeface="Arial"/>
                <a:ea typeface="Arial"/>
                <a:cs typeface="Arial"/>
                <a:sym typeface="Arial"/>
              </a:rPr>
              <a:t>Demand Surges</a:t>
            </a:r>
            <a:endParaRPr sz="1400" b="0" i="0" u="none" strike="noStrike" cap="none">
              <a:solidFill>
                <a:srgbClr val="000000"/>
              </a:solidFill>
              <a:latin typeface="Arial"/>
              <a:ea typeface="Arial"/>
              <a:cs typeface="Arial"/>
              <a:sym typeface="Arial"/>
            </a:endParaRPr>
          </a:p>
        </p:txBody>
      </p:sp>
      <p:sp>
        <p:nvSpPr>
          <p:cNvPr id="35" name="Google Shape;35;p33"/>
          <p:cNvSpPr txBox="1"/>
          <p:nvPr/>
        </p:nvSpPr>
        <p:spPr>
          <a:xfrm>
            <a:off x="4626864" y="3775083"/>
            <a:ext cx="402336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A23B2A"/>
                </a:solidFill>
                <a:latin typeface="Arial"/>
                <a:ea typeface="Arial"/>
                <a:cs typeface="Arial"/>
                <a:sym typeface="Arial"/>
              </a:rPr>
              <a:t>Supply Lags</a:t>
            </a:r>
            <a:endParaRPr sz="1400" b="0" i="0" u="none" strike="noStrike" cap="none">
              <a:solidFill>
                <a:srgbClr val="000000"/>
              </a:solidFill>
              <a:latin typeface="Arial"/>
              <a:ea typeface="Arial"/>
              <a:cs typeface="Arial"/>
              <a:sym typeface="Arial"/>
            </a:endParaRPr>
          </a:p>
        </p:txBody>
      </p:sp>
      <p:sp>
        <p:nvSpPr>
          <p:cNvPr id="36" name="Google Shape;36;p33"/>
          <p:cNvSpPr txBox="1"/>
          <p:nvPr/>
        </p:nvSpPr>
        <p:spPr>
          <a:xfrm>
            <a:off x="371426" y="4221686"/>
            <a:ext cx="8428106" cy="61555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(Fossil Fuel Alternatives: Geothermal Fusion Hydro Nuclear Solar Wind)</a:t>
            </a:r>
            <a:endParaRPr sz="20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3"/>
          <p:cNvSpPr/>
          <p:nvPr/>
        </p:nvSpPr>
        <p:spPr>
          <a:xfrm>
            <a:off x="4356879" y="3739099"/>
            <a:ext cx="457200" cy="411480"/>
          </a:xfrm>
          <a:prstGeom prst="downArrow">
            <a:avLst>
              <a:gd name="adj1" fmla="val 50000"/>
              <a:gd name="adj2" fmla="val 50000"/>
            </a:avLst>
          </a:prstGeom>
          <a:solidFill>
            <a:srgbClr val="6E6020"/>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pic>
        <p:nvPicPr>
          <p:cNvPr id="42" name="Google Shape;42;p34"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43" name="Google Shape;43;p34"/>
          <p:cNvSpPr txBox="1"/>
          <p:nvPr/>
        </p:nvSpPr>
        <p:spPr>
          <a:xfrm>
            <a:off x="1577801" y="5242781"/>
            <a:ext cx="6158818"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222222"/>
                </a:solidFill>
                <a:latin typeface="Arial"/>
                <a:ea typeface="Arial"/>
                <a:cs typeface="Arial"/>
                <a:sym typeface="Arial"/>
              </a:rPr>
              <a:t>We Believe Within The:</a:t>
            </a:r>
            <a:br>
              <a:rPr lang="en-US" sz="2400" b="1" i="0" u="none" strike="noStrike" cap="none">
                <a:solidFill>
                  <a:srgbClr val="222222"/>
                </a:solidFill>
                <a:latin typeface="Arial"/>
                <a:ea typeface="Arial"/>
                <a:cs typeface="Arial"/>
                <a:sym typeface="Arial"/>
              </a:rPr>
            </a:br>
            <a:r>
              <a:rPr lang="en-US" sz="2400" b="1" i="0" u="none" strike="noStrike" cap="none">
                <a:solidFill>
                  <a:srgbClr val="222222"/>
                </a:solidFill>
                <a:latin typeface="Arial"/>
                <a:ea typeface="Arial"/>
                <a:cs typeface="Arial"/>
                <a:sym typeface="Arial"/>
              </a:rPr>
              <a:t>Nuclear Power Ecosystem</a:t>
            </a:r>
            <a:endParaRPr sz="2400" b="0" i="0" u="none" strike="noStrike" cap="none">
              <a:solidFill>
                <a:srgbClr val="000000"/>
              </a:solidFill>
              <a:latin typeface="Arial"/>
              <a:ea typeface="Arial"/>
              <a:cs typeface="Arial"/>
              <a:sym typeface="Arial"/>
            </a:endParaRPr>
          </a:p>
        </p:txBody>
      </p:sp>
      <p:pic>
        <p:nvPicPr>
          <p:cNvPr id="44" name="Google Shape;44;p34" descr="Nuclear power plant cooling towers at golden hour"/>
          <p:cNvPicPr preferRelativeResize="0"/>
          <p:nvPr/>
        </p:nvPicPr>
        <p:blipFill rotWithShape="1">
          <a:blip r:embed="rId4">
            <a:alphaModFix/>
          </a:blip>
          <a:srcRect/>
          <a:stretch/>
        </p:blipFill>
        <p:spPr>
          <a:xfrm>
            <a:off x="1577800" y="997450"/>
            <a:ext cx="6158819" cy="4105880"/>
          </a:xfrm>
          <a:prstGeom prst="rect">
            <a:avLst/>
          </a:prstGeom>
          <a:noFill/>
          <a:ln>
            <a:noFill/>
          </a:ln>
        </p:spPr>
      </p:pic>
      <p:sp>
        <p:nvSpPr>
          <p:cNvPr id="45" name="Google Shape;45;p34"/>
          <p:cNvSpPr txBox="1"/>
          <p:nvPr/>
        </p:nvSpPr>
        <p:spPr>
          <a:xfrm>
            <a:off x="1482384" y="396335"/>
            <a:ext cx="6468919"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222222"/>
                </a:solidFill>
                <a:latin typeface="Arial"/>
                <a:ea typeface="Arial"/>
                <a:cs typeface="Arial"/>
                <a:sym typeface="Arial"/>
              </a:rPr>
              <a:t>Where Is The  Alternative Fossil Fuel Play?</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pic>
        <p:nvPicPr>
          <p:cNvPr id="50" name="Google Shape;50;p36"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51" name="Google Shape;51;p36"/>
          <p:cNvSpPr txBox="1"/>
          <p:nvPr/>
        </p:nvSpPr>
        <p:spPr>
          <a:xfrm>
            <a:off x="548640" y="320040"/>
            <a:ext cx="8046720" cy="548640"/>
          </a:xfrm>
          <a:prstGeom prst="rect">
            <a:avLst/>
          </a:prstGeom>
          <a:noFill/>
          <a:ln>
            <a:noFill/>
          </a:ln>
        </p:spPr>
        <p:txBody>
          <a:bodyPr spcFirstLastPara="1" wrap="square" lIns="27425" tIns="27425" rIns="27425" bIns="27425" anchor="ctr"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From mine to grid: where each company sits</a:t>
            </a:r>
            <a:endParaRPr sz="1400" b="0" i="0" u="none" strike="noStrike" cap="none">
              <a:solidFill>
                <a:srgbClr val="000000"/>
              </a:solidFill>
              <a:latin typeface="Arial"/>
              <a:ea typeface="Arial"/>
              <a:cs typeface="Arial"/>
              <a:sym typeface="Arial"/>
            </a:endParaRPr>
          </a:p>
        </p:txBody>
      </p:sp>
      <p:sp>
        <p:nvSpPr>
          <p:cNvPr id="52" name="Google Shape;52;p36"/>
          <p:cNvSpPr txBox="1"/>
          <p:nvPr/>
        </p:nvSpPr>
        <p:spPr>
          <a:xfrm>
            <a:off x="548640" y="868680"/>
            <a:ext cx="8046720" cy="36576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555555"/>
                </a:solidFill>
                <a:latin typeface="Arial"/>
                <a:ea typeface="Arial"/>
                <a:cs typeface="Arial"/>
                <a:sym typeface="Arial"/>
              </a:rPr>
              <a:t>Long and Short sit at the mine end; the Alternative covers the scarcer links</a:t>
            </a:r>
            <a:endParaRPr sz="1400" b="0" i="0" u="none" strike="noStrike" cap="none">
              <a:solidFill>
                <a:srgbClr val="000000"/>
              </a:solidFill>
              <a:latin typeface="Arial"/>
              <a:ea typeface="Arial"/>
              <a:cs typeface="Arial"/>
              <a:sym typeface="Arial"/>
            </a:endParaRPr>
          </a:p>
        </p:txBody>
      </p:sp>
      <p:sp>
        <p:nvSpPr>
          <p:cNvPr id="53" name="Google Shape;53;p36"/>
          <p:cNvSpPr/>
          <p:nvPr/>
        </p:nvSpPr>
        <p:spPr>
          <a:xfrm>
            <a:off x="502920" y="1508760"/>
            <a:ext cx="1078992" cy="640080"/>
          </a:xfrm>
          <a:prstGeom prst="homePlate">
            <a:avLst>
              <a:gd name="adj" fmla="val 50000"/>
            </a:avLst>
          </a:prstGeom>
          <a:solidFill>
            <a:srgbClr val="D6DEE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4" name="Google Shape;54;p36"/>
          <p:cNvSpPr txBox="1"/>
          <p:nvPr/>
        </p:nvSpPr>
        <p:spPr>
          <a:xfrm>
            <a:off x="548640" y="1508760"/>
            <a:ext cx="822960" cy="640080"/>
          </a:xfrm>
          <a:prstGeom prst="rect">
            <a:avLst/>
          </a:prstGeom>
          <a:noFill/>
          <a:ln>
            <a:noFill/>
          </a:ln>
        </p:spPr>
        <p:txBody>
          <a:bodyPr spcFirstLastPara="1" wrap="square" lIns="27425" tIns="27425" rIns="27425" bIns="27425"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1F3A5F"/>
                </a:solidFill>
                <a:latin typeface="Arial"/>
                <a:ea typeface="Arial"/>
                <a:cs typeface="Arial"/>
                <a:sym typeface="Arial"/>
              </a:rPr>
              <a:t>Dig</a:t>
            </a:r>
            <a:endParaRPr sz="1400" b="0" i="0" u="none" strike="noStrike" cap="none">
              <a:solidFill>
                <a:srgbClr val="000000"/>
              </a:solidFill>
              <a:latin typeface="Arial"/>
              <a:ea typeface="Arial"/>
              <a:cs typeface="Arial"/>
              <a:sym typeface="Arial"/>
            </a:endParaRPr>
          </a:p>
        </p:txBody>
      </p:sp>
      <p:sp>
        <p:nvSpPr>
          <p:cNvPr id="55" name="Google Shape;55;p36"/>
          <p:cNvSpPr/>
          <p:nvPr/>
        </p:nvSpPr>
        <p:spPr>
          <a:xfrm>
            <a:off x="612648" y="2423160"/>
            <a:ext cx="786384" cy="365760"/>
          </a:xfrm>
          <a:prstGeom prst="roundRect">
            <a:avLst>
              <a:gd name="adj" fmla="val 16667"/>
            </a:avLst>
          </a:prstGeom>
          <a:solidFill>
            <a:srgbClr val="1F3A5F"/>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CCJ</a:t>
            </a:r>
            <a:endParaRPr sz="1400" b="0" i="0" u="none" strike="noStrike" cap="none">
              <a:solidFill>
                <a:srgbClr val="000000"/>
              </a:solidFill>
              <a:latin typeface="Arial"/>
              <a:ea typeface="Arial"/>
              <a:cs typeface="Arial"/>
              <a:sym typeface="Arial"/>
            </a:endParaRPr>
          </a:p>
        </p:txBody>
      </p:sp>
      <p:sp>
        <p:nvSpPr>
          <p:cNvPr id="56" name="Google Shape;56;p36"/>
          <p:cNvSpPr/>
          <p:nvPr/>
        </p:nvSpPr>
        <p:spPr>
          <a:xfrm>
            <a:off x="612648" y="2880360"/>
            <a:ext cx="786384" cy="365760"/>
          </a:xfrm>
          <a:prstGeom prst="roundRect">
            <a:avLst>
              <a:gd name="adj" fmla="val 16667"/>
            </a:avLst>
          </a:prstGeom>
          <a:solidFill>
            <a:srgbClr val="1F3A5F"/>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KAP</a:t>
            </a:r>
            <a:endParaRPr sz="1400" b="0" i="0" u="none" strike="noStrike" cap="none">
              <a:solidFill>
                <a:srgbClr val="000000"/>
              </a:solidFill>
              <a:latin typeface="Arial"/>
              <a:ea typeface="Arial"/>
              <a:cs typeface="Arial"/>
              <a:sym typeface="Arial"/>
            </a:endParaRPr>
          </a:p>
        </p:txBody>
      </p:sp>
      <p:sp>
        <p:nvSpPr>
          <p:cNvPr id="57" name="Google Shape;57;p36"/>
          <p:cNvSpPr/>
          <p:nvPr/>
        </p:nvSpPr>
        <p:spPr>
          <a:xfrm>
            <a:off x="612648" y="3337560"/>
            <a:ext cx="786384" cy="365760"/>
          </a:xfrm>
          <a:prstGeom prst="roundRect">
            <a:avLst>
              <a:gd name="adj" fmla="val 16667"/>
            </a:avLst>
          </a:prstGeom>
          <a:solidFill>
            <a:srgbClr val="1F3A5F"/>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PDN</a:t>
            </a: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a:off x="612648" y="3794760"/>
            <a:ext cx="786384" cy="365760"/>
          </a:xfrm>
          <a:prstGeom prst="roundRect">
            <a:avLst>
              <a:gd name="adj" fmla="val 16667"/>
            </a:avLst>
          </a:prstGeom>
          <a:solidFill>
            <a:srgbClr val="1F3A5F"/>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UEC</a:t>
            </a:r>
            <a:endParaRPr sz="1400" b="0" i="0" u="none" strike="noStrike" cap="none">
              <a:solidFill>
                <a:srgbClr val="000000"/>
              </a:solidFill>
              <a:latin typeface="Arial"/>
              <a:ea typeface="Arial"/>
              <a:cs typeface="Arial"/>
              <a:sym typeface="Arial"/>
            </a:endParaRPr>
          </a:p>
        </p:txBody>
      </p:sp>
      <p:sp>
        <p:nvSpPr>
          <p:cNvPr id="59" name="Google Shape;59;p36"/>
          <p:cNvSpPr/>
          <p:nvPr/>
        </p:nvSpPr>
        <p:spPr>
          <a:xfrm>
            <a:off x="612648" y="4251960"/>
            <a:ext cx="786384" cy="365760"/>
          </a:xfrm>
          <a:prstGeom prst="roundRect">
            <a:avLst>
              <a:gd name="adj" fmla="val 16667"/>
            </a:avLst>
          </a:prstGeom>
          <a:solidFill>
            <a:srgbClr val="A23B2A"/>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UUUU</a:t>
            </a:r>
            <a:endParaRPr sz="1400" b="0" i="0" u="none" strike="noStrike" cap="none">
              <a:solidFill>
                <a:srgbClr val="000000"/>
              </a:solidFill>
              <a:latin typeface="Arial"/>
              <a:ea typeface="Arial"/>
              <a:cs typeface="Arial"/>
              <a:sym typeface="Arial"/>
            </a:endParaRPr>
          </a:p>
        </p:txBody>
      </p:sp>
      <p:sp>
        <p:nvSpPr>
          <p:cNvPr id="60" name="Google Shape;60;p36"/>
          <p:cNvSpPr/>
          <p:nvPr/>
        </p:nvSpPr>
        <p:spPr>
          <a:xfrm>
            <a:off x="1508760" y="1508760"/>
            <a:ext cx="1078992" cy="640080"/>
          </a:xfrm>
          <a:prstGeom prst="chevron">
            <a:avLst>
              <a:gd name="adj" fmla="val 50000"/>
            </a:avLst>
          </a:prstGeom>
          <a:solidFill>
            <a:srgbClr val="D6DEE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1" name="Google Shape;61;p36"/>
          <p:cNvSpPr txBox="1"/>
          <p:nvPr/>
        </p:nvSpPr>
        <p:spPr>
          <a:xfrm>
            <a:off x="1691640" y="1508760"/>
            <a:ext cx="731520" cy="640080"/>
          </a:xfrm>
          <a:prstGeom prst="rect">
            <a:avLst/>
          </a:prstGeom>
          <a:noFill/>
          <a:ln>
            <a:noFill/>
          </a:ln>
        </p:spPr>
        <p:txBody>
          <a:bodyPr spcFirstLastPara="1" wrap="square" lIns="27425" tIns="27425" rIns="27425" bIns="27425"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1F3A5F"/>
                </a:solidFill>
                <a:latin typeface="Arial"/>
                <a:ea typeface="Arial"/>
                <a:cs typeface="Arial"/>
                <a:sym typeface="Arial"/>
              </a:rPr>
              <a:t>Develop</a:t>
            </a:r>
            <a:endParaRPr sz="1400" b="0" i="0" u="none" strike="noStrike" cap="none">
              <a:solidFill>
                <a:srgbClr val="000000"/>
              </a:solidFill>
              <a:latin typeface="Arial"/>
              <a:ea typeface="Arial"/>
              <a:cs typeface="Arial"/>
              <a:sym typeface="Arial"/>
            </a:endParaRPr>
          </a:p>
        </p:txBody>
      </p:sp>
      <p:sp>
        <p:nvSpPr>
          <p:cNvPr id="62" name="Google Shape;62;p36"/>
          <p:cNvSpPr/>
          <p:nvPr/>
        </p:nvSpPr>
        <p:spPr>
          <a:xfrm>
            <a:off x="1618488" y="2423160"/>
            <a:ext cx="786384" cy="365760"/>
          </a:xfrm>
          <a:prstGeom prst="roundRect">
            <a:avLst>
              <a:gd name="adj" fmla="val 16667"/>
            </a:avLst>
          </a:prstGeom>
          <a:solidFill>
            <a:srgbClr val="1F3A5F"/>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NXE</a:t>
            </a:r>
            <a:endParaRPr sz="1400" b="0" i="0" u="none" strike="noStrike" cap="none">
              <a:solidFill>
                <a:srgbClr val="000000"/>
              </a:solidFill>
              <a:latin typeface="Arial"/>
              <a:ea typeface="Arial"/>
              <a:cs typeface="Arial"/>
              <a:sym typeface="Arial"/>
            </a:endParaRPr>
          </a:p>
        </p:txBody>
      </p:sp>
      <p:sp>
        <p:nvSpPr>
          <p:cNvPr id="63" name="Google Shape;63;p36"/>
          <p:cNvSpPr/>
          <p:nvPr/>
        </p:nvSpPr>
        <p:spPr>
          <a:xfrm>
            <a:off x="1618488" y="2880360"/>
            <a:ext cx="786384" cy="365760"/>
          </a:xfrm>
          <a:prstGeom prst="roundRect">
            <a:avLst>
              <a:gd name="adj" fmla="val 16667"/>
            </a:avLst>
          </a:prstGeom>
          <a:solidFill>
            <a:srgbClr val="1F3A5F"/>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DNN</a:t>
            </a:r>
            <a:endParaRPr sz="1400" b="0" i="0" u="none" strike="noStrike" cap="none">
              <a:solidFill>
                <a:srgbClr val="000000"/>
              </a:solidFill>
              <a:latin typeface="Arial"/>
              <a:ea typeface="Arial"/>
              <a:cs typeface="Arial"/>
              <a:sym typeface="Arial"/>
            </a:endParaRPr>
          </a:p>
        </p:txBody>
      </p:sp>
      <p:sp>
        <p:nvSpPr>
          <p:cNvPr id="64" name="Google Shape;64;p36"/>
          <p:cNvSpPr/>
          <p:nvPr/>
        </p:nvSpPr>
        <p:spPr>
          <a:xfrm>
            <a:off x="2514600" y="1508760"/>
            <a:ext cx="1078992" cy="640080"/>
          </a:xfrm>
          <a:prstGeom prst="chevron">
            <a:avLst>
              <a:gd name="adj" fmla="val 50000"/>
            </a:avLst>
          </a:prstGeom>
          <a:solidFill>
            <a:srgbClr val="D6DEE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5" name="Google Shape;65;p36"/>
          <p:cNvSpPr txBox="1"/>
          <p:nvPr/>
        </p:nvSpPr>
        <p:spPr>
          <a:xfrm>
            <a:off x="2697480" y="1508760"/>
            <a:ext cx="731520" cy="640080"/>
          </a:xfrm>
          <a:prstGeom prst="rect">
            <a:avLst/>
          </a:prstGeom>
          <a:noFill/>
          <a:ln>
            <a:noFill/>
          </a:ln>
        </p:spPr>
        <p:txBody>
          <a:bodyPr spcFirstLastPara="1" wrap="square" lIns="27425" tIns="27425" rIns="27425" bIns="27425"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1F3A5F"/>
                </a:solidFill>
                <a:latin typeface="Arial"/>
                <a:ea typeface="Arial"/>
                <a:cs typeface="Arial"/>
                <a:sym typeface="Arial"/>
              </a:rPr>
              <a:t>Store</a:t>
            </a:r>
            <a:endParaRPr sz="1400" b="0" i="0" u="none" strike="noStrike" cap="none">
              <a:solidFill>
                <a:srgbClr val="000000"/>
              </a:solidFill>
              <a:latin typeface="Arial"/>
              <a:ea typeface="Arial"/>
              <a:cs typeface="Arial"/>
              <a:sym typeface="Arial"/>
            </a:endParaRPr>
          </a:p>
        </p:txBody>
      </p:sp>
      <p:sp>
        <p:nvSpPr>
          <p:cNvPr id="66" name="Google Shape;66;p36"/>
          <p:cNvSpPr/>
          <p:nvPr/>
        </p:nvSpPr>
        <p:spPr>
          <a:xfrm>
            <a:off x="2624328" y="2423160"/>
            <a:ext cx="786384" cy="365760"/>
          </a:xfrm>
          <a:prstGeom prst="roundRect">
            <a:avLst>
              <a:gd name="adj" fmla="val 16667"/>
            </a:avLst>
          </a:prstGeom>
          <a:solidFill>
            <a:srgbClr val="6E6020"/>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SPUT</a:t>
            </a:r>
            <a:endParaRPr sz="1400" b="0" i="0" u="none" strike="noStrike" cap="none">
              <a:solidFill>
                <a:srgbClr val="000000"/>
              </a:solidFill>
              <a:latin typeface="Arial"/>
              <a:ea typeface="Arial"/>
              <a:cs typeface="Arial"/>
              <a:sym typeface="Arial"/>
            </a:endParaRPr>
          </a:p>
        </p:txBody>
      </p:sp>
      <p:sp>
        <p:nvSpPr>
          <p:cNvPr id="67" name="Google Shape;67;p36"/>
          <p:cNvSpPr/>
          <p:nvPr/>
        </p:nvSpPr>
        <p:spPr>
          <a:xfrm>
            <a:off x="3520440" y="1508760"/>
            <a:ext cx="1078992" cy="640080"/>
          </a:xfrm>
          <a:prstGeom prst="chevron">
            <a:avLst>
              <a:gd name="adj" fmla="val 50000"/>
            </a:avLst>
          </a:prstGeom>
          <a:solidFill>
            <a:srgbClr val="ECE8D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8" name="Google Shape;68;p36"/>
          <p:cNvSpPr txBox="1"/>
          <p:nvPr/>
        </p:nvSpPr>
        <p:spPr>
          <a:xfrm>
            <a:off x="3703320" y="1508760"/>
            <a:ext cx="731520" cy="640080"/>
          </a:xfrm>
          <a:prstGeom prst="rect">
            <a:avLst/>
          </a:prstGeom>
          <a:noFill/>
          <a:ln>
            <a:noFill/>
          </a:ln>
        </p:spPr>
        <p:txBody>
          <a:bodyPr spcFirstLastPara="1" wrap="square" lIns="27425" tIns="27425" rIns="27425" bIns="27425"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6E6020"/>
                </a:solidFill>
                <a:latin typeface="Arial"/>
                <a:ea typeface="Arial"/>
                <a:cs typeface="Arial"/>
                <a:sym typeface="Arial"/>
              </a:rPr>
              <a:t>Convert</a:t>
            </a:r>
            <a:endParaRPr sz="1400" b="0" i="0" u="none" strike="noStrike" cap="none">
              <a:solidFill>
                <a:srgbClr val="000000"/>
              </a:solidFill>
              <a:latin typeface="Arial"/>
              <a:ea typeface="Arial"/>
              <a:cs typeface="Arial"/>
              <a:sym typeface="Arial"/>
            </a:endParaRPr>
          </a:p>
        </p:txBody>
      </p:sp>
      <p:sp>
        <p:nvSpPr>
          <p:cNvPr id="69" name="Google Shape;69;p36"/>
          <p:cNvSpPr/>
          <p:nvPr/>
        </p:nvSpPr>
        <p:spPr>
          <a:xfrm>
            <a:off x="3630168" y="2423160"/>
            <a:ext cx="786384" cy="365760"/>
          </a:xfrm>
          <a:prstGeom prst="roundRect">
            <a:avLst>
              <a:gd name="adj" fmla="val 16667"/>
            </a:avLst>
          </a:prstGeom>
          <a:noFill/>
          <a:ln w="15875" cap="flat" cmpd="sng">
            <a:solidFill>
              <a:srgbClr val="555555"/>
            </a:solidFill>
            <a:prstDash val="solid"/>
            <a:round/>
            <a:headEnd type="none" w="sm" len="sm"/>
            <a:tailEnd type="none" w="sm" len="sm"/>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555555"/>
                </a:solidFill>
                <a:latin typeface="Arial"/>
                <a:ea typeface="Arial"/>
                <a:cs typeface="Arial"/>
                <a:sym typeface="Arial"/>
              </a:rPr>
              <a:t>SOLS</a:t>
            </a:r>
            <a:endParaRPr sz="1400" b="0" i="0" u="none" strike="noStrike" cap="none">
              <a:solidFill>
                <a:srgbClr val="000000"/>
              </a:solidFill>
              <a:latin typeface="Arial"/>
              <a:ea typeface="Arial"/>
              <a:cs typeface="Arial"/>
              <a:sym typeface="Arial"/>
            </a:endParaRPr>
          </a:p>
        </p:txBody>
      </p:sp>
      <p:sp>
        <p:nvSpPr>
          <p:cNvPr id="70" name="Google Shape;70;p36"/>
          <p:cNvSpPr/>
          <p:nvPr/>
        </p:nvSpPr>
        <p:spPr>
          <a:xfrm>
            <a:off x="4526280" y="1508760"/>
            <a:ext cx="1078992" cy="640080"/>
          </a:xfrm>
          <a:prstGeom prst="chevron">
            <a:avLst>
              <a:gd name="adj" fmla="val 50000"/>
            </a:avLst>
          </a:prstGeom>
          <a:solidFill>
            <a:srgbClr val="ECE8D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1" name="Google Shape;71;p36"/>
          <p:cNvSpPr txBox="1"/>
          <p:nvPr/>
        </p:nvSpPr>
        <p:spPr>
          <a:xfrm>
            <a:off x="4709160" y="1508760"/>
            <a:ext cx="731520" cy="640080"/>
          </a:xfrm>
          <a:prstGeom prst="rect">
            <a:avLst/>
          </a:prstGeom>
          <a:noFill/>
          <a:ln>
            <a:noFill/>
          </a:ln>
        </p:spPr>
        <p:txBody>
          <a:bodyPr spcFirstLastPara="1" wrap="square" lIns="27425" tIns="27425" rIns="27425" bIns="27425"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6E6020"/>
                </a:solidFill>
                <a:latin typeface="Arial"/>
                <a:ea typeface="Arial"/>
                <a:cs typeface="Arial"/>
                <a:sym typeface="Arial"/>
              </a:rPr>
              <a:t>Enrich</a:t>
            </a:r>
            <a:endParaRPr sz="1400" b="0" i="0" u="none" strike="noStrike" cap="none">
              <a:solidFill>
                <a:srgbClr val="000000"/>
              </a:solidFill>
              <a:latin typeface="Arial"/>
              <a:ea typeface="Arial"/>
              <a:cs typeface="Arial"/>
              <a:sym typeface="Arial"/>
            </a:endParaRPr>
          </a:p>
        </p:txBody>
      </p:sp>
      <p:sp>
        <p:nvSpPr>
          <p:cNvPr id="72" name="Google Shape;72;p36"/>
          <p:cNvSpPr/>
          <p:nvPr/>
        </p:nvSpPr>
        <p:spPr>
          <a:xfrm>
            <a:off x="4636008" y="2423160"/>
            <a:ext cx="786384" cy="365760"/>
          </a:xfrm>
          <a:prstGeom prst="roundRect">
            <a:avLst>
              <a:gd name="adj" fmla="val 16667"/>
            </a:avLst>
          </a:prstGeom>
          <a:solidFill>
            <a:srgbClr val="6E6020"/>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LEU</a:t>
            </a:r>
            <a:endParaRPr sz="1400" b="0" i="0" u="none" strike="noStrike" cap="none">
              <a:solidFill>
                <a:srgbClr val="000000"/>
              </a:solidFill>
              <a:latin typeface="Arial"/>
              <a:ea typeface="Arial"/>
              <a:cs typeface="Arial"/>
              <a:sym typeface="Arial"/>
            </a:endParaRPr>
          </a:p>
        </p:txBody>
      </p:sp>
      <p:sp>
        <p:nvSpPr>
          <p:cNvPr id="73" name="Google Shape;73;p36"/>
          <p:cNvSpPr/>
          <p:nvPr/>
        </p:nvSpPr>
        <p:spPr>
          <a:xfrm>
            <a:off x="5532120" y="1508760"/>
            <a:ext cx="1078992" cy="640080"/>
          </a:xfrm>
          <a:prstGeom prst="chevron">
            <a:avLst>
              <a:gd name="adj" fmla="val 50000"/>
            </a:avLst>
          </a:prstGeom>
          <a:solidFill>
            <a:srgbClr val="ECE8D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4" name="Google Shape;74;p36"/>
          <p:cNvSpPr txBox="1"/>
          <p:nvPr/>
        </p:nvSpPr>
        <p:spPr>
          <a:xfrm>
            <a:off x="5715000" y="1508760"/>
            <a:ext cx="731520" cy="640080"/>
          </a:xfrm>
          <a:prstGeom prst="rect">
            <a:avLst/>
          </a:prstGeom>
          <a:noFill/>
          <a:ln>
            <a:noFill/>
          </a:ln>
        </p:spPr>
        <p:txBody>
          <a:bodyPr spcFirstLastPara="1" wrap="square" lIns="27425" tIns="27425" rIns="27425" bIns="27425"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6E6020"/>
                </a:solidFill>
                <a:latin typeface="Arial"/>
                <a:ea typeface="Arial"/>
                <a:cs typeface="Arial"/>
                <a:sym typeface="Arial"/>
              </a:rPr>
              <a:t>Fuel</a:t>
            </a:r>
            <a:endParaRPr sz="1400" b="0" i="0" u="none" strike="noStrike" cap="none">
              <a:solidFill>
                <a:srgbClr val="000000"/>
              </a:solidFill>
              <a:latin typeface="Arial"/>
              <a:ea typeface="Arial"/>
              <a:cs typeface="Arial"/>
              <a:sym typeface="Arial"/>
            </a:endParaRPr>
          </a:p>
        </p:txBody>
      </p:sp>
      <p:sp>
        <p:nvSpPr>
          <p:cNvPr id="75" name="Google Shape;75;p36"/>
          <p:cNvSpPr/>
          <p:nvPr/>
        </p:nvSpPr>
        <p:spPr>
          <a:xfrm>
            <a:off x="5641848" y="2423160"/>
            <a:ext cx="786384" cy="365760"/>
          </a:xfrm>
          <a:prstGeom prst="roundRect">
            <a:avLst>
              <a:gd name="adj" fmla="val 16667"/>
            </a:avLst>
          </a:prstGeom>
          <a:solidFill>
            <a:srgbClr val="6E6020"/>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BWXT</a:t>
            </a:r>
            <a:endParaRPr sz="1400" b="0" i="0" u="none" strike="noStrike" cap="none">
              <a:solidFill>
                <a:srgbClr val="000000"/>
              </a:solidFill>
              <a:latin typeface="Arial"/>
              <a:ea typeface="Arial"/>
              <a:cs typeface="Arial"/>
              <a:sym typeface="Arial"/>
            </a:endParaRPr>
          </a:p>
        </p:txBody>
      </p:sp>
      <p:sp>
        <p:nvSpPr>
          <p:cNvPr id="76" name="Google Shape;76;p36"/>
          <p:cNvSpPr/>
          <p:nvPr/>
        </p:nvSpPr>
        <p:spPr>
          <a:xfrm>
            <a:off x="6537960" y="1508760"/>
            <a:ext cx="1078992" cy="640080"/>
          </a:xfrm>
          <a:prstGeom prst="chevron">
            <a:avLst>
              <a:gd name="adj" fmla="val 50000"/>
            </a:avLst>
          </a:prstGeom>
          <a:solidFill>
            <a:srgbClr val="F2DA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7" name="Google Shape;77;p36"/>
          <p:cNvSpPr txBox="1"/>
          <p:nvPr/>
        </p:nvSpPr>
        <p:spPr>
          <a:xfrm>
            <a:off x="6720840" y="1508760"/>
            <a:ext cx="731520" cy="640080"/>
          </a:xfrm>
          <a:prstGeom prst="rect">
            <a:avLst/>
          </a:prstGeom>
          <a:noFill/>
          <a:ln>
            <a:noFill/>
          </a:ln>
        </p:spPr>
        <p:txBody>
          <a:bodyPr spcFirstLastPara="1" wrap="square" lIns="27425" tIns="27425" rIns="27425" bIns="27425"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A23B2A"/>
                </a:solidFill>
                <a:latin typeface="Arial"/>
                <a:ea typeface="Arial"/>
                <a:cs typeface="Arial"/>
                <a:sym typeface="Arial"/>
              </a:rPr>
              <a:t>Plug in</a:t>
            </a:r>
            <a:endParaRPr sz="1400" b="0" i="0" u="none" strike="noStrike" cap="none">
              <a:solidFill>
                <a:srgbClr val="000000"/>
              </a:solidFill>
              <a:latin typeface="Arial"/>
              <a:ea typeface="Arial"/>
              <a:cs typeface="Arial"/>
              <a:sym typeface="Arial"/>
            </a:endParaRPr>
          </a:p>
        </p:txBody>
      </p:sp>
      <p:sp>
        <p:nvSpPr>
          <p:cNvPr id="78" name="Google Shape;78;p36"/>
          <p:cNvSpPr/>
          <p:nvPr/>
        </p:nvSpPr>
        <p:spPr>
          <a:xfrm>
            <a:off x="6647688" y="2423160"/>
            <a:ext cx="786384" cy="365760"/>
          </a:xfrm>
          <a:prstGeom prst="roundRect">
            <a:avLst>
              <a:gd name="adj" fmla="val 16667"/>
            </a:avLst>
          </a:prstGeom>
          <a:solidFill>
            <a:srgbClr val="6E6020"/>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CEG</a:t>
            </a:r>
            <a:endParaRPr sz="1400" b="0" i="0" u="none" strike="noStrike" cap="none">
              <a:solidFill>
                <a:srgbClr val="000000"/>
              </a:solidFill>
              <a:latin typeface="Arial"/>
              <a:ea typeface="Arial"/>
              <a:cs typeface="Arial"/>
              <a:sym typeface="Arial"/>
            </a:endParaRPr>
          </a:p>
        </p:txBody>
      </p:sp>
      <p:sp>
        <p:nvSpPr>
          <p:cNvPr id="79" name="Google Shape;79;p36"/>
          <p:cNvSpPr/>
          <p:nvPr/>
        </p:nvSpPr>
        <p:spPr>
          <a:xfrm>
            <a:off x="7543800" y="1508760"/>
            <a:ext cx="1078992" cy="640080"/>
          </a:xfrm>
          <a:prstGeom prst="chevron">
            <a:avLst>
              <a:gd name="adj" fmla="val 50000"/>
            </a:avLst>
          </a:prstGeom>
          <a:solidFill>
            <a:srgbClr val="F2DA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0" name="Google Shape;80;p36"/>
          <p:cNvSpPr txBox="1"/>
          <p:nvPr/>
        </p:nvSpPr>
        <p:spPr>
          <a:xfrm>
            <a:off x="7726680" y="1508760"/>
            <a:ext cx="731520" cy="640080"/>
          </a:xfrm>
          <a:prstGeom prst="rect">
            <a:avLst/>
          </a:prstGeom>
          <a:noFill/>
          <a:ln>
            <a:noFill/>
          </a:ln>
        </p:spPr>
        <p:txBody>
          <a:bodyPr spcFirstLastPara="1" wrap="square" lIns="27425" tIns="27425" rIns="27425" bIns="27425" anchor="ctr"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rgbClr val="A23B2A"/>
                </a:solidFill>
                <a:latin typeface="Arial"/>
                <a:ea typeface="Arial"/>
                <a:cs typeface="Arial"/>
                <a:sym typeface="Arial"/>
              </a:rPr>
              <a:t>Design</a:t>
            </a:r>
            <a:endParaRPr sz="1400" b="0" i="0" u="none" strike="noStrike" cap="none">
              <a:solidFill>
                <a:srgbClr val="000000"/>
              </a:solidFill>
              <a:latin typeface="Arial"/>
              <a:ea typeface="Arial"/>
              <a:cs typeface="Arial"/>
              <a:sym typeface="Arial"/>
            </a:endParaRPr>
          </a:p>
        </p:txBody>
      </p:sp>
      <p:sp>
        <p:nvSpPr>
          <p:cNvPr id="81" name="Google Shape;81;p36"/>
          <p:cNvSpPr/>
          <p:nvPr/>
        </p:nvSpPr>
        <p:spPr>
          <a:xfrm>
            <a:off x="7653528" y="2423160"/>
            <a:ext cx="786384" cy="365760"/>
          </a:xfrm>
          <a:prstGeom prst="roundRect">
            <a:avLst>
              <a:gd name="adj" fmla="val 16667"/>
            </a:avLst>
          </a:prstGeom>
          <a:solidFill>
            <a:srgbClr val="6E6020"/>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SMR</a:t>
            </a:r>
            <a:endParaRPr sz="1400" b="0" i="0" u="none" strike="noStrike" cap="none">
              <a:solidFill>
                <a:srgbClr val="000000"/>
              </a:solidFill>
              <a:latin typeface="Arial"/>
              <a:ea typeface="Arial"/>
              <a:cs typeface="Arial"/>
              <a:sym typeface="Arial"/>
            </a:endParaRPr>
          </a:p>
        </p:txBody>
      </p:sp>
      <p:sp>
        <p:nvSpPr>
          <p:cNvPr id="82" name="Google Shape;82;p36"/>
          <p:cNvSpPr/>
          <p:nvPr/>
        </p:nvSpPr>
        <p:spPr>
          <a:xfrm>
            <a:off x="7653528" y="2880360"/>
            <a:ext cx="786384" cy="365760"/>
          </a:xfrm>
          <a:prstGeom prst="roundRect">
            <a:avLst>
              <a:gd name="adj" fmla="val 16667"/>
            </a:avLst>
          </a:prstGeom>
          <a:solidFill>
            <a:srgbClr val="6E6020"/>
          </a:solidFill>
          <a:ln>
            <a:noFill/>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OKLO</a:t>
            </a:r>
            <a:endParaRPr sz="1400" b="0" i="0" u="none" strike="noStrike" cap="none">
              <a:solidFill>
                <a:srgbClr val="000000"/>
              </a:solidFill>
              <a:latin typeface="Arial"/>
              <a:ea typeface="Arial"/>
              <a:cs typeface="Arial"/>
              <a:sym typeface="Arial"/>
            </a:endParaRPr>
          </a:p>
        </p:txBody>
      </p:sp>
      <p:sp>
        <p:nvSpPr>
          <p:cNvPr id="83" name="Google Shape;83;p36"/>
          <p:cNvSpPr/>
          <p:nvPr/>
        </p:nvSpPr>
        <p:spPr>
          <a:xfrm>
            <a:off x="548640" y="4983480"/>
            <a:ext cx="201168" cy="201168"/>
          </a:xfrm>
          <a:prstGeom prst="rect">
            <a:avLst/>
          </a:prstGeom>
          <a:solidFill>
            <a:srgbClr val="1F3A5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4" name="Google Shape;84;p36"/>
          <p:cNvSpPr txBox="1"/>
          <p:nvPr/>
        </p:nvSpPr>
        <p:spPr>
          <a:xfrm>
            <a:off x="822960" y="4956048"/>
            <a:ext cx="1737360" cy="27432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222222"/>
                </a:solidFill>
                <a:latin typeface="Arial"/>
                <a:ea typeface="Arial"/>
                <a:cs typeface="Arial"/>
                <a:sym typeface="Arial"/>
              </a:rPr>
              <a:t>Long / Short cohort</a:t>
            </a:r>
            <a:endParaRPr sz="1400" b="0" i="0" u="none" strike="noStrike" cap="none">
              <a:solidFill>
                <a:srgbClr val="000000"/>
              </a:solidFill>
              <a:latin typeface="Arial"/>
              <a:ea typeface="Arial"/>
              <a:cs typeface="Arial"/>
              <a:sym typeface="Arial"/>
            </a:endParaRPr>
          </a:p>
        </p:txBody>
      </p:sp>
      <p:sp>
        <p:nvSpPr>
          <p:cNvPr id="85" name="Google Shape;85;p36"/>
          <p:cNvSpPr/>
          <p:nvPr/>
        </p:nvSpPr>
        <p:spPr>
          <a:xfrm>
            <a:off x="2651760" y="4983480"/>
            <a:ext cx="201168" cy="201168"/>
          </a:xfrm>
          <a:prstGeom prst="rect">
            <a:avLst/>
          </a:prstGeom>
          <a:solidFill>
            <a:srgbClr val="A23B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6" name="Google Shape;86;p36"/>
          <p:cNvSpPr txBox="1"/>
          <p:nvPr/>
        </p:nvSpPr>
        <p:spPr>
          <a:xfrm>
            <a:off x="2926079" y="4956048"/>
            <a:ext cx="1737360" cy="27432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222222"/>
                </a:solidFill>
                <a:latin typeface="Arial"/>
                <a:ea typeface="Arial"/>
                <a:cs typeface="Arial"/>
                <a:sym typeface="Arial"/>
              </a:rPr>
              <a:t>Short pick</a:t>
            </a:r>
            <a:endParaRPr sz="1400" b="0" i="0" u="none" strike="noStrike" cap="none">
              <a:solidFill>
                <a:srgbClr val="000000"/>
              </a:solidFill>
              <a:latin typeface="Arial"/>
              <a:ea typeface="Arial"/>
              <a:cs typeface="Arial"/>
              <a:sym typeface="Arial"/>
            </a:endParaRPr>
          </a:p>
        </p:txBody>
      </p:sp>
      <p:sp>
        <p:nvSpPr>
          <p:cNvPr id="87" name="Google Shape;87;p36"/>
          <p:cNvSpPr/>
          <p:nvPr/>
        </p:nvSpPr>
        <p:spPr>
          <a:xfrm>
            <a:off x="4754879" y="4983480"/>
            <a:ext cx="201168" cy="201168"/>
          </a:xfrm>
          <a:prstGeom prst="rect">
            <a:avLst/>
          </a:prstGeom>
          <a:solidFill>
            <a:srgbClr val="6E602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8" name="Google Shape;88;p36"/>
          <p:cNvSpPr txBox="1"/>
          <p:nvPr/>
        </p:nvSpPr>
        <p:spPr>
          <a:xfrm>
            <a:off x="5029200" y="4956048"/>
            <a:ext cx="1737360" cy="27432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222222"/>
                </a:solidFill>
                <a:latin typeface="Arial"/>
                <a:ea typeface="Arial"/>
                <a:cs typeface="Arial"/>
                <a:sym typeface="Arial"/>
              </a:rPr>
              <a:t>Alternative cohort</a:t>
            </a:r>
            <a:endParaRPr sz="1400" b="0" i="0" u="none" strike="noStrike" cap="none">
              <a:solidFill>
                <a:srgbClr val="000000"/>
              </a:solidFill>
              <a:latin typeface="Arial"/>
              <a:ea typeface="Arial"/>
              <a:cs typeface="Arial"/>
              <a:sym typeface="Arial"/>
            </a:endParaRPr>
          </a:p>
        </p:txBody>
      </p:sp>
      <p:sp>
        <p:nvSpPr>
          <p:cNvPr id="89" name="Google Shape;89;p36"/>
          <p:cNvSpPr/>
          <p:nvPr/>
        </p:nvSpPr>
        <p:spPr>
          <a:xfrm>
            <a:off x="6858000" y="4983480"/>
            <a:ext cx="201168" cy="201168"/>
          </a:xfrm>
          <a:prstGeom prst="rect">
            <a:avLst/>
          </a:prstGeom>
          <a:noFill/>
          <a:ln w="15875" cap="flat" cmpd="sng">
            <a:solidFill>
              <a:srgbClr val="55555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0" name="Google Shape;90;p36"/>
          <p:cNvSpPr txBox="1"/>
          <p:nvPr/>
        </p:nvSpPr>
        <p:spPr>
          <a:xfrm>
            <a:off x="7132320" y="4956048"/>
            <a:ext cx="1645920" cy="27432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222222"/>
                </a:solidFill>
                <a:latin typeface="Arial"/>
                <a:ea typeface="Arial"/>
                <a:cs typeface="Arial"/>
                <a:sym typeface="Arial"/>
              </a:rPr>
              <a:t>Gap: not scored</a:t>
            </a:r>
            <a:endParaRPr sz="1400" b="0" i="0" u="none" strike="noStrike" cap="none">
              <a:solidFill>
                <a:srgbClr val="000000"/>
              </a:solidFill>
              <a:latin typeface="Arial"/>
              <a:ea typeface="Arial"/>
              <a:cs typeface="Arial"/>
              <a:sym typeface="Arial"/>
            </a:endParaRPr>
          </a:p>
        </p:txBody>
      </p:sp>
      <p:sp>
        <p:nvSpPr>
          <p:cNvPr id="91" name="Google Shape;91;p36"/>
          <p:cNvSpPr txBox="1"/>
          <p:nvPr/>
        </p:nvSpPr>
        <p:spPr>
          <a:xfrm>
            <a:off x="548640" y="5486400"/>
            <a:ext cx="8046720" cy="4572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6E6020"/>
                </a:solidFill>
                <a:latin typeface="Arial"/>
                <a:ea typeface="Arial"/>
                <a:cs typeface="Arial"/>
                <a:sym typeface="Arial"/>
              </a:rPr>
              <a:t>Scarcest links: enrichment and grid-connected power.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5"/>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Is the Play Short, Long or Alternative?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Answer: None of the Above.</a:t>
            </a:r>
            <a:endParaRPr sz="2400" b="0" i="0" u="none" strike="noStrike" cap="none">
              <a:solidFill>
                <a:schemeClr val="dk1"/>
              </a:solidFill>
              <a:latin typeface="Calibri"/>
              <a:ea typeface="Calibri"/>
              <a:cs typeface="Calibri"/>
              <a:sym typeface="Calibri"/>
            </a:endParaRPr>
          </a:p>
        </p:txBody>
      </p:sp>
      <p:graphicFrame>
        <p:nvGraphicFramePr>
          <p:cNvPr id="97" name="Google Shape;97;p35"/>
          <p:cNvGraphicFramePr/>
          <p:nvPr/>
        </p:nvGraphicFramePr>
        <p:xfrm>
          <a:off x="548640" y="1234440"/>
          <a:ext cx="8046725" cy="2788950"/>
        </p:xfrm>
        <a:graphic>
          <a:graphicData uri="http://schemas.openxmlformats.org/drawingml/2006/table">
            <a:tbl>
              <a:tblPr>
                <a:noFill/>
                <a:tableStyleId>{67C04448-9542-46E3-BF30-04DBAA183EC1}</a:tableStyleId>
              </a:tblPr>
              <a:tblGrid>
                <a:gridCol w="146305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651750">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tblGrid>
              <a:tr h="457200">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FFFFFF"/>
                          </a:solidFill>
                          <a:latin typeface="Arial"/>
                          <a:ea typeface="Arial"/>
                          <a:cs typeface="Arial"/>
                          <a:sym typeface="Arial"/>
                        </a:rPr>
                        <a:t>Mandate</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FFFFFF"/>
                          </a:solidFill>
                          <a:latin typeface="Arial"/>
                          <a:ea typeface="Arial"/>
                          <a:cs typeface="Arial"/>
                          <a:sym typeface="Arial"/>
                        </a:rPr>
                        <a:t>Call</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FFFFFF"/>
                          </a:solidFill>
                          <a:latin typeface="Arial"/>
                          <a:ea typeface="Arial"/>
                          <a:cs typeface="Arial"/>
                          <a:sym typeface="Arial"/>
                        </a:rPr>
                        <a:t>What would change it</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FFFFFF"/>
                          </a:solidFill>
                          <a:latin typeface="Arial"/>
                          <a:ea typeface="Arial"/>
                          <a:cs typeface="Arial"/>
                          <a:sym typeface="Arial"/>
                        </a:rPr>
                        <a:t>Signed off</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extLst>
                  <a:ext uri="{0D108BD9-81ED-4DB2-BD59-A6C34878D82A}">
                    <a16:rowId xmlns:a16="http://schemas.microsoft.com/office/drawing/2014/main" val="10000"/>
                  </a:ext>
                </a:extLst>
              </a:tr>
              <a:tr h="777250">
                <a:tc>
                  <a:txBody>
                    <a:bodyPr/>
                    <a:lstStyle/>
                    <a:p>
                      <a:pPr marL="0" marR="0" lvl="0" indent="0" algn="l" rtl="0">
                        <a:lnSpc>
                          <a:spcPct val="100000"/>
                        </a:lnSpc>
                        <a:spcBef>
                          <a:spcPts val="0"/>
                        </a:spcBef>
                        <a:spcAft>
                          <a:spcPts val="0"/>
                        </a:spcAft>
                        <a:buClr>
                          <a:srgbClr val="A23B2A"/>
                        </a:buClr>
                        <a:buSzPts val="1600"/>
                        <a:buFont typeface="Arial"/>
                        <a:buNone/>
                      </a:pPr>
                      <a:r>
                        <a:rPr lang="en-US" sz="1300" b="1" i="0" u="none" strike="noStrike" cap="none">
                          <a:solidFill>
                            <a:srgbClr val="A23B2A"/>
                          </a:solidFill>
                          <a:latin typeface="Arial"/>
                          <a:ea typeface="Arial"/>
                          <a:cs typeface="Arial"/>
                          <a:sym typeface="Arial"/>
                        </a:rPr>
                        <a:t>Short</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Watchlist: short UUUU</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VAC terms confirmed</a:t>
                      </a:r>
                      <a:endParaRPr sz="1400" u="none" strike="noStrike" cap="none"/>
                    </a:p>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Exit above $16.12</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Jared Mount</a:t>
                      </a:r>
                      <a:endParaRPr sz="1400" u="none" strike="noStrike" cap="none"/>
                    </a:p>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Sep 26</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777250">
                <a:tc>
                  <a:txBody>
                    <a:bodyPr/>
                    <a:lstStyle/>
                    <a:p>
                      <a:pPr marL="0" marR="0" lvl="0" indent="0" algn="l" rtl="0">
                        <a:lnSpc>
                          <a:spcPct val="100000"/>
                        </a:lnSpc>
                        <a:spcBef>
                          <a:spcPts val="0"/>
                        </a:spcBef>
                        <a:spcAft>
                          <a:spcPts val="0"/>
                        </a:spcAft>
                        <a:buClr>
                          <a:srgbClr val="A23B2A"/>
                        </a:buClr>
                        <a:buSzPts val="1600"/>
                        <a:buFont typeface="Arial"/>
                        <a:buNone/>
                      </a:pPr>
                      <a:r>
                        <a:rPr lang="en-US" sz="1300" b="1" i="0" u="none" strike="noStrike" cap="none">
                          <a:solidFill>
                            <a:srgbClr val="1F3A5F"/>
                          </a:solidFill>
                          <a:latin typeface="Arial"/>
                          <a:ea typeface="Arial"/>
                          <a:cs typeface="Arial"/>
                          <a:sym typeface="Arial"/>
                        </a:rPr>
                        <a:t>Long</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Watchlist: Paladin</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Price ≤ A$8.59</a:t>
                      </a:r>
                      <a:endParaRPr sz="1400" u="none" strike="noStrike" cap="none"/>
                    </a:p>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Or 20% upside on re-test</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Xiaowen Chen</a:t>
                      </a:r>
                      <a:endParaRPr sz="1400" u="none" strike="noStrike" cap="none"/>
                    </a:p>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Sep 27</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extLst>
                  <a:ext uri="{0D108BD9-81ED-4DB2-BD59-A6C34878D82A}">
                    <a16:rowId xmlns:a16="http://schemas.microsoft.com/office/drawing/2014/main" val="10002"/>
                  </a:ext>
                </a:extLst>
              </a:tr>
              <a:tr h="777250">
                <a:tc>
                  <a:txBody>
                    <a:bodyPr/>
                    <a:lstStyle/>
                    <a:p>
                      <a:pPr marL="0" marR="0" lvl="0" indent="0" algn="l" rtl="0">
                        <a:lnSpc>
                          <a:spcPct val="100000"/>
                        </a:lnSpc>
                        <a:spcBef>
                          <a:spcPts val="0"/>
                        </a:spcBef>
                        <a:spcAft>
                          <a:spcPts val="0"/>
                        </a:spcAft>
                        <a:buClr>
                          <a:srgbClr val="A23B2A"/>
                        </a:buClr>
                        <a:buSzPts val="1600"/>
                        <a:buFont typeface="Arial"/>
                        <a:buNone/>
                      </a:pPr>
                      <a:r>
                        <a:rPr lang="en-US" sz="1300" b="1" i="0" u="none" strike="noStrike" cap="none">
                          <a:solidFill>
                            <a:srgbClr val="6E6020"/>
                          </a:solidFill>
                          <a:latin typeface="Arial"/>
                          <a:ea typeface="Arial"/>
                          <a:cs typeface="Arial"/>
                          <a:sym typeface="Arial"/>
                        </a:rPr>
                        <a:t>Alternative</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Watchlist: BWXT</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Price near $133</a:t>
                      </a:r>
                      <a:endParaRPr sz="1400" u="none" strike="noStrike" cap="none"/>
                    </a:p>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Or a higher target</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Shawyan Tabari</a:t>
                      </a:r>
                      <a:endParaRPr sz="1400" u="none" strike="noStrike" cap="none"/>
                    </a:p>
                    <a:p>
                      <a:pPr marL="0" marR="0" lvl="0" indent="0" algn="l" rtl="0">
                        <a:lnSpc>
                          <a:spcPct val="100000"/>
                        </a:lnSpc>
                        <a:spcBef>
                          <a:spcPts val="0"/>
                        </a:spcBef>
                        <a:spcAft>
                          <a:spcPts val="0"/>
                        </a:spcAft>
                        <a:buClr>
                          <a:srgbClr val="222222"/>
                        </a:buClr>
                        <a:buSzPts val="1600"/>
                        <a:buFont typeface="Arial"/>
                        <a:buNone/>
                      </a:pPr>
                      <a:r>
                        <a:rPr lang="en-US" sz="1300" b="0" i="0" u="none" strike="noStrike" cap="none">
                          <a:solidFill>
                            <a:srgbClr val="222222"/>
                          </a:solidFill>
                          <a:latin typeface="Arial"/>
                          <a:ea typeface="Arial"/>
                          <a:cs typeface="Arial"/>
                          <a:sym typeface="Arial"/>
                        </a:rPr>
                        <a:t>Sep 28</a:t>
                      </a:r>
                      <a:endParaRPr sz="1400" u="none" strike="noStrike" cap="none"/>
                    </a:p>
                  </a:txBody>
                  <a:tcPr marL="91450"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pic>
        <p:nvPicPr>
          <p:cNvPr id="98" name="Google Shape;98;p35"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99" name="Google Shape;99;p35"/>
          <p:cNvSpPr txBox="1"/>
          <p:nvPr/>
        </p:nvSpPr>
        <p:spPr>
          <a:xfrm>
            <a:off x="524865" y="4570849"/>
            <a:ext cx="8046600" cy="671100"/>
          </a:xfrm>
          <a:prstGeom prst="rect">
            <a:avLst/>
          </a:prstGeom>
          <a:noFill/>
          <a:ln>
            <a:noFill/>
          </a:ln>
        </p:spPr>
        <p:txBody>
          <a:bodyPr spcFirstLastPara="1" wrap="square" lIns="27425" tIns="27425" rIns="27425" bIns="27425"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a:solidFill>
                  <a:srgbClr val="1F3A5F"/>
                </a:solidFill>
                <a:latin typeface="Arial"/>
                <a:ea typeface="Arial"/>
                <a:cs typeface="Arial"/>
                <a:sym typeface="Arial"/>
              </a:rPr>
              <a:t>No link in the chain clears our bar yet: </a:t>
            </a:r>
            <a:endParaRPr sz="2000" b="1" i="0" u="none" strike="noStrike" cap="none">
              <a:solidFill>
                <a:srgbClr val="1F3A5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a:solidFill>
                  <a:srgbClr val="1F3A5F"/>
                </a:solidFill>
                <a:latin typeface="Arial"/>
                <a:ea typeface="Arial"/>
                <a:cs typeface="Arial"/>
                <a:sym typeface="Arial"/>
              </a:rPr>
              <a:t>mining, fuel and reactors all rank Watchlist. </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
        <p:cNvGrpSpPr/>
        <p:nvPr/>
      </p:nvGrpSpPr>
      <p:grpSpPr>
        <a:xfrm>
          <a:off x="0" y="0"/>
          <a:ext cx="0" cy="0"/>
          <a:chOff x="0" y="0"/>
          <a:chExt cx="0" cy="0"/>
        </a:xfrm>
      </p:grpSpPr>
      <p:sp>
        <p:nvSpPr>
          <p:cNvPr id="104" name="Google Shape;104;p9"/>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How we worked</a:t>
            </a:r>
            <a:endParaRPr sz="2400" b="0" i="0" u="none" strike="noStrike" cap="none">
              <a:solidFill>
                <a:schemeClr val="dk1"/>
              </a:solidFill>
              <a:latin typeface="Calibri"/>
              <a:ea typeface="Calibri"/>
              <a:cs typeface="Calibri"/>
              <a:sym typeface="Calibri"/>
            </a:endParaRPr>
          </a:p>
        </p:txBody>
      </p:sp>
      <p:pic>
        <p:nvPicPr>
          <p:cNvPr id="105" name="Google Shape;105;p9"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106" name="Google Shape;106;p9"/>
          <p:cNvSpPr txBox="1"/>
          <p:nvPr/>
        </p:nvSpPr>
        <p:spPr>
          <a:xfrm>
            <a:off x="548640" y="914400"/>
            <a:ext cx="804672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2000"/>
              <a:buFont typeface="Arial"/>
              <a:buNone/>
            </a:pPr>
            <a:r>
              <a:rPr lang="en-US" sz="2000" b="0" i="0" u="none" strike="noStrike" cap="none">
                <a:solidFill>
                  <a:srgbClr val="555555"/>
                </a:solidFill>
                <a:latin typeface="Arial"/>
                <a:ea typeface="Arial"/>
                <a:cs typeface="Arial"/>
                <a:sym typeface="Arial"/>
              </a:rPr>
              <a:t>Claude on our shared drive; the analysts own every call</a:t>
            </a:r>
            <a:endParaRPr sz="2000" b="0" i="0" u="none" strike="noStrike" cap="none">
              <a:solidFill>
                <a:schemeClr val="dk1"/>
              </a:solidFill>
              <a:latin typeface="Calibri"/>
              <a:ea typeface="Calibri"/>
              <a:cs typeface="Calibri"/>
              <a:sym typeface="Calibri"/>
            </a:endParaRPr>
          </a:p>
        </p:txBody>
      </p:sp>
      <p:sp>
        <p:nvSpPr>
          <p:cNvPr id="107" name="Google Shape;107;p9"/>
          <p:cNvSpPr/>
          <p:nvPr/>
        </p:nvSpPr>
        <p:spPr>
          <a:xfrm>
            <a:off x="548640" y="1508760"/>
            <a:ext cx="8046720" cy="822960"/>
          </a:xfrm>
          <a:prstGeom prst="roundRect">
            <a:avLst>
              <a:gd name="adj" fmla="val 11111"/>
            </a:avLst>
          </a:prstGeom>
          <a:solidFill>
            <a:srgbClr val="EEF1F5"/>
          </a:solidFill>
          <a:ln w="12700" cap="flat" cmpd="sng">
            <a:solidFill>
              <a:srgbClr val="EEF1F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9"/>
          <p:cNvSpPr txBox="1"/>
          <p:nvPr/>
        </p:nvSpPr>
        <p:spPr>
          <a:xfrm>
            <a:off x="685800" y="1508760"/>
            <a:ext cx="36576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400"/>
              <a:buFont typeface="Arial"/>
              <a:buNone/>
            </a:pPr>
            <a:r>
              <a:rPr lang="en-US" sz="2400" b="1" i="0" u="none" strike="noStrike" cap="none">
                <a:solidFill>
                  <a:srgbClr val="1F3A5F"/>
                </a:solidFill>
                <a:latin typeface="Arial"/>
                <a:ea typeface="Arial"/>
                <a:cs typeface="Arial"/>
                <a:sym typeface="Arial"/>
              </a:rPr>
              <a:t>1</a:t>
            </a:r>
            <a:endParaRPr sz="2400" b="0" i="0" u="none" strike="noStrike" cap="none">
              <a:solidFill>
                <a:schemeClr val="dk1"/>
              </a:solidFill>
              <a:latin typeface="Calibri"/>
              <a:ea typeface="Calibri"/>
              <a:cs typeface="Calibri"/>
              <a:sym typeface="Calibri"/>
            </a:endParaRPr>
          </a:p>
        </p:txBody>
      </p:sp>
      <p:sp>
        <p:nvSpPr>
          <p:cNvPr id="109" name="Google Shape;109;p9"/>
          <p:cNvSpPr/>
          <p:nvPr/>
        </p:nvSpPr>
        <p:spPr>
          <a:xfrm>
            <a:off x="1097280" y="1664208"/>
            <a:ext cx="512064" cy="512064"/>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0" name="Google Shape;110;p9" descr="preencoded.png"/>
          <p:cNvPicPr preferRelativeResize="0"/>
          <p:nvPr/>
        </p:nvPicPr>
        <p:blipFill rotWithShape="1">
          <a:blip r:embed="rId4">
            <a:alphaModFix/>
          </a:blip>
          <a:srcRect/>
          <a:stretch/>
        </p:blipFill>
        <p:spPr>
          <a:xfrm>
            <a:off x="1240658" y="1807586"/>
            <a:ext cx="225308" cy="225308"/>
          </a:xfrm>
          <a:prstGeom prst="rect">
            <a:avLst/>
          </a:prstGeom>
          <a:noFill/>
          <a:ln>
            <a:noFill/>
          </a:ln>
        </p:spPr>
      </p:pic>
      <p:sp>
        <p:nvSpPr>
          <p:cNvPr id="111" name="Google Shape;111;p9"/>
          <p:cNvSpPr txBox="1"/>
          <p:nvPr/>
        </p:nvSpPr>
        <p:spPr>
          <a:xfrm>
            <a:off x="1828800" y="1508760"/>
            <a:ext cx="301752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Research</a:t>
            </a:r>
            <a:endParaRPr sz="2000" b="0" i="0" u="none" strike="noStrike" cap="none">
              <a:solidFill>
                <a:schemeClr val="dk1"/>
              </a:solidFill>
              <a:latin typeface="Calibri"/>
              <a:ea typeface="Calibri"/>
              <a:cs typeface="Calibri"/>
              <a:sym typeface="Calibri"/>
            </a:endParaRPr>
          </a:p>
        </p:txBody>
      </p:sp>
      <p:sp>
        <p:nvSpPr>
          <p:cNvPr id="112" name="Google Shape;112;p9"/>
          <p:cNvSpPr txBox="1"/>
          <p:nvPr/>
        </p:nvSpPr>
        <p:spPr>
          <a:xfrm>
            <a:off x="4846320" y="1508760"/>
            <a:ext cx="36576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latin typeface="Arial"/>
                <a:ea typeface="Arial"/>
                <a:cs typeface="Arial"/>
                <a:sym typeface="Arial"/>
              </a:rPr>
              <a:t>Score every company, with sources</a:t>
            </a:r>
            <a:endParaRPr sz="1800" b="0" i="0" u="none" strike="noStrike" cap="none">
              <a:solidFill>
                <a:schemeClr val="dk1"/>
              </a:solidFill>
              <a:latin typeface="Calibri"/>
              <a:ea typeface="Calibri"/>
              <a:cs typeface="Calibri"/>
              <a:sym typeface="Calibri"/>
            </a:endParaRPr>
          </a:p>
        </p:txBody>
      </p:sp>
      <p:sp>
        <p:nvSpPr>
          <p:cNvPr id="113" name="Google Shape;113;p9"/>
          <p:cNvSpPr/>
          <p:nvPr/>
        </p:nvSpPr>
        <p:spPr>
          <a:xfrm>
            <a:off x="548640" y="2441448"/>
            <a:ext cx="8046720" cy="822960"/>
          </a:xfrm>
          <a:prstGeom prst="roundRect">
            <a:avLst>
              <a:gd name="adj" fmla="val 11111"/>
            </a:avLst>
          </a:prstGeom>
          <a:solidFill>
            <a:srgbClr val="EEF1F5"/>
          </a:solidFill>
          <a:ln w="12700" cap="flat" cmpd="sng">
            <a:solidFill>
              <a:srgbClr val="EEF1F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9"/>
          <p:cNvSpPr txBox="1"/>
          <p:nvPr/>
        </p:nvSpPr>
        <p:spPr>
          <a:xfrm>
            <a:off x="685800" y="2441448"/>
            <a:ext cx="36576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400"/>
              <a:buFont typeface="Arial"/>
              <a:buNone/>
            </a:pPr>
            <a:r>
              <a:rPr lang="en-US" sz="2400" b="1" i="0" u="none" strike="noStrike" cap="none">
                <a:solidFill>
                  <a:srgbClr val="1F3A5F"/>
                </a:solidFill>
                <a:latin typeface="Arial"/>
                <a:ea typeface="Arial"/>
                <a:cs typeface="Arial"/>
                <a:sym typeface="Arial"/>
              </a:rPr>
              <a:t>2</a:t>
            </a:r>
            <a:endParaRPr sz="2400" b="0" i="0" u="none" strike="noStrike" cap="none">
              <a:solidFill>
                <a:schemeClr val="dk1"/>
              </a:solidFill>
              <a:latin typeface="Calibri"/>
              <a:ea typeface="Calibri"/>
              <a:cs typeface="Calibri"/>
              <a:sym typeface="Calibri"/>
            </a:endParaRPr>
          </a:p>
        </p:txBody>
      </p:sp>
      <p:sp>
        <p:nvSpPr>
          <p:cNvPr id="115" name="Google Shape;115;p9"/>
          <p:cNvSpPr/>
          <p:nvPr/>
        </p:nvSpPr>
        <p:spPr>
          <a:xfrm>
            <a:off x="1097280" y="2596896"/>
            <a:ext cx="512064" cy="512064"/>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6" name="Google Shape;116;p9" descr="preencoded.png"/>
          <p:cNvPicPr preferRelativeResize="0"/>
          <p:nvPr/>
        </p:nvPicPr>
        <p:blipFill rotWithShape="1">
          <a:blip r:embed="rId5">
            <a:alphaModFix/>
          </a:blip>
          <a:srcRect/>
          <a:stretch/>
        </p:blipFill>
        <p:spPr>
          <a:xfrm>
            <a:off x="1240658" y="2740274"/>
            <a:ext cx="225308" cy="225308"/>
          </a:xfrm>
          <a:prstGeom prst="rect">
            <a:avLst/>
          </a:prstGeom>
          <a:noFill/>
          <a:ln>
            <a:noFill/>
          </a:ln>
        </p:spPr>
      </p:pic>
      <p:sp>
        <p:nvSpPr>
          <p:cNvPr id="117" name="Google Shape;117;p9"/>
          <p:cNvSpPr txBox="1"/>
          <p:nvPr/>
        </p:nvSpPr>
        <p:spPr>
          <a:xfrm>
            <a:off x="1828800" y="2441448"/>
            <a:ext cx="301752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Council review</a:t>
            </a:r>
            <a:endParaRPr sz="2000" b="0" i="0" u="none" strike="noStrike" cap="none">
              <a:solidFill>
                <a:schemeClr val="dk1"/>
              </a:solidFill>
              <a:latin typeface="Calibri"/>
              <a:ea typeface="Calibri"/>
              <a:cs typeface="Calibri"/>
              <a:sym typeface="Calibri"/>
            </a:endParaRPr>
          </a:p>
        </p:txBody>
      </p:sp>
      <p:sp>
        <p:nvSpPr>
          <p:cNvPr id="118" name="Google Shape;118;p9"/>
          <p:cNvSpPr txBox="1"/>
          <p:nvPr/>
        </p:nvSpPr>
        <p:spPr>
          <a:xfrm>
            <a:off x="4846320" y="2441448"/>
            <a:ext cx="36576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latin typeface="Arial"/>
                <a:ea typeface="Arial"/>
                <a:cs typeface="Arial"/>
                <a:sym typeface="Arial"/>
              </a:rPr>
              <a:t>Five AI personas challenge each call</a:t>
            </a:r>
            <a:endParaRPr sz="1800" b="0" i="0" u="none" strike="noStrike" cap="none">
              <a:solidFill>
                <a:schemeClr val="dk1"/>
              </a:solidFill>
              <a:latin typeface="Calibri"/>
              <a:ea typeface="Calibri"/>
              <a:cs typeface="Calibri"/>
              <a:sym typeface="Calibri"/>
            </a:endParaRPr>
          </a:p>
        </p:txBody>
      </p:sp>
      <p:sp>
        <p:nvSpPr>
          <p:cNvPr id="119" name="Google Shape;119;p9"/>
          <p:cNvSpPr/>
          <p:nvPr/>
        </p:nvSpPr>
        <p:spPr>
          <a:xfrm>
            <a:off x="548640" y="3374136"/>
            <a:ext cx="8046720" cy="822960"/>
          </a:xfrm>
          <a:prstGeom prst="roundRect">
            <a:avLst>
              <a:gd name="adj" fmla="val 11111"/>
            </a:avLst>
          </a:prstGeom>
          <a:solidFill>
            <a:srgbClr val="EEF1F5"/>
          </a:solidFill>
          <a:ln w="12700" cap="flat" cmpd="sng">
            <a:solidFill>
              <a:srgbClr val="EEF1F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9"/>
          <p:cNvSpPr txBox="1"/>
          <p:nvPr/>
        </p:nvSpPr>
        <p:spPr>
          <a:xfrm>
            <a:off x="685800" y="3374136"/>
            <a:ext cx="36576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400"/>
              <a:buFont typeface="Arial"/>
              <a:buNone/>
            </a:pPr>
            <a:r>
              <a:rPr lang="en-US" sz="2400" b="1" i="0" u="none" strike="noStrike" cap="none">
                <a:solidFill>
                  <a:srgbClr val="1F3A5F"/>
                </a:solidFill>
                <a:latin typeface="Arial"/>
                <a:ea typeface="Arial"/>
                <a:cs typeface="Arial"/>
                <a:sym typeface="Arial"/>
              </a:rPr>
              <a:t>3</a:t>
            </a:r>
            <a:endParaRPr sz="2400" b="0" i="0" u="none" strike="noStrike" cap="none">
              <a:solidFill>
                <a:schemeClr val="dk1"/>
              </a:solidFill>
              <a:latin typeface="Calibri"/>
              <a:ea typeface="Calibri"/>
              <a:cs typeface="Calibri"/>
              <a:sym typeface="Calibri"/>
            </a:endParaRPr>
          </a:p>
        </p:txBody>
      </p:sp>
      <p:sp>
        <p:nvSpPr>
          <p:cNvPr id="121" name="Google Shape;121;p9"/>
          <p:cNvSpPr/>
          <p:nvPr/>
        </p:nvSpPr>
        <p:spPr>
          <a:xfrm>
            <a:off x="1097280" y="3529584"/>
            <a:ext cx="512064" cy="512064"/>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2" name="Google Shape;122;p9" descr="preencoded.png"/>
          <p:cNvPicPr preferRelativeResize="0"/>
          <p:nvPr/>
        </p:nvPicPr>
        <p:blipFill rotWithShape="1">
          <a:blip r:embed="rId6">
            <a:alphaModFix/>
          </a:blip>
          <a:srcRect/>
          <a:stretch/>
        </p:blipFill>
        <p:spPr>
          <a:xfrm>
            <a:off x="1240658" y="3672962"/>
            <a:ext cx="225308" cy="225308"/>
          </a:xfrm>
          <a:prstGeom prst="rect">
            <a:avLst/>
          </a:prstGeom>
          <a:noFill/>
          <a:ln>
            <a:noFill/>
          </a:ln>
        </p:spPr>
      </p:pic>
      <p:sp>
        <p:nvSpPr>
          <p:cNvPr id="123" name="Google Shape;123;p9"/>
          <p:cNvSpPr txBox="1"/>
          <p:nvPr/>
        </p:nvSpPr>
        <p:spPr>
          <a:xfrm>
            <a:off x="1828800" y="3374136"/>
            <a:ext cx="301752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Human sign-off</a:t>
            </a:r>
            <a:endParaRPr sz="2000" b="0" i="0" u="none" strike="noStrike" cap="none">
              <a:solidFill>
                <a:schemeClr val="dk1"/>
              </a:solidFill>
              <a:latin typeface="Calibri"/>
              <a:ea typeface="Calibri"/>
              <a:cs typeface="Calibri"/>
              <a:sym typeface="Calibri"/>
            </a:endParaRPr>
          </a:p>
        </p:txBody>
      </p:sp>
      <p:sp>
        <p:nvSpPr>
          <p:cNvPr id="124" name="Google Shape;124;p9"/>
          <p:cNvSpPr txBox="1"/>
          <p:nvPr/>
        </p:nvSpPr>
        <p:spPr>
          <a:xfrm>
            <a:off x="4846320" y="3374136"/>
            <a:ext cx="36576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latin typeface="Arial"/>
                <a:ea typeface="Arial"/>
                <a:cs typeface="Arial"/>
                <a:sym typeface="Arial"/>
              </a:rPr>
              <a:t>The analyst, as chair, makes the call</a:t>
            </a:r>
            <a:endParaRPr sz="1800" b="0" i="0" u="none" strike="noStrike" cap="none">
              <a:solidFill>
                <a:schemeClr val="dk1"/>
              </a:solidFill>
              <a:latin typeface="Calibri"/>
              <a:ea typeface="Calibri"/>
              <a:cs typeface="Calibri"/>
              <a:sym typeface="Calibri"/>
            </a:endParaRPr>
          </a:p>
        </p:txBody>
      </p:sp>
      <p:sp>
        <p:nvSpPr>
          <p:cNvPr id="125" name="Google Shape;125;p9"/>
          <p:cNvSpPr/>
          <p:nvPr/>
        </p:nvSpPr>
        <p:spPr>
          <a:xfrm>
            <a:off x="548640" y="4306824"/>
            <a:ext cx="8046720" cy="822960"/>
          </a:xfrm>
          <a:prstGeom prst="roundRect">
            <a:avLst>
              <a:gd name="adj" fmla="val 11111"/>
            </a:avLst>
          </a:prstGeom>
          <a:solidFill>
            <a:srgbClr val="EEF1F5"/>
          </a:solidFill>
          <a:ln w="12700" cap="flat" cmpd="sng">
            <a:solidFill>
              <a:srgbClr val="EEF1F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9"/>
          <p:cNvSpPr txBox="1"/>
          <p:nvPr/>
        </p:nvSpPr>
        <p:spPr>
          <a:xfrm>
            <a:off x="685800" y="4306824"/>
            <a:ext cx="36576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400"/>
              <a:buFont typeface="Arial"/>
              <a:buNone/>
            </a:pPr>
            <a:r>
              <a:rPr lang="en-US" sz="2400" b="1" i="0" u="none" strike="noStrike" cap="none">
                <a:solidFill>
                  <a:srgbClr val="1F3A5F"/>
                </a:solidFill>
                <a:latin typeface="Arial"/>
                <a:ea typeface="Arial"/>
                <a:cs typeface="Arial"/>
                <a:sym typeface="Arial"/>
              </a:rPr>
              <a:t>4</a:t>
            </a:r>
            <a:endParaRPr sz="2400" b="0" i="0" u="none" strike="noStrike" cap="none">
              <a:solidFill>
                <a:schemeClr val="dk1"/>
              </a:solidFill>
              <a:latin typeface="Calibri"/>
              <a:ea typeface="Calibri"/>
              <a:cs typeface="Calibri"/>
              <a:sym typeface="Calibri"/>
            </a:endParaRPr>
          </a:p>
        </p:txBody>
      </p:sp>
      <p:sp>
        <p:nvSpPr>
          <p:cNvPr id="127" name="Google Shape;127;p9"/>
          <p:cNvSpPr/>
          <p:nvPr/>
        </p:nvSpPr>
        <p:spPr>
          <a:xfrm>
            <a:off x="1097280" y="4462272"/>
            <a:ext cx="512064" cy="512064"/>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8" name="Google Shape;128;p9" descr="preencoded.png"/>
          <p:cNvPicPr preferRelativeResize="0"/>
          <p:nvPr/>
        </p:nvPicPr>
        <p:blipFill rotWithShape="1">
          <a:blip r:embed="rId7">
            <a:alphaModFix/>
          </a:blip>
          <a:srcRect/>
          <a:stretch/>
        </p:blipFill>
        <p:spPr>
          <a:xfrm>
            <a:off x="1240658" y="4605650"/>
            <a:ext cx="225308" cy="225308"/>
          </a:xfrm>
          <a:prstGeom prst="rect">
            <a:avLst/>
          </a:prstGeom>
          <a:noFill/>
          <a:ln>
            <a:noFill/>
          </a:ln>
        </p:spPr>
      </p:pic>
      <p:sp>
        <p:nvSpPr>
          <p:cNvPr id="129" name="Google Shape;129;p9"/>
          <p:cNvSpPr txBox="1"/>
          <p:nvPr/>
        </p:nvSpPr>
        <p:spPr>
          <a:xfrm>
            <a:off x="1828800" y="4306824"/>
            <a:ext cx="301752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Log it</a:t>
            </a:r>
            <a:endParaRPr sz="2000" b="0" i="0" u="none" strike="noStrike" cap="none">
              <a:solidFill>
                <a:schemeClr val="dk1"/>
              </a:solidFill>
              <a:latin typeface="Calibri"/>
              <a:ea typeface="Calibri"/>
              <a:cs typeface="Calibri"/>
              <a:sym typeface="Calibri"/>
            </a:endParaRPr>
          </a:p>
        </p:txBody>
      </p:sp>
      <p:sp>
        <p:nvSpPr>
          <p:cNvPr id="130" name="Google Shape;130;p9"/>
          <p:cNvSpPr txBox="1"/>
          <p:nvPr/>
        </p:nvSpPr>
        <p:spPr>
          <a:xfrm>
            <a:off x="4846320" y="4306824"/>
            <a:ext cx="36576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latin typeface="Arial"/>
                <a:ea typeface="Arial"/>
                <a:cs typeface="Arial"/>
                <a:sym typeface="Arial"/>
              </a:rPr>
              <a:t>Every decision in a shared ledger</a:t>
            </a:r>
            <a:endParaRPr sz="1800" b="0" i="0" u="none" strike="noStrike" cap="none">
              <a:solidFill>
                <a:schemeClr val="dk1"/>
              </a:solidFill>
              <a:latin typeface="Calibri"/>
              <a:ea typeface="Calibri"/>
              <a:cs typeface="Calibri"/>
              <a:sym typeface="Calibri"/>
            </a:endParaRPr>
          </a:p>
        </p:txBody>
      </p:sp>
      <p:sp>
        <p:nvSpPr>
          <p:cNvPr id="131" name="Google Shape;131;p9"/>
          <p:cNvSpPr/>
          <p:nvPr/>
        </p:nvSpPr>
        <p:spPr>
          <a:xfrm>
            <a:off x="548640" y="5330952"/>
            <a:ext cx="8046720" cy="640080"/>
          </a:xfrm>
          <a:prstGeom prst="roundRect">
            <a:avLst>
              <a:gd name="adj" fmla="val 14286"/>
            </a:avLst>
          </a:prstGeom>
          <a:solidFill>
            <a:srgbClr val="F4F1E3"/>
          </a:solidFill>
          <a:ln w="12700" cap="flat" cmpd="sng">
            <a:solidFill>
              <a:srgbClr val="F4F1E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9"/>
          <p:cNvSpPr txBox="1"/>
          <p:nvPr/>
        </p:nvSpPr>
        <p:spPr>
          <a:xfrm>
            <a:off x="731520" y="5330952"/>
            <a:ext cx="7680960" cy="6400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Tools: Claude + shared Google Drive · Check: GPT Sol 6.0</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p:cNvGrpSpPr/>
        <p:nvPr/>
      </p:nvGrpSpPr>
      <p:grpSpPr>
        <a:xfrm>
          <a:off x="0" y="0"/>
          <a:ext cx="0" cy="0"/>
          <a:chOff x="0" y="0"/>
          <a:chExt cx="0" cy="0"/>
        </a:xfrm>
      </p:grpSpPr>
      <p:sp>
        <p:nvSpPr>
          <p:cNvPr id="137" name="Google Shape;137;p13"/>
          <p:cNvSpPr/>
          <p:nvPr/>
        </p:nvSpPr>
        <p:spPr>
          <a:xfrm>
            <a:off x="548640" y="2788920"/>
            <a:ext cx="109728" cy="1280160"/>
          </a:xfrm>
          <a:prstGeom prst="rect">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8" name="Google Shape;138;p13"/>
          <p:cNvSpPr txBox="1"/>
          <p:nvPr/>
        </p:nvSpPr>
        <p:spPr>
          <a:xfrm>
            <a:off x="868680" y="2651760"/>
            <a:ext cx="7680960" cy="1554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Arial"/>
                <a:ea typeface="Arial"/>
                <a:cs typeface="Arial"/>
                <a:sym typeface="Arial"/>
              </a:rPr>
              <a:t>Evaluation Criteria</a:t>
            </a:r>
            <a:endParaRPr sz="3600" b="0" i="0" u="none" strike="noStrike" cap="none">
              <a:solidFill>
                <a:schemeClr val="dk1"/>
              </a:solidFill>
              <a:latin typeface="Calibri"/>
              <a:ea typeface="Calibri"/>
              <a:cs typeface="Calibri"/>
              <a:sym typeface="Calibri"/>
            </a:endParaRPr>
          </a:p>
        </p:txBody>
      </p:sp>
      <p:pic>
        <p:nvPicPr>
          <p:cNvPr id="139" name="Google Shape;139;p13"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3"/>
        <p:cNvGrpSpPr/>
        <p:nvPr/>
      </p:nvGrpSpPr>
      <p:grpSpPr>
        <a:xfrm>
          <a:off x="0" y="0"/>
          <a:ext cx="0" cy="0"/>
          <a:chOff x="0" y="0"/>
          <a:chExt cx="0" cy="0"/>
        </a:xfrm>
      </p:grpSpPr>
      <p:sp>
        <p:nvSpPr>
          <p:cNvPr id="144" name="Google Shape;144;p14"/>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How we pick stocks</a:t>
            </a:r>
            <a:endParaRPr sz="2400" b="0" i="0" u="none" strike="noStrike" cap="none">
              <a:solidFill>
                <a:schemeClr val="dk1"/>
              </a:solidFill>
              <a:latin typeface="Calibri"/>
              <a:ea typeface="Calibri"/>
              <a:cs typeface="Calibri"/>
              <a:sym typeface="Calibri"/>
            </a:endParaRPr>
          </a:p>
        </p:txBody>
      </p:sp>
      <p:pic>
        <p:nvPicPr>
          <p:cNvPr id="145" name="Google Shape;145;p14"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146" name="Google Shape;146;p14"/>
          <p:cNvSpPr txBox="1"/>
          <p:nvPr/>
        </p:nvSpPr>
        <p:spPr>
          <a:xfrm>
            <a:off x="548640" y="914400"/>
            <a:ext cx="804672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2000"/>
              <a:buFont typeface="Arial"/>
              <a:buNone/>
            </a:pPr>
            <a:r>
              <a:rPr lang="en-US" sz="2000" b="0" i="0" u="none" strike="noStrike" cap="none">
                <a:solidFill>
                  <a:srgbClr val="555555"/>
                </a:solidFill>
                <a:latin typeface="Arial"/>
                <a:ea typeface="Arial"/>
                <a:cs typeface="Arial"/>
                <a:sym typeface="Arial"/>
              </a:rPr>
              <a:t>One set of criteria, three ways to use it</a:t>
            </a:r>
            <a:endParaRPr sz="2000" b="0" i="0" u="none" strike="noStrike" cap="none">
              <a:solidFill>
                <a:schemeClr val="dk1"/>
              </a:solidFill>
              <a:latin typeface="Calibri"/>
              <a:ea typeface="Calibri"/>
              <a:cs typeface="Calibri"/>
              <a:sym typeface="Calibri"/>
            </a:endParaRPr>
          </a:p>
        </p:txBody>
      </p:sp>
      <p:sp>
        <p:nvSpPr>
          <p:cNvPr id="147" name="Google Shape;147;p14"/>
          <p:cNvSpPr txBox="1"/>
          <p:nvPr/>
        </p:nvSpPr>
        <p:spPr>
          <a:xfrm>
            <a:off x="457200" y="2328624"/>
            <a:ext cx="1920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1  Screen</a:t>
            </a:r>
            <a:endParaRPr sz="2000" b="0" i="0" u="none" strike="noStrike" cap="none">
              <a:solidFill>
                <a:schemeClr val="dk1"/>
              </a:solidFill>
              <a:latin typeface="Calibri"/>
              <a:ea typeface="Calibri"/>
              <a:cs typeface="Calibri"/>
              <a:sym typeface="Calibri"/>
            </a:endParaRPr>
          </a:p>
        </p:txBody>
      </p:sp>
      <p:sp>
        <p:nvSpPr>
          <p:cNvPr id="148" name="Google Shape;148;p14"/>
          <p:cNvSpPr txBox="1"/>
          <p:nvPr/>
        </p:nvSpPr>
        <p:spPr>
          <a:xfrm>
            <a:off x="457200" y="2712672"/>
            <a:ext cx="1920240" cy="7315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Public, liquid, tradable</a:t>
            </a:r>
            <a:endParaRPr sz="2000" b="0" i="0" u="none" strike="noStrike" cap="none">
              <a:solidFill>
                <a:schemeClr val="dk1"/>
              </a:solidFill>
              <a:latin typeface="Calibri"/>
              <a:ea typeface="Calibri"/>
              <a:cs typeface="Calibri"/>
              <a:sym typeface="Calibri"/>
            </a:endParaRPr>
          </a:p>
        </p:txBody>
      </p:sp>
      <p:sp>
        <p:nvSpPr>
          <p:cNvPr id="149" name="Google Shape;149;p14"/>
          <p:cNvSpPr txBox="1"/>
          <p:nvPr/>
        </p:nvSpPr>
        <p:spPr>
          <a:xfrm>
            <a:off x="2560320" y="2328624"/>
            <a:ext cx="1920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2  Score</a:t>
            </a:r>
            <a:endParaRPr sz="2000" b="0" i="0" u="none" strike="noStrike" cap="none">
              <a:solidFill>
                <a:schemeClr val="dk1"/>
              </a:solidFill>
              <a:latin typeface="Calibri"/>
              <a:ea typeface="Calibri"/>
              <a:cs typeface="Calibri"/>
              <a:sym typeface="Calibri"/>
            </a:endParaRPr>
          </a:p>
        </p:txBody>
      </p:sp>
      <p:sp>
        <p:nvSpPr>
          <p:cNvPr id="150" name="Google Shape;150;p14"/>
          <p:cNvSpPr txBox="1"/>
          <p:nvPr/>
        </p:nvSpPr>
        <p:spPr>
          <a:xfrm>
            <a:off x="2560320" y="2712672"/>
            <a:ext cx="1920240" cy="7315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Score 1–5, weighted</a:t>
            </a:r>
            <a:endParaRPr sz="2000" b="0" i="0" u="none" strike="noStrike" cap="none">
              <a:solidFill>
                <a:schemeClr val="dk1"/>
              </a:solidFill>
              <a:latin typeface="Calibri"/>
              <a:ea typeface="Calibri"/>
              <a:cs typeface="Calibri"/>
              <a:sym typeface="Calibri"/>
            </a:endParaRPr>
          </a:p>
        </p:txBody>
      </p:sp>
      <p:sp>
        <p:nvSpPr>
          <p:cNvPr id="151" name="Google Shape;151;p14"/>
          <p:cNvSpPr txBox="1"/>
          <p:nvPr/>
        </p:nvSpPr>
        <p:spPr>
          <a:xfrm>
            <a:off x="4663440" y="2328624"/>
            <a:ext cx="1920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3  Mandate</a:t>
            </a:r>
            <a:endParaRPr sz="2000" b="0" i="0" u="none" strike="noStrike" cap="none">
              <a:solidFill>
                <a:schemeClr val="dk1"/>
              </a:solidFill>
              <a:latin typeface="Calibri"/>
              <a:ea typeface="Calibri"/>
              <a:cs typeface="Calibri"/>
              <a:sym typeface="Calibri"/>
            </a:endParaRPr>
          </a:p>
        </p:txBody>
      </p:sp>
      <p:sp>
        <p:nvSpPr>
          <p:cNvPr id="152" name="Google Shape;152;p14"/>
          <p:cNvSpPr txBox="1"/>
          <p:nvPr/>
        </p:nvSpPr>
        <p:spPr>
          <a:xfrm>
            <a:off x="4663440" y="2712672"/>
            <a:ext cx="1920240" cy="7315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Long, Short, or Alternative</a:t>
            </a:r>
            <a:endParaRPr sz="2000" b="0" i="0" u="none" strike="noStrike" cap="none">
              <a:solidFill>
                <a:schemeClr val="dk1"/>
              </a:solidFill>
              <a:latin typeface="Calibri"/>
              <a:ea typeface="Calibri"/>
              <a:cs typeface="Calibri"/>
              <a:sym typeface="Calibri"/>
            </a:endParaRPr>
          </a:p>
        </p:txBody>
      </p:sp>
      <p:grpSp>
        <p:nvGrpSpPr>
          <p:cNvPr id="153" name="Google Shape;153;p14"/>
          <p:cNvGrpSpPr/>
          <p:nvPr/>
        </p:nvGrpSpPr>
        <p:grpSpPr>
          <a:xfrm>
            <a:off x="1005840" y="1429722"/>
            <a:ext cx="7132320" cy="822960"/>
            <a:chOff x="1005840" y="1600200"/>
            <a:chExt cx="7132320" cy="822960"/>
          </a:xfrm>
        </p:grpSpPr>
        <p:sp>
          <p:nvSpPr>
            <p:cNvPr id="154" name="Google Shape;154;p14"/>
            <p:cNvSpPr/>
            <p:nvPr/>
          </p:nvSpPr>
          <p:spPr>
            <a:xfrm>
              <a:off x="1005840" y="1600200"/>
              <a:ext cx="822960" cy="82296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55" name="Google Shape;155;p14" descr="preencoded.png"/>
            <p:cNvPicPr preferRelativeResize="0"/>
            <p:nvPr/>
          </p:nvPicPr>
          <p:blipFill rotWithShape="1">
            <a:blip r:embed="rId4">
              <a:alphaModFix/>
            </a:blip>
            <a:srcRect/>
            <a:stretch/>
          </p:blipFill>
          <p:spPr>
            <a:xfrm>
              <a:off x="1236269" y="1830629"/>
              <a:ext cx="362102" cy="362102"/>
            </a:xfrm>
            <a:prstGeom prst="rect">
              <a:avLst/>
            </a:prstGeom>
            <a:noFill/>
            <a:ln>
              <a:noFill/>
            </a:ln>
          </p:spPr>
        </p:pic>
        <p:sp>
          <p:nvSpPr>
            <p:cNvPr id="156" name="Google Shape;156;p14"/>
            <p:cNvSpPr/>
            <p:nvPr/>
          </p:nvSpPr>
          <p:spPr>
            <a:xfrm>
              <a:off x="2359152" y="1865376"/>
              <a:ext cx="237744" cy="292608"/>
            </a:xfrm>
            <a:prstGeom prst="chevron">
              <a:avLst>
                <a:gd name="adj" fmla="val 50000"/>
              </a:avLst>
            </a:prstGeom>
            <a:solidFill>
              <a:srgbClr val="C9CFD6"/>
            </a:solidFill>
            <a:ln w="12700" cap="flat" cmpd="sng">
              <a:solidFill>
                <a:srgbClr val="C9CFD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7" name="Google Shape;157;p14"/>
            <p:cNvSpPr/>
            <p:nvPr/>
          </p:nvSpPr>
          <p:spPr>
            <a:xfrm>
              <a:off x="3108960" y="1600200"/>
              <a:ext cx="822960" cy="82296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58" name="Google Shape;158;p14" descr="preencoded.png"/>
            <p:cNvPicPr preferRelativeResize="0"/>
            <p:nvPr/>
          </p:nvPicPr>
          <p:blipFill rotWithShape="1">
            <a:blip r:embed="rId5">
              <a:alphaModFix/>
            </a:blip>
            <a:srcRect/>
            <a:stretch/>
          </p:blipFill>
          <p:spPr>
            <a:xfrm>
              <a:off x="3339389" y="1830629"/>
              <a:ext cx="362102" cy="362102"/>
            </a:xfrm>
            <a:prstGeom prst="rect">
              <a:avLst/>
            </a:prstGeom>
            <a:noFill/>
            <a:ln>
              <a:noFill/>
            </a:ln>
          </p:spPr>
        </p:pic>
        <p:sp>
          <p:nvSpPr>
            <p:cNvPr id="159" name="Google Shape;159;p14"/>
            <p:cNvSpPr/>
            <p:nvPr/>
          </p:nvSpPr>
          <p:spPr>
            <a:xfrm>
              <a:off x="4462272" y="1865376"/>
              <a:ext cx="237744" cy="292608"/>
            </a:xfrm>
            <a:prstGeom prst="chevron">
              <a:avLst>
                <a:gd name="adj" fmla="val 50000"/>
              </a:avLst>
            </a:prstGeom>
            <a:solidFill>
              <a:srgbClr val="C9CFD6"/>
            </a:solidFill>
            <a:ln w="12700" cap="flat" cmpd="sng">
              <a:solidFill>
                <a:srgbClr val="C9CFD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0" name="Google Shape;160;p14"/>
            <p:cNvSpPr/>
            <p:nvPr/>
          </p:nvSpPr>
          <p:spPr>
            <a:xfrm>
              <a:off x="5212080" y="1600200"/>
              <a:ext cx="822960" cy="82296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61" name="Google Shape;161;p14" descr="preencoded.png"/>
            <p:cNvPicPr preferRelativeResize="0"/>
            <p:nvPr/>
          </p:nvPicPr>
          <p:blipFill rotWithShape="1">
            <a:blip r:embed="rId6">
              <a:alphaModFix/>
            </a:blip>
            <a:srcRect/>
            <a:stretch/>
          </p:blipFill>
          <p:spPr>
            <a:xfrm>
              <a:off x="5442509" y="1830629"/>
              <a:ext cx="362102" cy="362102"/>
            </a:xfrm>
            <a:prstGeom prst="rect">
              <a:avLst/>
            </a:prstGeom>
            <a:noFill/>
            <a:ln>
              <a:noFill/>
            </a:ln>
          </p:spPr>
        </p:pic>
        <p:sp>
          <p:nvSpPr>
            <p:cNvPr id="162" name="Google Shape;162;p14"/>
            <p:cNvSpPr/>
            <p:nvPr/>
          </p:nvSpPr>
          <p:spPr>
            <a:xfrm>
              <a:off x="6565392" y="1865376"/>
              <a:ext cx="237744" cy="292608"/>
            </a:xfrm>
            <a:prstGeom prst="chevron">
              <a:avLst>
                <a:gd name="adj" fmla="val 50000"/>
              </a:avLst>
            </a:prstGeom>
            <a:solidFill>
              <a:srgbClr val="C9CFD6"/>
            </a:solidFill>
            <a:ln w="12700" cap="flat" cmpd="sng">
              <a:solidFill>
                <a:srgbClr val="C9CFD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3" name="Google Shape;163;p14"/>
            <p:cNvSpPr/>
            <p:nvPr/>
          </p:nvSpPr>
          <p:spPr>
            <a:xfrm>
              <a:off x="7315200" y="1600200"/>
              <a:ext cx="822960" cy="82296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164" name="Google Shape;164;p14" descr="preencoded.png"/>
          <p:cNvPicPr preferRelativeResize="0"/>
          <p:nvPr/>
        </p:nvPicPr>
        <p:blipFill rotWithShape="1">
          <a:blip r:embed="rId7">
            <a:alphaModFix/>
          </a:blip>
          <a:srcRect/>
          <a:stretch/>
        </p:blipFill>
        <p:spPr>
          <a:xfrm>
            <a:off x="7545629" y="1667900"/>
            <a:ext cx="362102" cy="362102"/>
          </a:xfrm>
          <a:prstGeom prst="rect">
            <a:avLst/>
          </a:prstGeom>
          <a:noFill/>
          <a:ln>
            <a:noFill/>
          </a:ln>
        </p:spPr>
      </p:pic>
      <p:sp>
        <p:nvSpPr>
          <p:cNvPr id="165" name="Google Shape;165;p14"/>
          <p:cNvSpPr txBox="1"/>
          <p:nvPr/>
        </p:nvSpPr>
        <p:spPr>
          <a:xfrm>
            <a:off x="6766560" y="2328624"/>
            <a:ext cx="1920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4  Act</a:t>
            </a:r>
            <a:endParaRPr sz="2000" b="0" i="0" u="none" strike="noStrike" cap="none">
              <a:solidFill>
                <a:schemeClr val="dk1"/>
              </a:solidFill>
              <a:latin typeface="Calibri"/>
              <a:ea typeface="Calibri"/>
              <a:cs typeface="Calibri"/>
              <a:sym typeface="Calibri"/>
            </a:endParaRPr>
          </a:p>
        </p:txBody>
      </p:sp>
      <p:sp>
        <p:nvSpPr>
          <p:cNvPr id="166" name="Google Shape;166;p14"/>
          <p:cNvSpPr txBox="1"/>
          <p:nvPr/>
        </p:nvSpPr>
        <p:spPr>
          <a:xfrm>
            <a:off x="6766560" y="2712672"/>
            <a:ext cx="1920240" cy="731520"/>
          </a:xfrm>
          <a:prstGeom prst="rect">
            <a:avLst/>
          </a:prstGeom>
          <a:noFill/>
          <a:ln>
            <a:noFill/>
          </a:ln>
        </p:spPr>
        <p:txBody>
          <a:bodyPr spcFirstLastPara="1" wrap="square" lIns="0" tIns="0" rIns="0" bIns="0" anchor="t" anchorCtr="0">
            <a:normAutofit/>
          </a:bodyPr>
          <a:lstStyle/>
          <a:p>
            <a:pPr marL="0" marR="0" lvl="0" indent="0" algn="ctr"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Entry, exit, size, or no trade</a:t>
            </a:r>
            <a:endParaRPr sz="1400" b="0" i="0" u="none" strike="noStrike" cap="none">
              <a:solidFill>
                <a:srgbClr val="000000"/>
              </a:solidFill>
              <a:latin typeface="Arial"/>
              <a:ea typeface="Arial"/>
              <a:cs typeface="Arial"/>
              <a:sym typeface="Arial"/>
            </a:endParaRPr>
          </a:p>
        </p:txBody>
      </p:sp>
      <p:sp>
        <p:nvSpPr>
          <p:cNvPr id="167" name="Google Shape;167;p14"/>
          <p:cNvSpPr/>
          <p:nvPr/>
        </p:nvSpPr>
        <p:spPr>
          <a:xfrm>
            <a:off x="548640" y="4295349"/>
            <a:ext cx="2560320" cy="1874520"/>
          </a:xfrm>
          <a:prstGeom prst="roundRect">
            <a:avLst>
              <a:gd name="adj" fmla="val 5854"/>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168" name="Google Shape;168;p14"/>
          <p:cNvGrpSpPr/>
          <p:nvPr/>
        </p:nvGrpSpPr>
        <p:grpSpPr>
          <a:xfrm>
            <a:off x="731520" y="4295354"/>
            <a:ext cx="7772400" cy="1874520"/>
            <a:chOff x="731520" y="3977640"/>
            <a:chExt cx="7772400" cy="1874520"/>
          </a:xfrm>
        </p:grpSpPr>
        <p:sp>
          <p:nvSpPr>
            <p:cNvPr id="169" name="Google Shape;169;p14"/>
            <p:cNvSpPr txBox="1"/>
            <p:nvPr/>
          </p:nvSpPr>
          <p:spPr>
            <a:xfrm>
              <a:off x="731520" y="4114800"/>
              <a:ext cx="219456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LONG</a:t>
              </a:r>
              <a:endParaRPr sz="2000" b="0" i="0" u="none" strike="noStrike" cap="none">
                <a:solidFill>
                  <a:schemeClr val="dk1"/>
                </a:solidFill>
                <a:latin typeface="Calibri"/>
                <a:ea typeface="Calibri"/>
                <a:cs typeface="Calibri"/>
                <a:sym typeface="Calibri"/>
              </a:endParaRPr>
            </a:p>
          </p:txBody>
        </p:sp>
        <p:sp>
          <p:nvSpPr>
            <p:cNvPr id="170" name="Google Shape;170;p14"/>
            <p:cNvSpPr txBox="1"/>
            <p:nvPr/>
          </p:nvSpPr>
          <p:spPr>
            <a:xfrm>
              <a:off x="731520" y="4526280"/>
              <a:ext cx="2194560" cy="11887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Own the best business at the right price</a:t>
              </a:r>
              <a:endParaRPr sz="2000" b="0" i="0" u="none" strike="noStrike" cap="none">
                <a:solidFill>
                  <a:schemeClr val="dk1"/>
                </a:solidFill>
                <a:latin typeface="Calibri"/>
                <a:ea typeface="Calibri"/>
                <a:cs typeface="Calibri"/>
                <a:sym typeface="Calibri"/>
              </a:endParaRPr>
            </a:p>
          </p:txBody>
        </p:sp>
        <p:sp>
          <p:nvSpPr>
            <p:cNvPr id="171" name="Google Shape;171;p14"/>
            <p:cNvSpPr/>
            <p:nvPr/>
          </p:nvSpPr>
          <p:spPr>
            <a:xfrm>
              <a:off x="3246120" y="3977640"/>
              <a:ext cx="2560320" cy="1874520"/>
            </a:xfrm>
            <a:prstGeom prst="roundRect">
              <a:avLst>
                <a:gd name="adj" fmla="val 5854"/>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2" name="Google Shape;172;p14"/>
            <p:cNvSpPr txBox="1"/>
            <p:nvPr/>
          </p:nvSpPr>
          <p:spPr>
            <a:xfrm>
              <a:off x="3429000" y="4114800"/>
              <a:ext cx="219456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23B2A"/>
                </a:buClr>
                <a:buSzPts val="2000"/>
                <a:buFont typeface="Arial"/>
                <a:buNone/>
              </a:pPr>
              <a:r>
                <a:rPr lang="en-US" sz="2000" b="1" i="0" u="none" strike="noStrike" cap="none">
                  <a:solidFill>
                    <a:srgbClr val="A23B2A"/>
                  </a:solidFill>
                  <a:latin typeface="Arial"/>
                  <a:ea typeface="Arial"/>
                  <a:cs typeface="Arial"/>
                  <a:sym typeface="Arial"/>
                </a:rPr>
                <a:t>SHORT</a:t>
              </a:r>
              <a:endParaRPr sz="2000" b="0" i="0" u="none" strike="noStrike" cap="none">
                <a:solidFill>
                  <a:schemeClr val="dk1"/>
                </a:solidFill>
                <a:latin typeface="Calibri"/>
                <a:ea typeface="Calibri"/>
                <a:cs typeface="Calibri"/>
                <a:sym typeface="Calibri"/>
              </a:endParaRPr>
            </a:p>
          </p:txBody>
        </p:sp>
        <p:sp>
          <p:nvSpPr>
            <p:cNvPr id="173" name="Google Shape;173;p14"/>
            <p:cNvSpPr txBox="1"/>
            <p:nvPr/>
          </p:nvSpPr>
          <p:spPr>
            <a:xfrm>
              <a:off x="3429000" y="4526280"/>
              <a:ext cx="2194560" cy="11887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Bet against what breaks</a:t>
              </a:r>
              <a:endParaRPr sz="2000" b="0" i="0" u="none" strike="noStrike" cap="none">
                <a:solidFill>
                  <a:schemeClr val="dk1"/>
                </a:solidFill>
                <a:latin typeface="Calibri"/>
                <a:ea typeface="Calibri"/>
                <a:cs typeface="Calibri"/>
                <a:sym typeface="Calibri"/>
              </a:endParaRPr>
            </a:p>
          </p:txBody>
        </p:sp>
        <p:sp>
          <p:nvSpPr>
            <p:cNvPr id="174" name="Google Shape;174;p14"/>
            <p:cNvSpPr/>
            <p:nvPr/>
          </p:nvSpPr>
          <p:spPr>
            <a:xfrm>
              <a:off x="5943600" y="3977640"/>
              <a:ext cx="2560320" cy="1874520"/>
            </a:xfrm>
            <a:prstGeom prst="roundRect">
              <a:avLst>
                <a:gd name="adj" fmla="val 5854"/>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5" name="Google Shape;175;p14"/>
            <p:cNvSpPr txBox="1"/>
            <p:nvPr/>
          </p:nvSpPr>
          <p:spPr>
            <a:xfrm>
              <a:off x="6126480" y="4114800"/>
              <a:ext cx="219456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ALTERNATIVE</a:t>
              </a:r>
              <a:endParaRPr sz="2000" b="0" i="0" u="none" strike="noStrike" cap="none">
                <a:solidFill>
                  <a:schemeClr val="dk1"/>
                </a:solidFill>
                <a:latin typeface="Calibri"/>
                <a:ea typeface="Calibri"/>
                <a:cs typeface="Calibri"/>
                <a:sym typeface="Calibri"/>
              </a:endParaRPr>
            </a:p>
          </p:txBody>
        </p:sp>
        <p:sp>
          <p:nvSpPr>
            <p:cNvPr id="176" name="Google Shape;176;p14"/>
            <p:cNvSpPr txBox="1"/>
            <p:nvPr/>
          </p:nvSpPr>
          <p:spPr>
            <a:xfrm>
              <a:off x="6126480" y="4526280"/>
              <a:ext cx="2194560" cy="11887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A better exposure in the supply chain</a:t>
              </a:r>
              <a:endParaRPr sz="20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0"/>
        <p:cNvGrpSpPr/>
        <p:nvPr/>
      </p:nvGrpSpPr>
      <p:grpSpPr>
        <a:xfrm>
          <a:off x="0" y="0"/>
          <a:ext cx="0" cy="0"/>
          <a:chOff x="0" y="0"/>
          <a:chExt cx="0" cy="0"/>
        </a:xfrm>
      </p:grpSpPr>
      <p:sp>
        <p:nvSpPr>
          <p:cNvPr id="181" name="Google Shape;181;p15"/>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Seven questions for every stock</a:t>
            </a:r>
            <a:endParaRPr sz="2400" b="0" i="0" u="none" strike="noStrike" cap="none">
              <a:solidFill>
                <a:schemeClr val="dk1"/>
              </a:solidFill>
              <a:latin typeface="Calibri"/>
              <a:ea typeface="Calibri"/>
              <a:cs typeface="Calibri"/>
              <a:sym typeface="Calibri"/>
            </a:endParaRPr>
          </a:p>
        </p:txBody>
      </p:sp>
      <p:pic>
        <p:nvPicPr>
          <p:cNvPr id="182" name="Google Shape;182;p15"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183" name="Google Shape;183;p15"/>
          <p:cNvSpPr txBox="1"/>
          <p:nvPr/>
        </p:nvSpPr>
        <p:spPr>
          <a:xfrm>
            <a:off x="548640" y="914400"/>
            <a:ext cx="804672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2000"/>
              <a:buFont typeface="Arial"/>
              <a:buNone/>
            </a:pPr>
            <a:r>
              <a:rPr lang="en-US" sz="2000" b="0" i="0" u="none" strike="noStrike" cap="none">
                <a:solidFill>
                  <a:srgbClr val="555555"/>
                </a:solidFill>
                <a:latin typeface="Arial"/>
                <a:ea typeface="Arial"/>
                <a:cs typeface="Arial"/>
                <a:sym typeface="Arial"/>
              </a:rPr>
              <a:t>Five weighted factors, plus two added for shorts and execution</a:t>
            </a:r>
            <a:endParaRPr sz="2000" b="0" i="0" u="none" strike="noStrike" cap="none">
              <a:solidFill>
                <a:schemeClr val="dk1"/>
              </a:solidFill>
              <a:latin typeface="Calibri"/>
              <a:ea typeface="Calibri"/>
              <a:cs typeface="Calibri"/>
              <a:sym typeface="Calibri"/>
            </a:endParaRPr>
          </a:p>
        </p:txBody>
      </p:sp>
      <p:sp>
        <p:nvSpPr>
          <p:cNvPr id="184" name="Google Shape;184;p15"/>
          <p:cNvSpPr/>
          <p:nvPr/>
        </p:nvSpPr>
        <p:spPr>
          <a:xfrm>
            <a:off x="548640" y="1508760"/>
            <a:ext cx="8046720" cy="548640"/>
          </a:xfrm>
          <a:prstGeom prst="roundRect">
            <a:avLst>
              <a:gd name="adj" fmla="val 16667"/>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5" name="Google Shape;185;p15"/>
          <p:cNvSpPr/>
          <p:nvPr/>
        </p:nvSpPr>
        <p:spPr>
          <a:xfrm>
            <a:off x="658368" y="1572768"/>
            <a:ext cx="420624" cy="420624"/>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86" name="Google Shape;186;p15" descr="preencoded.png"/>
          <p:cNvPicPr preferRelativeResize="0"/>
          <p:nvPr/>
        </p:nvPicPr>
        <p:blipFill rotWithShape="1">
          <a:blip r:embed="rId4">
            <a:alphaModFix/>
          </a:blip>
          <a:srcRect/>
          <a:stretch/>
        </p:blipFill>
        <p:spPr>
          <a:xfrm>
            <a:off x="776143" y="1690543"/>
            <a:ext cx="185075" cy="185075"/>
          </a:xfrm>
          <a:prstGeom prst="rect">
            <a:avLst/>
          </a:prstGeom>
          <a:noFill/>
          <a:ln>
            <a:noFill/>
          </a:ln>
        </p:spPr>
      </p:pic>
      <p:sp>
        <p:nvSpPr>
          <p:cNvPr id="187" name="Google Shape;187;p15"/>
          <p:cNvSpPr txBox="1"/>
          <p:nvPr/>
        </p:nvSpPr>
        <p:spPr>
          <a:xfrm>
            <a:off x="1280160" y="1508760"/>
            <a:ext cx="29260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Valuation</a:t>
            </a:r>
            <a:endParaRPr sz="2000" b="0" i="0" u="none" strike="noStrike" cap="none">
              <a:solidFill>
                <a:schemeClr val="dk1"/>
              </a:solidFill>
              <a:latin typeface="Calibri"/>
              <a:ea typeface="Calibri"/>
              <a:cs typeface="Calibri"/>
              <a:sym typeface="Calibri"/>
            </a:endParaRPr>
          </a:p>
        </p:txBody>
      </p:sp>
      <p:sp>
        <p:nvSpPr>
          <p:cNvPr id="188" name="Google Shape;188;p15"/>
          <p:cNvSpPr txBox="1"/>
          <p:nvPr/>
        </p:nvSpPr>
        <p:spPr>
          <a:xfrm>
            <a:off x="3977639" y="1508760"/>
            <a:ext cx="36118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22222"/>
              </a:buClr>
              <a:buSzPts val="1800"/>
              <a:buFont typeface="Arial"/>
              <a:buNone/>
            </a:pPr>
            <a:r>
              <a:rPr lang="en-US" sz="1800" b="0" i="0" u="none" strike="noStrike" cap="none">
                <a:solidFill>
                  <a:srgbClr val="222222"/>
                </a:solidFill>
                <a:latin typeface="Arial"/>
                <a:ea typeface="Arial"/>
                <a:cs typeface="Arial"/>
                <a:sym typeface="Arial"/>
              </a:rPr>
              <a:t>Room for a return?</a:t>
            </a:r>
            <a:endParaRPr sz="2000" b="0" i="0" u="none" strike="noStrike" cap="none">
              <a:solidFill>
                <a:schemeClr val="dk1"/>
              </a:solidFill>
              <a:latin typeface="Calibri"/>
              <a:ea typeface="Calibri"/>
              <a:cs typeface="Calibri"/>
              <a:sym typeface="Calibri"/>
            </a:endParaRPr>
          </a:p>
        </p:txBody>
      </p:sp>
      <p:sp>
        <p:nvSpPr>
          <p:cNvPr id="189" name="Google Shape;189;p15"/>
          <p:cNvSpPr/>
          <p:nvPr/>
        </p:nvSpPr>
        <p:spPr>
          <a:xfrm>
            <a:off x="548640" y="2130552"/>
            <a:ext cx="8046720" cy="548640"/>
          </a:xfrm>
          <a:prstGeom prst="roundRect">
            <a:avLst>
              <a:gd name="adj" fmla="val 16667"/>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0" name="Google Shape;190;p15"/>
          <p:cNvSpPr/>
          <p:nvPr/>
        </p:nvSpPr>
        <p:spPr>
          <a:xfrm>
            <a:off x="658368" y="2194560"/>
            <a:ext cx="420624" cy="420624"/>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91" name="Google Shape;191;p15" descr="preencoded.png"/>
          <p:cNvPicPr preferRelativeResize="0"/>
          <p:nvPr/>
        </p:nvPicPr>
        <p:blipFill rotWithShape="1">
          <a:blip r:embed="rId5">
            <a:alphaModFix/>
          </a:blip>
          <a:srcRect/>
          <a:stretch/>
        </p:blipFill>
        <p:spPr>
          <a:xfrm>
            <a:off x="776143" y="2312335"/>
            <a:ext cx="185075" cy="185075"/>
          </a:xfrm>
          <a:prstGeom prst="rect">
            <a:avLst/>
          </a:prstGeom>
          <a:noFill/>
          <a:ln>
            <a:noFill/>
          </a:ln>
        </p:spPr>
      </p:pic>
      <p:sp>
        <p:nvSpPr>
          <p:cNvPr id="192" name="Google Shape;192;p15"/>
          <p:cNvSpPr txBox="1"/>
          <p:nvPr/>
        </p:nvSpPr>
        <p:spPr>
          <a:xfrm>
            <a:off x="1280160" y="2130552"/>
            <a:ext cx="29260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Cash economics</a:t>
            </a:r>
            <a:endParaRPr sz="2000" b="0" i="0" u="none" strike="noStrike" cap="none">
              <a:solidFill>
                <a:schemeClr val="dk1"/>
              </a:solidFill>
              <a:latin typeface="Calibri"/>
              <a:ea typeface="Calibri"/>
              <a:cs typeface="Calibri"/>
              <a:sym typeface="Calibri"/>
            </a:endParaRPr>
          </a:p>
        </p:txBody>
      </p:sp>
      <p:sp>
        <p:nvSpPr>
          <p:cNvPr id="193" name="Google Shape;193;p15"/>
          <p:cNvSpPr txBox="1"/>
          <p:nvPr/>
        </p:nvSpPr>
        <p:spPr>
          <a:xfrm>
            <a:off x="3977639" y="2130552"/>
            <a:ext cx="36118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22222"/>
              </a:buClr>
              <a:buSzPts val="1800"/>
              <a:buFont typeface="Arial"/>
              <a:buNone/>
            </a:pPr>
            <a:r>
              <a:rPr lang="en-US" sz="1800" b="0" i="0" u="none" strike="noStrike" cap="none">
                <a:solidFill>
                  <a:srgbClr val="222222"/>
                </a:solidFill>
                <a:latin typeface="Arial"/>
                <a:ea typeface="Arial"/>
                <a:cs typeface="Arial"/>
                <a:sym typeface="Arial"/>
              </a:rPr>
              <a:t>Uranium price → cash?</a:t>
            </a:r>
            <a:endParaRPr sz="2000" b="0" i="0" u="none" strike="noStrike" cap="none">
              <a:solidFill>
                <a:schemeClr val="dk1"/>
              </a:solidFill>
              <a:latin typeface="Calibri"/>
              <a:ea typeface="Calibri"/>
              <a:cs typeface="Calibri"/>
              <a:sym typeface="Calibri"/>
            </a:endParaRPr>
          </a:p>
        </p:txBody>
      </p:sp>
      <p:sp>
        <p:nvSpPr>
          <p:cNvPr id="194" name="Google Shape;194;p15"/>
          <p:cNvSpPr/>
          <p:nvPr/>
        </p:nvSpPr>
        <p:spPr>
          <a:xfrm>
            <a:off x="548640" y="2752344"/>
            <a:ext cx="8046720" cy="548640"/>
          </a:xfrm>
          <a:prstGeom prst="roundRect">
            <a:avLst>
              <a:gd name="adj" fmla="val 16667"/>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5" name="Google Shape;195;p15"/>
          <p:cNvSpPr/>
          <p:nvPr/>
        </p:nvSpPr>
        <p:spPr>
          <a:xfrm>
            <a:off x="658368" y="2816352"/>
            <a:ext cx="420624" cy="420624"/>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96" name="Google Shape;196;p15" descr="preencoded.png"/>
          <p:cNvPicPr preferRelativeResize="0"/>
          <p:nvPr/>
        </p:nvPicPr>
        <p:blipFill rotWithShape="1">
          <a:blip r:embed="rId6">
            <a:alphaModFix/>
          </a:blip>
          <a:srcRect/>
          <a:stretch/>
        </p:blipFill>
        <p:spPr>
          <a:xfrm>
            <a:off x="776143" y="2934127"/>
            <a:ext cx="185075" cy="185075"/>
          </a:xfrm>
          <a:prstGeom prst="rect">
            <a:avLst/>
          </a:prstGeom>
          <a:noFill/>
          <a:ln>
            <a:noFill/>
          </a:ln>
        </p:spPr>
      </p:pic>
      <p:sp>
        <p:nvSpPr>
          <p:cNvPr id="197" name="Google Shape;197;p15"/>
          <p:cNvSpPr txBox="1"/>
          <p:nvPr/>
        </p:nvSpPr>
        <p:spPr>
          <a:xfrm>
            <a:off x="1280160" y="2752344"/>
            <a:ext cx="29260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Growth</a:t>
            </a:r>
            <a:endParaRPr sz="2000" b="0" i="0" u="none" strike="noStrike" cap="none">
              <a:solidFill>
                <a:schemeClr val="dk1"/>
              </a:solidFill>
              <a:latin typeface="Calibri"/>
              <a:ea typeface="Calibri"/>
              <a:cs typeface="Calibri"/>
              <a:sym typeface="Calibri"/>
            </a:endParaRPr>
          </a:p>
        </p:txBody>
      </p:sp>
      <p:sp>
        <p:nvSpPr>
          <p:cNvPr id="198" name="Google Shape;198;p15"/>
          <p:cNvSpPr txBox="1"/>
          <p:nvPr/>
        </p:nvSpPr>
        <p:spPr>
          <a:xfrm>
            <a:off x="3977639" y="2752344"/>
            <a:ext cx="36118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22222"/>
              </a:buClr>
              <a:buSzPts val="1800"/>
              <a:buFont typeface="Arial"/>
              <a:buNone/>
            </a:pPr>
            <a:r>
              <a:rPr lang="en-US" sz="1800" b="0" i="0" u="none" strike="noStrike" cap="none">
                <a:solidFill>
                  <a:srgbClr val="222222"/>
                </a:solidFill>
                <a:latin typeface="Arial"/>
                <a:ea typeface="Arial"/>
                <a:cs typeface="Arial"/>
                <a:sym typeface="Arial"/>
              </a:rPr>
              <a:t>Credible in our horizon?</a:t>
            </a:r>
            <a:endParaRPr sz="2000" b="0" i="0" u="none" strike="noStrike" cap="none">
              <a:solidFill>
                <a:schemeClr val="dk1"/>
              </a:solidFill>
              <a:latin typeface="Calibri"/>
              <a:ea typeface="Calibri"/>
              <a:cs typeface="Calibri"/>
              <a:sym typeface="Calibri"/>
            </a:endParaRPr>
          </a:p>
        </p:txBody>
      </p:sp>
      <p:sp>
        <p:nvSpPr>
          <p:cNvPr id="199" name="Google Shape;199;p15"/>
          <p:cNvSpPr/>
          <p:nvPr/>
        </p:nvSpPr>
        <p:spPr>
          <a:xfrm>
            <a:off x="548640" y="3374136"/>
            <a:ext cx="8046720" cy="548640"/>
          </a:xfrm>
          <a:prstGeom prst="roundRect">
            <a:avLst>
              <a:gd name="adj" fmla="val 16667"/>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0" name="Google Shape;200;p15"/>
          <p:cNvSpPr/>
          <p:nvPr/>
        </p:nvSpPr>
        <p:spPr>
          <a:xfrm>
            <a:off x="658368" y="3438144"/>
            <a:ext cx="420624" cy="420624"/>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01" name="Google Shape;201;p15" descr="preencoded.png"/>
          <p:cNvPicPr preferRelativeResize="0"/>
          <p:nvPr/>
        </p:nvPicPr>
        <p:blipFill rotWithShape="1">
          <a:blip r:embed="rId7">
            <a:alphaModFix/>
          </a:blip>
          <a:srcRect/>
          <a:stretch/>
        </p:blipFill>
        <p:spPr>
          <a:xfrm>
            <a:off x="776143" y="3555919"/>
            <a:ext cx="185075" cy="185075"/>
          </a:xfrm>
          <a:prstGeom prst="rect">
            <a:avLst/>
          </a:prstGeom>
          <a:noFill/>
          <a:ln>
            <a:noFill/>
          </a:ln>
        </p:spPr>
      </p:pic>
      <p:sp>
        <p:nvSpPr>
          <p:cNvPr id="202" name="Google Shape;202;p15"/>
          <p:cNvSpPr txBox="1"/>
          <p:nvPr/>
        </p:nvSpPr>
        <p:spPr>
          <a:xfrm>
            <a:off x="1280160" y="3374136"/>
            <a:ext cx="29260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Resilience</a:t>
            </a:r>
            <a:endParaRPr sz="2000" b="0" i="0" u="none" strike="noStrike" cap="none">
              <a:solidFill>
                <a:schemeClr val="dk1"/>
              </a:solidFill>
              <a:latin typeface="Calibri"/>
              <a:ea typeface="Calibri"/>
              <a:cs typeface="Calibri"/>
              <a:sym typeface="Calibri"/>
            </a:endParaRPr>
          </a:p>
        </p:txBody>
      </p:sp>
      <p:sp>
        <p:nvSpPr>
          <p:cNvPr id="203" name="Google Shape;203;p15"/>
          <p:cNvSpPr txBox="1"/>
          <p:nvPr/>
        </p:nvSpPr>
        <p:spPr>
          <a:xfrm>
            <a:off x="3977639" y="3374136"/>
            <a:ext cx="36118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22222"/>
              </a:buClr>
              <a:buSzPts val="1800"/>
              <a:buFont typeface="Arial"/>
              <a:buNone/>
            </a:pPr>
            <a:r>
              <a:rPr lang="en-US" sz="1800" b="0" i="0" u="none" strike="noStrike" cap="none">
                <a:solidFill>
                  <a:srgbClr val="222222"/>
                </a:solidFill>
                <a:latin typeface="Arial"/>
                <a:ea typeface="Arial"/>
                <a:cs typeface="Arial"/>
                <a:sym typeface="Arial"/>
              </a:rPr>
              <a:t>Can it fund and deliver?</a:t>
            </a:r>
            <a:endParaRPr sz="2000" b="0" i="0" u="none" strike="noStrike" cap="none">
              <a:solidFill>
                <a:schemeClr val="dk1"/>
              </a:solidFill>
              <a:latin typeface="Calibri"/>
              <a:ea typeface="Calibri"/>
              <a:cs typeface="Calibri"/>
              <a:sym typeface="Calibri"/>
            </a:endParaRPr>
          </a:p>
        </p:txBody>
      </p:sp>
      <p:sp>
        <p:nvSpPr>
          <p:cNvPr id="204" name="Google Shape;204;p15"/>
          <p:cNvSpPr/>
          <p:nvPr/>
        </p:nvSpPr>
        <p:spPr>
          <a:xfrm>
            <a:off x="548640" y="3995928"/>
            <a:ext cx="8046720" cy="548640"/>
          </a:xfrm>
          <a:prstGeom prst="roundRect">
            <a:avLst>
              <a:gd name="adj" fmla="val 16667"/>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5" name="Google Shape;205;p15"/>
          <p:cNvSpPr/>
          <p:nvPr/>
        </p:nvSpPr>
        <p:spPr>
          <a:xfrm>
            <a:off x="658368" y="4059936"/>
            <a:ext cx="420624" cy="420624"/>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06" name="Google Shape;206;p15" descr="preencoded.png"/>
          <p:cNvPicPr preferRelativeResize="0"/>
          <p:nvPr/>
        </p:nvPicPr>
        <p:blipFill rotWithShape="1">
          <a:blip r:embed="rId8">
            <a:alphaModFix/>
          </a:blip>
          <a:srcRect/>
          <a:stretch/>
        </p:blipFill>
        <p:spPr>
          <a:xfrm>
            <a:off x="776143" y="4177711"/>
            <a:ext cx="185075" cy="185075"/>
          </a:xfrm>
          <a:prstGeom prst="rect">
            <a:avLst/>
          </a:prstGeom>
          <a:noFill/>
          <a:ln>
            <a:noFill/>
          </a:ln>
        </p:spPr>
      </p:pic>
      <p:sp>
        <p:nvSpPr>
          <p:cNvPr id="207" name="Google Shape;207;p15"/>
          <p:cNvSpPr txBox="1"/>
          <p:nvPr/>
        </p:nvSpPr>
        <p:spPr>
          <a:xfrm>
            <a:off x="1280160" y="3995928"/>
            <a:ext cx="29260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Market confirmation</a:t>
            </a:r>
            <a:endParaRPr sz="2000" b="0" i="0" u="none" strike="noStrike" cap="none">
              <a:solidFill>
                <a:schemeClr val="dk1"/>
              </a:solidFill>
              <a:latin typeface="Calibri"/>
              <a:ea typeface="Calibri"/>
              <a:cs typeface="Calibri"/>
              <a:sym typeface="Calibri"/>
            </a:endParaRPr>
          </a:p>
        </p:txBody>
      </p:sp>
      <p:sp>
        <p:nvSpPr>
          <p:cNvPr id="208" name="Google Shape;208;p15"/>
          <p:cNvSpPr txBox="1"/>
          <p:nvPr/>
        </p:nvSpPr>
        <p:spPr>
          <a:xfrm>
            <a:off x="3977639" y="3995928"/>
            <a:ext cx="36118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22222"/>
              </a:buClr>
              <a:buSzPts val="1800"/>
              <a:buFont typeface="Arial"/>
              <a:buNone/>
            </a:pPr>
            <a:r>
              <a:rPr lang="en-US" sz="1800" b="0" i="0" u="none" strike="noStrike" cap="none">
                <a:solidFill>
                  <a:srgbClr val="222222"/>
                </a:solidFill>
                <a:latin typeface="Arial"/>
                <a:ea typeface="Arial"/>
                <a:cs typeface="Arial"/>
                <a:sym typeface="Arial"/>
              </a:rPr>
              <a:t>Price backed by fundamentals?</a:t>
            </a:r>
            <a:endParaRPr sz="2000" b="0" i="0" u="none" strike="noStrike" cap="none">
              <a:solidFill>
                <a:schemeClr val="dk1"/>
              </a:solidFill>
              <a:latin typeface="Calibri"/>
              <a:ea typeface="Calibri"/>
              <a:cs typeface="Calibri"/>
              <a:sym typeface="Calibri"/>
            </a:endParaRPr>
          </a:p>
        </p:txBody>
      </p:sp>
      <p:sp>
        <p:nvSpPr>
          <p:cNvPr id="209" name="Google Shape;209;p15"/>
          <p:cNvSpPr/>
          <p:nvPr/>
        </p:nvSpPr>
        <p:spPr>
          <a:xfrm>
            <a:off x="548640" y="4754880"/>
            <a:ext cx="8046720" cy="548640"/>
          </a:xfrm>
          <a:prstGeom prst="roundRect">
            <a:avLst>
              <a:gd name="adj" fmla="val 16667"/>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0" name="Google Shape;210;p15"/>
          <p:cNvSpPr/>
          <p:nvPr/>
        </p:nvSpPr>
        <p:spPr>
          <a:xfrm>
            <a:off x="658368" y="4818888"/>
            <a:ext cx="420624" cy="420624"/>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1" name="Google Shape;211;p15" descr="preencoded.png"/>
          <p:cNvPicPr preferRelativeResize="0"/>
          <p:nvPr/>
        </p:nvPicPr>
        <p:blipFill rotWithShape="1">
          <a:blip r:embed="rId9">
            <a:alphaModFix/>
          </a:blip>
          <a:srcRect/>
          <a:stretch/>
        </p:blipFill>
        <p:spPr>
          <a:xfrm>
            <a:off x="776143" y="4936663"/>
            <a:ext cx="185075" cy="185075"/>
          </a:xfrm>
          <a:prstGeom prst="rect">
            <a:avLst/>
          </a:prstGeom>
          <a:noFill/>
          <a:ln>
            <a:noFill/>
          </a:ln>
        </p:spPr>
      </p:pic>
      <p:sp>
        <p:nvSpPr>
          <p:cNvPr id="212" name="Google Shape;212;p15"/>
          <p:cNvSpPr txBox="1"/>
          <p:nvPr/>
        </p:nvSpPr>
        <p:spPr>
          <a:xfrm>
            <a:off x="1280160" y="4754880"/>
            <a:ext cx="29260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Short feasibility</a:t>
            </a:r>
            <a:endParaRPr sz="2000" b="0" i="0" u="none" strike="noStrike" cap="none">
              <a:solidFill>
                <a:schemeClr val="dk1"/>
              </a:solidFill>
              <a:latin typeface="Calibri"/>
              <a:ea typeface="Calibri"/>
              <a:cs typeface="Calibri"/>
              <a:sym typeface="Calibri"/>
            </a:endParaRPr>
          </a:p>
        </p:txBody>
      </p:sp>
      <p:sp>
        <p:nvSpPr>
          <p:cNvPr id="213" name="Google Shape;213;p15"/>
          <p:cNvSpPr txBox="1"/>
          <p:nvPr/>
        </p:nvSpPr>
        <p:spPr>
          <a:xfrm>
            <a:off x="3977639" y="4754880"/>
            <a:ext cx="36118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22222"/>
              </a:buClr>
              <a:buSzPts val="1800"/>
              <a:buFont typeface="Arial"/>
              <a:buNone/>
            </a:pPr>
            <a:r>
              <a:rPr lang="en-US" sz="1800" b="0" i="0" u="none" strike="noStrike" cap="none">
                <a:solidFill>
                  <a:srgbClr val="222222"/>
                </a:solidFill>
                <a:latin typeface="Arial"/>
                <a:ea typeface="Arial"/>
                <a:cs typeface="Arial"/>
                <a:sym typeface="Arial"/>
              </a:rPr>
              <a:t>Can we short it?</a:t>
            </a:r>
            <a:endParaRPr sz="2000" b="0" i="0" u="none" strike="noStrike" cap="none">
              <a:solidFill>
                <a:schemeClr val="dk1"/>
              </a:solidFill>
              <a:latin typeface="Calibri"/>
              <a:ea typeface="Calibri"/>
              <a:cs typeface="Calibri"/>
              <a:sym typeface="Calibri"/>
            </a:endParaRPr>
          </a:p>
        </p:txBody>
      </p:sp>
      <p:sp>
        <p:nvSpPr>
          <p:cNvPr id="214" name="Google Shape;214;p15"/>
          <p:cNvSpPr/>
          <p:nvPr/>
        </p:nvSpPr>
        <p:spPr>
          <a:xfrm>
            <a:off x="548640" y="5376672"/>
            <a:ext cx="8046720" cy="548640"/>
          </a:xfrm>
          <a:prstGeom prst="roundRect">
            <a:avLst>
              <a:gd name="adj" fmla="val 16667"/>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5" name="Google Shape;215;p15"/>
          <p:cNvSpPr/>
          <p:nvPr/>
        </p:nvSpPr>
        <p:spPr>
          <a:xfrm>
            <a:off x="658368" y="5440680"/>
            <a:ext cx="420624" cy="420624"/>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6" name="Google Shape;216;p15" descr="preencoded.png"/>
          <p:cNvPicPr preferRelativeResize="0"/>
          <p:nvPr/>
        </p:nvPicPr>
        <p:blipFill rotWithShape="1">
          <a:blip r:embed="rId10">
            <a:alphaModFix/>
          </a:blip>
          <a:srcRect/>
          <a:stretch/>
        </p:blipFill>
        <p:spPr>
          <a:xfrm>
            <a:off x="776143" y="5558455"/>
            <a:ext cx="185075" cy="185075"/>
          </a:xfrm>
          <a:prstGeom prst="rect">
            <a:avLst/>
          </a:prstGeom>
          <a:noFill/>
          <a:ln>
            <a:noFill/>
          </a:ln>
        </p:spPr>
      </p:pic>
      <p:sp>
        <p:nvSpPr>
          <p:cNvPr id="217" name="Google Shape;217;p15"/>
          <p:cNvSpPr txBox="1"/>
          <p:nvPr/>
        </p:nvSpPr>
        <p:spPr>
          <a:xfrm>
            <a:off x="1280160" y="5376672"/>
            <a:ext cx="29260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Execution plan</a:t>
            </a:r>
            <a:endParaRPr sz="2000" b="0" i="0" u="none" strike="noStrike" cap="none">
              <a:solidFill>
                <a:schemeClr val="dk1"/>
              </a:solidFill>
              <a:latin typeface="Calibri"/>
              <a:ea typeface="Calibri"/>
              <a:cs typeface="Calibri"/>
              <a:sym typeface="Calibri"/>
            </a:endParaRPr>
          </a:p>
        </p:txBody>
      </p:sp>
      <p:sp>
        <p:nvSpPr>
          <p:cNvPr id="218" name="Google Shape;218;p15"/>
          <p:cNvSpPr txBox="1"/>
          <p:nvPr/>
        </p:nvSpPr>
        <p:spPr>
          <a:xfrm>
            <a:off x="3977639" y="5376672"/>
            <a:ext cx="36118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22222"/>
              </a:buClr>
              <a:buSzPts val="1800"/>
              <a:buFont typeface="Arial"/>
              <a:buNone/>
            </a:pPr>
            <a:r>
              <a:rPr lang="en-US" sz="1800" b="0" i="0" u="none" strike="noStrike" cap="none">
                <a:solidFill>
                  <a:srgbClr val="222222"/>
                </a:solidFill>
                <a:latin typeface="Arial"/>
                <a:ea typeface="Arial"/>
                <a:cs typeface="Arial"/>
                <a:sym typeface="Arial"/>
              </a:rPr>
              <a:t>What do we do, and when?</a:t>
            </a:r>
            <a:endParaRPr sz="2000" b="0" i="0" u="none" strike="noStrike" cap="none">
              <a:solidFill>
                <a:schemeClr val="dk1"/>
              </a:solidFill>
              <a:latin typeface="Calibri"/>
              <a:ea typeface="Calibri"/>
              <a:cs typeface="Calibri"/>
              <a:sym typeface="Calibri"/>
            </a:endParaRPr>
          </a:p>
        </p:txBody>
      </p:sp>
      <p:sp>
        <p:nvSpPr>
          <p:cNvPr id="219" name="Google Shape;219;p15"/>
          <p:cNvSpPr/>
          <p:nvPr/>
        </p:nvSpPr>
        <p:spPr>
          <a:xfrm>
            <a:off x="7635240" y="1618488"/>
            <a:ext cx="868680" cy="329184"/>
          </a:xfrm>
          <a:prstGeom prst="roundRect">
            <a:avLst>
              <a:gd name="adj" fmla="val 16667"/>
            </a:avLst>
          </a:prstGeom>
          <a:solidFill>
            <a:srgbClr val="1F3A5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FFFFFF"/>
                </a:solidFill>
                <a:latin typeface="Arial"/>
                <a:ea typeface="Arial"/>
                <a:cs typeface="Arial"/>
                <a:sym typeface="Arial"/>
              </a:rPr>
              <a:t>25%</a:t>
            </a:r>
            <a:endParaRPr sz="1400" b="0" i="0" u="none" strike="noStrike" cap="none">
              <a:solidFill>
                <a:srgbClr val="000000"/>
              </a:solidFill>
              <a:latin typeface="Arial"/>
              <a:ea typeface="Arial"/>
              <a:cs typeface="Arial"/>
              <a:sym typeface="Arial"/>
            </a:endParaRPr>
          </a:p>
        </p:txBody>
      </p:sp>
      <p:sp>
        <p:nvSpPr>
          <p:cNvPr id="220" name="Google Shape;220;p15"/>
          <p:cNvSpPr/>
          <p:nvPr/>
        </p:nvSpPr>
        <p:spPr>
          <a:xfrm>
            <a:off x="7635240" y="2240280"/>
            <a:ext cx="868680" cy="329184"/>
          </a:xfrm>
          <a:prstGeom prst="roundRect">
            <a:avLst>
              <a:gd name="adj" fmla="val 16667"/>
            </a:avLst>
          </a:prstGeom>
          <a:solidFill>
            <a:srgbClr val="1F3A5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FFFFFF"/>
                </a:solidFill>
                <a:latin typeface="Arial"/>
                <a:ea typeface="Arial"/>
                <a:cs typeface="Arial"/>
                <a:sym typeface="Arial"/>
              </a:rPr>
              <a:t>20%</a:t>
            </a:r>
            <a:endParaRPr sz="1400" b="0" i="0" u="none" strike="noStrike" cap="none">
              <a:solidFill>
                <a:srgbClr val="000000"/>
              </a:solidFill>
              <a:latin typeface="Arial"/>
              <a:ea typeface="Arial"/>
              <a:cs typeface="Arial"/>
              <a:sym typeface="Arial"/>
            </a:endParaRPr>
          </a:p>
        </p:txBody>
      </p:sp>
      <p:sp>
        <p:nvSpPr>
          <p:cNvPr id="221" name="Google Shape;221;p15"/>
          <p:cNvSpPr/>
          <p:nvPr/>
        </p:nvSpPr>
        <p:spPr>
          <a:xfrm>
            <a:off x="7635240" y="2862072"/>
            <a:ext cx="868680" cy="329184"/>
          </a:xfrm>
          <a:prstGeom prst="roundRect">
            <a:avLst>
              <a:gd name="adj" fmla="val 16667"/>
            </a:avLst>
          </a:prstGeom>
          <a:solidFill>
            <a:srgbClr val="1F3A5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FFFFFF"/>
                </a:solidFill>
                <a:latin typeface="Arial"/>
                <a:ea typeface="Arial"/>
                <a:cs typeface="Arial"/>
                <a:sym typeface="Arial"/>
              </a:rPr>
              <a:t>20%</a:t>
            </a:r>
            <a:endParaRPr sz="1400" b="0" i="0" u="none" strike="noStrike" cap="none">
              <a:solidFill>
                <a:srgbClr val="000000"/>
              </a:solidFill>
              <a:latin typeface="Arial"/>
              <a:ea typeface="Arial"/>
              <a:cs typeface="Arial"/>
              <a:sym typeface="Arial"/>
            </a:endParaRPr>
          </a:p>
        </p:txBody>
      </p:sp>
      <p:sp>
        <p:nvSpPr>
          <p:cNvPr id="222" name="Google Shape;222;p15"/>
          <p:cNvSpPr/>
          <p:nvPr/>
        </p:nvSpPr>
        <p:spPr>
          <a:xfrm>
            <a:off x="7635240" y="3483864"/>
            <a:ext cx="868680" cy="329184"/>
          </a:xfrm>
          <a:prstGeom prst="roundRect">
            <a:avLst>
              <a:gd name="adj" fmla="val 16667"/>
            </a:avLst>
          </a:prstGeom>
          <a:solidFill>
            <a:srgbClr val="1F3A5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FFFFFF"/>
                </a:solidFill>
                <a:latin typeface="Arial"/>
                <a:ea typeface="Arial"/>
                <a:cs typeface="Arial"/>
                <a:sym typeface="Arial"/>
              </a:rPr>
              <a:t>20%</a:t>
            </a:r>
            <a:endParaRPr sz="1400" b="0" i="0" u="none" strike="noStrike" cap="none">
              <a:solidFill>
                <a:srgbClr val="000000"/>
              </a:solidFill>
              <a:latin typeface="Arial"/>
              <a:ea typeface="Arial"/>
              <a:cs typeface="Arial"/>
              <a:sym typeface="Arial"/>
            </a:endParaRPr>
          </a:p>
        </p:txBody>
      </p:sp>
      <p:sp>
        <p:nvSpPr>
          <p:cNvPr id="223" name="Google Shape;223;p15"/>
          <p:cNvSpPr/>
          <p:nvPr/>
        </p:nvSpPr>
        <p:spPr>
          <a:xfrm>
            <a:off x="7635240" y="4105656"/>
            <a:ext cx="868680" cy="329184"/>
          </a:xfrm>
          <a:prstGeom prst="roundRect">
            <a:avLst>
              <a:gd name="adj" fmla="val 16667"/>
            </a:avLst>
          </a:prstGeom>
          <a:solidFill>
            <a:srgbClr val="1F3A5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FFFFFF"/>
                </a:solidFill>
                <a:latin typeface="Arial"/>
                <a:ea typeface="Arial"/>
                <a:cs typeface="Arial"/>
                <a:sym typeface="Arial"/>
              </a:rPr>
              <a:t>15%</a:t>
            </a:r>
            <a:endParaRPr sz="1400" b="0" i="0" u="none" strike="noStrike" cap="none">
              <a:solidFill>
                <a:srgbClr val="000000"/>
              </a:solidFill>
              <a:latin typeface="Arial"/>
              <a:ea typeface="Arial"/>
              <a:cs typeface="Arial"/>
              <a:sym typeface="Arial"/>
            </a:endParaRPr>
          </a:p>
        </p:txBody>
      </p:sp>
      <p:sp>
        <p:nvSpPr>
          <p:cNvPr id="224" name="Google Shape;224;p15"/>
          <p:cNvSpPr/>
          <p:nvPr/>
        </p:nvSpPr>
        <p:spPr>
          <a:xfrm>
            <a:off x="7635240" y="4864608"/>
            <a:ext cx="868680" cy="329184"/>
          </a:xfrm>
          <a:prstGeom prst="roundRect">
            <a:avLst>
              <a:gd name="adj" fmla="val 16667"/>
            </a:avLst>
          </a:prstGeom>
          <a:solidFill>
            <a:srgbClr val="6E602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Must pass</a:t>
            </a:r>
            <a:endParaRPr sz="1400" b="0" i="0" u="none" strike="noStrike" cap="none">
              <a:solidFill>
                <a:srgbClr val="000000"/>
              </a:solidFill>
              <a:latin typeface="Arial"/>
              <a:ea typeface="Arial"/>
              <a:cs typeface="Arial"/>
              <a:sym typeface="Arial"/>
            </a:endParaRPr>
          </a:p>
        </p:txBody>
      </p:sp>
      <p:sp>
        <p:nvSpPr>
          <p:cNvPr id="225" name="Google Shape;225;p15"/>
          <p:cNvSpPr/>
          <p:nvPr/>
        </p:nvSpPr>
        <p:spPr>
          <a:xfrm>
            <a:off x="7635240" y="5486400"/>
            <a:ext cx="868680" cy="329184"/>
          </a:xfrm>
          <a:prstGeom prst="roundRect">
            <a:avLst>
              <a:gd name="adj" fmla="val 16667"/>
            </a:avLst>
          </a:prstGeom>
          <a:solidFill>
            <a:srgbClr val="6E6020"/>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latin typeface="Arial"/>
                <a:ea typeface="Arial"/>
                <a:cs typeface="Arial"/>
                <a:sym typeface="Arial"/>
              </a:rPr>
              <a:t>Required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9"/>
        <p:cNvGrpSpPr/>
        <p:nvPr/>
      </p:nvGrpSpPr>
      <p:grpSpPr>
        <a:xfrm>
          <a:off x="0" y="0"/>
          <a:ext cx="0" cy="0"/>
          <a:chOff x="0" y="0"/>
          <a:chExt cx="0" cy="0"/>
        </a:xfrm>
      </p:grpSpPr>
      <p:sp>
        <p:nvSpPr>
          <p:cNvPr id="230" name="Google Shape;230;p16"/>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LONG: own the best business at the right price</a:t>
            </a:r>
            <a:endParaRPr sz="2400" b="0" i="0" u="none" strike="noStrike" cap="none">
              <a:solidFill>
                <a:schemeClr val="dk1"/>
              </a:solidFill>
              <a:latin typeface="Calibri"/>
              <a:ea typeface="Calibri"/>
              <a:cs typeface="Calibri"/>
              <a:sym typeface="Calibri"/>
            </a:endParaRPr>
          </a:p>
        </p:txBody>
      </p:sp>
      <p:pic>
        <p:nvPicPr>
          <p:cNvPr id="231" name="Google Shape;231;p16"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232" name="Google Shape;232;p16"/>
          <p:cNvSpPr txBox="1"/>
          <p:nvPr/>
        </p:nvSpPr>
        <p:spPr>
          <a:xfrm>
            <a:off x="548640" y="1014984"/>
            <a:ext cx="109728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HORIZON</a:t>
            </a:r>
            <a:endParaRPr sz="1200" b="0" i="0" u="none" strike="noStrike" cap="none">
              <a:solidFill>
                <a:schemeClr val="dk1"/>
              </a:solidFill>
              <a:latin typeface="Calibri"/>
              <a:ea typeface="Calibri"/>
              <a:cs typeface="Calibri"/>
              <a:sym typeface="Calibri"/>
            </a:endParaRPr>
          </a:p>
        </p:txBody>
      </p:sp>
      <p:sp>
        <p:nvSpPr>
          <p:cNvPr id="233" name="Google Shape;233;p16"/>
          <p:cNvSpPr/>
          <p:nvPr/>
        </p:nvSpPr>
        <p:spPr>
          <a:xfrm>
            <a:off x="1645920" y="1078992"/>
            <a:ext cx="4937760" cy="128016"/>
          </a:xfrm>
          <a:prstGeom prst="roundRect">
            <a:avLst>
              <a:gd name="adj" fmla="val 50000"/>
            </a:avLst>
          </a:prstGeom>
          <a:solidFill>
            <a:srgbClr val="E3E7EC"/>
          </a:solidFill>
          <a:ln w="12700" cap="flat" cmpd="sng">
            <a:solidFill>
              <a:srgbClr val="E3E7E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4" name="Google Shape;234;p16"/>
          <p:cNvSpPr/>
          <p:nvPr/>
        </p:nvSpPr>
        <p:spPr>
          <a:xfrm>
            <a:off x="1645920" y="1078992"/>
            <a:ext cx="4937760" cy="128016"/>
          </a:xfrm>
          <a:prstGeom prst="roundRect">
            <a:avLst>
              <a:gd name="adj" fmla="val 50000"/>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5" name="Google Shape;235;p16"/>
          <p:cNvSpPr txBox="1"/>
          <p:nvPr/>
        </p:nvSpPr>
        <p:spPr>
          <a:xfrm>
            <a:off x="6766560" y="969264"/>
            <a:ext cx="1828800" cy="3474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1600"/>
              <a:buFont typeface="Arial"/>
              <a:buNone/>
            </a:pPr>
            <a:r>
              <a:rPr lang="en-US" sz="1600" b="1" i="0" u="none" strike="noStrike" cap="none">
                <a:solidFill>
                  <a:srgbClr val="1F3A5F"/>
                </a:solidFill>
                <a:latin typeface="Arial"/>
                <a:ea typeface="Arial"/>
                <a:cs typeface="Arial"/>
                <a:sym typeface="Arial"/>
              </a:rPr>
              <a:t>24–36 months</a:t>
            </a:r>
            <a:endParaRPr sz="1600" b="0" i="0" u="none" strike="noStrike" cap="none">
              <a:solidFill>
                <a:schemeClr val="dk1"/>
              </a:solidFill>
              <a:latin typeface="Calibri"/>
              <a:ea typeface="Calibri"/>
              <a:cs typeface="Calibri"/>
              <a:sym typeface="Calibri"/>
            </a:endParaRPr>
          </a:p>
        </p:txBody>
      </p:sp>
      <p:sp>
        <p:nvSpPr>
          <p:cNvPr id="236" name="Google Shape;236;p16"/>
          <p:cNvSpPr/>
          <p:nvPr/>
        </p:nvSpPr>
        <p:spPr>
          <a:xfrm>
            <a:off x="548640" y="1554480"/>
            <a:ext cx="2560320" cy="3246120"/>
          </a:xfrm>
          <a:prstGeom prst="roundRect">
            <a:avLst>
              <a:gd name="adj" fmla="val 4286"/>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7" name="Google Shape;237;p16"/>
          <p:cNvSpPr/>
          <p:nvPr/>
        </p:nvSpPr>
        <p:spPr>
          <a:xfrm>
            <a:off x="1531620" y="1737360"/>
            <a:ext cx="594360" cy="59436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38" name="Google Shape;238;p16" descr="preencoded.png"/>
          <p:cNvPicPr preferRelativeResize="0"/>
          <p:nvPr/>
        </p:nvPicPr>
        <p:blipFill rotWithShape="1">
          <a:blip r:embed="rId4">
            <a:alphaModFix/>
          </a:blip>
          <a:srcRect/>
          <a:stretch/>
        </p:blipFill>
        <p:spPr>
          <a:xfrm>
            <a:off x="1698041" y="1903781"/>
            <a:ext cx="261518" cy="261518"/>
          </a:xfrm>
          <a:prstGeom prst="rect">
            <a:avLst/>
          </a:prstGeom>
          <a:noFill/>
          <a:ln>
            <a:noFill/>
          </a:ln>
        </p:spPr>
      </p:pic>
      <p:sp>
        <p:nvSpPr>
          <p:cNvPr id="239" name="Google Shape;239;p16"/>
          <p:cNvSpPr txBox="1"/>
          <p:nvPr/>
        </p:nvSpPr>
        <p:spPr>
          <a:xfrm>
            <a:off x="640080" y="2423160"/>
            <a:ext cx="23774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Producer</a:t>
            </a:r>
            <a:endParaRPr sz="2000" b="0" i="0" u="none" strike="noStrike" cap="none">
              <a:solidFill>
                <a:schemeClr val="dk1"/>
              </a:solidFill>
              <a:latin typeface="Calibri"/>
              <a:ea typeface="Calibri"/>
              <a:cs typeface="Calibri"/>
              <a:sym typeface="Calibri"/>
            </a:endParaRPr>
          </a:p>
        </p:txBody>
      </p:sp>
      <p:sp>
        <p:nvSpPr>
          <p:cNvPr id="240" name="Google Shape;240;p16"/>
          <p:cNvSpPr txBox="1"/>
          <p:nvPr/>
        </p:nvSpPr>
        <p:spPr>
          <a:xfrm>
            <a:off x="685800" y="2880360"/>
            <a:ext cx="2331720" cy="1828800"/>
          </a:xfrm>
          <a:prstGeom prst="rect">
            <a:avLst/>
          </a:prstGeom>
          <a:noFill/>
          <a:ln>
            <a:noFill/>
          </a:ln>
        </p:spPr>
        <p:txBody>
          <a:bodyPr spcFirstLastPara="1" wrap="square" lIns="0" tIns="0" rIns="0" bIns="0" anchor="t" anchorCtr="0">
            <a:noAutofit/>
          </a:bodyPr>
          <a:lstStyle/>
          <a:p>
            <a:pPr marL="177800" marR="0" lvl="0" indent="-177800" algn="l" rtl="0">
              <a:lnSpc>
                <a:spcPct val="100000"/>
              </a:lnSpc>
              <a:spcBef>
                <a:spcPts val="0"/>
              </a:spcBef>
              <a:spcAft>
                <a:spcPts val="0"/>
              </a:spcAft>
              <a:buClr>
                <a:srgbClr val="222222"/>
              </a:buClr>
              <a:buSzPts val="2000"/>
              <a:buFont typeface="Arial"/>
              <a:buChar char="•"/>
            </a:pPr>
            <a:r>
              <a:rPr lang="en-US" sz="2000" b="0" i="0" u="none" strike="noStrike" cap="none">
                <a:solidFill>
                  <a:srgbClr val="222222"/>
                </a:solidFill>
                <a:latin typeface="Arial"/>
                <a:ea typeface="Arial"/>
                <a:cs typeface="Arial"/>
                <a:sym typeface="Arial"/>
              </a:rPr>
              <a:t>Cash cost vs. realized price</a:t>
            </a:r>
            <a:endParaRPr sz="2000" b="0" i="0" u="none" strike="noStrike" cap="none">
              <a:solidFill>
                <a:schemeClr val="dk1"/>
              </a:solidFill>
              <a:latin typeface="Calibri"/>
              <a:ea typeface="Calibri"/>
              <a:cs typeface="Calibri"/>
              <a:sym typeface="Calibri"/>
            </a:endParaRPr>
          </a:p>
          <a:p>
            <a:pPr marL="177800" marR="0" lvl="0" indent="-177800" algn="l" rtl="0">
              <a:lnSpc>
                <a:spcPct val="100000"/>
              </a:lnSpc>
              <a:spcBef>
                <a:spcPts val="400"/>
              </a:spcBef>
              <a:spcAft>
                <a:spcPts val="0"/>
              </a:spcAft>
              <a:buClr>
                <a:srgbClr val="222222"/>
              </a:buClr>
              <a:buSzPts val="2000"/>
              <a:buFont typeface="Arial"/>
              <a:buChar char="•"/>
            </a:pPr>
            <a:r>
              <a:rPr lang="en-US" sz="2000" b="0" i="0" u="none" strike="noStrike" cap="none">
                <a:solidFill>
                  <a:srgbClr val="222222"/>
                </a:solidFill>
                <a:latin typeface="Arial"/>
                <a:ea typeface="Arial"/>
                <a:cs typeface="Arial"/>
                <a:sym typeface="Arial"/>
              </a:rPr>
              <a:t>Contract coverage</a:t>
            </a:r>
            <a:endParaRPr sz="2000" b="0" i="0" u="none" strike="noStrike" cap="none">
              <a:solidFill>
                <a:schemeClr val="dk1"/>
              </a:solidFill>
              <a:latin typeface="Calibri"/>
              <a:ea typeface="Calibri"/>
              <a:cs typeface="Calibri"/>
              <a:sym typeface="Calibri"/>
            </a:endParaRPr>
          </a:p>
          <a:p>
            <a:pPr marL="177800" marR="0" lvl="0" indent="-177800" algn="l" rtl="0">
              <a:lnSpc>
                <a:spcPct val="100000"/>
              </a:lnSpc>
              <a:spcBef>
                <a:spcPts val="400"/>
              </a:spcBef>
              <a:spcAft>
                <a:spcPts val="0"/>
              </a:spcAft>
              <a:buClr>
                <a:srgbClr val="222222"/>
              </a:buClr>
              <a:buSzPts val="2000"/>
              <a:buFont typeface="Arial"/>
              <a:buChar char="•"/>
            </a:pPr>
            <a:r>
              <a:rPr lang="en-US" sz="2000" b="0" i="0" u="none" strike="noStrike" cap="none">
                <a:solidFill>
                  <a:srgbClr val="222222"/>
                </a:solidFill>
                <a:latin typeface="Arial"/>
                <a:ea typeface="Arial"/>
                <a:cs typeface="Arial"/>
                <a:sym typeface="Arial"/>
              </a:rPr>
              <a:t>FCF yield</a:t>
            </a:r>
            <a:endParaRPr sz="2000" b="0" i="0" u="none" strike="noStrike" cap="none">
              <a:solidFill>
                <a:schemeClr val="dk1"/>
              </a:solidFill>
              <a:latin typeface="Calibri"/>
              <a:ea typeface="Calibri"/>
              <a:cs typeface="Calibri"/>
              <a:sym typeface="Calibri"/>
            </a:endParaRPr>
          </a:p>
        </p:txBody>
      </p:sp>
      <p:sp>
        <p:nvSpPr>
          <p:cNvPr id="241" name="Google Shape;241;p16"/>
          <p:cNvSpPr/>
          <p:nvPr/>
        </p:nvSpPr>
        <p:spPr>
          <a:xfrm>
            <a:off x="3291840" y="1554480"/>
            <a:ext cx="2560320" cy="3246120"/>
          </a:xfrm>
          <a:prstGeom prst="roundRect">
            <a:avLst>
              <a:gd name="adj" fmla="val 4286"/>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2" name="Google Shape;242;p16"/>
          <p:cNvSpPr/>
          <p:nvPr/>
        </p:nvSpPr>
        <p:spPr>
          <a:xfrm>
            <a:off x="4274820" y="1737360"/>
            <a:ext cx="594360" cy="59436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43" name="Google Shape;243;p16" descr="preencoded.png"/>
          <p:cNvPicPr preferRelativeResize="0"/>
          <p:nvPr/>
        </p:nvPicPr>
        <p:blipFill rotWithShape="1">
          <a:blip r:embed="rId5">
            <a:alphaModFix/>
          </a:blip>
          <a:srcRect/>
          <a:stretch/>
        </p:blipFill>
        <p:spPr>
          <a:xfrm>
            <a:off x="4441241" y="1903781"/>
            <a:ext cx="261518" cy="261518"/>
          </a:xfrm>
          <a:prstGeom prst="rect">
            <a:avLst/>
          </a:prstGeom>
          <a:noFill/>
          <a:ln>
            <a:noFill/>
          </a:ln>
        </p:spPr>
      </p:pic>
      <p:sp>
        <p:nvSpPr>
          <p:cNvPr id="244" name="Google Shape;244;p16"/>
          <p:cNvSpPr txBox="1"/>
          <p:nvPr/>
        </p:nvSpPr>
        <p:spPr>
          <a:xfrm>
            <a:off x="3383280" y="2423160"/>
            <a:ext cx="23774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In construction</a:t>
            </a:r>
            <a:endParaRPr sz="2000" b="0" i="0" u="none" strike="noStrike" cap="none">
              <a:solidFill>
                <a:schemeClr val="dk1"/>
              </a:solidFill>
              <a:latin typeface="Calibri"/>
              <a:ea typeface="Calibri"/>
              <a:cs typeface="Calibri"/>
              <a:sym typeface="Calibri"/>
            </a:endParaRPr>
          </a:p>
        </p:txBody>
      </p:sp>
      <p:sp>
        <p:nvSpPr>
          <p:cNvPr id="245" name="Google Shape;245;p16"/>
          <p:cNvSpPr txBox="1"/>
          <p:nvPr/>
        </p:nvSpPr>
        <p:spPr>
          <a:xfrm>
            <a:off x="3429000" y="2880360"/>
            <a:ext cx="2331720" cy="1828800"/>
          </a:xfrm>
          <a:prstGeom prst="rect">
            <a:avLst/>
          </a:prstGeom>
          <a:noFill/>
          <a:ln>
            <a:noFill/>
          </a:ln>
        </p:spPr>
        <p:txBody>
          <a:bodyPr spcFirstLastPara="1" wrap="square" lIns="0" tIns="0" rIns="0" bIns="0" anchor="t" anchorCtr="0">
            <a:noAutofit/>
          </a:bodyPr>
          <a:lstStyle/>
          <a:p>
            <a:pPr marL="177800" marR="0" lvl="0" indent="-177800" algn="l" rtl="0">
              <a:lnSpc>
                <a:spcPct val="100000"/>
              </a:lnSpc>
              <a:spcBef>
                <a:spcPts val="0"/>
              </a:spcBef>
              <a:spcAft>
                <a:spcPts val="0"/>
              </a:spcAft>
              <a:buClr>
                <a:srgbClr val="222222"/>
              </a:buClr>
              <a:buSzPts val="2000"/>
              <a:buFont typeface="Arial"/>
              <a:buChar char="•"/>
            </a:pPr>
            <a:r>
              <a:rPr lang="en-US" sz="2000" b="0" i="0" u="none" strike="noStrike" cap="none">
                <a:solidFill>
                  <a:srgbClr val="222222"/>
                </a:solidFill>
                <a:latin typeface="Arial"/>
                <a:ea typeface="Arial"/>
                <a:cs typeface="Arial"/>
                <a:sym typeface="Arial"/>
              </a:rPr>
              <a:t>P/NAV · EV per lb</a:t>
            </a:r>
            <a:endParaRPr sz="2000" b="0" i="0" u="none" strike="noStrike" cap="none">
              <a:solidFill>
                <a:schemeClr val="dk1"/>
              </a:solidFill>
              <a:latin typeface="Calibri"/>
              <a:ea typeface="Calibri"/>
              <a:cs typeface="Calibri"/>
              <a:sym typeface="Calibri"/>
            </a:endParaRPr>
          </a:p>
          <a:p>
            <a:pPr marL="177800" marR="0" lvl="0" indent="-177800" algn="l" rtl="0">
              <a:lnSpc>
                <a:spcPct val="100000"/>
              </a:lnSpc>
              <a:spcBef>
                <a:spcPts val="400"/>
              </a:spcBef>
              <a:spcAft>
                <a:spcPts val="0"/>
              </a:spcAft>
              <a:buClr>
                <a:srgbClr val="222222"/>
              </a:buClr>
              <a:buSzPts val="2000"/>
              <a:buFont typeface="Arial"/>
              <a:buChar char="•"/>
            </a:pPr>
            <a:r>
              <a:rPr lang="en-US" sz="2000" b="0" i="0" u="none" strike="noStrike" cap="none">
                <a:solidFill>
                  <a:srgbClr val="222222"/>
                </a:solidFill>
                <a:latin typeface="Arial"/>
                <a:ea typeface="Arial"/>
                <a:cs typeface="Arial"/>
                <a:sym typeface="Arial"/>
              </a:rPr>
              <a:t>On schedule</a:t>
            </a:r>
            <a:endParaRPr sz="1400" b="0" i="0" u="none" strike="noStrike" cap="none">
              <a:solidFill>
                <a:srgbClr val="000000"/>
              </a:solidFill>
              <a:latin typeface="Arial"/>
              <a:ea typeface="Arial"/>
              <a:cs typeface="Arial"/>
              <a:sym typeface="Arial"/>
            </a:endParaRPr>
          </a:p>
          <a:p>
            <a:pPr marL="177800" marR="0" lvl="0" indent="-177800" algn="l" rtl="0">
              <a:lnSpc>
                <a:spcPct val="100000"/>
              </a:lnSpc>
              <a:spcBef>
                <a:spcPts val="400"/>
              </a:spcBef>
              <a:spcAft>
                <a:spcPts val="0"/>
              </a:spcAft>
              <a:buClr>
                <a:srgbClr val="222222"/>
              </a:buClr>
              <a:buSzPts val="2000"/>
              <a:buFont typeface="Arial"/>
              <a:buChar char="•"/>
            </a:pPr>
            <a:r>
              <a:rPr lang="en-US" sz="2000" b="0" i="0" u="none" strike="noStrike" cap="none">
                <a:solidFill>
                  <a:srgbClr val="222222"/>
                </a:solidFill>
                <a:latin typeface="Arial"/>
                <a:ea typeface="Arial"/>
                <a:cs typeface="Arial"/>
                <a:sym typeface="Arial"/>
              </a:rPr>
              <a:t>On budget</a:t>
            </a:r>
            <a:endParaRPr sz="2000" b="0" i="0" u="none" strike="noStrike" cap="none">
              <a:solidFill>
                <a:schemeClr val="dk1"/>
              </a:solidFill>
              <a:latin typeface="Calibri"/>
              <a:ea typeface="Calibri"/>
              <a:cs typeface="Calibri"/>
              <a:sym typeface="Calibri"/>
            </a:endParaRPr>
          </a:p>
          <a:p>
            <a:pPr marL="177800" marR="0" lvl="0" indent="-177800" algn="l" rtl="0">
              <a:lnSpc>
                <a:spcPct val="100000"/>
              </a:lnSpc>
              <a:spcBef>
                <a:spcPts val="400"/>
              </a:spcBef>
              <a:spcAft>
                <a:spcPts val="0"/>
              </a:spcAft>
              <a:buClr>
                <a:srgbClr val="222222"/>
              </a:buClr>
              <a:buSzPts val="2000"/>
              <a:buFont typeface="Arial"/>
              <a:buChar char="•"/>
            </a:pPr>
            <a:r>
              <a:rPr lang="en-US" sz="2000" b="0" i="0" u="none" strike="noStrike" cap="none">
                <a:solidFill>
                  <a:srgbClr val="222222"/>
                </a:solidFill>
                <a:latin typeface="Arial"/>
                <a:ea typeface="Arial"/>
                <a:cs typeface="Arial"/>
                <a:sym typeface="Arial"/>
              </a:rPr>
              <a:t>Funding gap</a:t>
            </a:r>
            <a:endParaRPr sz="2000" b="0" i="0" u="none" strike="noStrike" cap="none">
              <a:solidFill>
                <a:schemeClr val="dk1"/>
              </a:solidFill>
              <a:latin typeface="Calibri"/>
              <a:ea typeface="Calibri"/>
              <a:cs typeface="Calibri"/>
              <a:sym typeface="Calibri"/>
            </a:endParaRPr>
          </a:p>
        </p:txBody>
      </p:sp>
      <p:sp>
        <p:nvSpPr>
          <p:cNvPr id="246" name="Google Shape;246;p16"/>
          <p:cNvSpPr/>
          <p:nvPr/>
        </p:nvSpPr>
        <p:spPr>
          <a:xfrm>
            <a:off x="6035039" y="1554480"/>
            <a:ext cx="2798859" cy="3246120"/>
          </a:xfrm>
          <a:prstGeom prst="roundRect">
            <a:avLst>
              <a:gd name="adj" fmla="val 4286"/>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7" name="Google Shape;247;p16"/>
          <p:cNvSpPr/>
          <p:nvPr/>
        </p:nvSpPr>
        <p:spPr>
          <a:xfrm>
            <a:off x="7018020" y="1737360"/>
            <a:ext cx="594360" cy="594360"/>
          </a:xfrm>
          <a:prstGeom prst="ellipse">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48" name="Google Shape;248;p16" descr="preencoded.png"/>
          <p:cNvPicPr preferRelativeResize="0"/>
          <p:nvPr/>
        </p:nvPicPr>
        <p:blipFill rotWithShape="1">
          <a:blip r:embed="rId6">
            <a:alphaModFix/>
          </a:blip>
          <a:srcRect/>
          <a:stretch/>
        </p:blipFill>
        <p:spPr>
          <a:xfrm>
            <a:off x="7184441" y="1903781"/>
            <a:ext cx="261518" cy="261518"/>
          </a:xfrm>
          <a:prstGeom prst="rect">
            <a:avLst/>
          </a:prstGeom>
          <a:noFill/>
          <a:ln>
            <a:noFill/>
          </a:ln>
        </p:spPr>
      </p:pic>
      <p:sp>
        <p:nvSpPr>
          <p:cNvPr id="249" name="Google Shape;249;p16"/>
          <p:cNvSpPr txBox="1"/>
          <p:nvPr/>
        </p:nvSpPr>
        <p:spPr>
          <a:xfrm>
            <a:off x="6126480" y="2423160"/>
            <a:ext cx="23774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Diversified</a:t>
            </a:r>
            <a:endParaRPr sz="2000" b="0" i="0" u="none" strike="noStrike" cap="none">
              <a:solidFill>
                <a:schemeClr val="dk1"/>
              </a:solidFill>
              <a:latin typeface="Calibri"/>
              <a:ea typeface="Calibri"/>
              <a:cs typeface="Calibri"/>
              <a:sym typeface="Calibri"/>
            </a:endParaRPr>
          </a:p>
        </p:txBody>
      </p:sp>
      <p:sp>
        <p:nvSpPr>
          <p:cNvPr id="250" name="Google Shape;250;p16"/>
          <p:cNvSpPr txBox="1"/>
          <p:nvPr/>
        </p:nvSpPr>
        <p:spPr>
          <a:xfrm>
            <a:off x="6126481" y="2880360"/>
            <a:ext cx="2635856" cy="1828800"/>
          </a:xfrm>
          <a:prstGeom prst="rect">
            <a:avLst/>
          </a:prstGeom>
          <a:noFill/>
          <a:ln>
            <a:noFill/>
          </a:ln>
        </p:spPr>
        <p:txBody>
          <a:bodyPr spcFirstLastPara="1" wrap="square" lIns="0" tIns="0" rIns="0" bIns="0" anchor="t" anchorCtr="0">
            <a:noAutofit/>
          </a:bodyPr>
          <a:lstStyle/>
          <a:p>
            <a:pPr marL="177800" marR="0" lvl="0" indent="-177800" algn="l" rtl="0">
              <a:lnSpc>
                <a:spcPct val="100000"/>
              </a:lnSpc>
              <a:spcBef>
                <a:spcPts val="0"/>
              </a:spcBef>
              <a:spcAft>
                <a:spcPts val="0"/>
              </a:spcAft>
              <a:buClr>
                <a:srgbClr val="222222"/>
              </a:buClr>
              <a:buSzPts val="2000"/>
              <a:buFont typeface="Arial"/>
              <a:buChar char="•"/>
            </a:pPr>
            <a:r>
              <a:rPr lang="en-US" sz="2000" b="0" i="0" u="none" strike="noStrike" cap="none">
                <a:solidFill>
                  <a:srgbClr val="222222"/>
                </a:solidFill>
                <a:latin typeface="Arial"/>
                <a:ea typeface="Arial"/>
                <a:cs typeface="Arial"/>
                <a:sym typeface="Arial"/>
              </a:rPr>
              <a:t>Sum-of-parts</a:t>
            </a:r>
            <a:endParaRPr sz="2000" b="0" i="0" u="none" strike="noStrike" cap="none">
              <a:solidFill>
                <a:schemeClr val="dk1"/>
              </a:solidFill>
              <a:latin typeface="Calibri"/>
              <a:ea typeface="Calibri"/>
              <a:cs typeface="Calibri"/>
              <a:sym typeface="Calibri"/>
            </a:endParaRPr>
          </a:p>
          <a:p>
            <a:pPr marL="177800" marR="0" lvl="0" indent="-177800" algn="l" rtl="0">
              <a:lnSpc>
                <a:spcPct val="100000"/>
              </a:lnSpc>
              <a:spcBef>
                <a:spcPts val="400"/>
              </a:spcBef>
              <a:spcAft>
                <a:spcPts val="0"/>
              </a:spcAft>
              <a:buClr>
                <a:srgbClr val="222222"/>
              </a:buClr>
              <a:buSzPts val="2000"/>
              <a:buFont typeface="Arial"/>
              <a:buChar char="•"/>
            </a:pPr>
            <a:r>
              <a:rPr lang="en-US" sz="1800" b="0" i="0" u="none" strike="noStrike" cap="none">
                <a:solidFill>
                  <a:srgbClr val="222222"/>
                </a:solidFill>
                <a:latin typeface="Arial"/>
                <a:ea typeface="Arial"/>
                <a:cs typeface="Arial"/>
                <a:sym typeface="Arial"/>
              </a:rPr>
              <a:t>Segment cash  margins</a:t>
            </a:r>
            <a:endParaRPr sz="1800" b="0" i="0" u="none" strike="noStrike" cap="none">
              <a:solidFill>
                <a:schemeClr val="dk1"/>
              </a:solidFill>
              <a:latin typeface="Calibri"/>
              <a:ea typeface="Calibri"/>
              <a:cs typeface="Calibri"/>
              <a:sym typeface="Calibri"/>
            </a:endParaRPr>
          </a:p>
          <a:p>
            <a:pPr marL="177800" marR="0" lvl="0" indent="-177800" algn="l" rtl="0">
              <a:lnSpc>
                <a:spcPct val="100000"/>
              </a:lnSpc>
              <a:spcBef>
                <a:spcPts val="400"/>
              </a:spcBef>
              <a:spcAft>
                <a:spcPts val="0"/>
              </a:spcAft>
              <a:buClr>
                <a:srgbClr val="222222"/>
              </a:buClr>
              <a:buSzPts val="2000"/>
              <a:buFont typeface="Arial"/>
              <a:buChar char="•"/>
            </a:pPr>
            <a:r>
              <a:rPr lang="en-US" sz="2000" b="0" i="0" u="none" strike="noStrike" cap="none">
                <a:solidFill>
                  <a:srgbClr val="222222"/>
                </a:solidFill>
                <a:latin typeface="Arial"/>
                <a:ea typeface="Arial"/>
                <a:cs typeface="Arial"/>
                <a:sym typeface="Arial"/>
              </a:rPr>
              <a:t>Backlog conversion</a:t>
            </a:r>
            <a:endParaRPr sz="2000" b="0" i="0" u="none" strike="noStrike" cap="none">
              <a:solidFill>
                <a:schemeClr val="dk1"/>
              </a:solidFill>
              <a:latin typeface="Calibri"/>
              <a:ea typeface="Calibri"/>
              <a:cs typeface="Calibri"/>
              <a:sym typeface="Calibri"/>
            </a:endParaRPr>
          </a:p>
        </p:txBody>
      </p:sp>
      <p:sp>
        <p:nvSpPr>
          <p:cNvPr id="251" name="Google Shape;251;p16"/>
          <p:cNvSpPr txBox="1"/>
          <p:nvPr/>
        </p:nvSpPr>
        <p:spPr>
          <a:xfrm>
            <a:off x="548640" y="4937760"/>
            <a:ext cx="365760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WATCH THESE</a:t>
            </a:r>
            <a:endParaRPr sz="2000" b="0" i="0" u="none" strike="noStrike" cap="none">
              <a:solidFill>
                <a:schemeClr val="dk1"/>
              </a:solidFill>
              <a:latin typeface="Calibri"/>
              <a:ea typeface="Calibri"/>
              <a:cs typeface="Calibri"/>
              <a:sym typeface="Calibri"/>
            </a:endParaRPr>
          </a:p>
        </p:txBody>
      </p:sp>
      <p:sp>
        <p:nvSpPr>
          <p:cNvPr id="252" name="Google Shape;252;p16"/>
          <p:cNvSpPr/>
          <p:nvPr/>
        </p:nvSpPr>
        <p:spPr>
          <a:xfrm>
            <a:off x="548640" y="5230368"/>
            <a:ext cx="777240" cy="365760"/>
          </a:xfrm>
          <a:prstGeom prst="roundRect">
            <a:avLst>
              <a:gd name="adj" fmla="val 50000"/>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3" name="Google Shape;253;p16"/>
          <p:cNvSpPr txBox="1"/>
          <p:nvPr/>
        </p:nvSpPr>
        <p:spPr>
          <a:xfrm>
            <a:off x="548640" y="52303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PDN</a:t>
            </a:r>
            <a:endParaRPr sz="1600" b="0" i="0" u="none" strike="noStrike" cap="none">
              <a:solidFill>
                <a:schemeClr val="dk1"/>
              </a:solidFill>
              <a:latin typeface="Calibri"/>
              <a:ea typeface="Calibri"/>
              <a:cs typeface="Calibri"/>
              <a:sym typeface="Calibri"/>
            </a:endParaRPr>
          </a:p>
        </p:txBody>
      </p:sp>
      <p:sp>
        <p:nvSpPr>
          <p:cNvPr id="254" name="Google Shape;254;p16"/>
          <p:cNvSpPr/>
          <p:nvPr/>
        </p:nvSpPr>
        <p:spPr>
          <a:xfrm>
            <a:off x="1417320" y="5230368"/>
            <a:ext cx="777240" cy="365760"/>
          </a:xfrm>
          <a:prstGeom prst="roundRect">
            <a:avLst>
              <a:gd name="adj" fmla="val 50000"/>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5" name="Google Shape;255;p16"/>
          <p:cNvSpPr txBox="1"/>
          <p:nvPr/>
        </p:nvSpPr>
        <p:spPr>
          <a:xfrm>
            <a:off x="1417320" y="52303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1600"/>
              <a:buFont typeface="Arial"/>
              <a:buNone/>
            </a:pPr>
            <a:r>
              <a:rPr lang="en-US" sz="1600" b="1" i="0" u="none" strike="noStrike" cap="none">
                <a:solidFill>
                  <a:srgbClr val="1F3A5F"/>
                </a:solidFill>
                <a:latin typeface="Arial"/>
                <a:ea typeface="Arial"/>
                <a:cs typeface="Arial"/>
                <a:sym typeface="Arial"/>
              </a:rPr>
              <a:t>KAP</a:t>
            </a:r>
            <a:endParaRPr sz="1600" b="0" i="0" u="none" strike="noStrike" cap="none">
              <a:solidFill>
                <a:schemeClr val="dk1"/>
              </a:solidFill>
              <a:latin typeface="Calibri"/>
              <a:ea typeface="Calibri"/>
              <a:cs typeface="Calibri"/>
              <a:sym typeface="Calibri"/>
            </a:endParaRPr>
          </a:p>
        </p:txBody>
      </p:sp>
      <p:sp>
        <p:nvSpPr>
          <p:cNvPr id="256" name="Google Shape;256;p16"/>
          <p:cNvSpPr/>
          <p:nvPr/>
        </p:nvSpPr>
        <p:spPr>
          <a:xfrm>
            <a:off x="2286000" y="5230368"/>
            <a:ext cx="777240" cy="365760"/>
          </a:xfrm>
          <a:prstGeom prst="roundRect">
            <a:avLst>
              <a:gd name="adj" fmla="val 50000"/>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7" name="Google Shape;257;p16"/>
          <p:cNvSpPr txBox="1"/>
          <p:nvPr/>
        </p:nvSpPr>
        <p:spPr>
          <a:xfrm>
            <a:off x="2286000" y="52303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1600"/>
              <a:buFont typeface="Arial"/>
              <a:buNone/>
            </a:pPr>
            <a:r>
              <a:rPr lang="en-US" sz="1600" b="1" i="0" u="none" strike="noStrike" cap="none">
                <a:solidFill>
                  <a:srgbClr val="1F3A5F"/>
                </a:solidFill>
                <a:latin typeface="Arial"/>
                <a:ea typeface="Arial"/>
                <a:cs typeface="Arial"/>
                <a:sym typeface="Arial"/>
              </a:rPr>
              <a:t>CCJ</a:t>
            </a:r>
            <a:endParaRPr sz="1600" b="0" i="0" u="none" strike="noStrike" cap="none">
              <a:solidFill>
                <a:schemeClr val="dk1"/>
              </a:solidFill>
              <a:latin typeface="Calibri"/>
              <a:ea typeface="Calibri"/>
              <a:cs typeface="Calibri"/>
              <a:sym typeface="Calibri"/>
            </a:endParaRPr>
          </a:p>
        </p:txBody>
      </p:sp>
      <p:sp>
        <p:nvSpPr>
          <p:cNvPr id="258" name="Google Shape;258;p16"/>
          <p:cNvSpPr/>
          <p:nvPr/>
        </p:nvSpPr>
        <p:spPr>
          <a:xfrm>
            <a:off x="3154680" y="5230368"/>
            <a:ext cx="777240" cy="365760"/>
          </a:xfrm>
          <a:prstGeom prst="roundRect">
            <a:avLst>
              <a:gd name="adj" fmla="val 50000"/>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16"/>
          <p:cNvSpPr txBox="1"/>
          <p:nvPr/>
        </p:nvSpPr>
        <p:spPr>
          <a:xfrm>
            <a:off x="3154680" y="52303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1600"/>
              <a:buFont typeface="Arial"/>
              <a:buNone/>
            </a:pPr>
            <a:r>
              <a:rPr lang="en-US" sz="1600" b="1" i="0" u="none" strike="noStrike" cap="none">
                <a:solidFill>
                  <a:srgbClr val="1F3A5F"/>
                </a:solidFill>
                <a:latin typeface="Arial"/>
                <a:ea typeface="Arial"/>
                <a:cs typeface="Arial"/>
                <a:sym typeface="Arial"/>
              </a:rPr>
              <a:t>UEC</a:t>
            </a:r>
            <a:endParaRPr sz="1600" b="0" i="0" u="none" strike="noStrike" cap="none">
              <a:solidFill>
                <a:schemeClr val="dk1"/>
              </a:solidFill>
              <a:latin typeface="Calibri"/>
              <a:ea typeface="Calibri"/>
              <a:cs typeface="Calibri"/>
              <a:sym typeface="Calibri"/>
            </a:endParaRPr>
          </a:p>
        </p:txBody>
      </p:sp>
      <p:sp>
        <p:nvSpPr>
          <p:cNvPr id="260" name="Google Shape;260;p16"/>
          <p:cNvSpPr/>
          <p:nvPr/>
        </p:nvSpPr>
        <p:spPr>
          <a:xfrm>
            <a:off x="4023360" y="5230368"/>
            <a:ext cx="777240" cy="365760"/>
          </a:xfrm>
          <a:prstGeom prst="roundRect">
            <a:avLst>
              <a:gd name="adj" fmla="val 50000"/>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16"/>
          <p:cNvSpPr txBox="1"/>
          <p:nvPr/>
        </p:nvSpPr>
        <p:spPr>
          <a:xfrm>
            <a:off x="4023360" y="52303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1600"/>
              <a:buFont typeface="Arial"/>
              <a:buNone/>
            </a:pPr>
            <a:r>
              <a:rPr lang="en-US" sz="1600" b="1" i="0" u="none" strike="noStrike" cap="none">
                <a:solidFill>
                  <a:srgbClr val="1F3A5F"/>
                </a:solidFill>
                <a:latin typeface="Arial"/>
                <a:ea typeface="Arial"/>
                <a:cs typeface="Arial"/>
                <a:sym typeface="Arial"/>
              </a:rPr>
              <a:t>UUUU</a:t>
            </a:r>
            <a:endParaRPr sz="1600" b="0" i="0" u="none" strike="noStrike" cap="none">
              <a:solidFill>
                <a:schemeClr val="dk1"/>
              </a:solidFill>
              <a:latin typeface="Calibri"/>
              <a:ea typeface="Calibri"/>
              <a:cs typeface="Calibri"/>
              <a:sym typeface="Calibri"/>
            </a:endParaRPr>
          </a:p>
        </p:txBody>
      </p:sp>
      <p:sp>
        <p:nvSpPr>
          <p:cNvPr id="262" name="Google Shape;262;p16"/>
          <p:cNvSpPr/>
          <p:nvPr/>
        </p:nvSpPr>
        <p:spPr>
          <a:xfrm>
            <a:off x="4892040" y="5230368"/>
            <a:ext cx="777240" cy="365760"/>
          </a:xfrm>
          <a:prstGeom prst="roundRect">
            <a:avLst>
              <a:gd name="adj" fmla="val 50000"/>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3" name="Google Shape;263;p16"/>
          <p:cNvSpPr txBox="1"/>
          <p:nvPr/>
        </p:nvSpPr>
        <p:spPr>
          <a:xfrm>
            <a:off x="4892040" y="52303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1600"/>
              <a:buFont typeface="Arial"/>
              <a:buNone/>
            </a:pPr>
            <a:r>
              <a:rPr lang="en-US" sz="1600" b="1" i="0" u="none" strike="noStrike" cap="none">
                <a:solidFill>
                  <a:srgbClr val="1F3A5F"/>
                </a:solidFill>
                <a:latin typeface="Arial"/>
                <a:ea typeface="Arial"/>
                <a:cs typeface="Arial"/>
                <a:sym typeface="Arial"/>
              </a:rPr>
              <a:t>NXE</a:t>
            </a:r>
            <a:endParaRPr sz="1600" b="0" i="0" u="none" strike="noStrike" cap="none">
              <a:solidFill>
                <a:schemeClr val="dk1"/>
              </a:solidFill>
              <a:latin typeface="Calibri"/>
              <a:ea typeface="Calibri"/>
              <a:cs typeface="Calibri"/>
              <a:sym typeface="Calibri"/>
            </a:endParaRPr>
          </a:p>
        </p:txBody>
      </p:sp>
      <p:sp>
        <p:nvSpPr>
          <p:cNvPr id="264" name="Google Shape;264;p16"/>
          <p:cNvSpPr/>
          <p:nvPr/>
        </p:nvSpPr>
        <p:spPr>
          <a:xfrm>
            <a:off x="5760720" y="5230368"/>
            <a:ext cx="777240" cy="365760"/>
          </a:xfrm>
          <a:prstGeom prst="roundRect">
            <a:avLst>
              <a:gd name="adj" fmla="val 50000"/>
            </a:avLst>
          </a:prstGeom>
          <a:solidFill>
            <a:srgbClr val="EEF1F5"/>
          </a:solidFill>
          <a:ln w="12700" cap="flat" cmpd="sng">
            <a:solidFill>
              <a:srgbClr val="EEF1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5" name="Google Shape;265;p16"/>
          <p:cNvSpPr txBox="1"/>
          <p:nvPr/>
        </p:nvSpPr>
        <p:spPr>
          <a:xfrm>
            <a:off x="5760720" y="52303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F3A5F"/>
              </a:buClr>
              <a:buSzPts val="1600"/>
              <a:buFont typeface="Arial"/>
              <a:buNone/>
            </a:pPr>
            <a:r>
              <a:rPr lang="en-US" sz="1600" b="1" i="0" u="none" strike="noStrike" cap="none">
                <a:solidFill>
                  <a:srgbClr val="1F3A5F"/>
                </a:solidFill>
                <a:latin typeface="Arial"/>
                <a:ea typeface="Arial"/>
                <a:cs typeface="Arial"/>
                <a:sym typeface="Arial"/>
              </a:rPr>
              <a:t>DNN</a:t>
            </a:r>
            <a:endParaRPr sz="1600" b="0" i="0" u="none" strike="noStrike" cap="none">
              <a:solidFill>
                <a:schemeClr val="dk1"/>
              </a:solidFill>
              <a:latin typeface="Calibri"/>
              <a:ea typeface="Calibri"/>
              <a:cs typeface="Calibri"/>
              <a:sym typeface="Calibri"/>
            </a:endParaRPr>
          </a:p>
        </p:txBody>
      </p:sp>
      <p:sp>
        <p:nvSpPr>
          <p:cNvPr id="266" name="Google Shape;266;p16"/>
          <p:cNvSpPr txBox="1"/>
          <p:nvPr/>
        </p:nvSpPr>
        <p:spPr>
          <a:xfrm>
            <a:off x="548640" y="5760720"/>
            <a:ext cx="804672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F3A5F"/>
              </a:buClr>
              <a:buSzPts val="2000"/>
              <a:buFont typeface="Arial"/>
              <a:buNone/>
            </a:pPr>
            <a:r>
              <a:rPr lang="en-US" sz="2000" b="1" i="0" u="none" strike="noStrike" cap="none">
                <a:solidFill>
                  <a:srgbClr val="1F3A5F"/>
                </a:solidFill>
                <a:latin typeface="Arial"/>
                <a:ea typeface="Arial"/>
                <a:cs typeface="Arial"/>
                <a:sym typeface="Arial"/>
              </a:rPr>
              <a:t>Verdict: Long · Stage entry · Watchlist · No trade</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sp>
        <p:nvSpPr>
          <p:cNvPr id="271" name="Google Shape;271;p17"/>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SHORT: bet against what breaks</a:t>
            </a:r>
            <a:endParaRPr sz="2400" b="0" i="0" u="none" strike="noStrike" cap="none">
              <a:solidFill>
                <a:schemeClr val="dk1"/>
              </a:solidFill>
              <a:latin typeface="Calibri"/>
              <a:ea typeface="Calibri"/>
              <a:cs typeface="Calibri"/>
              <a:sym typeface="Calibri"/>
            </a:endParaRPr>
          </a:p>
        </p:txBody>
      </p:sp>
      <p:pic>
        <p:nvPicPr>
          <p:cNvPr id="272" name="Google Shape;272;p17"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273" name="Google Shape;273;p17"/>
          <p:cNvSpPr txBox="1"/>
          <p:nvPr/>
        </p:nvSpPr>
        <p:spPr>
          <a:xfrm>
            <a:off x="548640" y="1014984"/>
            <a:ext cx="109728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HORIZON</a:t>
            </a:r>
            <a:endParaRPr sz="1200" b="0" i="0" u="none" strike="noStrike" cap="none">
              <a:solidFill>
                <a:schemeClr val="dk1"/>
              </a:solidFill>
              <a:latin typeface="Calibri"/>
              <a:ea typeface="Calibri"/>
              <a:cs typeface="Calibri"/>
              <a:sym typeface="Calibri"/>
            </a:endParaRPr>
          </a:p>
        </p:txBody>
      </p:sp>
      <p:sp>
        <p:nvSpPr>
          <p:cNvPr id="274" name="Google Shape;274;p17"/>
          <p:cNvSpPr/>
          <p:nvPr/>
        </p:nvSpPr>
        <p:spPr>
          <a:xfrm>
            <a:off x="1645920" y="1078992"/>
            <a:ext cx="4937760" cy="128016"/>
          </a:xfrm>
          <a:prstGeom prst="roundRect">
            <a:avLst>
              <a:gd name="adj" fmla="val 50000"/>
            </a:avLst>
          </a:prstGeom>
          <a:solidFill>
            <a:srgbClr val="E3E7EC"/>
          </a:solidFill>
          <a:ln w="12700" cap="flat" cmpd="sng">
            <a:solidFill>
              <a:srgbClr val="E3E7E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5" name="Google Shape;275;p17"/>
          <p:cNvSpPr/>
          <p:nvPr/>
        </p:nvSpPr>
        <p:spPr>
          <a:xfrm>
            <a:off x="1645920" y="1078992"/>
            <a:ext cx="1234440" cy="128016"/>
          </a:xfrm>
          <a:prstGeom prst="roundRect">
            <a:avLst>
              <a:gd name="adj" fmla="val 50000"/>
            </a:avLst>
          </a:prstGeom>
          <a:solidFill>
            <a:srgbClr val="A23B2A"/>
          </a:solidFill>
          <a:ln w="12700" cap="flat" cmpd="sng">
            <a:solidFill>
              <a:srgbClr val="A23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6" name="Google Shape;276;p17"/>
          <p:cNvSpPr txBox="1"/>
          <p:nvPr/>
        </p:nvSpPr>
        <p:spPr>
          <a:xfrm>
            <a:off x="6766560" y="969264"/>
            <a:ext cx="1828800" cy="3474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23B2A"/>
              </a:buClr>
              <a:buSzPts val="1600"/>
              <a:buFont typeface="Arial"/>
              <a:buNone/>
            </a:pPr>
            <a:r>
              <a:rPr lang="en-US" sz="1600" b="1" i="0" u="none" strike="noStrike" cap="none">
                <a:solidFill>
                  <a:srgbClr val="A23B2A"/>
                </a:solidFill>
                <a:latin typeface="Arial"/>
                <a:ea typeface="Arial"/>
                <a:cs typeface="Arial"/>
                <a:sym typeface="Arial"/>
              </a:rPr>
              <a:t>3–6 months</a:t>
            </a:r>
            <a:endParaRPr sz="1600" b="0" i="0" u="none" strike="noStrike" cap="none">
              <a:solidFill>
                <a:schemeClr val="dk1"/>
              </a:solidFill>
              <a:latin typeface="Calibri"/>
              <a:ea typeface="Calibri"/>
              <a:cs typeface="Calibri"/>
              <a:sym typeface="Calibri"/>
            </a:endParaRPr>
          </a:p>
        </p:txBody>
      </p:sp>
      <p:sp>
        <p:nvSpPr>
          <p:cNvPr id="277" name="Google Shape;277;p17"/>
          <p:cNvSpPr txBox="1"/>
          <p:nvPr/>
        </p:nvSpPr>
        <p:spPr>
          <a:xfrm>
            <a:off x="548640" y="1508760"/>
            <a:ext cx="365760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RED FLAGS</a:t>
            </a:r>
            <a:endParaRPr sz="1200" b="0" i="0" u="none" strike="noStrike" cap="none">
              <a:solidFill>
                <a:schemeClr val="dk1"/>
              </a:solidFill>
              <a:latin typeface="Calibri"/>
              <a:ea typeface="Calibri"/>
              <a:cs typeface="Calibri"/>
              <a:sym typeface="Calibri"/>
            </a:endParaRPr>
          </a:p>
        </p:txBody>
      </p:sp>
      <p:sp>
        <p:nvSpPr>
          <p:cNvPr id="278" name="Google Shape;278;p17"/>
          <p:cNvSpPr/>
          <p:nvPr/>
        </p:nvSpPr>
        <p:spPr>
          <a:xfrm>
            <a:off x="1005840" y="1828800"/>
            <a:ext cx="640080" cy="640080"/>
          </a:xfrm>
          <a:prstGeom prst="ellipse">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79" name="Google Shape;279;p17" descr="preencoded.png"/>
          <p:cNvPicPr preferRelativeResize="0"/>
          <p:nvPr/>
        </p:nvPicPr>
        <p:blipFill rotWithShape="1">
          <a:blip r:embed="rId4">
            <a:alphaModFix/>
          </a:blip>
          <a:srcRect/>
          <a:stretch/>
        </p:blipFill>
        <p:spPr>
          <a:xfrm>
            <a:off x="1185062" y="2008022"/>
            <a:ext cx="281635" cy="281635"/>
          </a:xfrm>
          <a:prstGeom prst="rect">
            <a:avLst/>
          </a:prstGeom>
          <a:noFill/>
          <a:ln>
            <a:noFill/>
          </a:ln>
        </p:spPr>
      </p:pic>
      <p:sp>
        <p:nvSpPr>
          <p:cNvPr id="280" name="Google Shape;280;p17"/>
          <p:cNvSpPr txBox="1"/>
          <p:nvPr/>
        </p:nvSpPr>
        <p:spPr>
          <a:xfrm>
            <a:off x="530352" y="2560320"/>
            <a:ext cx="1591056" cy="9601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1" i="0" u="none" strike="noStrike" cap="none">
                <a:solidFill>
                  <a:srgbClr val="222222"/>
                </a:solidFill>
                <a:latin typeface="Arial"/>
                <a:ea typeface="Arial"/>
                <a:cs typeface="Arial"/>
                <a:sym typeface="Arial"/>
              </a:rPr>
              <a:t>Priced for perfection</a:t>
            </a:r>
            <a:endParaRPr sz="2000" b="0" i="0" u="none" strike="noStrike" cap="none">
              <a:solidFill>
                <a:schemeClr val="dk1"/>
              </a:solidFill>
              <a:latin typeface="Calibri"/>
              <a:ea typeface="Calibri"/>
              <a:cs typeface="Calibri"/>
              <a:sym typeface="Calibri"/>
            </a:endParaRPr>
          </a:p>
        </p:txBody>
      </p:sp>
      <p:sp>
        <p:nvSpPr>
          <p:cNvPr id="281" name="Google Shape;281;p17"/>
          <p:cNvSpPr/>
          <p:nvPr/>
        </p:nvSpPr>
        <p:spPr>
          <a:xfrm>
            <a:off x="2633472" y="1828800"/>
            <a:ext cx="640080" cy="640080"/>
          </a:xfrm>
          <a:prstGeom prst="ellipse">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2" name="Google Shape;282;p17" descr="preencoded.png"/>
          <p:cNvPicPr preferRelativeResize="0"/>
          <p:nvPr/>
        </p:nvPicPr>
        <p:blipFill rotWithShape="1">
          <a:blip r:embed="rId5">
            <a:alphaModFix/>
          </a:blip>
          <a:srcRect/>
          <a:stretch/>
        </p:blipFill>
        <p:spPr>
          <a:xfrm>
            <a:off x="2812694" y="2008022"/>
            <a:ext cx="281635" cy="281635"/>
          </a:xfrm>
          <a:prstGeom prst="rect">
            <a:avLst/>
          </a:prstGeom>
          <a:noFill/>
          <a:ln>
            <a:noFill/>
          </a:ln>
        </p:spPr>
      </p:pic>
      <p:sp>
        <p:nvSpPr>
          <p:cNvPr id="283" name="Google Shape;283;p17"/>
          <p:cNvSpPr txBox="1"/>
          <p:nvPr/>
        </p:nvSpPr>
        <p:spPr>
          <a:xfrm>
            <a:off x="2157984" y="2560320"/>
            <a:ext cx="1591056" cy="9601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1" i="0" u="none" strike="noStrike" cap="none">
                <a:solidFill>
                  <a:srgbClr val="222222"/>
                </a:solidFill>
                <a:latin typeface="Arial"/>
                <a:ea typeface="Arial"/>
                <a:cs typeface="Arial"/>
                <a:sym typeface="Arial"/>
              </a:rPr>
              <a:t>Margins squeezed</a:t>
            </a:r>
            <a:endParaRPr sz="2000" b="0" i="0" u="none" strike="noStrike" cap="none">
              <a:solidFill>
                <a:schemeClr val="dk1"/>
              </a:solidFill>
              <a:latin typeface="Calibri"/>
              <a:ea typeface="Calibri"/>
              <a:cs typeface="Calibri"/>
              <a:sym typeface="Calibri"/>
            </a:endParaRPr>
          </a:p>
        </p:txBody>
      </p:sp>
      <p:sp>
        <p:nvSpPr>
          <p:cNvPr id="284" name="Google Shape;284;p17"/>
          <p:cNvSpPr/>
          <p:nvPr/>
        </p:nvSpPr>
        <p:spPr>
          <a:xfrm>
            <a:off x="4261104" y="1828800"/>
            <a:ext cx="640080" cy="640080"/>
          </a:xfrm>
          <a:prstGeom prst="ellipse">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5" name="Google Shape;285;p17" descr="preencoded.png"/>
          <p:cNvPicPr preferRelativeResize="0"/>
          <p:nvPr/>
        </p:nvPicPr>
        <p:blipFill rotWithShape="1">
          <a:blip r:embed="rId6">
            <a:alphaModFix/>
          </a:blip>
          <a:srcRect/>
          <a:stretch/>
        </p:blipFill>
        <p:spPr>
          <a:xfrm>
            <a:off x="4440326" y="2008022"/>
            <a:ext cx="281635" cy="281635"/>
          </a:xfrm>
          <a:prstGeom prst="rect">
            <a:avLst/>
          </a:prstGeom>
          <a:noFill/>
          <a:ln>
            <a:noFill/>
          </a:ln>
        </p:spPr>
      </p:pic>
      <p:sp>
        <p:nvSpPr>
          <p:cNvPr id="286" name="Google Shape;286;p17"/>
          <p:cNvSpPr txBox="1"/>
          <p:nvPr/>
        </p:nvSpPr>
        <p:spPr>
          <a:xfrm>
            <a:off x="3785616" y="2560320"/>
            <a:ext cx="1591056" cy="9601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1" i="0" u="none" strike="noStrike" cap="none">
                <a:solidFill>
                  <a:srgbClr val="222222"/>
                </a:solidFill>
                <a:latin typeface="Arial"/>
                <a:ea typeface="Arial"/>
                <a:cs typeface="Arial"/>
                <a:sym typeface="Arial"/>
              </a:rPr>
              <a:t>Delays and overruns</a:t>
            </a:r>
            <a:endParaRPr sz="2000" b="0" i="0" u="none" strike="noStrike" cap="none">
              <a:solidFill>
                <a:schemeClr val="dk1"/>
              </a:solidFill>
              <a:latin typeface="Calibri"/>
              <a:ea typeface="Calibri"/>
              <a:cs typeface="Calibri"/>
              <a:sym typeface="Calibri"/>
            </a:endParaRPr>
          </a:p>
        </p:txBody>
      </p:sp>
      <p:sp>
        <p:nvSpPr>
          <p:cNvPr id="287" name="Google Shape;287;p17"/>
          <p:cNvSpPr/>
          <p:nvPr/>
        </p:nvSpPr>
        <p:spPr>
          <a:xfrm>
            <a:off x="5888736" y="1828800"/>
            <a:ext cx="640080" cy="640080"/>
          </a:xfrm>
          <a:prstGeom prst="ellipse">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8" name="Google Shape;288;p17" descr="preencoded.png"/>
          <p:cNvPicPr preferRelativeResize="0"/>
          <p:nvPr/>
        </p:nvPicPr>
        <p:blipFill rotWithShape="1">
          <a:blip r:embed="rId7">
            <a:alphaModFix/>
          </a:blip>
          <a:srcRect/>
          <a:stretch/>
        </p:blipFill>
        <p:spPr>
          <a:xfrm>
            <a:off x="6067958" y="2008022"/>
            <a:ext cx="281635" cy="281635"/>
          </a:xfrm>
          <a:prstGeom prst="rect">
            <a:avLst/>
          </a:prstGeom>
          <a:noFill/>
          <a:ln>
            <a:noFill/>
          </a:ln>
        </p:spPr>
      </p:pic>
      <p:sp>
        <p:nvSpPr>
          <p:cNvPr id="289" name="Google Shape;289;p17"/>
          <p:cNvSpPr txBox="1"/>
          <p:nvPr/>
        </p:nvSpPr>
        <p:spPr>
          <a:xfrm>
            <a:off x="5413248" y="2560320"/>
            <a:ext cx="1591056" cy="9601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1" i="0" u="none" strike="noStrike" cap="none">
                <a:solidFill>
                  <a:srgbClr val="222222"/>
                </a:solidFill>
                <a:latin typeface="Arial"/>
                <a:ea typeface="Arial"/>
                <a:cs typeface="Arial"/>
                <a:sym typeface="Arial"/>
              </a:rPr>
              <a:t>Funding gap</a:t>
            </a:r>
            <a:endParaRPr sz="2000" b="0" i="0" u="none" strike="noStrike" cap="none">
              <a:solidFill>
                <a:schemeClr val="dk1"/>
              </a:solidFill>
              <a:latin typeface="Calibri"/>
              <a:ea typeface="Calibri"/>
              <a:cs typeface="Calibri"/>
              <a:sym typeface="Calibri"/>
            </a:endParaRPr>
          </a:p>
        </p:txBody>
      </p:sp>
      <p:sp>
        <p:nvSpPr>
          <p:cNvPr id="290" name="Google Shape;290;p17"/>
          <p:cNvSpPr/>
          <p:nvPr/>
        </p:nvSpPr>
        <p:spPr>
          <a:xfrm>
            <a:off x="7516368" y="1828800"/>
            <a:ext cx="640080" cy="640080"/>
          </a:xfrm>
          <a:prstGeom prst="ellipse">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91" name="Google Shape;291;p17" descr="preencoded.png"/>
          <p:cNvPicPr preferRelativeResize="0"/>
          <p:nvPr/>
        </p:nvPicPr>
        <p:blipFill rotWithShape="1">
          <a:blip r:embed="rId8">
            <a:alphaModFix/>
          </a:blip>
          <a:srcRect/>
          <a:stretch/>
        </p:blipFill>
        <p:spPr>
          <a:xfrm>
            <a:off x="7695590" y="2008022"/>
            <a:ext cx="281635" cy="281635"/>
          </a:xfrm>
          <a:prstGeom prst="rect">
            <a:avLst/>
          </a:prstGeom>
          <a:noFill/>
          <a:ln>
            <a:noFill/>
          </a:ln>
        </p:spPr>
      </p:pic>
      <p:sp>
        <p:nvSpPr>
          <p:cNvPr id="292" name="Google Shape;292;p17"/>
          <p:cNvSpPr txBox="1"/>
          <p:nvPr/>
        </p:nvSpPr>
        <p:spPr>
          <a:xfrm>
            <a:off x="7040880" y="2560320"/>
            <a:ext cx="1591056" cy="96012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1" i="0" u="none" strike="noStrike" cap="none">
                <a:solidFill>
                  <a:srgbClr val="222222"/>
                </a:solidFill>
                <a:latin typeface="Arial"/>
                <a:ea typeface="Arial"/>
                <a:cs typeface="Arial"/>
                <a:sym typeface="Arial"/>
              </a:rPr>
              <a:t>Price up, estimates down</a:t>
            </a:r>
            <a:endParaRPr sz="2000" b="0" i="0" u="none" strike="noStrike" cap="none">
              <a:solidFill>
                <a:schemeClr val="dk1"/>
              </a:solidFill>
              <a:latin typeface="Calibri"/>
              <a:ea typeface="Calibri"/>
              <a:cs typeface="Calibri"/>
              <a:sym typeface="Calibri"/>
            </a:endParaRPr>
          </a:p>
        </p:txBody>
      </p:sp>
      <p:sp>
        <p:nvSpPr>
          <p:cNvPr id="293" name="Google Shape;293;p17"/>
          <p:cNvSpPr/>
          <p:nvPr/>
        </p:nvSpPr>
        <p:spPr>
          <a:xfrm>
            <a:off x="548640" y="3611880"/>
            <a:ext cx="8046720" cy="1261872"/>
          </a:xfrm>
          <a:prstGeom prst="roundRect">
            <a:avLst>
              <a:gd name="adj" fmla="val 7742"/>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4" name="Google Shape;294;p17"/>
          <p:cNvSpPr/>
          <p:nvPr/>
        </p:nvSpPr>
        <p:spPr>
          <a:xfrm>
            <a:off x="731520" y="3931920"/>
            <a:ext cx="731520" cy="731520"/>
          </a:xfrm>
          <a:prstGeom prst="ellipse">
            <a:avLst/>
          </a:prstGeom>
          <a:solidFill>
            <a:srgbClr val="A23B2A"/>
          </a:solidFill>
          <a:ln w="12700" cap="flat" cmpd="sng">
            <a:solidFill>
              <a:srgbClr val="A23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95" name="Google Shape;295;p17" descr="preencoded.png"/>
          <p:cNvPicPr preferRelativeResize="0"/>
          <p:nvPr/>
        </p:nvPicPr>
        <p:blipFill rotWithShape="1">
          <a:blip r:embed="rId9">
            <a:alphaModFix/>
          </a:blip>
          <a:srcRect/>
          <a:stretch/>
        </p:blipFill>
        <p:spPr>
          <a:xfrm>
            <a:off x="936346" y="4136746"/>
            <a:ext cx="321869" cy="321869"/>
          </a:xfrm>
          <a:prstGeom prst="rect">
            <a:avLst/>
          </a:prstGeom>
          <a:noFill/>
          <a:ln>
            <a:noFill/>
          </a:ln>
        </p:spPr>
      </p:pic>
      <p:sp>
        <p:nvSpPr>
          <p:cNvPr id="296" name="Google Shape;296;p17"/>
          <p:cNvSpPr txBox="1"/>
          <p:nvPr/>
        </p:nvSpPr>
        <p:spPr>
          <a:xfrm>
            <a:off x="1691640" y="3776472"/>
            <a:ext cx="548640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23B2A"/>
              </a:buClr>
              <a:buSzPts val="1200"/>
              <a:buFont typeface="Arial"/>
              <a:buNone/>
            </a:pPr>
            <a:r>
              <a:rPr lang="en-US" sz="1200" b="1" i="0" u="none" strike="noStrike" cap="none">
                <a:solidFill>
                  <a:srgbClr val="A23B2A"/>
                </a:solidFill>
                <a:latin typeface="Arial"/>
                <a:ea typeface="Arial"/>
                <a:cs typeface="Arial"/>
                <a:sym typeface="Arial"/>
              </a:rPr>
              <a:t>MUST PASS BEFORE SHORTING</a:t>
            </a:r>
            <a:endParaRPr sz="1200" b="0" i="0" u="none" strike="noStrike" cap="none">
              <a:solidFill>
                <a:schemeClr val="dk1"/>
              </a:solidFill>
              <a:latin typeface="Calibri"/>
              <a:ea typeface="Calibri"/>
              <a:cs typeface="Calibri"/>
              <a:sym typeface="Calibri"/>
            </a:endParaRPr>
          </a:p>
        </p:txBody>
      </p:sp>
      <p:pic>
        <p:nvPicPr>
          <p:cNvPr id="297" name="Google Shape;297;p17" descr="preencoded.png"/>
          <p:cNvPicPr preferRelativeResize="0"/>
          <p:nvPr/>
        </p:nvPicPr>
        <p:blipFill rotWithShape="1">
          <a:blip r:embed="rId10">
            <a:alphaModFix/>
          </a:blip>
          <a:srcRect/>
          <a:stretch/>
        </p:blipFill>
        <p:spPr>
          <a:xfrm>
            <a:off x="1691640" y="4178808"/>
            <a:ext cx="292608" cy="292608"/>
          </a:xfrm>
          <a:prstGeom prst="rect">
            <a:avLst/>
          </a:prstGeom>
          <a:noFill/>
          <a:ln>
            <a:noFill/>
          </a:ln>
        </p:spPr>
      </p:pic>
      <p:sp>
        <p:nvSpPr>
          <p:cNvPr id="298" name="Google Shape;298;p17"/>
          <p:cNvSpPr txBox="1"/>
          <p:nvPr/>
        </p:nvSpPr>
        <p:spPr>
          <a:xfrm>
            <a:off x="2075688" y="4123944"/>
            <a:ext cx="1874520" cy="7772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22222"/>
              </a:buClr>
              <a:buSzPts val="2000"/>
              <a:buFont typeface="Arial"/>
              <a:buNone/>
            </a:pPr>
            <a:r>
              <a:rPr lang="en-US" sz="2000" b="1" i="0" u="none" strike="noStrike" cap="none">
                <a:solidFill>
                  <a:srgbClr val="222222"/>
                </a:solidFill>
                <a:latin typeface="Arial"/>
                <a:ea typeface="Arial"/>
                <a:cs typeface="Arial"/>
                <a:sym typeface="Arial"/>
              </a:rPr>
              <a:t>Borrowable?</a:t>
            </a:r>
            <a:endParaRPr sz="2000" b="0" i="0" u="none" strike="noStrike" cap="none">
              <a:solidFill>
                <a:schemeClr val="dk1"/>
              </a:solidFill>
              <a:latin typeface="Calibri"/>
              <a:ea typeface="Calibri"/>
              <a:cs typeface="Calibri"/>
              <a:sym typeface="Calibri"/>
            </a:endParaRPr>
          </a:p>
        </p:txBody>
      </p:sp>
      <p:pic>
        <p:nvPicPr>
          <p:cNvPr id="299" name="Google Shape;299;p17" descr="preencoded.png"/>
          <p:cNvPicPr preferRelativeResize="0"/>
          <p:nvPr/>
        </p:nvPicPr>
        <p:blipFill rotWithShape="1">
          <a:blip r:embed="rId10">
            <a:alphaModFix/>
          </a:blip>
          <a:srcRect/>
          <a:stretch/>
        </p:blipFill>
        <p:spPr>
          <a:xfrm>
            <a:off x="3995928" y="4178808"/>
            <a:ext cx="292608" cy="292608"/>
          </a:xfrm>
          <a:prstGeom prst="rect">
            <a:avLst/>
          </a:prstGeom>
          <a:noFill/>
          <a:ln>
            <a:noFill/>
          </a:ln>
        </p:spPr>
      </p:pic>
      <p:sp>
        <p:nvSpPr>
          <p:cNvPr id="300" name="Google Shape;300;p17"/>
          <p:cNvSpPr txBox="1"/>
          <p:nvPr/>
        </p:nvSpPr>
        <p:spPr>
          <a:xfrm>
            <a:off x="4379976" y="4123944"/>
            <a:ext cx="1874520" cy="7772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22222"/>
              </a:buClr>
              <a:buSzPts val="2000"/>
              <a:buFont typeface="Arial"/>
              <a:buNone/>
            </a:pPr>
            <a:r>
              <a:rPr lang="en-US" sz="2000" b="1" i="0" u="none" strike="noStrike" cap="none">
                <a:solidFill>
                  <a:srgbClr val="222222"/>
                </a:solidFill>
                <a:latin typeface="Arial"/>
                <a:ea typeface="Arial"/>
                <a:cs typeface="Arial"/>
                <a:sym typeface="Arial"/>
              </a:rPr>
              <a:t>Squeeze risk low?</a:t>
            </a:r>
            <a:endParaRPr sz="2000" b="0" i="0" u="none" strike="noStrike" cap="none">
              <a:solidFill>
                <a:schemeClr val="dk1"/>
              </a:solidFill>
              <a:latin typeface="Calibri"/>
              <a:ea typeface="Calibri"/>
              <a:cs typeface="Calibri"/>
              <a:sym typeface="Calibri"/>
            </a:endParaRPr>
          </a:p>
        </p:txBody>
      </p:sp>
      <p:pic>
        <p:nvPicPr>
          <p:cNvPr id="301" name="Google Shape;301;p17" descr="preencoded.png"/>
          <p:cNvPicPr preferRelativeResize="0"/>
          <p:nvPr/>
        </p:nvPicPr>
        <p:blipFill rotWithShape="1">
          <a:blip r:embed="rId10">
            <a:alphaModFix/>
          </a:blip>
          <a:srcRect/>
          <a:stretch/>
        </p:blipFill>
        <p:spPr>
          <a:xfrm>
            <a:off x="6300216" y="4178808"/>
            <a:ext cx="292608" cy="292608"/>
          </a:xfrm>
          <a:prstGeom prst="rect">
            <a:avLst/>
          </a:prstGeom>
          <a:noFill/>
          <a:ln>
            <a:noFill/>
          </a:ln>
        </p:spPr>
      </p:pic>
      <p:sp>
        <p:nvSpPr>
          <p:cNvPr id="302" name="Google Shape;302;p17"/>
          <p:cNvSpPr txBox="1"/>
          <p:nvPr/>
        </p:nvSpPr>
        <p:spPr>
          <a:xfrm>
            <a:off x="6684264" y="4123944"/>
            <a:ext cx="1874520" cy="7772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22222"/>
              </a:buClr>
              <a:buSzPts val="2000"/>
              <a:buFont typeface="Arial"/>
              <a:buNone/>
            </a:pPr>
            <a:r>
              <a:rPr lang="en-US" sz="2000" b="1" i="0" u="none" strike="noStrike" cap="none">
                <a:solidFill>
                  <a:srgbClr val="222222"/>
                </a:solidFill>
                <a:latin typeface="Arial"/>
                <a:ea typeface="Arial"/>
                <a:cs typeface="Arial"/>
                <a:sym typeface="Arial"/>
              </a:rPr>
              <a:t>Dated catalyst?</a:t>
            </a:r>
            <a:endParaRPr sz="2000" b="0" i="0" u="none" strike="noStrike" cap="none">
              <a:solidFill>
                <a:schemeClr val="dk1"/>
              </a:solidFill>
              <a:latin typeface="Calibri"/>
              <a:ea typeface="Calibri"/>
              <a:cs typeface="Calibri"/>
              <a:sym typeface="Calibri"/>
            </a:endParaRPr>
          </a:p>
        </p:txBody>
      </p:sp>
      <p:sp>
        <p:nvSpPr>
          <p:cNvPr id="303" name="Google Shape;303;p17"/>
          <p:cNvSpPr txBox="1"/>
          <p:nvPr/>
        </p:nvSpPr>
        <p:spPr>
          <a:xfrm>
            <a:off x="548640" y="5138928"/>
            <a:ext cx="365760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WATCH THESE</a:t>
            </a:r>
            <a:endParaRPr sz="1200" b="0" i="0" u="none" strike="noStrike" cap="none">
              <a:solidFill>
                <a:schemeClr val="dk1"/>
              </a:solidFill>
              <a:latin typeface="Calibri"/>
              <a:ea typeface="Calibri"/>
              <a:cs typeface="Calibri"/>
              <a:sym typeface="Calibri"/>
            </a:endParaRPr>
          </a:p>
        </p:txBody>
      </p:sp>
      <p:sp>
        <p:nvSpPr>
          <p:cNvPr id="304" name="Google Shape;304;p17"/>
          <p:cNvSpPr/>
          <p:nvPr/>
        </p:nvSpPr>
        <p:spPr>
          <a:xfrm>
            <a:off x="548640" y="5431536"/>
            <a:ext cx="777240" cy="365760"/>
          </a:xfrm>
          <a:prstGeom prst="roundRect">
            <a:avLst>
              <a:gd name="adj" fmla="val 50000"/>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5" name="Google Shape;305;p17"/>
          <p:cNvSpPr txBox="1"/>
          <p:nvPr/>
        </p:nvSpPr>
        <p:spPr>
          <a:xfrm>
            <a:off x="548640" y="5431536"/>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23B2A"/>
              </a:buClr>
              <a:buSzPts val="1600"/>
              <a:buFont typeface="Arial"/>
              <a:buNone/>
            </a:pPr>
            <a:r>
              <a:rPr lang="en-US" sz="1600" b="1" i="0" u="none" strike="noStrike" cap="none">
                <a:solidFill>
                  <a:srgbClr val="A23B2A"/>
                </a:solidFill>
                <a:latin typeface="Arial"/>
                <a:ea typeface="Arial"/>
                <a:cs typeface="Arial"/>
                <a:sym typeface="Arial"/>
              </a:rPr>
              <a:t>CCJ</a:t>
            </a:r>
            <a:endParaRPr sz="1600" b="0" i="0" u="none" strike="noStrike" cap="none">
              <a:solidFill>
                <a:schemeClr val="dk1"/>
              </a:solidFill>
              <a:latin typeface="Calibri"/>
              <a:ea typeface="Calibri"/>
              <a:cs typeface="Calibri"/>
              <a:sym typeface="Calibri"/>
            </a:endParaRPr>
          </a:p>
        </p:txBody>
      </p:sp>
      <p:sp>
        <p:nvSpPr>
          <p:cNvPr id="306" name="Google Shape;306;p17"/>
          <p:cNvSpPr/>
          <p:nvPr/>
        </p:nvSpPr>
        <p:spPr>
          <a:xfrm>
            <a:off x="1417320" y="5431536"/>
            <a:ext cx="777240" cy="365760"/>
          </a:xfrm>
          <a:prstGeom prst="roundRect">
            <a:avLst>
              <a:gd name="adj" fmla="val 50000"/>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7" name="Google Shape;307;p17"/>
          <p:cNvSpPr txBox="1"/>
          <p:nvPr/>
        </p:nvSpPr>
        <p:spPr>
          <a:xfrm>
            <a:off x="1417320" y="5431536"/>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23B2A"/>
              </a:buClr>
              <a:buSzPts val="1600"/>
              <a:buFont typeface="Arial"/>
              <a:buNone/>
            </a:pPr>
            <a:r>
              <a:rPr lang="en-US" sz="1600" b="1" i="0" u="none" strike="noStrike" cap="none">
                <a:solidFill>
                  <a:srgbClr val="A23B2A"/>
                </a:solidFill>
                <a:latin typeface="Arial"/>
                <a:ea typeface="Arial"/>
                <a:cs typeface="Arial"/>
                <a:sym typeface="Arial"/>
              </a:rPr>
              <a:t>KAP</a:t>
            </a:r>
            <a:endParaRPr sz="1600" b="0" i="0" u="none" strike="noStrike" cap="none">
              <a:solidFill>
                <a:schemeClr val="dk1"/>
              </a:solidFill>
              <a:latin typeface="Calibri"/>
              <a:ea typeface="Calibri"/>
              <a:cs typeface="Calibri"/>
              <a:sym typeface="Calibri"/>
            </a:endParaRPr>
          </a:p>
        </p:txBody>
      </p:sp>
      <p:sp>
        <p:nvSpPr>
          <p:cNvPr id="308" name="Google Shape;308;p17"/>
          <p:cNvSpPr/>
          <p:nvPr/>
        </p:nvSpPr>
        <p:spPr>
          <a:xfrm>
            <a:off x="2286000" y="5431536"/>
            <a:ext cx="777240" cy="365760"/>
          </a:xfrm>
          <a:prstGeom prst="roundRect">
            <a:avLst>
              <a:gd name="adj" fmla="val 50000"/>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9" name="Google Shape;309;p17"/>
          <p:cNvSpPr txBox="1"/>
          <p:nvPr/>
        </p:nvSpPr>
        <p:spPr>
          <a:xfrm>
            <a:off x="2286000" y="5431536"/>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23B2A"/>
              </a:buClr>
              <a:buSzPts val="1600"/>
              <a:buFont typeface="Arial"/>
              <a:buNone/>
            </a:pPr>
            <a:r>
              <a:rPr lang="en-US" sz="1600" b="1" i="0" u="none" strike="noStrike" cap="none">
                <a:solidFill>
                  <a:srgbClr val="A23B2A"/>
                </a:solidFill>
                <a:latin typeface="Arial"/>
                <a:ea typeface="Arial"/>
                <a:cs typeface="Arial"/>
                <a:sym typeface="Arial"/>
              </a:rPr>
              <a:t>PDN</a:t>
            </a:r>
            <a:endParaRPr sz="1600" b="0" i="0" u="none" strike="noStrike" cap="none">
              <a:solidFill>
                <a:schemeClr val="dk1"/>
              </a:solidFill>
              <a:latin typeface="Calibri"/>
              <a:ea typeface="Calibri"/>
              <a:cs typeface="Calibri"/>
              <a:sym typeface="Calibri"/>
            </a:endParaRPr>
          </a:p>
        </p:txBody>
      </p:sp>
      <p:sp>
        <p:nvSpPr>
          <p:cNvPr id="310" name="Google Shape;310;p17"/>
          <p:cNvSpPr/>
          <p:nvPr/>
        </p:nvSpPr>
        <p:spPr>
          <a:xfrm>
            <a:off x="3154680" y="5431536"/>
            <a:ext cx="777240" cy="365760"/>
          </a:xfrm>
          <a:prstGeom prst="roundRect">
            <a:avLst>
              <a:gd name="adj" fmla="val 50000"/>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1" name="Google Shape;311;p17"/>
          <p:cNvSpPr txBox="1"/>
          <p:nvPr/>
        </p:nvSpPr>
        <p:spPr>
          <a:xfrm>
            <a:off x="3154680" y="5431536"/>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23B2A"/>
              </a:buClr>
              <a:buSzPts val="1600"/>
              <a:buFont typeface="Arial"/>
              <a:buNone/>
            </a:pPr>
            <a:r>
              <a:rPr lang="en-US" sz="1600" b="1" i="0" u="none" strike="noStrike" cap="none">
                <a:solidFill>
                  <a:srgbClr val="A23B2A"/>
                </a:solidFill>
                <a:latin typeface="Arial"/>
                <a:ea typeface="Arial"/>
                <a:cs typeface="Arial"/>
                <a:sym typeface="Arial"/>
              </a:rPr>
              <a:t>UEC</a:t>
            </a:r>
            <a:endParaRPr sz="1600" b="0" i="0" u="none" strike="noStrike" cap="none">
              <a:solidFill>
                <a:schemeClr val="dk1"/>
              </a:solidFill>
              <a:latin typeface="Calibri"/>
              <a:ea typeface="Calibri"/>
              <a:cs typeface="Calibri"/>
              <a:sym typeface="Calibri"/>
            </a:endParaRPr>
          </a:p>
        </p:txBody>
      </p:sp>
      <p:sp>
        <p:nvSpPr>
          <p:cNvPr id="312" name="Google Shape;312;p17"/>
          <p:cNvSpPr/>
          <p:nvPr/>
        </p:nvSpPr>
        <p:spPr>
          <a:xfrm>
            <a:off x="4023360" y="5431536"/>
            <a:ext cx="777240" cy="365760"/>
          </a:xfrm>
          <a:prstGeom prst="roundRect">
            <a:avLst>
              <a:gd name="adj" fmla="val 50000"/>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3" name="Google Shape;313;p17"/>
          <p:cNvSpPr txBox="1"/>
          <p:nvPr/>
        </p:nvSpPr>
        <p:spPr>
          <a:xfrm>
            <a:off x="4023360" y="5431536"/>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23B2A"/>
              </a:buClr>
              <a:buSzPts val="1600"/>
              <a:buFont typeface="Arial"/>
              <a:buNone/>
            </a:pPr>
            <a:r>
              <a:rPr lang="en-US" sz="1600" b="1" i="0" u="none" strike="noStrike" cap="none">
                <a:solidFill>
                  <a:srgbClr val="A23B2A"/>
                </a:solidFill>
                <a:latin typeface="Arial"/>
                <a:ea typeface="Arial"/>
                <a:cs typeface="Arial"/>
                <a:sym typeface="Arial"/>
              </a:rPr>
              <a:t>UUUU</a:t>
            </a:r>
            <a:endParaRPr sz="1600" b="0" i="0" u="none" strike="noStrike" cap="none">
              <a:solidFill>
                <a:schemeClr val="dk1"/>
              </a:solidFill>
              <a:latin typeface="Calibri"/>
              <a:ea typeface="Calibri"/>
              <a:cs typeface="Calibri"/>
              <a:sym typeface="Calibri"/>
            </a:endParaRPr>
          </a:p>
        </p:txBody>
      </p:sp>
      <p:sp>
        <p:nvSpPr>
          <p:cNvPr id="314" name="Google Shape;314;p17"/>
          <p:cNvSpPr/>
          <p:nvPr/>
        </p:nvSpPr>
        <p:spPr>
          <a:xfrm>
            <a:off x="4892040" y="5431536"/>
            <a:ext cx="777240" cy="365760"/>
          </a:xfrm>
          <a:prstGeom prst="roundRect">
            <a:avLst>
              <a:gd name="adj" fmla="val 50000"/>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5" name="Google Shape;315;p17"/>
          <p:cNvSpPr txBox="1"/>
          <p:nvPr/>
        </p:nvSpPr>
        <p:spPr>
          <a:xfrm>
            <a:off x="4892040" y="5431536"/>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23B2A"/>
              </a:buClr>
              <a:buSzPts val="1600"/>
              <a:buFont typeface="Arial"/>
              <a:buNone/>
            </a:pPr>
            <a:r>
              <a:rPr lang="en-US" sz="1600" b="1" i="0" u="none" strike="noStrike" cap="none">
                <a:solidFill>
                  <a:srgbClr val="A23B2A"/>
                </a:solidFill>
                <a:latin typeface="Arial"/>
                <a:ea typeface="Arial"/>
                <a:cs typeface="Arial"/>
                <a:sym typeface="Arial"/>
              </a:rPr>
              <a:t>NXE</a:t>
            </a:r>
            <a:endParaRPr sz="1600" b="0" i="0" u="none" strike="noStrike" cap="none">
              <a:solidFill>
                <a:schemeClr val="dk1"/>
              </a:solidFill>
              <a:latin typeface="Calibri"/>
              <a:ea typeface="Calibri"/>
              <a:cs typeface="Calibri"/>
              <a:sym typeface="Calibri"/>
            </a:endParaRPr>
          </a:p>
        </p:txBody>
      </p:sp>
      <p:sp>
        <p:nvSpPr>
          <p:cNvPr id="316" name="Google Shape;316;p17"/>
          <p:cNvSpPr/>
          <p:nvPr/>
        </p:nvSpPr>
        <p:spPr>
          <a:xfrm>
            <a:off x="5760720" y="5431536"/>
            <a:ext cx="777240" cy="365760"/>
          </a:xfrm>
          <a:prstGeom prst="roundRect">
            <a:avLst>
              <a:gd name="adj" fmla="val 50000"/>
            </a:avLst>
          </a:prstGeom>
          <a:solidFill>
            <a:srgbClr val="F6E7E4"/>
          </a:solidFill>
          <a:ln w="12700" cap="flat" cmpd="sng">
            <a:solidFill>
              <a:srgbClr val="F6E7E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7" name="Google Shape;317;p17"/>
          <p:cNvSpPr txBox="1"/>
          <p:nvPr/>
        </p:nvSpPr>
        <p:spPr>
          <a:xfrm>
            <a:off x="5760720" y="5431536"/>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23B2A"/>
              </a:buClr>
              <a:buSzPts val="1600"/>
              <a:buFont typeface="Arial"/>
              <a:buNone/>
            </a:pPr>
            <a:r>
              <a:rPr lang="en-US" sz="1600" b="1" i="0" u="none" strike="noStrike" cap="none">
                <a:solidFill>
                  <a:srgbClr val="A23B2A"/>
                </a:solidFill>
                <a:latin typeface="Arial"/>
                <a:ea typeface="Arial"/>
                <a:cs typeface="Arial"/>
                <a:sym typeface="Arial"/>
              </a:rPr>
              <a:t>DNN</a:t>
            </a:r>
            <a:endParaRPr sz="1600" b="0" i="0" u="none" strike="noStrike" cap="none">
              <a:solidFill>
                <a:schemeClr val="dk1"/>
              </a:solidFill>
              <a:latin typeface="Calibri"/>
              <a:ea typeface="Calibri"/>
              <a:cs typeface="Calibri"/>
              <a:sym typeface="Calibri"/>
            </a:endParaRPr>
          </a:p>
        </p:txBody>
      </p:sp>
      <p:sp>
        <p:nvSpPr>
          <p:cNvPr id="318" name="Google Shape;318;p17"/>
          <p:cNvSpPr/>
          <p:nvPr/>
        </p:nvSpPr>
        <p:spPr>
          <a:xfrm>
            <a:off x="6903720" y="5431536"/>
            <a:ext cx="777240" cy="365760"/>
          </a:xfrm>
          <a:prstGeom prst="roundRect">
            <a:avLst>
              <a:gd name="adj" fmla="val 50000"/>
            </a:avLst>
          </a:prstGeom>
          <a:solidFill>
            <a:srgbClr val="FFFFFF"/>
          </a:solidFill>
          <a:ln w="15875" cap="flat" cmpd="sng">
            <a:solidFill>
              <a:srgbClr val="A23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9" name="Google Shape;319;p17"/>
          <p:cNvSpPr txBox="1"/>
          <p:nvPr/>
        </p:nvSpPr>
        <p:spPr>
          <a:xfrm>
            <a:off x="6903720" y="5431536"/>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23B2A"/>
              </a:buClr>
              <a:buSzPts val="1600"/>
              <a:buFont typeface="Arial"/>
              <a:buNone/>
            </a:pPr>
            <a:r>
              <a:rPr lang="en-US" sz="1600" b="1" i="0" u="none" strike="noStrike" cap="none">
                <a:solidFill>
                  <a:srgbClr val="A23B2A"/>
                </a:solidFill>
                <a:latin typeface="Arial"/>
                <a:ea typeface="Arial"/>
                <a:cs typeface="Arial"/>
                <a:sym typeface="Arial"/>
              </a:rPr>
              <a:t>EU</a:t>
            </a:r>
            <a:endParaRPr sz="1600" b="0" i="0" u="none" strike="noStrike" cap="none">
              <a:solidFill>
                <a:schemeClr val="dk1"/>
              </a:solidFill>
              <a:latin typeface="Calibri"/>
              <a:ea typeface="Calibri"/>
              <a:cs typeface="Calibri"/>
              <a:sym typeface="Calibri"/>
            </a:endParaRPr>
          </a:p>
        </p:txBody>
      </p:sp>
      <p:sp>
        <p:nvSpPr>
          <p:cNvPr id="320" name="Google Shape;320;p17"/>
          <p:cNvSpPr/>
          <p:nvPr/>
        </p:nvSpPr>
        <p:spPr>
          <a:xfrm>
            <a:off x="7772400" y="5431536"/>
            <a:ext cx="777240" cy="365760"/>
          </a:xfrm>
          <a:prstGeom prst="roundRect">
            <a:avLst>
              <a:gd name="adj" fmla="val 50000"/>
            </a:avLst>
          </a:prstGeom>
          <a:solidFill>
            <a:srgbClr val="FFFFFF"/>
          </a:solidFill>
          <a:ln w="15875" cap="flat" cmpd="sng">
            <a:solidFill>
              <a:srgbClr val="A23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1" name="Google Shape;321;p17"/>
          <p:cNvSpPr txBox="1"/>
          <p:nvPr/>
        </p:nvSpPr>
        <p:spPr>
          <a:xfrm>
            <a:off x="7772400" y="5431536"/>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23B2A"/>
              </a:buClr>
              <a:buSzPts val="1600"/>
              <a:buFont typeface="Arial"/>
              <a:buNone/>
            </a:pPr>
            <a:r>
              <a:rPr lang="en-US" sz="1600" b="1" i="0" u="none" strike="noStrike" cap="none">
                <a:solidFill>
                  <a:srgbClr val="A23B2A"/>
                </a:solidFill>
                <a:latin typeface="Arial"/>
                <a:ea typeface="Arial"/>
                <a:cs typeface="Arial"/>
                <a:sym typeface="Arial"/>
              </a:rPr>
              <a:t>URG</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5"/>
        <p:cNvGrpSpPr/>
        <p:nvPr/>
      </p:nvGrpSpPr>
      <p:grpSpPr>
        <a:xfrm>
          <a:off x="0" y="0"/>
          <a:ext cx="0" cy="0"/>
          <a:chOff x="0" y="0"/>
          <a:chExt cx="0" cy="0"/>
        </a:xfrm>
      </p:grpSpPr>
      <p:grpSp>
        <p:nvGrpSpPr>
          <p:cNvPr id="326" name="Google Shape;326;p18"/>
          <p:cNvGrpSpPr/>
          <p:nvPr/>
        </p:nvGrpSpPr>
        <p:grpSpPr>
          <a:xfrm>
            <a:off x="548640" y="4476683"/>
            <a:ext cx="8046720" cy="1463040"/>
            <a:chOff x="548640" y="4251960"/>
            <a:chExt cx="8046720" cy="1463040"/>
          </a:xfrm>
        </p:grpSpPr>
        <p:sp>
          <p:nvSpPr>
            <p:cNvPr id="327" name="Google Shape;327;p18"/>
            <p:cNvSpPr/>
            <p:nvPr/>
          </p:nvSpPr>
          <p:spPr>
            <a:xfrm>
              <a:off x="548640" y="4251960"/>
              <a:ext cx="3931920" cy="146304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8" name="Google Shape;328;p18"/>
            <p:cNvSpPr/>
            <p:nvPr/>
          </p:nvSpPr>
          <p:spPr>
            <a:xfrm>
              <a:off x="777240" y="4599432"/>
              <a:ext cx="731520" cy="73152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9" name="Google Shape;329;p18"/>
            <p:cNvSpPr txBox="1"/>
            <p:nvPr/>
          </p:nvSpPr>
          <p:spPr>
            <a:xfrm>
              <a:off x="1691640" y="4434840"/>
              <a:ext cx="265176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Nuclear revenue</a:t>
              </a:r>
              <a:endParaRPr sz="2000" b="0" i="0" u="none" strike="noStrike" cap="none">
                <a:solidFill>
                  <a:schemeClr val="dk1"/>
                </a:solidFill>
                <a:latin typeface="Calibri"/>
                <a:ea typeface="Calibri"/>
                <a:cs typeface="Calibri"/>
                <a:sym typeface="Calibri"/>
              </a:endParaRPr>
            </a:p>
          </p:txBody>
        </p:sp>
        <p:sp>
          <p:nvSpPr>
            <p:cNvPr id="330" name="Google Shape;330;p18"/>
            <p:cNvSpPr txBox="1"/>
            <p:nvPr/>
          </p:nvSpPr>
          <p:spPr>
            <a:xfrm>
              <a:off x="1691640" y="4818888"/>
              <a:ext cx="2651760" cy="7315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Majority (50%+) of revenue from nuclear</a:t>
              </a:r>
              <a:endParaRPr sz="2000" b="0" i="0" u="none" strike="noStrike" cap="none">
                <a:solidFill>
                  <a:schemeClr val="dk1"/>
                </a:solidFill>
                <a:latin typeface="Calibri"/>
                <a:ea typeface="Calibri"/>
                <a:cs typeface="Calibri"/>
                <a:sym typeface="Calibri"/>
              </a:endParaRPr>
            </a:p>
          </p:txBody>
        </p:sp>
        <p:sp>
          <p:nvSpPr>
            <p:cNvPr id="331" name="Google Shape;331;p18"/>
            <p:cNvSpPr/>
            <p:nvPr/>
          </p:nvSpPr>
          <p:spPr>
            <a:xfrm>
              <a:off x="4663440" y="4251960"/>
              <a:ext cx="3931920" cy="146304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2" name="Google Shape;332;p18"/>
            <p:cNvSpPr/>
            <p:nvPr/>
          </p:nvSpPr>
          <p:spPr>
            <a:xfrm>
              <a:off x="4892040" y="4599432"/>
              <a:ext cx="731520" cy="73152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33" name="Google Shape;333;p18" descr="preencoded.png"/>
            <p:cNvPicPr preferRelativeResize="0"/>
            <p:nvPr/>
          </p:nvPicPr>
          <p:blipFill rotWithShape="1">
            <a:blip r:embed="rId3">
              <a:alphaModFix/>
            </a:blip>
            <a:srcRect/>
            <a:stretch/>
          </p:blipFill>
          <p:spPr>
            <a:xfrm>
              <a:off x="5096866" y="4804258"/>
              <a:ext cx="321869" cy="321869"/>
            </a:xfrm>
            <a:prstGeom prst="rect">
              <a:avLst/>
            </a:prstGeom>
            <a:noFill/>
            <a:ln>
              <a:noFill/>
            </a:ln>
          </p:spPr>
        </p:pic>
        <p:sp>
          <p:nvSpPr>
            <p:cNvPr id="334" name="Google Shape;334;p18"/>
            <p:cNvSpPr txBox="1"/>
            <p:nvPr/>
          </p:nvSpPr>
          <p:spPr>
            <a:xfrm>
              <a:off x="5806440" y="4434840"/>
              <a:ext cx="265176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Beats our best calls?</a:t>
              </a:r>
              <a:endParaRPr sz="2000" b="0" i="0" u="none" strike="noStrike" cap="none">
                <a:solidFill>
                  <a:schemeClr val="dk1"/>
                </a:solidFill>
                <a:latin typeface="Calibri"/>
                <a:ea typeface="Calibri"/>
                <a:cs typeface="Calibri"/>
                <a:sym typeface="Calibri"/>
              </a:endParaRPr>
            </a:p>
          </p:txBody>
        </p:sp>
        <p:sp>
          <p:nvSpPr>
            <p:cNvPr id="335" name="Google Shape;335;p18"/>
            <p:cNvSpPr txBox="1"/>
            <p:nvPr/>
          </p:nvSpPr>
          <p:spPr>
            <a:xfrm>
              <a:off x="5806440" y="4818888"/>
              <a:ext cx="2651760" cy="7315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Better than the best Long or Short</a:t>
              </a:r>
              <a:endParaRPr sz="2000" b="0" i="0" u="none" strike="noStrike" cap="none">
                <a:solidFill>
                  <a:schemeClr val="dk1"/>
                </a:solidFill>
                <a:latin typeface="Calibri"/>
                <a:ea typeface="Calibri"/>
                <a:cs typeface="Calibri"/>
                <a:sym typeface="Calibri"/>
              </a:endParaRPr>
            </a:p>
          </p:txBody>
        </p:sp>
      </p:grpSp>
      <p:sp>
        <p:nvSpPr>
          <p:cNvPr id="336" name="Google Shape;336;p18"/>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ALTERNATIVE: a better bet in the chain?</a:t>
            </a:r>
            <a:endParaRPr sz="2400" b="0" i="0" u="none" strike="noStrike" cap="none">
              <a:solidFill>
                <a:schemeClr val="dk1"/>
              </a:solidFill>
              <a:latin typeface="Calibri"/>
              <a:ea typeface="Calibri"/>
              <a:cs typeface="Calibri"/>
              <a:sym typeface="Calibri"/>
            </a:endParaRPr>
          </a:p>
        </p:txBody>
      </p:sp>
      <p:pic>
        <p:nvPicPr>
          <p:cNvPr id="337" name="Google Shape;337;p18" descr="fordham_logo.png"/>
          <p:cNvPicPr preferRelativeResize="0"/>
          <p:nvPr/>
        </p:nvPicPr>
        <p:blipFill rotWithShape="1">
          <a:blip r:embed="rId4">
            <a:alphaModFix/>
          </a:blip>
          <a:srcRect/>
          <a:stretch/>
        </p:blipFill>
        <p:spPr>
          <a:xfrm>
            <a:off x="110642" y="6217920"/>
            <a:ext cx="414223" cy="512064"/>
          </a:xfrm>
          <a:prstGeom prst="rect">
            <a:avLst/>
          </a:prstGeom>
          <a:noFill/>
          <a:ln>
            <a:noFill/>
          </a:ln>
        </p:spPr>
      </p:pic>
      <p:sp>
        <p:nvSpPr>
          <p:cNvPr id="338" name="Google Shape;338;p18"/>
          <p:cNvSpPr txBox="1"/>
          <p:nvPr/>
        </p:nvSpPr>
        <p:spPr>
          <a:xfrm>
            <a:off x="548640" y="1014984"/>
            <a:ext cx="109728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HORIZON</a:t>
            </a:r>
            <a:endParaRPr sz="1200" b="0" i="0" u="none" strike="noStrike" cap="none">
              <a:solidFill>
                <a:schemeClr val="dk1"/>
              </a:solidFill>
              <a:latin typeface="Calibri"/>
              <a:ea typeface="Calibri"/>
              <a:cs typeface="Calibri"/>
              <a:sym typeface="Calibri"/>
            </a:endParaRPr>
          </a:p>
        </p:txBody>
      </p:sp>
      <p:sp>
        <p:nvSpPr>
          <p:cNvPr id="339" name="Google Shape;339;p18"/>
          <p:cNvSpPr/>
          <p:nvPr/>
        </p:nvSpPr>
        <p:spPr>
          <a:xfrm>
            <a:off x="1645920" y="1078992"/>
            <a:ext cx="4937760" cy="128016"/>
          </a:xfrm>
          <a:prstGeom prst="roundRect">
            <a:avLst>
              <a:gd name="adj" fmla="val 50000"/>
            </a:avLst>
          </a:prstGeom>
          <a:solidFill>
            <a:srgbClr val="E3E7EC"/>
          </a:solidFill>
          <a:ln w="12700" cap="flat" cmpd="sng">
            <a:solidFill>
              <a:srgbClr val="E3E7E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0" name="Google Shape;340;p18"/>
          <p:cNvSpPr/>
          <p:nvPr/>
        </p:nvSpPr>
        <p:spPr>
          <a:xfrm>
            <a:off x="1645920" y="1078992"/>
            <a:ext cx="2962656" cy="128016"/>
          </a:xfrm>
          <a:prstGeom prst="roundRect">
            <a:avLst>
              <a:gd name="adj" fmla="val 50000"/>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1" name="Google Shape;341;p18"/>
          <p:cNvSpPr txBox="1"/>
          <p:nvPr/>
        </p:nvSpPr>
        <p:spPr>
          <a:xfrm>
            <a:off x="6766560" y="969264"/>
            <a:ext cx="1828800" cy="34747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600" b="1" i="0" u="none" strike="noStrike" cap="none">
                <a:solidFill>
                  <a:srgbClr val="6E6020"/>
                </a:solidFill>
                <a:latin typeface="Arial"/>
                <a:ea typeface="Arial"/>
                <a:cs typeface="Arial"/>
                <a:sym typeface="Arial"/>
              </a:rPr>
              <a:t>Set by direction</a:t>
            </a:r>
            <a:endParaRPr sz="1600" b="0" i="0" u="none" strike="noStrike" cap="none">
              <a:solidFill>
                <a:schemeClr val="dk1"/>
              </a:solidFill>
              <a:latin typeface="Calibri"/>
              <a:ea typeface="Calibri"/>
              <a:cs typeface="Calibri"/>
              <a:sym typeface="Calibri"/>
            </a:endParaRPr>
          </a:p>
        </p:txBody>
      </p:sp>
      <p:cxnSp>
        <p:nvCxnSpPr>
          <p:cNvPr id="342" name="Google Shape;342;p18"/>
          <p:cNvCxnSpPr/>
          <p:nvPr/>
        </p:nvCxnSpPr>
        <p:spPr>
          <a:xfrm>
            <a:off x="914400" y="1965960"/>
            <a:ext cx="7315200" cy="0"/>
          </a:xfrm>
          <a:prstGeom prst="straightConnector1">
            <a:avLst/>
          </a:prstGeom>
          <a:noFill/>
          <a:ln w="38100" cap="flat" cmpd="sng">
            <a:solidFill>
              <a:srgbClr val="D8D2B0"/>
            </a:solidFill>
            <a:prstDash val="solid"/>
            <a:round/>
            <a:headEnd type="none" w="sm" len="sm"/>
            <a:tailEnd type="none" w="sm" len="sm"/>
          </a:ln>
        </p:spPr>
      </p:cxnSp>
      <p:sp>
        <p:nvSpPr>
          <p:cNvPr id="343" name="Google Shape;343;p18"/>
          <p:cNvSpPr/>
          <p:nvPr/>
        </p:nvSpPr>
        <p:spPr>
          <a:xfrm>
            <a:off x="978408" y="1600200"/>
            <a:ext cx="731520" cy="73152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44" name="Google Shape;344;p18" descr="preencoded.png"/>
          <p:cNvPicPr preferRelativeResize="0"/>
          <p:nvPr/>
        </p:nvPicPr>
        <p:blipFill rotWithShape="1">
          <a:blip r:embed="rId5">
            <a:alphaModFix/>
          </a:blip>
          <a:srcRect/>
          <a:stretch/>
        </p:blipFill>
        <p:spPr>
          <a:xfrm>
            <a:off x="1183234" y="1805026"/>
            <a:ext cx="321869" cy="321869"/>
          </a:xfrm>
          <a:prstGeom prst="rect">
            <a:avLst/>
          </a:prstGeom>
          <a:noFill/>
          <a:ln>
            <a:noFill/>
          </a:ln>
        </p:spPr>
      </p:pic>
      <p:sp>
        <p:nvSpPr>
          <p:cNvPr id="345" name="Google Shape;345;p18"/>
          <p:cNvSpPr txBox="1"/>
          <p:nvPr/>
        </p:nvSpPr>
        <p:spPr>
          <a:xfrm>
            <a:off x="502920" y="2423160"/>
            <a:ext cx="1682496"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Physical</a:t>
            </a:r>
            <a:endParaRPr sz="2000" b="0" i="0" u="none" strike="noStrike" cap="none">
              <a:solidFill>
                <a:schemeClr val="dk1"/>
              </a:solidFill>
              <a:latin typeface="Calibri"/>
              <a:ea typeface="Calibri"/>
              <a:cs typeface="Calibri"/>
              <a:sym typeface="Calibri"/>
            </a:endParaRPr>
          </a:p>
        </p:txBody>
      </p:sp>
      <p:sp>
        <p:nvSpPr>
          <p:cNvPr id="346" name="Google Shape;346;p18"/>
          <p:cNvSpPr txBox="1"/>
          <p:nvPr/>
        </p:nvSpPr>
        <p:spPr>
          <a:xfrm>
            <a:off x="502920" y="2834640"/>
            <a:ext cx="1682496"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NAV discount</a:t>
            </a:r>
            <a:endParaRPr sz="2000" b="0" i="0" u="none" strike="noStrike" cap="none">
              <a:solidFill>
                <a:schemeClr val="dk1"/>
              </a:solidFill>
              <a:latin typeface="Calibri"/>
              <a:ea typeface="Calibri"/>
              <a:cs typeface="Calibri"/>
              <a:sym typeface="Calibri"/>
            </a:endParaRPr>
          </a:p>
        </p:txBody>
      </p:sp>
      <p:sp>
        <p:nvSpPr>
          <p:cNvPr id="347" name="Google Shape;347;p18"/>
          <p:cNvSpPr/>
          <p:nvPr/>
        </p:nvSpPr>
        <p:spPr>
          <a:xfrm>
            <a:off x="955548" y="3689370"/>
            <a:ext cx="777240" cy="365760"/>
          </a:xfrm>
          <a:prstGeom prst="roundRect">
            <a:avLst>
              <a:gd name="adj" fmla="val 500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8" name="Google Shape;348;p18"/>
          <p:cNvSpPr/>
          <p:nvPr/>
        </p:nvSpPr>
        <p:spPr>
          <a:xfrm>
            <a:off x="2606040" y="1600200"/>
            <a:ext cx="731520" cy="73152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49" name="Google Shape;349;p18" descr="preencoded.png"/>
          <p:cNvPicPr preferRelativeResize="0"/>
          <p:nvPr/>
        </p:nvPicPr>
        <p:blipFill rotWithShape="1">
          <a:blip r:embed="rId6">
            <a:alphaModFix/>
          </a:blip>
          <a:srcRect/>
          <a:stretch/>
        </p:blipFill>
        <p:spPr>
          <a:xfrm>
            <a:off x="2810866" y="1805026"/>
            <a:ext cx="321869" cy="321869"/>
          </a:xfrm>
          <a:prstGeom prst="rect">
            <a:avLst/>
          </a:prstGeom>
          <a:noFill/>
          <a:ln>
            <a:noFill/>
          </a:ln>
        </p:spPr>
      </p:pic>
      <p:sp>
        <p:nvSpPr>
          <p:cNvPr id="350" name="Google Shape;350;p18"/>
          <p:cNvSpPr txBox="1"/>
          <p:nvPr/>
        </p:nvSpPr>
        <p:spPr>
          <a:xfrm>
            <a:off x="2130552" y="2423160"/>
            <a:ext cx="1682496"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Fuel cycle</a:t>
            </a:r>
            <a:endParaRPr sz="2000" b="0" i="0" u="none" strike="noStrike" cap="none">
              <a:solidFill>
                <a:schemeClr val="dk1"/>
              </a:solidFill>
              <a:latin typeface="Calibri"/>
              <a:ea typeface="Calibri"/>
              <a:cs typeface="Calibri"/>
              <a:sym typeface="Calibri"/>
            </a:endParaRPr>
          </a:p>
        </p:txBody>
      </p:sp>
      <p:sp>
        <p:nvSpPr>
          <p:cNvPr id="351" name="Google Shape;351;p18"/>
          <p:cNvSpPr txBox="1"/>
          <p:nvPr/>
        </p:nvSpPr>
        <p:spPr>
          <a:xfrm>
            <a:off x="2130552" y="2834640"/>
            <a:ext cx="1682496"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SWU price, backlog</a:t>
            </a:r>
            <a:endParaRPr sz="2000" b="0" i="0" u="none" strike="noStrike" cap="none">
              <a:solidFill>
                <a:schemeClr val="dk1"/>
              </a:solidFill>
              <a:latin typeface="Calibri"/>
              <a:ea typeface="Calibri"/>
              <a:cs typeface="Calibri"/>
              <a:sym typeface="Calibri"/>
            </a:endParaRPr>
          </a:p>
        </p:txBody>
      </p:sp>
      <p:sp>
        <p:nvSpPr>
          <p:cNvPr id="352" name="Google Shape;352;p18"/>
          <p:cNvSpPr/>
          <p:nvPr/>
        </p:nvSpPr>
        <p:spPr>
          <a:xfrm>
            <a:off x="2583180" y="3689370"/>
            <a:ext cx="777240" cy="365760"/>
          </a:xfrm>
          <a:prstGeom prst="roundRect">
            <a:avLst>
              <a:gd name="adj" fmla="val 500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3" name="Google Shape;353;p18"/>
          <p:cNvSpPr/>
          <p:nvPr/>
        </p:nvSpPr>
        <p:spPr>
          <a:xfrm>
            <a:off x="4233672" y="1600200"/>
            <a:ext cx="731520" cy="73152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54" name="Google Shape;354;p18" descr="preencoded.png"/>
          <p:cNvPicPr preferRelativeResize="0"/>
          <p:nvPr/>
        </p:nvPicPr>
        <p:blipFill rotWithShape="1">
          <a:blip r:embed="rId7">
            <a:alphaModFix/>
          </a:blip>
          <a:srcRect/>
          <a:stretch/>
        </p:blipFill>
        <p:spPr>
          <a:xfrm>
            <a:off x="4438498" y="1805026"/>
            <a:ext cx="321869" cy="321869"/>
          </a:xfrm>
          <a:prstGeom prst="rect">
            <a:avLst/>
          </a:prstGeom>
          <a:noFill/>
          <a:ln>
            <a:noFill/>
          </a:ln>
        </p:spPr>
      </p:pic>
      <p:sp>
        <p:nvSpPr>
          <p:cNvPr id="355" name="Google Shape;355;p18"/>
          <p:cNvSpPr txBox="1"/>
          <p:nvPr/>
        </p:nvSpPr>
        <p:spPr>
          <a:xfrm>
            <a:off x="3758184" y="2423160"/>
            <a:ext cx="1682496"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Components</a:t>
            </a:r>
            <a:endParaRPr sz="2000" b="0" i="0" u="none" strike="noStrike" cap="none">
              <a:solidFill>
                <a:schemeClr val="dk1"/>
              </a:solidFill>
              <a:latin typeface="Calibri"/>
              <a:ea typeface="Calibri"/>
              <a:cs typeface="Calibri"/>
              <a:sym typeface="Calibri"/>
            </a:endParaRPr>
          </a:p>
        </p:txBody>
      </p:sp>
      <p:sp>
        <p:nvSpPr>
          <p:cNvPr id="356" name="Google Shape;356;p18"/>
          <p:cNvSpPr txBox="1"/>
          <p:nvPr/>
        </p:nvSpPr>
        <p:spPr>
          <a:xfrm>
            <a:off x="3758184" y="2834640"/>
            <a:ext cx="1682496"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Book-to-bill</a:t>
            </a:r>
            <a:endParaRPr sz="2000" b="0" i="0" u="none" strike="noStrike" cap="none">
              <a:solidFill>
                <a:schemeClr val="dk1"/>
              </a:solidFill>
              <a:latin typeface="Calibri"/>
              <a:ea typeface="Calibri"/>
              <a:cs typeface="Calibri"/>
              <a:sym typeface="Calibri"/>
            </a:endParaRPr>
          </a:p>
        </p:txBody>
      </p:sp>
      <p:sp>
        <p:nvSpPr>
          <p:cNvPr id="357" name="Google Shape;357;p18"/>
          <p:cNvSpPr/>
          <p:nvPr/>
        </p:nvSpPr>
        <p:spPr>
          <a:xfrm>
            <a:off x="4210812" y="3689370"/>
            <a:ext cx="777240" cy="365760"/>
          </a:xfrm>
          <a:prstGeom prst="roundRect">
            <a:avLst>
              <a:gd name="adj" fmla="val 500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8" name="Google Shape;358;p18"/>
          <p:cNvSpPr/>
          <p:nvPr/>
        </p:nvSpPr>
        <p:spPr>
          <a:xfrm>
            <a:off x="5861304" y="1600200"/>
            <a:ext cx="731520" cy="73152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59" name="Google Shape;359;p18" descr="preencoded.png"/>
          <p:cNvPicPr preferRelativeResize="0"/>
          <p:nvPr/>
        </p:nvPicPr>
        <p:blipFill rotWithShape="1">
          <a:blip r:embed="rId8">
            <a:alphaModFix/>
          </a:blip>
          <a:srcRect/>
          <a:stretch/>
        </p:blipFill>
        <p:spPr>
          <a:xfrm>
            <a:off x="6066130" y="1805026"/>
            <a:ext cx="321869" cy="321869"/>
          </a:xfrm>
          <a:prstGeom prst="rect">
            <a:avLst/>
          </a:prstGeom>
          <a:noFill/>
          <a:ln>
            <a:noFill/>
          </a:ln>
        </p:spPr>
      </p:pic>
      <p:sp>
        <p:nvSpPr>
          <p:cNvPr id="360" name="Google Shape;360;p18"/>
          <p:cNvSpPr txBox="1"/>
          <p:nvPr/>
        </p:nvSpPr>
        <p:spPr>
          <a:xfrm>
            <a:off x="5385816" y="2423160"/>
            <a:ext cx="1682496"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Generation</a:t>
            </a:r>
            <a:endParaRPr sz="2000" b="0" i="0" u="none" strike="noStrike" cap="none">
              <a:solidFill>
                <a:schemeClr val="dk1"/>
              </a:solidFill>
              <a:latin typeface="Calibri"/>
              <a:ea typeface="Calibri"/>
              <a:cs typeface="Calibri"/>
              <a:sym typeface="Calibri"/>
            </a:endParaRPr>
          </a:p>
        </p:txBody>
      </p:sp>
      <p:sp>
        <p:nvSpPr>
          <p:cNvPr id="361" name="Google Shape;361;p18"/>
          <p:cNvSpPr txBox="1"/>
          <p:nvPr/>
        </p:nvSpPr>
        <p:spPr>
          <a:xfrm>
            <a:off x="5385816" y="2834640"/>
            <a:ext cx="1682496"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Contracted MW</a:t>
            </a:r>
            <a:endParaRPr sz="2000" b="0" i="0" u="none" strike="noStrike" cap="none">
              <a:solidFill>
                <a:schemeClr val="dk1"/>
              </a:solidFill>
              <a:latin typeface="Calibri"/>
              <a:ea typeface="Calibri"/>
              <a:cs typeface="Calibri"/>
              <a:sym typeface="Calibri"/>
            </a:endParaRPr>
          </a:p>
        </p:txBody>
      </p:sp>
      <p:sp>
        <p:nvSpPr>
          <p:cNvPr id="362" name="Google Shape;362;p18"/>
          <p:cNvSpPr/>
          <p:nvPr/>
        </p:nvSpPr>
        <p:spPr>
          <a:xfrm>
            <a:off x="5838444" y="3689370"/>
            <a:ext cx="777240" cy="365760"/>
          </a:xfrm>
          <a:prstGeom prst="roundRect">
            <a:avLst>
              <a:gd name="adj" fmla="val 500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3" name="Google Shape;363;p18"/>
          <p:cNvSpPr/>
          <p:nvPr/>
        </p:nvSpPr>
        <p:spPr>
          <a:xfrm>
            <a:off x="7488936" y="1600200"/>
            <a:ext cx="731520" cy="73152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64" name="Google Shape;364;p18" descr="preencoded.png"/>
          <p:cNvPicPr preferRelativeResize="0"/>
          <p:nvPr/>
        </p:nvPicPr>
        <p:blipFill rotWithShape="1">
          <a:blip r:embed="rId9">
            <a:alphaModFix/>
          </a:blip>
          <a:srcRect/>
          <a:stretch/>
        </p:blipFill>
        <p:spPr>
          <a:xfrm>
            <a:off x="7693762" y="1805026"/>
            <a:ext cx="321869" cy="321869"/>
          </a:xfrm>
          <a:prstGeom prst="rect">
            <a:avLst/>
          </a:prstGeom>
          <a:noFill/>
          <a:ln>
            <a:noFill/>
          </a:ln>
        </p:spPr>
      </p:pic>
      <p:sp>
        <p:nvSpPr>
          <p:cNvPr id="365" name="Google Shape;365;p18"/>
          <p:cNvSpPr txBox="1"/>
          <p:nvPr/>
        </p:nvSpPr>
        <p:spPr>
          <a:xfrm>
            <a:off x="7013448" y="2423160"/>
            <a:ext cx="1682496"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Reactors</a:t>
            </a:r>
            <a:endParaRPr sz="2000" b="0" i="0" u="none" strike="noStrike" cap="none">
              <a:solidFill>
                <a:schemeClr val="dk1"/>
              </a:solidFill>
              <a:latin typeface="Calibri"/>
              <a:ea typeface="Calibri"/>
              <a:cs typeface="Calibri"/>
              <a:sym typeface="Calibri"/>
            </a:endParaRPr>
          </a:p>
        </p:txBody>
      </p:sp>
      <p:sp>
        <p:nvSpPr>
          <p:cNvPr id="366" name="Google Shape;366;p18"/>
          <p:cNvSpPr txBox="1"/>
          <p:nvPr/>
        </p:nvSpPr>
        <p:spPr>
          <a:xfrm>
            <a:off x="7013448" y="2834640"/>
            <a:ext cx="1682496"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22222"/>
              </a:buClr>
              <a:buSzPts val="2000"/>
              <a:buFont typeface="Arial"/>
              <a:buNone/>
            </a:pPr>
            <a:r>
              <a:rPr lang="en-US" sz="2000" b="0" i="0" u="none" strike="noStrike" cap="none">
                <a:solidFill>
                  <a:srgbClr val="222222"/>
                </a:solidFill>
                <a:latin typeface="Arial"/>
                <a:ea typeface="Arial"/>
                <a:cs typeface="Arial"/>
                <a:sym typeface="Arial"/>
              </a:rPr>
              <a:t>Licensing, cash runway</a:t>
            </a:r>
            <a:endParaRPr sz="2000" b="0" i="0" u="none" strike="noStrike" cap="none">
              <a:solidFill>
                <a:schemeClr val="dk1"/>
              </a:solidFill>
              <a:latin typeface="Calibri"/>
              <a:ea typeface="Calibri"/>
              <a:cs typeface="Calibri"/>
              <a:sym typeface="Calibri"/>
            </a:endParaRPr>
          </a:p>
        </p:txBody>
      </p:sp>
      <p:sp>
        <p:nvSpPr>
          <p:cNvPr id="367" name="Google Shape;367;p18"/>
          <p:cNvSpPr/>
          <p:nvPr/>
        </p:nvSpPr>
        <p:spPr>
          <a:xfrm>
            <a:off x="7040880" y="3689370"/>
            <a:ext cx="777240" cy="365760"/>
          </a:xfrm>
          <a:prstGeom prst="roundRect">
            <a:avLst>
              <a:gd name="adj" fmla="val 500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8" name="Google Shape;368;p18"/>
          <p:cNvSpPr/>
          <p:nvPr/>
        </p:nvSpPr>
        <p:spPr>
          <a:xfrm>
            <a:off x="7891272" y="3689370"/>
            <a:ext cx="777240" cy="365760"/>
          </a:xfrm>
          <a:prstGeom prst="roundRect">
            <a:avLst>
              <a:gd name="adj" fmla="val 500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9" name="Google Shape;369;p18"/>
          <p:cNvSpPr txBox="1"/>
          <p:nvPr/>
        </p:nvSpPr>
        <p:spPr>
          <a:xfrm>
            <a:off x="955548" y="37048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1600"/>
              <a:buFont typeface="Arial"/>
              <a:buNone/>
            </a:pPr>
            <a:r>
              <a:rPr lang="en-US" sz="1600" b="1" i="0" u="none" strike="noStrike" cap="none">
                <a:solidFill>
                  <a:srgbClr val="6E6020"/>
                </a:solidFill>
                <a:latin typeface="Arial"/>
                <a:ea typeface="Arial"/>
                <a:cs typeface="Arial"/>
                <a:sym typeface="Arial"/>
              </a:rPr>
              <a:t>SPUT</a:t>
            </a:r>
            <a:endParaRPr sz="1600" b="0" i="0" u="none" strike="noStrike" cap="none">
              <a:solidFill>
                <a:schemeClr val="dk1"/>
              </a:solidFill>
              <a:latin typeface="Calibri"/>
              <a:ea typeface="Calibri"/>
              <a:cs typeface="Calibri"/>
              <a:sym typeface="Calibri"/>
            </a:endParaRPr>
          </a:p>
        </p:txBody>
      </p:sp>
      <p:sp>
        <p:nvSpPr>
          <p:cNvPr id="370" name="Google Shape;370;p18"/>
          <p:cNvSpPr txBox="1"/>
          <p:nvPr/>
        </p:nvSpPr>
        <p:spPr>
          <a:xfrm>
            <a:off x="2583180" y="37048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1600"/>
              <a:buFont typeface="Arial"/>
              <a:buNone/>
            </a:pPr>
            <a:r>
              <a:rPr lang="en-US" sz="1600" b="1" i="0" u="none" strike="noStrike" cap="none">
                <a:solidFill>
                  <a:srgbClr val="6E6020"/>
                </a:solidFill>
                <a:latin typeface="Arial"/>
                <a:ea typeface="Arial"/>
                <a:cs typeface="Arial"/>
                <a:sym typeface="Arial"/>
              </a:rPr>
              <a:t>LEU</a:t>
            </a:r>
            <a:endParaRPr sz="1600" b="0" i="0" u="none" strike="noStrike" cap="none">
              <a:solidFill>
                <a:schemeClr val="dk1"/>
              </a:solidFill>
              <a:latin typeface="Calibri"/>
              <a:ea typeface="Calibri"/>
              <a:cs typeface="Calibri"/>
              <a:sym typeface="Calibri"/>
            </a:endParaRPr>
          </a:p>
        </p:txBody>
      </p:sp>
      <p:sp>
        <p:nvSpPr>
          <p:cNvPr id="371" name="Google Shape;371;p18"/>
          <p:cNvSpPr txBox="1"/>
          <p:nvPr/>
        </p:nvSpPr>
        <p:spPr>
          <a:xfrm>
            <a:off x="4210812" y="37048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1600"/>
              <a:buFont typeface="Arial"/>
              <a:buNone/>
            </a:pPr>
            <a:r>
              <a:rPr lang="en-US" sz="1600" b="1" i="0" u="none" strike="noStrike" cap="none">
                <a:solidFill>
                  <a:srgbClr val="6E6020"/>
                </a:solidFill>
                <a:latin typeface="Arial"/>
                <a:ea typeface="Arial"/>
                <a:cs typeface="Arial"/>
                <a:sym typeface="Arial"/>
              </a:rPr>
              <a:t>BWXT</a:t>
            </a:r>
            <a:endParaRPr sz="1600" b="0" i="0" u="none" strike="noStrike" cap="none">
              <a:solidFill>
                <a:schemeClr val="dk1"/>
              </a:solidFill>
              <a:latin typeface="Calibri"/>
              <a:ea typeface="Calibri"/>
              <a:cs typeface="Calibri"/>
              <a:sym typeface="Calibri"/>
            </a:endParaRPr>
          </a:p>
        </p:txBody>
      </p:sp>
      <p:sp>
        <p:nvSpPr>
          <p:cNvPr id="372" name="Google Shape;372;p18"/>
          <p:cNvSpPr txBox="1"/>
          <p:nvPr/>
        </p:nvSpPr>
        <p:spPr>
          <a:xfrm>
            <a:off x="5838444" y="37048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1600"/>
              <a:buFont typeface="Arial"/>
              <a:buNone/>
            </a:pPr>
            <a:r>
              <a:rPr lang="en-US" sz="1600" b="1" i="0" u="none" strike="noStrike" cap="none">
                <a:solidFill>
                  <a:srgbClr val="6E6020"/>
                </a:solidFill>
                <a:latin typeface="Arial"/>
                <a:ea typeface="Arial"/>
                <a:cs typeface="Arial"/>
                <a:sym typeface="Arial"/>
              </a:rPr>
              <a:t>CEG</a:t>
            </a:r>
            <a:endParaRPr sz="1600" b="0" i="0" u="none" strike="noStrike" cap="none">
              <a:solidFill>
                <a:schemeClr val="dk1"/>
              </a:solidFill>
              <a:latin typeface="Calibri"/>
              <a:ea typeface="Calibri"/>
              <a:cs typeface="Calibri"/>
              <a:sym typeface="Calibri"/>
            </a:endParaRPr>
          </a:p>
        </p:txBody>
      </p:sp>
      <p:sp>
        <p:nvSpPr>
          <p:cNvPr id="373" name="Google Shape;373;p18"/>
          <p:cNvSpPr txBox="1"/>
          <p:nvPr/>
        </p:nvSpPr>
        <p:spPr>
          <a:xfrm>
            <a:off x="7040880" y="37048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1600"/>
              <a:buFont typeface="Arial"/>
              <a:buNone/>
            </a:pPr>
            <a:r>
              <a:rPr lang="en-US" sz="1600" b="1" i="0" u="none" strike="noStrike" cap="none">
                <a:solidFill>
                  <a:srgbClr val="6E6020"/>
                </a:solidFill>
                <a:latin typeface="Arial"/>
                <a:ea typeface="Arial"/>
                <a:cs typeface="Arial"/>
                <a:sym typeface="Arial"/>
              </a:rPr>
              <a:t>SMR</a:t>
            </a:r>
            <a:endParaRPr sz="1600" b="0" i="0" u="none" strike="noStrike" cap="none">
              <a:solidFill>
                <a:schemeClr val="dk1"/>
              </a:solidFill>
              <a:latin typeface="Calibri"/>
              <a:ea typeface="Calibri"/>
              <a:cs typeface="Calibri"/>
              <a:sym typeface="Calibri"/>
            </a:endParaRPr>
          </a:p>
        </p:txBody>
      </p:sp>
      <p:sp>
        <p:nvSpPr>
          <p:cNvPr id="374" name="Google Shape;374;p18"/>
          <p:cNvSpPr txBox="1"/>
          <p:nvPr/>
        </p:nvSpPr>
        <p:spPr>
          <a:xfrm>
            <a:off x="7891272" y="3704868"/>
            <a:ext cx="77724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E6020"/>
              </a:buClr>
              <a:buSzPts val="1600"/>
              <a:buFont typeface="Arial"/>
              <a:buNone/>
            </a:pPr>
            <a:r>
              <a:rPr lang="en-US" sz="1600" b="1" i="0" u="none" strike="noStrike" cap="none">
                <a:solidFill>
                  <a:srgbClr val="6E6020"/>
                </a:solidFill>
                <a:latin typeface="Arial"/>
                <a:ea typeface="Arial"/>
                <a:cs typeface="Arial"/>
                <a:sym typeface="Arial"/>
              </a:rPr>
              <a:t>OKLO</a:t>
            </a:r>
            <a:endParaRPr sz="1600" b="0" i="0" u="none" strike="noStrike" cap="none">
              <a:solidFill>
                <a:schemeClr val="dk1"/>
              </a:solidFill>
              <a:latin typeface="Calibri"/>
              <a:ea typeface="Calibri"/>
              <a:cs typeface="Calibri"/>
              <a:sym typeface="Calibri"/>
            </a:endParaRPr>
          </a:p>
        </p:txBody>
      </p:sp>
      <p:pic>
        <p:nvPicPr>
          <p:cNvPr id="375" name="Google Shape;375;p18" descr="preencoded.png"/>
          <p:cNvPicPr preferRelativeResize="0"/>
          <p:nvPr/>
        </p:nvPicPr>
        <p:blipFill rotWithShape="1">
          <a:blip r:embed="rId10">
            <a:alphaModFix/>
          </a:blip>
          <a:srcRect/>
          <a:stretch/>
        </p:blipFill>
        <p:spPr>
          <a:xfrm>
            <a:off x="978408" y="5043611"/>
            <a:ext cx="321869" cy="32186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7"/>
          <p:cNvSpPr txBox="1"/>
          <p:nvPr/>
        </p:nvSpPr>
        <p:spPr>
          <a:xfrm>
            <a:off x="546100" y="406486"/>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Company Ranking: One score per company, across all three mandates</a:t>
            </a:r>
            <a:endParaRPr sz="2400" b="0" i="0" u="none" strike="noStrike" cap="none">
              <a:solidFill>
                <a:schemeClr val="dk1"/>
              </a:solidFill>
              <a:latin typeface="Calibri"/>
              <a:ea typeface="Calibri"/>
              <a:cs typeface="Calibri"/>
              <a:sym typeface="Calibri"/>
            </a:endParaRPr>
          </a:p>
        </p:txBody>
      </p:sp>
      <p:graphicFrame>
        <p:nvGraphicFramePr>
          <p:cNvPr id="381" name="Google Shape;381;p37"/>
          <p:cNvGraphicFramePr/>
          <p:nvPr/>
        </p:nvGraphicFramePr>
        <p:xfrm>
          <a:off x="546100" y="1236571"/>
          <a:ext cx="8055875" cy="3879075"/>
        </p:xfrm>
        <a:graphic>
          <a:graphicData uri="http://schemas.openxmlformats.org/drawingml/2006/table">
            <a:tbl>
              <a:tblPr>
                <a:noFill/>
                <a:tableStyleId>{67C04448-9542-46E3-BF30-04DBAA183EC1}</a:tableStyleId>
              </a:tblPr>
              <a:tblGrid>
                <a:gridCol w="868675">
                  <a:extLst>
                    <a:ext uri="{9D8B030D-6E8A-4147-A177-3AD203B41FA5}">
                      <a16:colId xmlns:a16="http://schemas.microsoft.com/office/drawing/2014/main" val="20000"/>
                    </a:ext>
                  </a:extLst>
                </a:gridCol>
                <a:gridCol w="1481325">
                  <a:extLst>
                    <a:ext uri="{9D8B030D-6E8A-4147-A177-3AD203B41FA5}">
                      <a16:colId xmlns:a16="http://schemas.microsoft.com/office/drawing/2014/main" val="20001"/>
                    </a:ext>
                  </a:extLst>
                </a:gridCol>
                <a:gridCol w="502925">
                  <a:extLst>
                    <a:ext uri="{9D8B030D-6E8A-4147-A177-3AD203B41FA5}">
                      <a16:colId xmlns:a16="http://schemas.microsoft.com/office/drawing/2014/main" val="20002"/>
                    </a:ext>
                  </a:extLst>
                </a:gridCol>
                <a:gridCol w="548650">
                  <a:extLst>
                    <a:ext uri="{9D8B030D-6E8A-4147-A177-3AD203B41FA5}">
                      <a16:colId xmlns:a16="http://schemas.microsoft.com/office/drawing/2014/main" val="20003"/>
                    </a:ext>
                  </a:extLst>
                </a:gridCol>
                <a:gridCol w="658375">
                  <a:extLst>
                    <a:ext uri="{9D8B030D-6E8A-4147-A177-3AD203B41FA5}">
                      <a16:colId xmlns:a16="http://schemas.microsoft.com/office/drawing/2014/main" val="20004"/>
                    </a:ext>
                  </a:extLst>
                </a:gridCol>
                <a:gridCol w="594350">
                  <a:extLst>
                    <a:ext uri="{9D8B030D-6E8A-4147-A177-3AD203B41FA5}">
                      <a16:colId xmlns:a16="http://schemas.microsoft.com/office/drawing/2014/main" val="20005"/>
                    </a:ext>
                  </a:extLst>
                </a:gridCol>
                <a:gridCol w="640075">
                  <a:extLst>
                    <a:ext uri="{9D8B030D-6E8A-4147-A177-3AD203B41FA5}">
                      <a16:colId xmlns:a16="http://schemas.microsoft.com/office/drawing/2014/main" val="20006"/>
                    </a:ext>
                  </a:extLst>
                </a:gridCol>
                <a:gridCol w="841250">
                  <a:extLst>
                    <a:ext uri="{9D8B030D-6E8A-4147-A177-3AD203B41FA5}">
                      <a16:colId xmlns:a16="http://schemas.microsoft.com/office/drawing/2014/main" val="20007"/>
                    </a:ext>
                  </a:extLst>
                </a:gridCol>
                <a:gridCol w="1920250">
                  <a:extLst>
                    <a:ext uri="{9D8B030D-6E8A-4147-A177-3AD203B41FA5}">
                      <a16:colId xmlns:a16="http://schemas.microsoft.com/office/drawing/2014/main" val="20008"/>
                    </a:ext>
                  </a:extLst>
                </a:gridCol>
              </a:tblGrid>
              <a:tr h="431800">
                <a:tc>
                  <a:txBody>
                    <a:bodyPr/>
                    <a:lstStyle/>
                    <a:p>
                      <a:pPr marL="0" marR="0" lvl="0" indent="0" algn="l"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Chain step</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Company</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Val</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Cash</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Growth</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Resil.</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Mkt</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Score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Verdict</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Dig</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PDN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3.90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Long lead · Watchlist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Dig</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KAP</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2.90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Long C · conditional</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Dig</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UEC</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2.50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i="0" u="none" strike="noStrike" cap="none">
                          <a:solidFill>
                            <a:srgbClr val="222222"/>
                          </a:solidFill>
                          <a:latin typeface="Arial"/>
                          <a:ea typeface="Arial"/>
                          <a:cs typeface="Arial"/>
                          <a:sym typeface="Arial"/>
                        </a:rPr>
                        <a:t>Not selected: low score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Dig + REE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A23B2A"/>
                          </a:solidFill>
                          <a:latin typeface="Arial"/>
                          <a:ea typeface="Arial"/>
                          <a:cs typeface="Arial"/>
                          <a:sym typeface="Arial"/>
                        </a:rPr>
                        <a:t>UUUU</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2.50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Short call · Watchlist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4"/>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Integrated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CCJ</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3.15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i="0" u="none" strike="noStrike" cap="none">
                          <a:solidFill>
                            <a:srgbClr val="222222"/>
                          </a:solidFill>
                          <a:latin typeface="Arial"/>
                          <a:ea typeface="Arial"/>
                          <a:cs typeface="Arial"/>
                          <a:sym typeface="Arial"/>
                        </a:rPr>
                        <a:t>Watchlist: gate untested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5"/>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Develop</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NXE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3.35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i="0" u="none" strike="noStrike" cap="none">
                          <a:solidFill>
                            <a:srgbClr val="222222"/>
                          </a:solidFill>
                          <a:latin typeface="Arial"/>
                          <a:ea typeface="Arial"/>
                          <a:cs typeface="Arial"/>
                          <a:sym typeface="Arial"/>
                        </a:rPr>
                        <a:t>Watchlist: first ore 2030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6"/>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Develop</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DNN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3.10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Long B · on milestones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7"/>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Store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6E6020"/>
                          </a:solidFill>
                          <a:latin typeface="Arial"/>
                          <a:ea typeface="Arial"/>
                          <a:cs typeface="Arial"/>
                          <a:sym typeface="Arial"/>
                        </a:rPr>
                        <a:t>SPUT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3.85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Alt runner-up</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8"/>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Enrich</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6E6020"/>
                          </a:solidFill>
                          <a:latin typeface="Arial"/>
                          <a:ea typeface="Arial"/>
                          <a:cs typeface="Arial"/>
                          <a:sym typeface="Arial"/>
                        </a:rPr>
                        <a:t>LEU</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2.25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i="0" u="none" strike="noStrike" cap="none">
                          <a:solidFill>
                            <a:srgbClr val="222222"/>
                          </a:solidFill>
                          <a:latin typeface="Arial"/>
                          <a:ea typeface="Arial"/>
                          <a:cs typeface="Arial"/>
                          <a:sym typeface="Arial"/>
                        </a:rPr>
                        <a:t>Not selected: 229x</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9"/>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Fuel &amp; build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6E6020"/>
                          </a:solidFill>
                          <a:latin typeface="Arial"/>
                          <a:ea typeface="Arial"/>
                          <a:cs typeface="Arial"/>
                          <a:sym typeface="Arial"/>
                        </a:rPr>
                        <a:t>BWXT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3.80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Alt lead · Watchlist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10"/>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Plug in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6E6020"/>
                          </a:solidFill>
                          <a:latin typeface="Arial"/>
                          <a:ea typeface="Arial"/>
                          <a:cs typeface="Arial"/>
                          <a:sym typeface="Arial"/>
                        </a:rPr>
                        <a:t>CEG</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3.40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i="0" u="none" strike="noStrike" cap="none">
                          <a:solidFill>
                            <a:srgbClr val="222222"/>
                          </a:solidFill>
                          <a:latin typeface="Arial"/>
                          <a:ea typeface="Arial"/>
                          <a:cs typeface="Arial"/>
                          <a:sym typeface="Arial"/>
                        </a:rPr>
                        <a:t>Ineligible (est.)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11"/>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Design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6E6020"/>
                          </a:solidFill>
                          <a:latin typeface="Arial"/>
                          <a:ea typeface="Arial"/>
                          <a:cs typeface="Arial"/>
                          <a:sym typeface="Arial"/>
                        </a:rPr>
                        <a:t>SMR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1.65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Watchlist short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12"/>
                  </a:ext>
                </a:extLst>
              </a:tr>
              <a:tr h="265175">
                <a:tc>
                  <a:txBody>
                    <a:bodyPr/>
                    <a:lstStyle/>
                    <a:p>
                      <a:pPr marL="0" marR="0" lvl="0" indent="0" algn="l"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Design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6E6020"/>
                          </a:solidFill>
                          <a:latin typeface="Arial"/>
                          <a:ea typeface="Arial"/>
                          <a:cs typeface="Arial"/>
                          <a:sym typeface="Arial"/>
                        </a:rPr>
                        <a:t>OKLO</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1.40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100" b="1" u="none" strike="noStrike" cap="none">
                          <a:solidFill>
                            <a:srgbClr val="222222"/>
                          </a:solidFill>
                          <a:latin typeface="Arial"/>
                          <a:ea typeface="Arial"/>
                          <a:cs typeface="Arial"/>
                          <a:sym typeface="Arial"/>
                        </a:rPr>
                        <a:t>Ineligible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13"/>
                  </a:ext>
                </a:extLst>
              </a:tr>
            </a:tbl>
          </a:graphicData>
        </a:graphic>
      </p:graphicFrame>
      <p:sp>
        <p:nvSpPr>
          <p:cNvPr id="382" name="Google Shape;382;p37"/>
          <p:cNvSpPr/>
          <p:nvPr/>
        </p:nvSpPr>
        <p:spPr>
          <a:xfrm>
            <a:off x="546100" y="5442811"/>
            <a:ext cx="8051800" cy="64008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300" b="1" i="0" u="none" strike="noStrike" cap="none">
                <a:solidFill>
                  <a:srgbClr val="6E6020"/>
                </a:solidFill>
                <a:latin typeface="Arial"/>
                <a:ea typeface="Arial"/>
                <a:cs typeface="Arial"/>
                <a:sym typeface="Arial"/>
              </a:rPr>
              <a:t>One score per name: Jared aligned the Short scores to these on Sep 28 (slide 15).</a:t>
            </a:r>
            <a:endParaRPr sz="1400" b="0" i="0" u="none" strike="noStrike" cap="none">
              <a:solidFill>
                <a:srgbClr val="000000"/>
              </a:solidFill>
              <a:latin typeface="Arial"/>
              <a:ea typeface="Arial"/>
              <a:cs typeface="Arial"/>
              <a:sym typeface="Arial"/>
            </a:endParaRPr>
          </a:p>
        </p:txBody>
      </p:sp>
      <p:pic>
        <p:nvPicPr>
          <p:cNvPr id="383" name="Google Shape;383;p37"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7"/>
        <p:cNvGrpSpPr/>
        <p:nvPr/>
      </p:nvGrpSpPr>
      <p:grpSpPr>
        <a:xfrm>
          <a:off x="0" y="0"/>
          <a:ext cx="0" cy="0"/>
          <a:chOff x="0" y="0"/>
          <a:chExt cx="0" cy="0"/>
        </a:xfrm>
      </p:grpSpPr>
      <p:sp>
        <p:nvSpPr>
          <p:cNvPr id="388" name="Google Shape;388;p19"/>
          <p:cNvSpPr/>
          <p:nvPr/>
        </p:nvSpPr>
        <p:spPr>
          <a:xfrm>
            <a:off x="548640" y="2788920"/>
            <a:ext cx="109728" cy="1280160"/>
          </a:xfrm>
          <a:prstGeom prst="rect">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9" name="Google Shape;389;p19"/>
          <p:cNvSpPr txBox="1"/>
          <p:nvPr/>
        </p:nvSpPr>
        <p:spPr>
          <a:xfrm>
            <a:off x="868680" y="2651760"/>
            <a:ext cx="7680960" cy="1554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Arial"/>
                <a:ea typeface="Arial"/>
                <a:cs typeface="Arial"/>
                <a:sym typeface="Arial"/>
              </a:rPr>
              <a:t>Short Analysis</a:t>
            </a:r>
            <a:endParaRPr sz="3600" b="0" i="0" u="none" strike="noStrike" cap="none">
              <a:solidFill>
                <a:schemeClr val="dk1"/>
              </a:solidFill>
              <a:latin typeface="Calibri"/>
              <a:ea typeface="Calibri"/>
              <a:cs typeface="Calibri"/>
              <a:sym typeface="Calibri"/>
            </a:endParaRPr>
          </a:p>
        </p:txBody>
      </p:sp>
      <p:pic>
        <p:nvPicPr>
          <p:cNvPr id="390" name="Google Shape;390;p19"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4"/>
        <p:cNvGrpSpPr/>
        <p:nvPr/>
      </p:nvGrpSpPr>
      <p:grpSpPr>
        <a:xfrm>
          <a:off x="0" y="0"/>
          <a:ext cx="0" cy="0"/>
          <a:chOff x="0" y="0"/>
          <a:chExt cx="0" cy="0"/>
        </a:xfrm>
      </p:grpSpPr>
      <p:sp>
        <p:nvSpPr>
          <p:cNvPr id="395" name="Google Shape;395;p38"/>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Short: what we screened and why</a:t>
            </a:r>
            <a:endParaRPr sz="2400" b="0" i="0" u="none" strike="noStrike" cap="none">
              <a:solidFill>
                <a:schemeClr val="dk1"/>
              </a:solidFill>
              <a:latin typeface="Calibri"/>
              <a:ea typeface="Calibri"/>
              <a:cs typeface="Calibri"/>
              <a:sym typeface="Calibri"/>
            </a:endParaRPr>
          </a:p>
        </p:txBody>
      </p:sp>
      <p:graphicFrame>
        <p:nvGraphicFramePr>
          <p:cNvPr id="396" name="Google Shape;396;p38"/>
          <p:cNvGraphicFramePr/>
          <p:nvPr/>
        </p:nvGraphicFramePr>
        <p:xfrm>
          <a:off x="546100" y="1188720"/>
          <a:ext cx="3000000" cy="3000000"/>
        </p:xfrm>
        <a:graphic>
          <a:graphicData uri="http://schemas.openxmlformats.org/drawingml/2006/table">
            <a:tbl>
              <a:tblPr>
                <a:noFill/>
                <a:tableStyleId>{67C04448-9542-46E3-BF30-04DBAA183EC1}</a:tableStyleId>
              </a:tblPr>
              <a:tblGrid>
                <a:gridCol w="822950">
                  <a:extLst>
                    <a:ext uri="{9D8B030D-6E8A-4147-A177-3AD203B41FA5}">
                      <a16:colId xmlns:a16="http://schemas.microsoft.com/office/drawing/2014/main" val="20000"/>
                    </a:ext>
                  </a:extLst>
                </a:gridCol>
                <a:gridCol w="1874525">
                  <a:extLst>
                    <a:ext uri="{9D8B030D-6E8A-4147-A177-3AD203B41FA5}">
                      <a16:colId xmlns:a16="http://schemas.microsoft.com/office/drawing/2014/main" val="20001"/>
                    </a:ext>
                  </a:extLst>
                </a:gridCol>
                <a:gridCol w="502925">
                  <a:extLst>
                    <a:ext uri="{9D8B030D-6E8A-4147-A177-3AD203B41FA5}">
                      <a16:colId xmlns:a16="http://schemas.microsoft.com/office/drawing/2014/main" val="20002"/>
                    </a:ext>
                  </a:extLst>
                </a:gridCol>
                <a:gridCol w="54865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594350">
                  <a:extLst>
                    <a:ext uri="{9D8B030D-6E8A-4147-A177-3AD203B41FA5}">
                      <a16:colId xmlns:a16="http://schemas.microsoft.com/office/drawing/2014/main" val="20005"/>
                    </a:ext>
                  </a:extLst>
                </a:gridCol>
                <a:gridCol w="502925">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1920250">
                  <a:extLst>
                    <a:ext uri="{9D8B030D-6E8A-4147-A177-3AD203B41FA5}">
                      <a16:colId xmlns:a16="http://schemas.microsoft.com/office/drawing/2014/main" val="20008"/>
                    </a:ext>
                  </a:extLst>
                </a:gridCol>
              </a:tblGrid>
              <a:tr h="431800">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Company</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Type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Val</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Cash</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Growth</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Resil.</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Mkt</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Score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Verdict</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566925">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222222"/>
                          </a:solidFill>
                          <a:latin typeface="Arial"/>
                          <a:ea typeface="Arial"/>
                          <a:cs typeface="Arial"/>
                          <a:sym typeface="Arial"/>
                        </a:rPr>
                        <a:t>CCJ</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Integrated producer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3.15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Lead: squeeze risk</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566925">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222222"/>
                          </a:solidFill>
                          <a:latin typeface="Arial"/>
                          <a:ea typeface="Arial"/>
                          <a:cs typeface="Arial"/>
                          <a:sym typeface="Arial"/>
                        </a:rPr>
                        <a:t>KAP</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GDR producer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2.90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Lead: fails feasibility</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566925">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222222"/>
                          </a:solidFill>
                          <a:latin typeface="Arial"/>
                          <a:ea typeface="Arial"/>
                          <a:cs typeface="Arial"/>
                          <a:sym typeface="Arial"/>
                        </a:rPr>
                        <a:t>PDN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ASX/TSX producer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3.90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No short: resolved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r h="566925">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222222"/>
                          </a:solidFill>
                          <a:latin typeface="Arial"/>
                          <a:ea typeface="Arial"/>
                          <a:cs typeface="Arial"/>
                          <a:sym typeface="Arial"/>
                        </a:rPr>
                        <a:t>UEC</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US ISR producer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2.50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Watchlist: mixed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4"/>
                  </a:ext>
                </a:extLst>
              </a:tr>
              <a:tr h="566925">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A23B2A"/>
                          </a:solidFill>
                          <a:latin typeface="Arial"/>
                          <a:ea typeface="Arial"/>
                          <a:cs typeface="Arial"/>
                          <a:sym typeface="Arial"/>
                        </a:rPr>
                        <a:t>UUUU</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A23B2A"/>
                          </a:solidFill>
                          <a:latin typeface="Arial"/>
                          <a:ea typeface="Arial"/>
                          <a:cs typeface="Arial"/>
                          <a:sym typeface="Arial"/>
                        </a:rPr>
                        <a:t>Diversified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A23B2A"/>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A23B2A"/>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A23B2A"/>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A23B2A"/>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A23B2A"/>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A23B2A"/>
                          </a:solidFill>
                          <a:latin typeface="Arial"/>
                          <a:ea typeface="Arial"/>
                          <a:cs typeface="Arial"/>
                          <a:sym typeface="Arial"/>
                        </a:rPr>
                        <a:t>2.50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A23B2A"/>
                          </a:solidFill>
                          <a:latin typeface="Arial"/>
                          <a:ea typeface="Arial"/>
                          <a:cs typeface="Arial"/>
                          <a:sym typeface="Arial"/>
                        </a:rPr>
                        <a:t>Short call: Watchlist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5"/>
                  </a:ext>
                </a:extLst>
              </a:tr>
              <a:tr h="566925">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222222"/>
                          </a:solidFill>
                          <a:latin typeface="Arial"/>
                          <a:ea typeface="Arial"/>
                          <a:cs typeface="Arial"/>
                          <a:sym typeface="Arial"/>
                        </a:rPr>
                        <a:t>NXE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Construction-stage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3.35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No short: resolved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6"/>
                  </a:ext>
                </a:extLst>
              </a:tr>
              <a:tr h="566925">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222222"/>
                          </a:solidFill>
                          <a:latin typeface="Arial"/>
                          <a:ea typeface="Arial"/>
                          <a:cs typeface="Arial"/>
                          <a:sym typeface="Arial"/>
                        </a:rPr>
                        <a:t>DNN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Construction-stage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3.10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No short: resolved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397" name="Google Shape;397;p38"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1"/>
        <p:cNvGrpSpPr/>
        <p:nvPr/>
      </p:nvGrpSpPr>
      <p:grpSpPr>
        <a:xfrm>
          <a:off x="0" y="0"/>
          <a:ext cx="0" cy="0"/>
          <a:chOff x="0" y="0"/>
          <a:chExt cx="0" cy="0"/>
        </a:xfrm>
      </p:grpSpPr>
      <p:sp>
        <p:nvSpPr>
          <p:cNvPr id="402" name="Google Shape;402;p39"/>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200" b="1" i="0" u="none" strike="noStrike" cap="none">
                <a:solidFill>
                  <a:srgbClr val="000000"/>
                </a:solidFill>
                <a:latin typeface="Arial"/>
                <a:ea typeface="Arial"/>
                <a:cs typeface="Arial"/>
                <a:sym typeface="Arial"/>
              </a:rPr>
              <a:t>Energy Fuels (UUUU): the VAC dilution mechanism</a:t>
            </a:r>
            <a:endParaRPr sz="2400" b="0" i="0" u="none" strike="noStrike" cap="none">
              <a:solidFill>
                <a:schemeClr val="dk1"/>
              </a:solidFill>
              <a:latin typeface="Calibri"/>
              <a:ea typeface="Calibri"/>
              <a:cs typeface="Calibri"/>
              <a:sym typeface="Calibri"/>
            </a:endParaRPr>
          </a:p>
        </p:txBody>
      </p:sp>
      <p:sp>
        <p:nvSpPr>
          <p:cNvPr id="403" name="Google Shape;403;p39"/>
          <p:cNvSpPr/>
          <p:nvPr/>
        </p:nvSpPr>
        <p:spPr>
          <a:xfrm>
            <a:off x="5461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4" name="Google Shape;404;p39"/>
          <p:cNvSpPr txBox="1"/>
          <p:nvPr/>
        </p:nvSpPr>
        <p:spPr>
          <a:xfrm>
            <a:off x="19558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The deal</a:t>
            </a:r>
            <a:endParaRPr sz="1400" b="0" i="0" u="none" strike="noStrike" cap="none">
              <a:solidFill>
                <a:srgbClr val="000000"/>
              </a:solidFill>
              <a:latin typeface="Arial"/>
              <a:ea typeface="Arial"/>
              <a:cs typeface="Arial"/>
              <a:sym typeface="Arial"/>
            </a:endParaRPr>
          </a:p>
        </p:txBody>
      </p:sp>
      <p:sp>
        <p:nvSpPr>
          <p:cNvPr id="405" name="Google Shape;405;p39"/>
          <p:cNvSpPr txBox="1"/>
          <p:nvPr/>
        </p:nvSpPr>
        <p:spPr>
          <a:xfrm>
            <a:off x="749300" y="1778000"/>
            <a:ext cx="3492500" cy="2926080"/>
          </a:xfrm>
          <a:prstGeom prst="rect">
            <a:avLst/>
          </a:prstGeom>
          <a:noFill/>
          <a:ln>
            <a:noFill/>
          </a:ln>
        </p:spPr>
        <p:txBody>
          <a:bodyPr spcFirstLastPara="1" wrap="square" lIns="0" tIns="0" rIns="0" bIns="0" anchor="t" anchorCtr="0">
            <a:noAutofit/>
          </a:bodyPr>
          <a:lstStyle/>
          <a:p>
            <a:pPr marL="228600" marR="0" lvl="0" indent="-228600" algn="l" rtl="0">
              <a:lnSpc>
                <a:spcPct val="100000"/>
              </a:lnSpc>
              <a:spcBef>
                <a:spcPts val="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VAC priced at $16.12/share (Jun 22)</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$718M cash + 65.9M new shares (~26% dilution)</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Below $20.93, Ara gets up to $135M more preferred</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120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Close expected early 2027</a:t>
            </a:r>
            <a:endParaRPr sz="1800" b="0" i="0" u="none" strike="noStrike" cap="none">
              <a:solidFill>
                <a:srgbClr val="000000"/>
              </a:solidFill>
              <a:latin typeface="Arial"/>
              <a:ea typeface="Arial"/>
              <a:cs typeface="Arial"/>
              <a:sym typeface="Arial"/>
            </a:endParaRPr>
          </a:p>
        </p:txBody>
      </p:sp>
      <p:sp>
        <p:nvSpPr>
          <p:cNvPr id="406" name="Google Shape;406;p39"/>
          <p:cNvSpPr/>
          <p:nvPr/>
        </p:nvSpPr>
        <p:spPr>
          <a:xfrm>
            <a:off x="47244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7" name="Google Shape;407;p39"/>
          <p:cNvSpPr txBox="1"/>
          <p:nvPr/>
        </p:nvSpPr>
        <p:spPr>
          <a:xfrm>
            <a:off x="53721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What’s not priced in</a:t>
            </a:r>
            <a:endParaRPr sz="1400" b="0" i="0" u="none" strike="noStrike" cap="none">
              <a:solidFill>
                <a:srgbClr val="000000"/>
              </a:solidFill>
              <a:latin typeface="Arial"/>
              <a:ea typeface="Arial"/>
              <a:cs typeface="Arial"/>
              <a:sym typeface="Arial"/>
            </a:endParaRPr>
          </a:p>
        </p:txBody>
      </p:sp>
      <p:sp>
        <p:nvSpPr>
          <p:cNvPr id="408" name="Google Shape;408;p39"/>
          <p:cNvSpPr txBox="1"/>
          <p:nvPr/>
        </p:nvSpPr>
        <p:spPr>
          <a:xfrm>
            <a:off x="4927600" y="1778000"/>
            <a:ext cx="3492500" cy="2926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Consensus: </a:t>
            </a:r>
            <a:r>
              <a:rPr lang="en-US" sz="1800" b="0" i="0" u="none" strike="noStrike" cap="none">
                <a:solidFill>
                  <a:srgbClr val="222222"/>
                </a:solidFill>
                <a:latin typeface="Arial"/>
                <a:ea typeface="Arial"/>
                <a:cs typeface="Arial"/>
                <a:sym typeface="Arial"/>
              </a:rPr>
              <a:t>Strong Buy, $24.15 avg target</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Loan: </a:t>
            </a:r>
            <a:r>
              <a:rPr lang="en-US" sz="1800" b="0" i="0" u="none" strike="noStrike" cap="none">
                <a:solidFill>
                  <a:srgbClr val="222222"/>
                </a:solidFill>
                <a:latin typeface="Arial"/>
                <a:ea typeface="Arial"/>
                <a:cs typeface="Arial"/>
                <a:sym typeface="Arial"/>
              </a:rPr>
              <a:t>$725M gov’t loan funds the mill, not VAC</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Funding: </a:t>
            </a:r>
            <a:r>
              <a:rPr lang="en-US" sz="1800" b="0" i="0" u="none" strike="noStrike" cap="none">
                <a:solidFill>
                  <a:srgbClr val="222222"/>
                </a:solidFill>
                <a:latin typeface="Arial"/>
                <a:ea typeface="Arial"/>
                <a:cs typeface="Arial"/>
                <a:sym typeface="Arial"/>
              </a:rPr>
              <a:t>$250M Goldman loan + cash, not equity</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1200"/>
              </a:spcAft>
              <a:buClr>
                <a:srgbClr val="6E6020"/>
              </a:buClr>
              <a:buSzPts val="1800"/>
              <a:buFont typeface="Arial"/>
              <a:buNone/>
            </a:pPr>
            <a:r>
              <a:rPr lang="en-US" sz="1800" b="1" i="0" u="none" strike="noStrike" cap="none">
                <a:solidFill>
                  <a:srgbClr val="6E6020"/>
                </a:solidFill>
                <a:latin typeface="Arial"/>
                <a:ea typeface="Arial"/>
                <a:cs typeface="Arial"/>
                <a:sym typeface="Arial"/>
              </a:rPr>
              <a:t>Sizing: </a:t>
            </a:r>
            <a:r>
              <a:rPr lang="en-US" sz="1800" b="0" i="0" u="none" strike="noStrike" cap="none">
                <a:solidFill>
                  <a:srgbClr val="222222"/>
                </a:solidFill>
                <a:latin typeface="Arial"/>
                <a:ea typeface="Arial"/>
                <a:cs typeface="Arial"/>
                <a:sym typeface="Arial"/>
              </a:rPr>
              <a:t>$135M cap ≈ 4.7% of market cap</a:t>
            </a:r>
            <a:endParaRPr sz="1800" b="0" i="0" u="none" strike="noStrike" cap="none">
              <a:solidFill>
                <a:srgbClr val="000000"/>
              </a:solidFill>
              <a:latin typeface="Arial"/>
              <a:ea typeface="Arial"/>
              <a:cs typeface="Arial"/>
              <a:sym typeface="Arial"/>
            </a:endParaRPr>
          </a:p>
        </p:txBody>
      </p:sp>
      <p:sp>
        <p:nvSpPr>
          <p:cNvPr id="409" name="Google Shape;409;p39"/>
          <p:cNvSpPr/>
          <p:nvPr/>
        </p:nvSpPr>
        <p:spPr>
          <a:xfrm>
            <a:off x="546100" y="5120640"/>
            <a:ext cx="8051800" cy="685800"/>
          </a:xfrm>
          <a:prstGeom prst="roundRect">
            <a:avLst>
              <a:gd name="adj" fmla="val 10000"/>
            </a:avLst>
          </a:prstGeom>
          <a:no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0" name="Google Shape;410;p39"/>
          <p:cNvSpPr txBox="1"/>
          <p:nvPr/>
        </p:nvSpPr>
        <p:spPr>
          <a:xfrm>
            <a:off x="749300" y="5184648"/>
            <a:ext cx="764540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Bottom line: </a:t>
            </a:r>
            <a:r>
              <a:rPr lang="en-US" sz="1400" b="0" i="0" u="none" strike="noStrike" cap="none">
                <a:solidFill>
                  <a:srgbClr val="222222"/>
                </a:solidFill>
                <a:latin typeface="Arial"/>
                <a:ea typeface="Arial"/>
                <a:cs typeface="Arial"/>
                <a:sym typeface="Arial"/>
              </a:rPr>
              <a:t>a specific, dated mechanism. Is it priced in?</a:t>
            </a:r>
            <a:endParaRPr sz="1400" b="0" i="0" u="none" strike="noStrike" cap="none">
              <a:solidFill>
                <a:srgbClr val="000000"/>
              </a:solidFill>
              <a:latin typeface="Arial"/>
              <a:ea typeface="Arial"/>
              <a:cs typeface="Arial"/>
              <a:sym typeface="Arial"/>
            </a:endParaRPr>
          </a:p>
        </p:txBody>
      </p:sp>
      <p:pic>
        <p:nvPicPr>
          <p:cNvPr id="411" name="Google Shape;411;p39"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412" name="Google Shape;412;p39" descr="Thesis icon"/>
          <p:cNvSpPr/>
          <p:nvPr/>
        </p:nvSpPr>
        <p:spPr>
          <a:xfrm>
            <a:off x="8509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39" descr="Execution plan icon"/>
          <p:cNvSpPr/>
          <p:nvPr/>
        </p:nvSpPr>
        <p:spPr>
          <a:xfrm>
            <a:off x="50292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7"/>
        <p:cNvGrpSpPr/>
        <p:nvPr/>
      </p:nvGrpSpPr>
      <p:grpSpPr>
        <a:xfrm>
          <a:off x="0" y="0"/>
          <a:ext cx="0" cy="0"/>
          <a:chOff x="0" y="0"/>
          <a:chExt cx="0" cy="0"/>
        </a:xfrm>
      </p:grpSpPr>
      <p:sp>
        <p:nvSpPr>
          <p:cNvPr id="418" name="Google Shape;418;p40"/>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200" b="1" i="0" u="none" strike="noStrike" cap="none">
                <a:solidFill>
                  <a:srgbClr val="000000"/>
                </a:solidFill>
                <a:latin typeface="Arial"/>
                <a:ea typeface="Arial"/>
                <a:cs typeface="Arial"/>
                <a:sym typeface="Arial"/>
              </a:rPr>
              <a:t>Where the price sits and our view</a:t>
            </a:r>
            <a:endParaRPr sz="2400" b="0" i="0" u="none" strike="noStrike" cap="none">
              <a:solidFill>
                <a:schemeClr val="dk1"/>
              </a:solidFill>
              <a:latin typeface="Calibri"/>
              <a:ea typeface="Calibri"/>
              <a:cs typeface="Calibri"/>
              <a:sym typeface="Calibri"/>
            </a:endParaRPr>
          </a:p>
        </p:txBody>
      </p:sp>
      <p:pic>
        <p:nvPicPr>
          <p:cNvPr id="419" name="Google Shape;419;p40"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420" name="Google Shape;420;p40"/>
          <p:cNvSpPr/>
          <p:nvPr/>
        </p:nvSpPr>
        <p:spPr>
          <a:xfrm>
            <a:off x="500000" y="2362044"/>
            <a:ext cx="8200000" cy="30000"/>
          </a:xfrm>
          <a:prstGeom prst="rect">
            <a:avLst/>
          </a:prstGeom>
          <a:solidFill>
            <a:srgbClr val="C9CF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1" name="Google Shape;421;p40"/>
          <p:cNvSpPr txBox="1"/>
          <p:nvPr/>
        </p:nvSpPr>
        <p:spPr>
          <a:xfrm>
            <a:off x="1036486" y="2682044"/>
            <a:ext cx="700000" cy="26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999999"/>
                </a:solidFill>
                <a:latin typeface="Arial"/>
                <a:ea typeface="Arial"/>
                <a:cs typeface="Arial"/>
                <a:sym typeface="Arial"/>
              </a:rPr>
              <a:t>$10</a:t>
            </a:r>
            <a:endParaRPr sz="1400" b="0" i="0" u="none" strike="noStrike" cap="none">
              <a:solidFill>
                <a:srgbClr val="000000"/>
              </a:solidFill>
              <a:latin typeface="Arial"/>
              <a:ea typeface="Arial"/>
              <a:cs typeface="Arial"/>
              <a:sym typeface="Arial"/>
            </a:endParaRPr>
          </a:p>
        </p:txBody>
      </p:sp>
      <p:sp>
        <p:nvSpPr>
          <p:cNvPr id="422" name="Google Shape;422;p40"/>
          <p:cNvSpPr txBox="1"/>
          <p:nvPr/>
        </p:nvSpPr>
        <p:spPr>
          <a:xfrm>
            <a:off x="3252702" y="2682044"/>
            <a:ext cx="700000" cy="26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999999"/>
                </a:solidFill>
                <a:latin typeface="Arial"/>
                <a:ea typeface="Arial"/>
                <a:cs typeface="Arial"/>
                <a:sym typeface="Arial"/>
              </a:rPr>
              <a:t>$15</a:t>
            </a:r>
            <a:endParaRPr sz="1400" b="0" i="0" u="none" strike="noStrike" cap="none">
              <a:solidFill>
                <a:srgbClr val="000000"/>
              </a:solidFill>
              <a:latin typeface="Arial"/>
              <a:ea typeface="Arial"/>
              <a:cs typeface="Arial"/>
              <a:sym typeface="Arial"/>
            </a:endParaRPr>
          </a:p>
        </p:txBody>
      </p:sp>
      <p:sp>
        <p:nvSpPr>
          <p:cNvPr id="423" name="Google Shape;423;p40"/>
          <p:cNvSpPr txBox="1"/>
          <p:nvPr/>
        </p:nvSpPr>
        <p:spPr>
          <a:xfrm>
            <a:off x="5468918" y="2682044"/>
            <a:ext cx="700000" cy="26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999999"/>
                </a:solidFill>
                <a:latin typeface="Arial"/>
                <a:ea typeface="Arial"/>
                <a:cs typeface="Arial"/>
                <a:sym typeface="Arial"/>
              </a:rPr>
              <a:t>$20</a:t>
            </a:r>
            <a:endParaRPr sz="1400" b="0" i="0" u="none" strike="noStrike" cap="none">
              <a:solidFill>
                <a:srgbClr val="000000"/>
              </a:solidFill>
              <a:latin typeface="Arial"/>
              <a:ea typeface="Arial"/>
              <a:cs typeface="Arial"/>
              <a:sym typeface="Arial"/>
            </a:endParaRPr>
          </a:p>
        </p:txBody>
      </p:sp>
      <p:sp>
        <p:nvSpPr>
          <p:cNvPr id="424" name="Google Shape;424;p40"/>
          <p:cNvSpPr txBox="1"/>
          <p:nvPr/>
        </p:nvSpPr>
        <p:spPr>
          <a:xfrm>
            <a:off x="7685135" y="2682044"/>
            <a:ext cx="700000" cy="26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999999"/>
                </a:solidFill>
                <a:latin typeface="Arial"/>
                <a:ea typeface="Arial"/>
                <a:cs typeface="Arial"/>
                <a:sym typeface="Arial"/>
              </a:rPr>
              <a:t>$25</a:t>
            </a:r>
            <a:endParaRPr sz="1400" b="0" i="0" u="none" strike="noStrike" cap="none">
              <a:solidFill>
                <a:srgbClr val="000000"/>
              </a:solidFill>
              <a:latin typeface="Arial"/>
              <a:ea typeface="Arial"/>
              <a:cs typeface="Arial"/>
              <a:sym typeface="Arial"/>
            </a:endParaRPr>
          </a:p>
        </p:txBody>
      </p:sp>
      <p:sp>
        <p:nvSpPr>
          <p:cNvPr id="425" name="Google Shape;425;p40"/>
          <p:cNvSpPr/>
          <p:nvPr/>
        </p:nvSpPr>
        <p:spPr>
          <a:xfrm>
            <a:off x="943243" y="2187044"/>
            <a:ext cx="288108" cy="380000"/>
          </a:xfrm>
          <a:prstGeom prst="roundRect">
            <a:avLst>
              <a:gd name="adj" fmla="val 16667"/>
            </a:avLst>
          </a:prstGeom>
          <a:solidFill>
            <a:srgbClr val="F4F1E3"/>
          </a:solidFill>
          <a:ln w="22225" cap="flat" cmpd="sng">
            <a:solidFill>
              <a:srgbClr val="6E60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6" name="Google Shape;426;p40"/>
          <p:cNvSpPr/>
          <p:nvPr/>
        </p:nvSpPr>
        <p:spPr>
          <a:xfrm>
            <a:off x="1784864" y="2177044"/>
            <a:ext cx="400000" cy="400000"/>
          </a:xfrm>
          <a:prstGeom prst="ellipse">
            <a:avLst/>
          </a:prstGeom>
          <a:solidFill>
            <a:srgbClr val="1F3A5F"/>
          </a:solidFill>
          <a:ln w="28575"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27" name="Google Shape;427;p40"/>
          <p:cNvSpPr txBox="1"/>
          <p:nvPr/>
        </p:nvSpPr>
        <p:spPr>
          <a:xfrm>
            <a:off x="1564864" y="1412044"/>
            <a:ext cx="840000" cy="4600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1" i="0" u="none" strike="noStrike" cap="none">
                <a:solidFill>
                  <a:srgbClr val="222222"/>
                </a:solidFill>
                <a:latin typeface="Arial"/>
                <a:ea typeface="Arial"/>
                <a:cs typeface="Arial"/>
                <a:sym typeface="Arial"/>
              </a:rPr>
              <a:t>$11.35</a:t>
            </a:r>
            <a:endParaRPr sz="1400" b="0" i="0" u="none" strike="noStrike" cap="none">
              <a:solidFill>
                <a:srgbClr val="000000"/>
              </a:solidFill>
              <a:latin typeface="Arial"/>
              <a:ea typeface="Arial"/>
              <a:cs typeface="Arial"/>
              <a:sym typeface="Arial"/>
            </a:endParaRPr>
          </a:p>
        </p:txBody>
      </p:sp>
      <p:sp>
        <p:nvSpPr>
          <p:cNvPr id="428" name="Google Shape;428;p40"/>
          <p:cNvSpPr txBox="1"/>
          <p:nvPr/>
        </p:nvSpPr>
        <p:spPr>
          <a:xfrm>
            <a:off x="1504864" y="3062044"/>
            <a:ext cx="960000" cy="6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rgbClr val="555555"/>
                </a:solidFill>
                <a:latin typeface="Arial"/>
                <a:ea typeface="Arial"/>
                <a:cs typeface="Arial"/>
                <a:sym typeface="Arial"/>
              </a:rPr>
              <a:t>Current price</a:t>
            </a:r>
            <a:endParaRPr sz="1400" b="0" i="0" u="none" strike="noStrike" cap="none">
              <a:solidFill>
                <a:srgbClr val="000000"/>
              </a:solidFill>
              <a:latin typeface="Arial"/>
              <a:ea typeface="Arial"/>
              <a:cs typeface="Arial"/>
              <a:sym typeface="Arial"/>
            </a:endParaRPr>
          </a:p>
        </p:txBody>
      </p:sp>
      <p:sp>
        <p:nvSpPr>
          <p:cNvPr id="429" name="Google Shape;429;p40"/>
          <p:cNvSpPr/>
          <p:nvPr/>
        </p:nvSpPr>
        <p:spPr>
          <a:xfrm>
            <a:off x="3949135" y="2227044"/>
            <a:ext cx="300000" cy="300000"/>
          </a:xfrm>
          <a:prstGeom prst="ellipse">
            <a:avLst/>
          </a:prstGeom>
          <a:solidFill>
            <a:srgbClr val="6E6020"/>
          </a:solidFill>
          <a:ln w="28575"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0" name="Google Shape;430;p40"/>
          <p:cNvSpPr txBox="1"/>
          <p:nvPr/>
        </p:nvSpPr>
        <p:spPr>
          <a:xfrm>
            <a:off x="3679135" y="1412044"/>
            <a:ext cx="840000" cy="4600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1" i="0" u="none" strike="noStrike" cap="none">
                <a:solidFill>
                  <a:srgbClr val="222222"/>
                </a:solidFill>
                <a:latin typeface="Arial"/>
                <a:ea typeface="Arial"/>
                <a:cs typeface="Arial"/>
                <a:sym typeface="Arial"/>
              </a:rPr>
              <a:t>$16.12</a:t>
            </a:r>
            <a:endParaRPr sz="1400" b="0" i="0" u="none" strike="noStrike" cap="none">
              <a:solidFill>
                <a:srgbClr val="000000"/>
              </a:solidFill>
              <a:latin typeface="Arial"/>
              <a:ea typeface="Arial"/>
              <a:cs typeface="Arial"/>
              <a:sym typeface="Arial"/>
            </a:endParaRPr>
          </a:p>
        </p:txBody>
      </p:sp>
      <p:sp>
        <p:nvSpPr>
          <p:cNvPr id="431" name="Google Shape;431;p40"/>
          <p:cNvSpPr txBox="1"/>
          <p:nvPr/>
        </p:nvSpPr>
        <p:spPr>
          <a:xfrm>
            <a:off x="3619135" y="3062044"/>
            <a:ext cx="960000" cy="6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rgbClr val="555555"/>
                </a:solidFill>
                <a:latin typeface="Arial"/>
                <a:ea typeface="Arial"/>
                <a:cs typeface="Arial"/>
                <a:sym typeface="Arial"/>
              </a:rPr>
              <a:t>Deal price / stop level</a:t>
            </a:r>
            <a:endParaRPr sz="1400" b="0" i="0" u="none" strike="noStrike" cap="none">
              <a:solidFill>
                <a:srgbClr val="000000"/>
              </a:solidFill>
              <a:latin typeface="Arial"/>
              <a:ea typeface="Arial"/>
              <a:cs typeface="Arial"/>
              <a:sym typeface="Arial"/>
            </a:endParaRPr>
          </a:p>
        </p:txBody>
      </p:sp>
      <p:sp>
        <p:nvSpPr>
          <p:cNvPr id="432" name="Google Shape;432;p40"/>
          <p:cNvSpPr/>
          <p:nvPr/>
        </p:nvSpPr>
        <p:spPr>
          <a:xfrm>
            <a:off x="6081135" y="2227044"/>
            <a:ext cx="300000" cy="300000"/>
          </a:xfrm>
          <a:prstGeom prst="ellipse">
            <a:avLst/>
          </a:prstGeom>
          <a:solidFill>
            <a:srgbClr val="6E6020"/>
          </a:solidFill>
          <a:ln w="28575"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3" name="Google Shape;433;p40"/>
          <p:cNvSpPr txBox="1"/>
          <p:nvPr/>
        </p:nvSpPr>
        <p:spPr>
          <a:xfrm>
            <a:off x="5811135" y="1412044"/>
            <a:ext cx="840000" cy="4600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1" i="0" u="none" strike="noStrike" cap="none">
                <a:solidFill>
                  <a:srgbClr val="222222"/>
                </a:solidFill>
                <a:latin typeface="Arial"/>
                <a:ea typeface="Arial"/>
                <a:cs typeface="Arial"/>
                <a:sym typeface="Arial"/>
              </a:rPr>
              <a:t>$20.93</a:t>
            </a:r>
            <a:endParaRPr sz="1400" b="0" i="0" u="none" strike="noStrike" cap="none">
              <a:solidFill>
                <a:srgbClr val="000000"/>
              </a:solidFill>
              <a:latin typeface="Arial"/>
              <a:ea typeface="Arial"/>
              <a:cs typeface="Arial"/>
              <a:sym typeface="Arial"/>
            </a:endParaRPr>
          </a:p>
        </p:txBody>
      </p:sp>
      <p:sp>
        <p:nvSpPr>
          <p:cNvPr id="434" name="Google Shape;434;p40"/>
          <p:cNvSpPr txBox="1"/>
          <p:nvPr/>
        </p:nvSpPr>
        <p:spPr>
          <a:xfrm>
            <a:off x="5751135" y="3062044"/>
            <a:ext cx="960000" cy="6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rgbClr val="555555"/>
                </a:solidFill>
                <a:latin typeface="Arial"/>
                <a:ea typeface="Arial"/>
                <a:cs typeface="Arial"/>
                <a:sym typeface="Arial"/>
              </a:rPr>
              <a:t>Preferred-share trigger</a:t>
            </a:r>
            <a:endParaRPr sz="1400" b="0" i="0" u="none" strike="noStrike" cap="none">
              <a:solidFill>
                <a:srgbClr val="000000"/>
              </a:solidFill>
              <a:latin typeface="Arial"/>
              <a:ea typeface="Arial"/>
              <a:cs typeface="Arial"/>
              <a:sym typeface="Arial"/>
            </a:endParaRPr>
          </a:p>
        </p:txBody>
      </p:sp>
      <p:sp>
        <p:nvSpPr>
          <p:cNvPr id="435" name="Google Shape;435;p40"/>
          <p:cNvSpPr/>
          <p:nvPr/>
        </p:nvSpPr>
        <p:spPr>
          <a:xfrm>
            <a:off x="7508378" y="2227044"/>
            <a:ext cx="300000" cy="300000"/>
          </a:xfrm>
          <a:prstGeom prst="ellipse">
            <a:avLst/>
          </a:prstGeom>
          <a:solidFill>
            <a:srgbClr val="6E6020"/>
          </a:solidFill>
          <a:ln w="28575"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36" name="Google Shape;436;p40"/>
          <p:cNvSpPr txBox="1"/>
          <p:nvPr/>
        </p:nvSpPr>
        <p:spPr>
          <a:xfrm>
            <a:off x="7238378" y="1412044"/>
            <a:ext cx="840000" cy="4600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1" i="0" u="none" strike="noStrike" cap="none">
                <a:solidFill>
                  <a:srgbClr val="222222"/>
                </a:solidFill>
                <a:latin typeface="Arial"/>
                <a:ea typeface="Arial"/>
                <a:cs typeface="Arial"/>
                <a:sym typeface="Arial"/>
              </a:rPr>
              <a:t>$24.15</a:t>
            </a:r>
            <a:endParaRPr sz="1400" b="0" i="0" u="none" strike="noStrike" cap="none">
              <a:solidFill>
                <a:srgbClr val="000000"/>
              </a:solidFill>
              <a:latin typeface="Arial"/>
              <a:ea typeface="Arial"/>
              <a:cs typeface="Arial"/>
              <a:sym typeface="Arial"/>
            </a:endParaRPr>
          </a:p>
        </p:txBody>
      </p:sp>
      <p:sp>
        <p:nvSpPr>
          <p:cNvPr id="437" name="Google Shape;437;p40"/>
          <p:cNvSpPr txBox="1"/>
          <p:nvPr/>
        </p:nvSpPr>
        <p:spPr>
          <a:xfrm>
            <a:off x="7178378" y="3062044"/>
            <a:ext cx="960000" cy="6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rgbClr val="555555"/>
                </a:solidFill>
                <a:latin typeface="Arial"/>
                <a:ea typeface="Arial"/>
                <a:cs typeface="Arial"/>
                <a:sym typeface="Arial"/>
              </a:rPr>
              <a:t>Street consensus target</a:t>
            </a:r>
            <a:endParaRPr sz="1400" b="0" i="0" u="none" strike="noStrike" cap="none">
              <a:solidFill>
                <a:srgbClr val="000000"/>
              </a:solidFill>
              <a:latin typeface="Arial"/>
              <a:ea typeface="Arial"/>
              <a:cs typeface="Arial"/>
              <a:sym typeface="Arial"/>
            </a:endParaRPr>
          </a:p>
        </p:txBody>
      </p:sp>
      <p:sp>
        <p:nvSpPr>
          <p:cNvPr id="438" name="Google Shape;438;p40"/>
          <p:cNvSpPr txBox="1"/>
          <p:nvPr/>
        </p:nvSpPr>
        <p:spPr>
          <a:xfrm>
            <a:off x="272864" y="1610434"/>
            <a:ext cx="1234433" cy="26161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1" i="0" u="none" strike="noStrike" cap="none">
                <a:solidFill>
                  <a:srgbClr val="6E6020"/>
                </a:solidFill>
                <a:latin typeface="Arial"/>
                <a:ea typeface="Arial"/>
                <a:cs typeface="Arial"/>
                <a:sym typeface="Arial"/>
              </a:rPr>
              <a:t>$9.00–$9.65</a:t>
            </a:r>
            <a:endParaRPr sz="1400" b="0" i="0" u="none" strike="noStrike" cap="none">
              <a:solidFill>
                <a:srgbClr val="000000"/>
              </a:solidFill>
              <a:latin typeface="Arial"/>
              <a:ea typeface="Arial"/>
              <a:cs typeface="Arial"/>
              <a:sym typeface="Arial"/>
            </a:endParaRPr>
          </a:p>
        </p:txBody>
      </p:sp>
      <p:sp>
        <p:nvSpPr>
          <p:cNvPr id="439" name="Google Shape;439;p40"/>
          <p:cNvSpPr txBox="1"/>
          <p:nvPr/>
        </p:nvSpPr>
        <p:spPr>
          <a:xfrm>
            <a:off x="607297" y="3062044"/>
            <a:ext cx="960000" cy="6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rgbClr val="555555"/>
                </a:solidFill>
                <a:latin typeface="Arial"/>
                <a:ea typeface="Arial"/>
                <a:cs typeface="Arial"/>
                <a:sym typeface="Arial"/>
              </a:rPr>
              <a:t>Our target range</a:t>
            </a:r>
            <a:endParaRPr sz="1400" b="0" i="0" u="none" strike="noStrike" cap="none">
              <a:solidFill>
                <a:srgbClr val="000000"/>
              </a:solidFill>
              <a:latin typeface="Arial"/>
              <a:ea typeface="Arial"/>
              <a:cs typeface="Arial"/>
              <a:sym typeface="Arial"/>
            </a:endParaRPr>
          </a:p>
        </p:txBody>
      </p:sp>
      <p:sp>
        <p:nvSpPr>
          <p:cNvPr id="440" name="Google Shape;440;p40"/>
          <p:cNvSpPr/>
          <p:nvPr/>
        </p:nvSpPr>
        <p:spPr>
          <a:xfrm>
            <a:off x="546100" y="4440000"/>
            <a:ext cx="8051800" cy="1560000"/>
          </a:xfrm>
          <a:prstGeom prst="roundRect">
            <a:avLst>
              <a:gd name="adj" fmla="val 16667"/>
            </a:avLst>
          </a:prstGeom>
          <a:solidFill>
            <a:srgbClr val="FFFFFF"/>
          </a:solidFill>
          <a:ln w="19050" cap="flat" cmpd="sng">
            <a:solidFill>
              <a:srgbClr val="6E6020"/>
            </a:solidFill>
            <a:prstDash val="solid"/>
            <a:round/>
            <a:headEnd type="none" w="sm" len="sm"/>
            <a:tailEnd type="none" w="sm" len="sm"/>
          </a:ln>
        </p:spPr>
        <p:txBody>
          <a:bodyPr spcFirstLastPara="1" wrap="square" lIns="228600" tIns="140000" rIns="228600" bIns="1400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6E6020"/>
                </a:solidFill>
                <a:latin typeface="Arial"/>
                <a:ea typeface="Arial"/>
                <a:cs typeface="Arial"/>
                <a:sym typeface="Arial"/>
              </a:rPr>
              <a:t>Our view: </a:t>
            </a:r>
            <a:r>
              <a:rPr lang="en-US" sz="1800" b="0" i="0" u="none" strike="noStrike" cap="none">
                <a:solidFill>
                  <a:srgbClr val="222222"/>
                </a:solidFill>
                <a:latin typeface="Arial"/>
                <a:ea typeface="Arial"/>
                <a:cs typeface="Arial"/>
                <a:sym typeface="Arial"/>
              </a:rPr>
              <a:t>the stock sits closer to our downside target than to the deal price it needs to reclaim to kill the thesis — but it also sits well below the $24.15 Street consensus, which is the strongest open question.</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4"/>
        <p:cNvGrpSpPr/>
        <p:nvPr/>
      </p:nvGrpSpPr>
      <p:grpSpPr>
        <a:xfrm>
          <a:off x="0" y="0"/>
          <a:ext cx="0" cy="0"/>
          <a:chOff x="0" y="0"/>
          <a:chExt cx="0" cy="0"/>
        </a:xfrm>
      </p:grpSpPr>
      <p:sp>
        <p:nvSpPr>
          <p:cNvPr id="445" name="Google Shape;445;p41"/>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200" b="1" i="0" u="none" strike="noStrike" cap="none">
                <a:solidFill>
                  <a:srgbClr val="000000"/>
                </a:solidFill>
                <a:latin typeface="Arial"/>
                <a:ea typeface="Arial"/>
                <a:cs typeface="Arial"/>
                <a:sym typeface="Arial"/>
              </a:rPr>
              <a:t>Energy Fuels (UUUU): Watchlist, not a clean Short</a:t>
            </a:r>
            <a:endParaRPr sz="2400" b="0" i="0" u="none" strike="noStrike" cap="none">
              <a:solidFill>
                <a:schemeClr val="dk1"/>
              </a:solidFill>
              <a:latin typeface="Calibri"/>
              <a:ea typeface="Calibri"/>
              <a:cs typeface="Calibri"/>
              <a:sym typeface="Calibri"/>
            </a:endParaRPr>
          </a:p>
        </p:txBody>
      </p:sp>
      <p:sp>
        <p:nvSpPr>
          <p:cNvPr id="446" name="Google Shape;446;p41"/>
          <p:cNvSpPr/>
          <p:nvPr/>
        </p:nvSpPr>
        <p:spPr>
          <a:xfrm>
            <a:off x="5461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47" name="Google Shape;447;p41"/>
          <p:cNvSpPr txBox="1"/>
          <p:nvPr/>
        </p:nvSpPr>
        <p:spPr>
          <a:xfrm>
            <a:off x="11049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Factor 6: must pass</a:t>
            </a:r>
            <a:endParaRPr sz="1400" b="0" i="0" u="none" strike="noStrike" cap="none">
              <a:solidFill>
                <a:srgbClr val="000000"/>
              </a:solidFill>
              <a:latin typeface="Arial"/>
              <a:ea typeface="Arial"/>
              <a:cs typeface="Arial"/>
              <a:sym typeface="Arial"/>
            </a:endParaRPr>
          </a:p>
        </p:txBody>
      </p:sp>
      <p:sp>
        <p:nvSpPr>
          <p:cNvPr id="448" name="Google Shape;448;p41"/>
          <p:cNvSpPr txBox="1"/>
          <p:nvPr/>
        </p:nvSpPr>
        <p:spPr>
          <a:xfrm>
            <a:off x="749300" y="1778000"/>
            <a:ext cx="3492500" cy="2926080"/>
          </a:xfrm>
          <a:prstGeom prst="rect">
            <a:avLst/>
          </a:prstGeom>
          <a:noFill/>
          <a:ln>
            <a:noFill/>
          </a:ln>
        </p:spPr>
        <p:txBody>
          <a:bodyPr spcFirstLastPara="1" wrap="square" lIns="0" tIns="0" rIns="0" bIns="0" anchor="t" anchorCtr="0">
            <a:noAutofit/>
          </a:bodyPr>
          <a:lstStyle/>
          <a:p>
            <a:pPr marL="228600" marR="0" lvl="0" indent="-228600" algn="l" rtl="0">
              <a:lnSpc>
                <a:spcPct val="100000"/>
              </a:lnSpc>
              <a:spcBef>
                <a:spcPts val="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Borrow: 0.57%, 850K shares: pass</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Short interest: 22.3% of float, elevated</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Days to cover: 8.91 and rising</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120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Squeeze Score 73/100: keeps it Watchlist</a:t>
            </a:r>
            <a:endParaRPr sz="1800" b="0" i="0" u="none" strike="noStrike" cap="none">
              <a:solidFill>
                <a:srgbClr val="000000"/>
              </a:solidFill>
              <a:latin typeface="Arial"/>
              <a:ea typeface="Arial"/>
              <a:cs typeface="Arial"/>
              <a:sym typeface="Arial"/>
            </a:endParaRPr>
          </a:p>
        </p:txBody>
      </p:sp>
      <p:sp>
        <p:nvSpPr>
          <p:cNvPr id="449" name="Google Shape;449;p41"/>
          <p:cNvSpPr/>
          <p:nvPr/>
        </p:nvSpPr>
        <p:spPr>
          <a:xfrm>
            <a:off x="47244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50" name="Google Shape;450;p41"/>
          <p:cNvSpPr txBox="1"/>
          <p:nvPr/>
        </p:nvSpPr>
        <p:spPr>
          <a:xfrm>
            <a:off x="55118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Execution plan</a:t>
            </a:r>
            <a:endParaRPr sz="1400" b="0" i="0" u="none" strike="noStrike" cap="none">
              <a:solidFill>
                <a:srgbClr val="000000"/>
              </a:solidFill>
              <a:latin typeface="Arial"/>
              <a:ea typeface="Arial"/>
              <a:cs typeface="Arial"/>
              <a:sym typeface="Arial"/>
            </a:endParaRPr>
          </a:p>
        </p:txBody>
      </p:sp>
      <p:sp>
        <p:nvSpPr>
          <p:cNvPr id="451" name="Google Shape;451;p41"/>
          <p:cNvSpPr txBox="1"/>
          <p:nvPr/>
        </p:nvSpPr>
        <p:spPr>
          <a:xfrm>
            <a:off x="4927600" y="1778000"/>
            <a:ext cx="3492500" cy="2926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Entry: </a:t>
            </a:r>
            <a:r>
              <a:rPr lang="en-US" sz="1800" b="0" i="0" u="none" strike="noStrike" cap="none">
                <a:solidFill>
                  <a:srgbClr val="222222"/>
                </a:solidFill>
                <a:latin typeface="Arial"/>
                <a:ea typeface="Arial"/>
                <a:cs typeface="Arial"/>
                <a:sym typeface="Arial"/>
              </a:rPr>
              <a:t>only after VAC terms are confirmed</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Target (3–6 mo): </a:t>
            </a:r>
            <a:r>
              <a:rPr lang="en-US" sz="1800" b="0" i="0" u="none" strike="noStrike" cap="none">
                <a:solidFill>
                  <a:srgbClr val="222222"/>
                </a:solidFill>
                <a:latin typeface="Arial"/>
                <a:ea typeface="Arial"/>
                <a:cs typeface="Arial"/>
                <a:sym typeface="Arial"/>
              </a:rPr>
              <a:t>$9.00–$9.65</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Cover: </a:t>
            </a:r>
            <a:r>
              <a:rPr lang="en-US" sz="1800" b="0" i="0" u="none" strike="noStrike" cap="none">
                <a:solidFill>
                  <a:srgbClr val="222222"/>
                </a:solidFill>
                <a:latin typeface="Arial"/>
                <a:ea typeface="Arial"/>
                <a:cs typeface="Arial"/>
                <a:sym typeface="Arial"/>
              </a:rPr>
              <a:t>clean close, better terms, or no deal</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1200"/>
              </a:spcAft>
              <a:buClr>
                <a:srgbClr val="6E6020"/>
              </a:buClr>
              <a:buSzPts val="1800"/>
              <a:buFont typeface="Arial"/>
              <a:buNone/>
            </a:pPr>
            <a:r>
              <a:rPr lang="en-US" sz="1800" b="1" i="0" u="none" strike="noStrike" cap="none">
                <a:solidFill>
                  <a:srgbClr val="6E6020"/>
                </a:solidFill>
                <a:latin typeface="Arial"/>
                <a:ea typeface="Arial"/>
                <a:cs typeface="Arial"/>
                <a:sym typeface="Arial"/>
              </a:rPr>
              <a:t>Size: </a:t>
            </a:r>
            <a:r>
              <a:rPr lang="en-US" sz="1800" b="0" i="0" u="none" strike="noStrike" cap="none">
                <a:solidFill>
                  <a:srgbClr val="222222"/>
                </a:solidFill>
                <a:latin typeface="Arial"/>
                <a:ea typeface="Arial"/>
                <a:cs typeface="Arial"/>
                <a:sym typeface="Arial"/>
              </a:rPr>
              <a:t>~1% of NAV; squeeze risk caps it</a:t>
            </a:r>
            <a:endParaRPr sz="1800" b="0" i="0" u="none" strike="noStrike" cap="none">
              <a:solidFill>
                <a:srgbClr val="000000"/>
              </a:solidFill>
              <a:latin typeface="Arial"/>
              <a:ea typeface="Arial"/>
              <a:cs typeface="Arial"/>
              <a:sym typeface="Arial"/>
            </a:endParaRPr>
          </a:p>
        </p:txBody>
      </p:sp>
      <p:sp>
        <p:nvSpPr>
          <p:cNvPr id="452" name="Google Shape;452;p41"/>
          <p:cNvSpPr/>
          <p:nvPr/>
        </p:nvSpPr>
        <p:spPr>
          <a:xfrm>
            <a:off x="546100" y="5120640"/>
            <a:ext cx="8051800" cy="685800"/>
          </a:xfrm>
          <a:prstGeom prst="roundRect">
            <a:avLst>
              <a:gd name="adj" fmla="val 10000"/>
            </a:avLst>
          </a:prstGeom>
          <a:no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53" name="Google Shape;453;p41"/>
          <p:cNvSpPr txBox="1"/>
          <p:nvPr/>
        </p:nvSpPr>
        <p:spPr>
          <a:xfrm>
            <a:off x="749300" y="5184648"/>
            <a:ext cx="764540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Dissent (Street): </a:t>
            </a:r>
            <a:r>
              <a:rPr lang="en-US" sz="1400" b="0" i="0" u="none" strike="noStrike" cap="none">
                <a:solidFill>
                  <a:srgbClr val="222222"/>
                </a:solidFill>
                <a:latin typeface="Arial"/>
                <a:ea typeface="Arial"/>
                <a:cs typeface="Arial"/>
                <a:sym typeface="Arial"/>
              </a:rPr>
              <a:t>$24.15 avg target. Flip: days to cover &lt; 6 twice; exit above $16.12.</a:t>
            </a:r>
            <a:endParaRPr sz="1400" b="0" i="0" u="none" strike="noStrike" cap="none">
              <a:solidFill>
                <a:srgbClr val="000000"/>
              </a:solidFill>
              <a:latin typeface="Arial"/>
              <a:ea typeface="Arial"/>
              <a:cs typeface="Arial"/>
              <a:sym typeface="Arial"/>
            </a:endParaRPr>
          </a:p>
        </p:txBody>
      </p:sp>
      <p:pic>
        <p:nvPicPr>
          <p:cNvPr id="454" name="Google Shape;454;p41"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455" name="Google Shape;455;p41" descr="Thesis icon"/>
          <p:cNvSpPr/>
          <p:nvPr/>
        </p:nvSpPr>
        <p:spPr>
          <a:xfrm>
            <a:off x="8509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41" descr="Execution plan icon"/>
          <p:cNvSpPr/>
          <p:nvPr/>
        </p:nvSpPr>
        <p:spPr>
          <a:xfrm>
            <a:off x="50292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0"/>
        <p:cNvGrpSpPr/>
        <p:nvPr/>
      </p:nvGrpSpPr>
      <p:grpSpPr>
        <a:xfrm>
          <a:off x="0" y="0"/>
          <a:ext cx="0" cy="0"/>
          <a:chOff x="0" y="0"/>
          <a:chExt cx="0" cy="0"/>
        </a:xfrm>
      </p:grpSpPr>
      <p:sp>
        <p:nvSpPr>
          <p:cNvPr id="461" name="Google Shape;461;p42"/>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200" b="1" i="0" u="none" strike="noStrike" cap="none">
                <a:solidFill>
                  <a:srgbClr val="000000"/>
                </a:solidFill>
                <a:latin typeface="Arial"/>
                <a:ea typeface="Arial"/>
                <a:cs typeface="Arial"/>
                <a:sym typeface="Arial"/>
              </a:rPr>
              <a:t>Council Review: pressure-testing the call</a:t>
            </a:r>
            <a:endParaRPr sz="2400" b="0" i="0" u="none" strike="noStrike" cap="none">
              <a:solidFill>
                <a:schemeClr val="dk1"/>
              </a:solidFill>
              <a:latin typeface="Calibri"/>
              <a:ea typeface="Calibri"/>
              <a:cs typeface="Calibri"/>
              <a:sym typeface="Calibri"/>
            </a:endParaRPr>
          </a:p>
        </p:txBody>
      </p:sp>
      <p:sp>
        <p:nvSpPr>
          <p:cNvPr id="462" name="Google Shape;462;p42"/>
          <p:cNvSpPr/>
          <p:nvPr/>
        </p:nvSpPr>
        <p:spPr>
          <a:xfrm>
            <a:off x="5461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3" name="Google Shape;463;p42"/>
          <p:cNvSpPr txBox="1"/>
          <p:nvPr/>
        </p:nvSpPr>
        <p:spPr>
          <a:xfrm>
            <a:off x="103505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What the Council found</a:t>
            </a:r>
            <a:endParaRPr sz="1400" b="0" i="0" u="none" strike="noStrike" cap="none">
              <a:solidFill>
                <a:srgbClr val="000000"/>
              </a:solidFill>
              <a:latin typeface="Arial"/>
              <a:ea typeface="Arial"/>
              <a:cs typeface="Arial"/>
              <a:sym typeface="Arial"/>
            </a:endParaRPr>
          </a:p>
        </p:txBody>
      </p:sp>
      <p:sp>
        <p:nvSpPr>
          <p:cNvPr id="464" name="Google Shape;464;p42"/>
          <p:cNvSpPr txBox="1"/>
          <p:nvPr/>
        </p:nvSpPr>
        <p:spPr>
          <a:xfrm>
            <a:off x="749300" y="1778000"/>
            <a:ext cx="3492500" cy="2926080"/>
          </a:xfrm>
          <a:prstGeom prst="rect">
            <a:avLst/>
          </a:prstGeom>
          <a:noFill/>
          <a:ln>
            <a:noFill/>
          </a:ln>
        </p:spPr>
        <p:txBody>
          <a:bodyPr spcFirstLastPara="1" wrap="square" lIns="0" tIns="0" rIns="0" bIns="0" anchor="t" anchorCtr="0">
            <a:noAutofit/>
          </a:bodyPr>
          <a:lstStyle/>
          <a:p>
            <a:pPr marL="228600" marR="0" lvl="0" indent="-228600" algn="l" rtl="0">
              <a:lnSpc>
                <a:spcPct val="100000"/>
              </a:lnSpc>
              <a:spcBef>
                <a:spcPts val="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Am I Deluded? Slightly one-sided toward dilution</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Attack the Deal: main risk is a rare-earth squeeze</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Stress Test: a squeeze could hit before dilution</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120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Read My Excuse: Watchlist is warranted</a:t>
            </a:r>
            <a:endParaRPr sz="1800" b="0" i="0" u="none" strike="noStrike" cap="none">
              <a:solidFill>
                <a:srgbClr val="000000"/>
              </a:solidFill>
              <a:latin typeface="Arial"/>
              <a:ea typeface="Arial"/>
              <a:cs typeface="Arial"/>
              <a:sym typeface="Arial"/>
            </a:endParaRPr>
          </a:p>
        </p:txBody>
      </p:sp>
      <p:sp>
        <p:nvSpPr>
          <p:cNvPr id="465" name="Google Shape;465;p42"/>
          <p:cNvSpPr/>
          <p:nvPr/>
        </p:nvSpPr>
        <p:spPr>
          <a:xfrm>
            <a:off x="47244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6" name="Google Shape;466;p42"/>
          <p:cNvSpPr txBox="1"/>
          <p:nvPr/>
        </p:nvSpPr>
        <p:spPr>
          <a:xfrm>
            <a:off x="5283200" y="1244600"/>
            <a:ext cx="2921000" cy="457200"/>
          </a:xfrm>
          <a:prstGeom prst="rect">
            <a:avLst/>
          </a:prstGeom>
          <a:noFill/>
          <a:ln>
            <a:noFill/>
          </a:ln>
        </p:spPr>
        <p:txBody>
          <a:bodyPr spcFirstLastPara="1" wrap="square" lIns="0" tIns="0" rIns="0" bIns="0" anchor="ctr" anchorCtr="0">
            <a:normAutofit fontScale="92500"/>
          </a:bodyPr>
          <a:lstStyle/>
          <a:p>
            <a:pPr marL="0" marR="0" lvl="0" indent="0" algn="l" rtl="0">
              <a:lnSpc>
                <a:spcPct val="100000"/>
              </a:lnSpc>
              <a:spcBef>
                <a:spcPts val="0"/>
              </a:spcBef>
              <a:spcAft>
                <a:spcPts val="0"/>
              </a:spcAft>
              <a:buClr>
                <a:srgbClr val="6E6020"/>
              </a:buClr>
              <a:buSzPct val="108108"/>
              <a:buFont typeface="Arial"/>
              <a:buNone/>
            </a:pPr>
            <a:r>
              <a:rPr lang="en-US" sz="2000" b="1" i="0" u="none" strike="noStrike" cap="none">
                <a:solidFill>
                  <a:srgbClr val="6E6020"/>
                </a:solidFill>
                <a:latin typeface="Arial"/>
                <a:ea typeface="Arial"/>
                <a:cs typeface="Arial"/>
                <a:sym typeface="Arial"/>
              </a:rPr>
              <a:t>What changed as a result</a:t>
            </a:r>
            <a:endParaRPr sz="1400" b="0" i="0" u="none" strike="noStrike" cap="none">
              <a:solidFill>
                <a:srgbClr val="000000"/>
              </a:solidFill>
              <a:latin typeface="Arial"/>
              <a:ea typeface="Arial"/>
              <a:cs typeface="Arial"/>
              <a:sym typeface="Arial"/>
            </a:endParaRPr>
          </a:p>
        </p:txBody>
      </p:sp>
      <p:sp>
        <p:nvSpPr>
          <p:cNvPr id="467" name="Google Shape;467;p42"/>
          <p:cNvSpPr txBox="1"/>
          <p:nvPr/>
        </p:nvSpPr>
        <p:spPr>
          <a:xfrm>
            <a:off x="4927600" y="1778000"/>
            <a:ext cx="3492500" cy="2926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Rationale: </a:t>
            </a:r>
            <a:r>
              <a:rPr lang="en-US" sz="1800" b="0" i="0" u="none" strike="noStrike" cap="none">
                <a:solidFill>
                  <a:srgbClr val="222222"/>
                </a:solidFill>
                <a:latin typeface="Arial"/>
                <a:ea typeface="Arial"/>
                <a:cs typeface="Arial"/>
                <a:sym typeface="Arial"/>
              </a:rPr>
              <a:t>rare-earth counter-case added</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Plan: </a:t>
            </a:r>
            <a:r>
              <a:rPr lang="en-US" sz="1800" b="0" i="0" u="none" strike="noStrike" cap="none">
                <a:solidFill>
                  <a:srgbClr val="222222"/>
                </a:solidFill>
                <a:latin typeface="Arial"/>
                <a:ea typeface="Arial"/>
                <a:cs typeface="Arial"/>
                <a:sym typeface="Arial"/>
              </a:rPr>
              <a:t>flip and exit conditions added</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Correction: </a:t>
            </a:r>
            <a:r>
              <a:rPr lang="en-US" sz="1800" b="0" i="0" u="none" strike="noStrike" cap="none">
                <a:solidFill>
                  <a:srgbClr val="222222"/>
                </a:solidFill>
                <a:latin typeface="Arial"/>
                <a:ea typeface="Arial"/>
                <a:cs typeface="Arial"/>
                <a:sym typeface="Arial"/>
              </a:rPr>
              <a:t>“CEO purchase” was wrong: sales</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Sign-off: Jared Mount, Sep 26</a:t>
            </a:r>
            <a:endParaRPr sz="1800" b="0" i="0" u="none" strike="noStrike" cap="none">
              <a:solidFill>
                <a:srgbClr val="000000"/>
              </a:solidFill>
              <a:latin typeface="Arial"/>
              <a:ea typeface="Arial"/>
              <a:cs typeface="Arial"/>
              <a:sym typeface="Arial"/>
            </a:endParaRPr>
          </a:p>
        </p:txBody>
      </p:sp>
      <p:sp>
        <p:nvSpPr>
          <p:cNvPr id="468" name="Google Shape;468;p42"/>
          <p:cNvSpPr/>
          <p:nvPr/>
        </p:nvSpPr>
        <p:spPr>
          <a:xfrm>
            <a:off x="546100" y="5120640"/>
            <a:ext cx="8051800" cy="685800"/>
          </a:xfrm>
          <a:prstGeom prst="roundRect">
            <a:avLst>
              <a:gd name="adj" fmla="val 10000"/>
            </a:avLst>
          </a:prstGeom>
          <a:no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9" name="Google Shape;469;p42"/>
          <p:cNvSpPr txBox="1"/>
          <p:nvPr/>
        </p:nvSpPr>
        <p:spPr>
          <a:xfrm>
            <a:off x="749300" y="5184648"/>
            <a:ext cx="764540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Recommendation: </a:t>
            </a:r>
            <a:r>
              <a:rPr lang="en-US" sz="1400" b="0" i="0" u="none" strike="noStrike" cap="none">
                <a:solidFill>
                  <a:srgbClr val="222222"/>
                </a:solidFill>
                <a:latin typeface="Arial"/>
                <a:ea typeface="Arial"/>
                <a:cs typeface="Arial"/>
                <a:sym typeface="Arial"/>
              </a:rPr>
              <a:t>sourced, verifiable, sign-off ready.</a:t>
            </a:r>
            <a:endParaRPr sz="1400" b="0" i="0" u="none" strike="noStrike" cap="none">
              <a:solidFill>
                <a:srgbClr val="000000"/>
              </a:solidFill>
              <a:latin typeface="Arial"/>
              <a:ea typeface="Arial"/>
              <a:cs typeface="Arial"/>
              <a:sym typeface="Arial"/>
            </a:endParaRPr>
          </a:p>
        </p:txBody>
      </p:sp>
      <p:pic>
        <p:nvPicPr>
          <p:cNvPr id="470" name="Google Shape;470;p42"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471" name="Google Shape;471;p42" descr="Thesis icon"/>
          <p:cNvSpPr/>
          <p:nvPr/>
        </p:nvSpPr>
        <p:spPr>
          <a:xfrm>
            <a:off x="8509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42" descr="Execution plan icon"/>
          <p:cNvSpPr/>
          <p:nvPr/>
        </p:nvSpPr>
        <p:spPr>
          <a:xfrm>
            <a:off x="50292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6"/>
        <p:cNvGrpSpPr/>
        <p:nvPr/>
      </p:nvGrpSpPr>
      <p:grpSpPr>
        <a:xfrm>
          <a:off x="0" y="0"/>
          <a:ext cx="0" cy="0"/>
          <a:chOff x="0" y="0"/>
          <a:chExt cx="0" cy="0"/>
        </a:xfrm>
      </p:grpSpPr>
      <p:sp>
        <p:nvSpPr>
          <p:cNvPr id="477" name="Google Shape;477;p20"/>
          <p:cNvSpPr/>
          <p:nvPr/>
        </p:nvSpPr>
        <p:spPr>
          <a:xfrm>
            <a:off x="548640" y="2788920"/>
            <a:ext cx="109728" cy="1280160"/>
          </a:xfrm>
          <a:prstGeom prst="rect">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8" name="Google Shape;478;p20"/>
          <p:cNvSpPr txBox="1"/>
          <p:nvPr/>
        </p:nvSpPr>
        <p:spPr>
          <a:xfrm>
            <a:off x="868680" y="2651760"/>
            <a:ext cx="7680960" cy="1554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Arial"/>
                <a:ea typeface="Arial"/>
                <a:cs typeface="Arial"/>
                <a:sym typeface="Arial"/>
              </a:rPr>
              <a:t>Long Analysis</a:t>
            </a:r>
            <a:endParaRPr sz="3600" b="0" i="0" u="none" strike="noStrike" cap="none">
              <a:solidFill>
                <a:schemeClr val="dk1"/>
              </a:solidFill>
              <a:latin typeface="Calibri"/>
              <a:ea typeface="Calibri"/>
              <a:cs typeface="Calibri"/>
              <a:sym typeface="Calibri"/>
            </a:endParaRPr>
          </a:p>
        </p:txBody>
      </p:sp>
      <p:pic>
        <p:nvPicPr>
          <p:cNvPr id="479" name="Google Shape;479;p20"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3"/>
        <p:cNvGrpSpPr/>
        <p:nvPr/>
      </p:nvGrpSpPr>
      <p:grpSpPr>
        <a:xfrm>
          <a:off x="0" y="0"/>
          <a:ext cx="0" cy="0"/>
          <a:chOff x="0" y="0"/>
          <a:chExt cx="0" cy="0"/>
        </a:xfrm>
      </p:grpSpPr>
      <p:sp>
        <p:nvSpPr>
          <p:cNvPr id="484" name="Google Shape;484;p43"/>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The ranking result for the long position</a:t>
            </a:r>
            <a:endParaRPr sz="2400" b="0" i="0" u="none" strike="noStrike" cap="none">
              <a:solidFill>
                <a:schemeClr val="dk1"/>
              </a:solidFill>
              <a:latin typeface="Calibri"/>
              <a:ea typeface="Calibri"/>
              <a:cs typeface="Calibri"/>
              <a:sym typeface="Calibri"/>
            </a:endParaRPr>
          </a:p>
        </p:txBody>
      </p:sp>
      <p:graphicFrame>
        <p:nvGraphicFramePr>
          <p:cNvPr id="485" name="Google Shape;485;p43"/>
          <p:cNvGraphicFramePr/>
          <p:nvPr/>
        </p:nvGraphicFramePr>
        <p:xfrm>
          <a:off x="546100" y="1143000"/>
          <a:ext cx="3000000" cy="3000000"/>
        </p:xfrm>
        <a:graphic>
          <a:graphicData uri="http://schemas.openxmlformats.org/drawingml/2006/table">
            <a:tbl>
              <a:tblPr>
                <a:noFill/>
                <a:tableStyleId>{67C04448-9542-46E3-BF30-04DBAA183EC1}</a:tableStyleId>
              </a:tblPr>
              <a:tblGrid>
                <a:gridCol w="82295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02925">
                  <a:extLst>
                    <a:ext uri="{9D8B030D-6E8A-4147-A177-3AD203B41FA5}">
                      <a16:colId xmlns:a16="http://schemas.microsoft.com/office/drawing/2014/main" val="20002"/>
                    </a:ext>
                  </a:extLst>
                </a:gridCol>
                <a:gridCol w="54865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594350">
                  <a:extLst>
                    <a:ext uri="{9D8B030D-6E8A-4147-A177-3AD203B41FA5}">
                      <a16:colId xmlns:a16="http://schemas.microsoft.com/office/drawing/2014/main" val="20005"/>
                    </a:ext>
                  </a:extLst>
                </a:gridCol>
                <a:gridCol w="502925">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1965950">
                  <a:extLst>
                    <a:ext uri="{9D8B030D-6E8A-4147-A177-3AD203B41FA5}">
                      <a16:colId xmlns:a16="http://schemas.microsoft.com/office/drawing/2014/main" val="20008"/>
                    </a:ext>
                  </a:extLst>
                </a:gridCol>
              </a:tblGrid>
              <a:tr h="431800">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Company</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Type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Val</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Cash</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Growth</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Resil.</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Mkt</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Score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Verdict</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548650">
                <a:tc>
                  <a:txBody>
                    <a:bodyPr/>
                    <a:lstStyle/>
                    <a:p>
                      <a:pPr marL="0" marR="0" lvl="0" indent="0" algn="l" rtl="0">
                        <a:lnSpc>
                          <a:spcPct val="100000"/>
                        </a:lnSpc>
                        <a:spcBef>
                          <a:spcPts val="0"/>
                        </a:spcBef>
                        <a:spcAft>
                          <a:spcPts val="0"/>
                        </a:spcAft>
                        <a:buClr>
                          <a:srgbClr val="6E6020"/>
                        </a:buClr>
                        <a:buSzPts val="1400"/>
                        <a:buFont typeface="Arial"/>
                        <a:buNone/>
                      </a:pPr>
                      <a:r>
                        <a:rPr lang="en-US" sz="1400" b="1" i="0" u="none" strike="noStrike" cap="none">
                          <a:solidFill>
                            <a:srgbClr val="00B050"/>
                          </a:solidFill>
                          <a:latin typeface="Arial"/>
                          <a:ea typeface="Arial"/>
                          <a:cs typeface="Arial"/>
                          <a:sym typeface="Arial"/>
                        </a:rPr>
                        <a:t>PDN</a:t>
                      </a:r>
                      <a:endParaRPr sz="1400" u="none" strike="noStrike" cap="none">
                        <a:solidFill>
                          <a:srgbClr val="00B050"/>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00B050"/>
                          </a:solidFill>
                          <a:latin typeface="Arial"/>
                          <a:ea typeface="Arial"/>
                          <a:cs typeface="Arial"/>
                          <a:sym typeface="Arial"/>
                        </a:rPr>
                        <a:t>ASX/TSX producer</a:t>
                      </a:r>
                      <a:endParaRPr sz="1400" u="none" strike="noStrike" cap="none">
                        <a:solidFill>
                          <a:srgbClr val="00B050"/>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00B050"/>
                          </a:solidFill>
                          <a:latin typeface="Arial"/>
                          <a:ea typeface="Arial"/>
                          <a:cs typeface="Arial"/>
                          <a:sym typeface="Arial"/>
                        </a:rPr>
                        <a:t>3</a:t>
                      </a:r>
                      <a:endParaRPr sz="1400" u="none" strike="noStrike" cap="none">
                        <a:solidFill>
                          <a:srgbClr val="00B050"/>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00B050"/>
                          </a:solidFill>
                          <a:latin typeface="Arial"/>
                          <a:ea typeface="Arial"/>
                          <a:cs typeface="Arial"/>
                          <a:sym typeface="Arial"/>
                        </a:rPr>
                        <a:t>4</a:t>
                      </a:r>
                      <a:endParaRPr sz="1400" u="none" strike="noStrike" cap="none">
                        <a:solidFill>
                          <a:srgbClr val="00B050"/>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00B050"/>
                          </a:solidFill>
                          <a:latin typeface="Arial"/>
                          <a:ea typeface="Arial"/>
                          <a:cs typeface="Arial"/>
                          <a:sym typeface="Arial"/>
                        </a:rPr>
                        <a:t>4</a:t>
                      </a:r>
                      <a:endParaRPr sz="1400" u="none" strike="noStrike" cap="none">
                        <a:solidFill>
                          <a:srgbClr val="00B050"/>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00B050"/>
                          </a:solidFill>
                          <a:latin typeface="Arial"/>
                          <a:ea typeface="Arial"/>
                          <a:cs typeface="Arial"/>
                          <a:sym typeface="Arial"/>
                        </a:rPr>
                        <a:t>4</a:t>
                      </a:r>
                      <a:endParaRPr sz="1400" u="none" strike="noStrike" cap="none">
                        <a:solidFill>
                          <a:srgbClr val="00B050"/>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00B050"/>
                          </a:solidFill>
                          <a:latin typeface="Arial"/>
                          <a:ea typeface="Arial"/>
                          <a:cs typeface="Arial"/>
                          <a:sym typeface="Arial"/>
                        </a:rPr>
                        <a:t>5</a:t>
                      </a:r>
                      <a:endParaRPr sz="1400" u="none" strike="noStrike" cap="none">
                        <a:solidFill>
                          <a:srgbClr val="00B050"/>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6E6020"/>
                        </a:buClr>
                        <a:buSzPts val="1400"/>
                        <a:buFont typeface="Arial"/>
                        <a:buNone/>
                      </a:pPr>
                      <a:r>
                        <a:rPr lang="en-US" sz="1400" b="0" i="0" u="none" strike="noStrike" cap="none">
                          <a:solidFill>
                            <a:srgbClr val="00B050"/>
                          </a:solidFill>
                          <a:latin typeface="Arial"/>
                          <a:ea typeface="Arial"/>
                          <a:cs typeface="Arial"/>
                          <a:sym typeface="Arial"/>
                        </a:rPr>
                        <a:t>3.90</a:t>
                      </a:r>
                      <a:endParaRPr sz="1400" u="none" strike="noStrike" cap="none">
                        <a:solidFill>
                          <a:srgbClr val="00B050"/>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6E6020"/>
                        </a:buClr>
                        <a:buSzPts val="1400"/>
                        <a:buFont typeface="Arial"/>
                        <a:buNone/>
                      </a:pPr>
                      <a:r>
                        <a:rPr lang="en-US" sz="1400" b="0" i="0" u="none" strike="noStrike" cap="none">
                          <a:solidFill>
                            <a:srgbClr val="00B050"/>
                          </a:solidFill>
                          <a:latin typeface="Arial"/>
                          <a:ea typeface="Arial"/>
                          <a:cs typeface="Arial"/>
                          <a:sym typeface="Arial"/>
                        </a:rPr>
                        <a:t>Long A: Watchlist</a:t>
                      </a:r>
                      <a:endParaRPr sz="1400" u="none" strike="noStrike" cap="none">
                        <a:solidFill>
                          <a:srgbClr val="00B050"/>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548650">
                <a:tc>
                  <a:txBody>
                    <a:bodyPr/>
                    <a:lstStyle/>
                    <a:p>
                      <a:pPr marL="0" marR="0" lvl="0" indent="0" algn="l" rtl="0">
                        <a:lnSpc>
                          <a:spcPct val="100000"/>
                        </a:lnSpc>
                        <a:spcBef>
                          <a:spcPts val="0"/>
                        </a:spcBef>
                        <a:spcAft>
                          <a:spcPts val="0"/>
                        </a:spcAft>
                        <a:buClr>
                          <a:srgbClr val="6E6020"/>
                        </a:buClr>
                        <a:buSzPts val="1400"/>
                        <a:buFont typeface="Arial"/>
                        <a:buNone/>
                      </a:pPr>
                      <a:r>
                        <a:rPr lang="en-US" sz="1400" b="1" i="0" u="none" strike="noStrike" cap="none">
                          <a:solidFill>
                            <a:srgbClr val="222222"/>
                          </a:solidFill>
                          <a:latin typeface="Arial"/>
                          <a:ea typeface="Arial"/>
                          <a:cs typeface="Arial"/>
                          <a:sym typeface="Arial"/>
                        </a:rPr>
                        <a:t>NXE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Construction-stage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6E6020"/>
                        </a:buClr>
                        <a:buSzPts val="1400"/>
                        <a:buFont typeface="Arial"/>
                        <a:buNone/>
                      </a:pPr>
                      <a:r>
                        <a:rPr lang="en-US" sz="1400" b="0" i="0" u="none" strike="noStrike" cap="none">
                          <a:solidFill>
                            <a:srgbClr val="222222"/>
                          </a:solidFill>
                          <a:latin typeface="Arial"/>
                          <a:ea typeface="Arial"/>
                          <a:cs typeface="Arial"/>
                          <a:sym typeface="Arial"/>
                        </a:rPr>
                        <a:t>3.35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6E6020"/>
                        </a:buClr>
                        <a:buSzPts val="1400"/>
                        <a:buFont typeface="Arial"/>
                        <a:buNone/>
                      </a:pPr>
                      <a:r>
                        <a:rPr lang="en-US" sz="1400" b="0" i="0" u="none" strike="noStrike" cap="none">
                          <a:solidFill>
                            <a:srgbClr val="222222"/>
                          </a:solidFill>
                          <a:latin typeface="Arial"/>
                          <a:ea typeface="Arial"/>
                          <a:cs typeface="Arial"/>
                          <a:sym typeface="Arial"/>
                        </a:rPr>
                        <a:t>Watchlist: ore 2030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548650">
                <a:tc>
                  <a:txBody>
                    <a:bodyPr/>
                    <a:lstStyle/>
                    <a:p>
                      <a:pPr marL="0" marR="0" lvl="0" indent="0" algn="l" rtl="0">
                        <a:lnSpc>
                          <a:spcPct val="100000"/>
                        </a:lnSpc>
                        <a:spcBef>
                          <a:spcPts val="0"/>
                        </a:spcBef>
                        <a:spcAft>
                          <a:spcPts val="0"/>
                        </a:spcAft>
                        <a:buClr>
                          <a:srgbClr val="6E6020"/>
                        </a:buClr>
                        <a:buSzPts val="1400"/>
                        <a:buFont typeface="Arial"/>
                        <a:buNone/>
                      </a:pPr>
                      <a:r>
                        <a:rPr lang="en-US" sz="1400" b="1" i="0" u="none" strike="noStrike" cap="none">
                          <a:solidFill>
                            <a:srgbClr val="222222"/>
                          </a:solidFill>
                          <a:latin typeface="Arial"/>
                          <a:ea typeface="Arial"/>
                          <a:cs typeface="Arial"/>
                          <a:sym typeface="Arial"/>
                        </a:rPr>
                        <a:t>CCJ</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Integrated producer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6E6020"/>
                        </a:buClr>
                        <a:buSzPts val="1400"/>
                        <a:buFont typeface="Arial"/>
                        <a:buNone/>
                      </a:pPr>
                      <a:r>
                        <a:rPr lang="en-US" sz="1400" b="0" i="0" u="none" strike="noStrike" cap="none">
                          <a:solidFill>
                            <a:srgbClr val="222222"/>
                          </a:solidFill>
                          <a:latin typeface="Arial"/>
                          <a:ea typeface="Arial"/>
                          <a:cs typeface="Arial"/>
                          <a:sym typeface="Arial"/>
                        </a:rPr>
                        <a:t>3.15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6E6020"/>
                        </a:buClr>
                        <a:buSzPts val="1400"/>
                        <a:buFont typeface="Arial"/>
                        <a:buNone/>
                      </a:pPr>
                      <a:r>
                        <a:rPr lang="en-US" sz="1400" b="0" i="0" u="none" strike="noStrike" cap="none">
                          <a:solidFill>
                            <a:srgbClr val="222222"/>
                          </a:solidFill>
                          <a:latin typeface="Arial"/>
                          <a:ea typeface="Arial"/>
                          <a:cs typeface="Arial"/>
                          <a:sym typeface="Arial"/>
                        </a:rPr>
                        <a:t>Watchlist: gate untested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r h="548650">
                <a:tc>
                  <a:txBody>
                    <a:bodyPr/>
                    <a:lstStyle/>
                    <a:p>
                      <a:pPr marL="0" marR="0" lvl="0" indent="0" algn="l" rtl="0">
                        <a:lnSpc>
                          <a:spcPct val="100000"/>
                        </a:lnSpc>
                        <a:spcBef>
                          <a:spcPts val="0"/>
                        </a:spcBef>
                        <a:spcAft>
                          <a:spcPts val="0"/>
                        </a:spcAft>
                        <a:buClr>
                          <a:srgbClr val="6E6020"/>
                        </a:buClr>
                        <a:buSzPts val="1400"/>
                        <a:buFont typeface="Arial"/>
                        <a:buNone/>
                      </a:pPr>
                      <a:r>
                        <a:rPr lang="en-US" sz="1400" b="1" i="0" u="none" strike="noStrike" cap="none">
                          <a:solidFill>
                            <a:schemeClr val="dk1"/>
                          </a:solidFill>
                          <a:latin typeface="Arial"/>
                          <a:ea typeface="Arial"/>
                          <a:cs typeface="Arial"/>
                          <a:sym typeface="Arial"/>
                        </a:rPr>
                        <a:t>DNN</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Construction-stage</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2</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2</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5</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3</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4</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6E6020"/>
                        </a:buClr>
                        <a:buSzPts val="1400"/>
                        <a:buFont typeface="Arial"/>
                        <a:buNone/>
                      </a:pPr>
                      <a:r>
                        <a:rPr lang="en-US" sz="1400" b="0" i="0" u="none" strike="noStrike" cap="none">
                          <a:solidFill>
                            <a:schemeClr val="dk1"/>
                          </a:solidFill>
                          <a:latin typeface="Arial"/>
                          <a:ea typeface="Arial"/>
                          <a:cs typeface="Arial"/>
                          <a:sym typeface="Arial"/>
                        </a:rPr>
                        <a:t>3.10</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6E6020"/>
                        </a:buClr>
                        <a:buSzPts val="1400"/>
                        <a:buFont typeface="Arial"/>
                        <a:buNone/>
                      </a:pPr>
                      <a:r>
                        <a:rPr lang="en-US" sz="1400" b="0" i="0" u="none" strike="noStrike" cap="none">
                          <a:solidFill>
                            <a:schemeClr val="dk1"/>
                          </a:solidFill>
                          <a:latin typeface="Arial"/>
                          <a:ea typeface="Arial"/>
                          <a:cs typeface="Arial"/>
                          <a:sym typeface="Arial"/>
                        </a:rPr>
                        <a:t>Potential Long: on milestones</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4"/>
                  </a:ext>
                </a:extLst>
              </a:tr>
              <a:tr h="548650">
                <a:tc>
                  <a:txBody>
                    <a:bodyPr/>
                    <a:lstStyle/>
                    <a:p>
                      <a:pPr marL="0" marR="0" lvl="0" indent="0" algn="l" rtl="0">
                        <a:lnSpc>
                          <a:spcPct val="100000"/>
                        </a:lnSpc>
                        <a:spcBef>
                          <a:spcPts val="0"/>
                        </a:spcBef>
                        <a:spcAft>
                          <a:spcPts val="0"/>
                        </a:spcAft>
                        <a:buClr>
                          <a:srgbClr val="6E6020"/>
                        </a:buClr>
                        <a:buSzPts val="1400"/>
                        <a:buFont typeface="Arial"/>
                        <a:buNone/>
                      </a:pPr>
                      <a:r>
                        <a:rPr lang="en-US" sz="1400" b="1" i="0" u="none" strike="noStrike" cap="none">
                          <a:solidFill>
                            <a:schemeClr val="dk1"/>
                          </a:solidFill>
                          <a:latin typeface="Arial"/>
                          <a:ea typeface="Arial"/>
                          <a:cs typeface="Arial"/>
                          <a:sym typeface="Arial"/>
                        </a:rPr>
                        <a:t>KAP</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Kazakh ISR producer</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3</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3</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2</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2</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chemeClr val="dk1"/>
                          </a:solidFill>
                          <a:latin typeface="Arial"/>
                          <a:ea typeface="Arial"/>
                          <a:cs typeface="Arial"/>
                          <a:sym typeface="Arial"/>
                        </a:rPr>
                        <a:t>5</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6E6020"/>
                        </a:buClr>
                        <a:buSzPts val="1400"/>
                        <a:buFont typeface="Arial"/>
                        <a:buNone/>
                      </a:pPr>
                      <a:r>
                        <a:rPr lang="en-US" sz="1400" b="0" i="0" u="none" strike="noStrike" cap="none">
                          <a:solidFill>
                            <a:schemeClr val="dk1"/>
                          </a:solidFill>
                          <a:latin typeface="Arial"/>
                          <a:ea typeface="Arial"/>
                          <a:cs typeface="Arial"/>
                          <a:sym typeface="Arial"/>
                        </a:rPr>
                        <a:t>2.90</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6E6020"/>
                        </a:buClr>
                        <a:buSzPts val="1400"/>
                        <a:buFont typeface="Arial"/>
                        <a:buNone/>
                      </a:pPr>
                      <a:r>
                        <a:rPr lang="en-US" sz="1400" b="0" i="0" u="none" strike="noStrike" cap="none">
                          <a:solidFill>
                            <a:schemeClr val="dk1"/>
                          </a:solidFill>
                          <a:latin typeface="Arial"/>
                          <a:ea typeface="Arial"/>
                          <a:cs typeface="Arial"/>
                          <a:sym typeface="Arial"/>
                        </a:rPr>
                        <a:t>Conditional long</a:t>
                      </a:r>
                      <a:endParaRPr sz="1400" u="none" strike="noStrike" cap="none">
                        <a:solidFill>
                          <a:schemeClr val="dk1"/>
                        </a:solidFill>
                      </a:endParaRPr>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5"/>
                  </a:ext>
                </a:extLst>
              </a:tr>
              <a:tr h="548650">
                <a:tc>
                  <a:txBody>
                    <a:bodyPr/>
                    <a:lstStyle/>
                    <a:p>
                      <a:pPr marL="0" marR="0" lvl="0" indent="0" algn="l" rtl="0">
                        <a:lnSpc>
                          <a:spcPct val="100000"/>
                        </a:lnSpc>
                        <a:spcBef>
                          <a:spcPts val="0"/>
                        </a:spcBef>
                        <a:spcAft>
                          <a:spcPts val="0"/>
                        </a:spcAft>
                        <a:buClr>
                          <a:srgbClr val="6E6020"/>
                        </a:buClr>
                        <a:buSzPts val="1400"/>
                        <a:buFont typeface="Arial"/>
                        <a:buNone/>
                      </a:pPr>
                      <a:r>
                        <a:rPr lang="en-US" sz="1400" b="1" i="0" u="none" strike="noStrike" cap="none">
                          <a:solidFill>
                            <a:srgbClr val="222222"/>
                          </a:solidFill>
                          <a:latin typeface="Arial"/>
                          <a:ea typeface="Arial"/>
                          <a:cs typeface="Arial"/>
                          <a:sym typeface="Arial"/>
                        </a:rPr>
                        <a:t>UEC</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US ISR producer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6E6020"/>
                        </a:buClr>
                        <a:buSzPts val="1400"/>
                        <a:buFont typeface="Arial"/>
                        <a:buNone/>
                      </a:pPr>
                      <a:r>
                        <a:rPr lang="en-US" sz="1400" b="0" i="0" u="none" strike="noStrike" cap="none">
                          <a:solidFill>
                            <a:srgbClr val="222222"/>
                          </a:solidFill>
                          <a:latin typeface="Arial"/>
                          <a:ea typeface="Arial"/>
                          <a:cs typeface="Arial"/>
                          <a:sym typeface="Arial"/>
                        </a:rPr>
                        <a:t>2.50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6E6020"/>
                        </a:buClr>
                        <a:buSzPts val="1400"/>
                        <a:buFont typeface="Arial"/>
                        <a:buNone/>
                      </a:pPr>
                      <a:r>
                        <a:rPr lang="en-US" sz="1400" b="0" i="0" u="none" strike="noStrike" cap="none">
                          <a:solidFill>
                            <a:srgbClr val="222222"/>
                          </a:solidFill>
                          <a:latin typeface="Arial"/>
                          <a:ea typeface="Arial"/>
                          <a:cs typeface="Arial"/>
                          <a:sym typeface="Arial"/>
                        </a:rPr>
                        <a:t>Not selected: low score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6"/>
                  </a:ext>
                </a:extLst>
              </a:tr>
              <a:tr h="548650">
                <a:tc>
                  <a:txBody>
                    <a:bodyPr/>
                    <a:lstStyle/>
                    <a:p>
                      <a:pPr marL="0" marR="0" lvl="0" indent="0" algn="l" rtl="0">
                        <a:lnSpc>
                          <a:spcPct val="100000"/>
                        </a:lnSpc>
                        <a:spcBef>
                          <a:spcPts val="0"/>
                        </a:spcBef>
                        <a:spcAft>
                          <a:spcPts val="0"/>
                        </a:spcAft>
                        <a:buClr>
                          <a:srgbClr val="6E6020"/>
                        </a:buClr>
                        <a:buSzPts val="1400"/>
                        <a:buFont typeface="Arial"/>
                        <a:buNone/>
                      </a:pPr>
                      <a:r>
                        <a:rPr lang="en-US" sz="1400" b="1" i="0" u="none" strike="noStrike" cap="none">
                          <a:solidFill>
                            <a:srgbClr val="222222"/>
                          </a:solidFill>
                          <a:latin typeface="Arial"/>
                          <a:ea typeface="Arial"/>
                          <a:cs typeface="Arial"/>
                          <a:sym typeface="Arial"/>
                        </a:rPr>
                        <a:t>UUUU</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Diversified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6E6020"/>
                        </a:buClr>
                        <a:buSzPts val="1400"/>
                        <a:buFont typeface="Arial"/>
                        <a:buNone/>
                      </a:pPr>
                      <a:r>
                        <a:rPr lang="en-US" sz="1400" b="0" i="0" u="none" strike="noStrike" cap="none">
                          <a:solidFill>
                            <a:srgbClr val="222222"/>
                          </a:solidFill>
                          <a:latin typeface="Arial"/>
                          <a:ea typeface="Arial"/>
                          <a:cs typeface="Arial"/>
                          <a:sym typeface="Arial"/>
                        </a:rPr>
                        <a:t>2.50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6E6020"/>
                        </a:buClr>
                        <a:buSzPts val="1400"/>
                        <a:buFont typeface="Arial"/>
                        <a:buNone/>
                      </a:pPr>
                      <a:r>
                        <a:rPr lang="en-US" sz="1400" b="0" i="0" u="none" strike="noStrike" cap="none">
                          <a:solidFill>
                            <a:srgbClr val="222222"/>
                          </a:solidFill>
                          <a:latin typeface="Arial"/>
                          <a:ea typeface="Arial"/>
                          <a:cs typeface="Arial"/>
                          <a:sym typeface="Arial"/>
                        </a:rPr>
                        <a:t>Excluded: Short pick</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486" name="Google Shape;486;p43"/>
          <p:cNvSpPr/>
          <p:nvPr/>
        </p:nvSpPr>
        <p:spPr>
          <a:xfrm>
            <a:off x="546100" y="5486400"/>
            <a:ext cx="8051800" cy="50292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300" b="1" i="0" u="none" strike="noStrike" cap="none">
                <a:solidFill>
                  <a:srgbClr val="6E6020"/>
                </a:solidFill>
                <a:latin typeface="Arial"/>
                <a:ea typeface="Arial"/>
                <a:cs typeface="Arial"/>
                <a:sym typeface="Arial"/>
              </a:rPr>
              <a:t>How we ranked:</a:t>
            </a:r>
            <a:r>
              <a:rPr lang="en-US" sz="1300" b="0" i="0" u="none" strike="noStrike" cap="none">
                <a:solidFill>
                  <a:srgbClr val="222222"/>
                </a:solidFill>
                <a:latin typeface="Arial"/>
                <a:ea typeface="Arial"/>
                <a:cs typeface="Arial"/>
                <a:sym typeface="Arial"/>
              </a:rPr>
              <a:t> Weights 25/20/20/20/15; market confirmation = 12-1 month return vs. the seven-name average.</a:t>
            </a:r>
            <a:endParaRPr sz="1400" b="0" i="0" u="none" strike="noStrike" cap="none">
              <a:solidFill>
                <a:srgbClr val="000000"/>
              </a:solidFill>
              <a:latin typeface="Arial"/>
              <a:ea typeface="Arial"/>
              <a:cs typeface="Arial"/>
              <a:sym typeface="Arial"/>
            </a:endParaRPr>
          </a:p>
        </p:txBody>
      </p:sp>
      <p:pic>
        <p:nvPicPr>
          <p:cNvPr id="487" name="Google Shape;487;p43"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2"/>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Arial"/>
                <a:ea typeface="Arial"/>
                <a:cs typeface="Arial"/>
                <a:sym typeface="Arial"/>
              </a:rPr>
              <a:t>Paladin – Analyst rating (85% Buy)</a:t>
            </a:r>
            <a:endParaRPr sz="2400" b="1" i="0" u="none" strike="noStrike" cap="none">
              <a:solidFill>
                <a:schemeClr val="dk1"/>
              </a:solidFill>
              <a:latin typeface="Arial"/>
              <a:ea typeface="Arial"/>
              <a:cs typeface="Arial"/>
              <a:sym typeface="Arial"/>
            </a:endParaRPr>
          </a:p>
        </p:txBody>
      </p:sp>
      <p:pic>
        <p:nvPicPr>
          <p:cNvPr id="493" name="Google Shape;493;p2"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pic>
        <p:nvPicPr>
          <p:cNvPr id="494" name="Google Shape;494;p2"/>
          <p:cNvPicPr preferRelativeResize="0"/>
          <p:nvPr/>
        </p:nvPicPr>
        <p:blipFill rotWithShape="1">
          <a:blip r:embed="rId4">
            <a:alphaModFix/>
          </a:blip>
          <a:srcRect/>
          <a:stretch/>
        </p:blipFill>
        <p:spPr>
          <a:xfrm>
            <a:off x="1897911" y="4165288"/>
            <a:ext cx="5348177" cy="1942372"/>
          </a:xfrm>
          <a:prstGeom prst="rect">
            <a:avLst/>
          </a:prstGeom>
          <a:noFill/>
          <a:ln>
            <a:noFill/>
          </a:ln>
        </p:spPr>
      </p:pic>
      <p:sp>
        <p:nvSpPr>
          <p:cNvPr id="495" name="Google Shape;495;p2"/>
          <p:cNvSpPr txBox="1"/>
          <p:nvPr/>
        </p:nvSpPr>
        <p:spPr>
          <a:xfrm>
            <a:off x="829340" y="6338351"/>
            <a:ext cx="784682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Source: FUTU Securities, Code PDN, data fetched Sep 28, 2026</a:t>
            </a:r>
            <a:endParaRPr sz="1400" b="0" i="0" u="none" strike="noStrike" cap="none">
              <a:solidFill>
                <a:srgbClr val="000000"/>
              </a:solidFill>
              <a:latin typeface="Arial"/>
              <a:ea typeface="Arial"/>
              <a:cs typeface="Arial"/>
              <a:sym typeface="Arial"/>
            </a:endParaRPr>
          </a:p>
        </p:txBody>
      </p:sp>
      <p:pic>
        <p:nvPicPr>
          <p:cNvPr id="496" name="Google Shape;496;p2"/>
          <p:cNvPicPr preferRelativeResize="0"/>
          <p:nvPr/>
        </p:nvPicPr>
        <p:blipFill rotWithShape="1">
          <a:blip r:embed="rId5">
            <a:alphaModFix/>
          </a:blip>
          <a:srcRect/>
          <a:stretch/>
        </p:blipFill>
        <p:spPr>
          <a:xfrm>
            <a:off x="1525772" y="1007876"/>
            <a:ext cx="6453963" cy="31574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3"/>
          <p:cNvSpPr txBox="1"/>
          <p:nvPr/>
        </p:nvSpPr>
        <p:spPr>
          <a:xfrm>
            <a:off x="548640" y="228600"/>
            <a:ext cx="8046720" cy="6400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Arial"/>
                <a:ea typeface="Arial"/>
                <a:cs typeface="Arial"/>
                <a:sym typeface="Arial"/>
              </a:rPr>
              <a:t>Paladin – Stock Sentiment: Huge drag down &amp; Low Profit Ratio</a:t>
            </a:r>
            <a:endParaRPr sz="2400" b="1" i="0" u="none" strike="noStrike" cap="none">
              <a:solidFill>
                <a:schemeClr val="dk1"/>
              </a:solidFill>
              <a:latin typeface="Arial"/>
              <a:ea typeface="Arial"/>
              <a:cs typeface="Arial"/>
              <a:sym typeface="Arial"/>
            </a:endParaRPr>
          </a:p>
        </p:txBody>
      </p:sp>
      <p:pic>
        <p:nvPicPr>
          <p:cNvPr id="502" name="Google Shape;502;p3"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503" name="Google Shape;503;p3"/>
          <p:cNvSpPr txBox="1"/>
          <p:nvPr/>
        </p:nvSpPr>
        <p:spPr>
          <a:xfrm>
            <a:off x="850605" y="6217920"/>
            <a:ext cx="784682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Source: FUTU Securities, Code </a:t>
            </a:r>
            <a:r>
              <a:rPr lang="en-US"/>
              <a:t>PDN</a:t>
            </a:r>
            <a:r>
              <a:rPr lang="en-US" sz="1400" b="0" i="0" u="none" strike="noStrike" cap="none">
                <a:solidFill>
                  <a:srgbClr val="000000"/>
                </a:solidFill>
                <a:latin typeface="Arial"/>
                <a:ea typeface="Arial"/>
                <a:cs typeface="Arial"/>
                <a:sym typeface="Arial"/>
              </a:rPr>
              <a:t>, data fetched Sep 28, 2026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4" name="Google Shape;504;p3"/>
          <p:cNvPicPr preferRelativeResize="0"/>
          <p:nvPr/>
        </p:nvPicPr>
        <p:blipFill rotWithShape="1">
          <a:blip r:embed="rId4">
            <a:alphaModFix/>
          </a:blip>
          <a:srcRect t="22637" b="22325"/>
          <a:stretch/>
        </p:blipFill>
        <p:spPr>
          <a:xfrm>
            <a:off x="5697473" y="1471544"/>
            <a:ext cx="3150394" cy="3774560"/>
          </a:xfrm>
          <a:prstGeom prst="rect">
            <a:avLst/>
          </a:prstGeom>
          <a:noFill/>
          <a:ln>
            <a:noFill/>
          </a:ln>
        </p:spPr>
      </p:pic>
      <p:pic>
        <p:nvPicPr>
          <p:cNvPr id="505" name="Google Shape;505;p3"/>
          <p:cNvPicPr preferRelativeResize="0"/>
          <p:nvPr/>
        </p:nvPicPr>
        <p:blipFill rotWithShape="1">
          <a:blip r:embed="rId5">
            <a:alphaModFix/>
          </a:blip>
          <a:srcRect/>
          <a:stretch/>
        </p:blipFill>
        <p:spPr>
          <a:xfrm>
            <a:off x="130617" y="1068570"/>
            <a:ext cx="5566856" cy="3205717"/>
          </a:xfrm>
          <a:prstGeom prst="rect">
            <a:avLst/>
          </a:prstGeom>
          <a:noFill/>
          <a:ln>
            <a:noFill/>
          </a:ln>
        </p:spPr>
      </p:pic>
      <p:cxnSp>
        <p:nvCxnSpPr>
          <p:cNvPr id="506" name="Google Shape;506;p3"/>
          <p:cNvCxnSpPr/>
          <p:nvPr/>
        </p:nvCxnSpPr>
        <p:spPr>
          <a:xfrm>
            <a:off x="2914045" y="2190307"/>
            <a:ext cx="2136420" cy="1063256"/>
          </a:xfrm>
          <a:prstGeom prst="straightConnector1">
            <a:avLst/>
          </a:prstGeom>
          <a:noFill/>
          <a:ln w="9525" cap="flat" cmpd="sng">
            <a:solidFill>
              <a:srgbClr val="FF0000"/>
            </a:solidFill>
            <a:prstDash val="solid"/>
            <a:round/>
            <a:headEnd type="none" w="sm" len="sm"/>
            <a:tailEnd type="triangle" w="med" len="med"/>
          </a:ln>
        </p:spPr>
      </p:cxnSp>
      <p:sp>
        <p:nvSpPr>
          <p:cNvPr id="507" name="Google Shape;507;p3"/>
          <p:cNvSpPr txBox="1"/>
          <p:nvPr/>
        </p:nvSpPr>
        <p:spPr>
          <a:xfrm>
            <a:off x="2914045" y="4320288"/>
            <a:ext cx="395531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Arial"/>
                <a:ea typeface="Arial"/>
                <a:cs typeface="Arial"/>
                <a:sym typeface="Arial"/>
              </a:rPr>
              <a:t>Drag down from peak -34%</a:t>
            </a:r>
            <a:endParaRPr sz="1400" b="0" i="0" u="none" strike="noStrike" cap="none">
              <a:solidFill>
                <a:srgbClr val="000000"/>
              </a:solidFill>
              <a:latin typeface="Arial"/>
              <a:ea typeface="Arial"/>
              <a:cs typeface="Arial"/>
              <a:sym typeface="Arial"/>
            </a:endParaRPr>
          </a:p>
        </p:txBody>
      </p:sp>
      <p:sp>
        <p:nvSpPr>
          <p:cNvPr id="508" name="Google Shape;508;p3"/>
          <p:cNvSpPr/>
          <p:nvPr/>
        </p:nvSpPr>
        <p:spPr>
          <a:xfrm>
            <a:off x="5697473" y="3657601"/>
            <a:ext cx="1341280" cy="254000"/>
          </a:xfrm>
          <a:prstGeom prst="roundRect">
            <a:avLst>
              <a:gd name="adj" fmla="val 16667"/>
            </a:avLst>
          </a:prstGeom>
          <a:no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4"/>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Long: what we buy</a:t>
            </a:r>
            <a:endParaRPr sz="2400" b="0" i="0" u="none" strike="noStrike" cap="none">
              <a:solidFill>
                <a:schemeClr val="dk1"/>
              </a:solidFill>
              <a:latin typeface="Calibri"/>
              <a:ea typeface="Calibri"/>
              <a:cs typeface="Calibri"/>
              <a:sym typeface="Calibri"/>
            </a:endParaRPr>
          </a:p>
        </p:txBody>
      </p:sp>
      <p:sp>
        <p:nvSpPr>
          <p:cNvPr id="514" name="Google Shape;514;p44"/>
          <p:cNvSpPr/>
          <p:nvPr/>
        </p:nvSpPr>
        <p:spPr>
          <a:xfrm>
            <a:off x="548640" y="1254642"/>
            <a:ext cx="8051800" cy="1130196"/>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800" b="1" i="0" u="none" strike="noStrike" cap="none">
                <a:solidFill>
                  <a:srgbClr val="6E6020"/>
                </a:solidFill>
                <a:latin typeface="Arial"/>
                <a:ea typeface="Arial"/>
                <a:cs typeface="Arial"/>
                <a:sym typeface="Arial"/>
              </a:rPr>
              <a:t>Ramp-up delivered:</a:t>
            </a:r>
            <a:r>
              <a:rPr lang="en-US" sz="1800" b="0" i="0" u="none" strike="noStrike" cap="none">
                <a:solidFill>
                  <a:srgbClr val="222222"/>
                </a:solidFill>
                <a:latin typeface="Arial"/>
                <a:ea typeface="Arial"/>
                <a:cs typeface="Arial"/>
                <a:sym typeface="Arial"/>
              </a:rPr>
              <a:t> FY26 output of 4.82 Mlb landed at the top of guidance, and FY27 is guided up to 5.1–5.6 Mlb.</a:t>
            </a:r>
            <a:endParaRPr sz="1400" b="0" i="0" u="none" strike="noStrike" cap="none">
              <a:solidFill>
                <a:srgbClr val="000000"/>
              </a:solidFill>
              <a:latin typeface="Arial"/>
              <a:ea typeface="Arial"/>
              <a:cs typeface="Arial"/>
              <a:sym typeface="Arial"/>
            </a:endParaRPr>
          </a:p>
        </p:txBody>
      </p:sp>
      <p:sp>
        <p:nvSpPr>
          <p:cNvPr id="515" name="Google Shape;515;p44"/>
          <p:cNvSpPr/>
          <p:nvPr/>
        </p:nvSpPr>
        <p:spPr>
          <a:xfrm>
            <a:off x="548640" y="2659158"/>
            <a:ext cx="8051800" cy="1232358"/>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800" b="1" i="0" u="none" strike="noStrike" cap="none">
                <a:solidFill>
                  <a:srgbClr val="6E6020"/>
                </a:solidFill>
                <a:latin typeface="Arial"/>
                <a:ea typeface="Arial"/>
                <a:cs typeface="Arial"/>
                <a:sym typeface="Arial"/>
              </a:rPr>
              <a:t>Price upside built in: </a:t>
            </a:r>
            <a:r>
              <a:rPr lang="en-US" sz="1800" b="0" i="0" u="none" strike="noStrike" cap="none">
                <a:solidFill>
                  <a:srgbClr val="222222"/>
                </a:solidFill>
                <a:latin typeface="Arial"/>
                <a:ea typeface="Arial"/>
                <a:cs typeface="Arial"/>
                <a:sym typeface="Arial"/>
              </a:rPr>
              <a:t>Paladin sold at an average of US$70/lb while the long-term contract price sits around US$9</a:t>
            </a:r>
            <a:r>
              <a:rPr lang="en-US" sz="1800">
                <a:solidFill>
                  <a:srgbClr val="222222"/>
                </a:solidFill>
              </a:rPr>
              <a:t>6.5</a:t>
            </a:r>
            <a:r>
              <a:rPr lang="en-US" sz="1800" b="0" i="0" u="none" strike="noStrike" cap="none">
                <a:solidFill>
                  <a:srgbClr val="222222"/>
                </a:solidFill>
                <a:latin typeface="Arial"/>
                <a:ea typeface="Arial"/>
                <a:cs typeface="Arial"/>
                <a:sym typeface="Arial"/>
              </a:rPr>
              <a:t>/lb. Over 85% of </a:t>
            </a:r>
            <a:r>
              <a:rPr lang="en-US" sz="1800">
                <a:solidFill>
                  <a:srgbClr val="222222"/>
                </a:solidFill>
              </a:rPr>
              <a:t>LHM reserve.</a:t>
            </a:r>
            <a:endParaRPr sz="1400" b="0" i="0" u="none" strike="noStrike" cap="none">
              <a:solidFill>
                <a:srgbClr val="000000"/>
              </a:solidFill>
              <a:latin typeface="Arial"/>
              <a:ea typeface="Arial"/>
              <a:cs typeface="Arial"/>
              <a:sym typeface="Arial"/>
            </a:endParaRPr>
          </a:p>
        </p:txBody>
      </p:sp>
      <p:sp>
        <p:nvSpPr>
          <p:cNvPr id="516" name="Google Shape;516;p44"/>
          <p:cNvSpPr/>
          <p:nvPr/>
        </p:nvSpPr>
        <p:spPr>
          <a:xfrm>
            <a:off x="546100" y="4236011"/>
            <a:ext cx="8051800" cy="1130195"/>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800" b="1" i="0" u="none" strike="noStrike" cap="none">
                <a:solidFill>
                  <a:srgbClr val="6E6020"/>
                </a:solidFill>
                <a:latin typeface="Arial"/>
                <a:ea typeface="Arial"/>
                <a:cs typeface="Arial"/>
                <a:sym typeface="Arial"/>
              </a:rPr>
              <a:t>Growth potential: </a:t>
            </a:r>
            <a:r>
              <a:rPr lang="en-US" sz="1800" b="0" i="0" u="none" strike="noStrike" cap="none">
                <a:solidFill>
                  <a:srgbClr val="222222"/>
                </a:solidFill>
                <a:latin typeface="Arial"/>
                <a:ea typeface="Arial"/>
                <a:cs typeface="Arial"/>
                <a:sym typeface="Arial"/>
              </a:rPr>
              <a:t>Canada's PLS project: about 9 Mlb a year at a US$15.20/lb all-in cost, with commissioning targeted for 2031.</a:t>
            </a:r>
            <a:endParaRPr sz="1400" b="0" i="0" u="none" strike="noStrike" cap="none">
              <a:solidFill>
                <a:srgbClr val="000000"/>
              </a:solidFill>
              <a:latin typeface="Arial"/>
              <a:ea typeface="Arial"/>
              <a:cs typeface="Arial"/>
              <a:sym typeface="Arial"/>
            </a:endParaRPr>
          </a:p>
        </p:txBody>
      </p:sp>
      <p:pic>
        <p:nvPicPr>
          <p:cNvPr id="517" name="Google Shape;517;p44"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518" name="Google Shape;518;p44"/>
          <p:cNvSpPr txBox="1"/>
          <p:nvPr/>
        </p:nvSpPr>
        <p:spPr>
          <a:xfrm>
            <a:off x="548650" y="6217925"/>
            <a:ext cx="8195700" cy="57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Source:</a:t>
            </a:r>
            <a:r>
              <a:rPr lang="en-US">
                <a:solidFill>
                  <a:schemeClr val="dk1"/>
                </a:solidFill>
              </a:rPr>
              <a:t>https://www.paladinenergy.com/wp-content/uploads/2026/09/Paladin-Energy-Investor-Day-Presentation.pdf</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46"/>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Paladin’s multiple vs. peers</a:t>
            </a:r>
            <a:endParaRPr sz="2400" b="0" i="0" u="none" strike="noStrike" cap="none">
              <a:solidFill>
                <a:schemeClr val="dk1"/>
              </a:solidFill>
              <a:latin typeface="Calibri"/>
              <a:ea typeface="Calibri"/>
              <a:cs typeface="Calibri"/>
              <a:sym typeface="Calibri"/>
            </a:endParaRPr>
          </a:p>
        </p:txBody>
      </p:sp>
      <p:pic>
        <p:nvPicPr>
          <p:cNvPr id="524" name="Google Shape;524;p46"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525" name="Google Shape;525;p46"/>
          <p:cNvSpPr/>
          <p:nvPr/>
        </p:nvSpPr>
        <p:spPr>
          <a:xfrm>
            <a:off x="493776" y="1655064"/>
            <a:ext cx="2615184" cy="982980"/>
          </a:xfrm>
          <a:prstGeom prst="rect">
            <a:avLst/>
          </a:prstGeom>
          <a:solidFill>
            <a:srgbClr val="F4F1E5"/>
          </a:solidFill>
          <a:ln w="12700" cap="flat" cmpd="sng">
            <a:solidFill>
              <a:srgbClr val="F4F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46"/>
          <p:cNvSpPr/>
          <p:nvPr/>
        </p:nvSpPr>
        <p:spPr>
          <a:xfrm>
            <a:off x="649224" y="1783080"/>
            <a:ext cx="2304288" cy="17373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a:solidFill>
                  <a:srgbClr val="75621A"/>
                </a:solidFill>
                <a:latin typeface="Arial"/>
                <a:ea typeface="Arial"/>
                <a:cs typeface="Arial"/>
                <a:sym typeface="Arial"/>
              </a:rPr>
              <a:t>REFERENCE SHARE PRICE</a:t>
            </a:r>
            <a:endParaRPr sz="1000" b="0" i="0" u="none" strike="noStrike" cap="none">
              <a:solidFill>
                <a:srgbClr val="000000"/>
              </a:solidFill>
              <a:latin typeface="Arial"/>
              <a:ea typeface="Arial"/>
              <a:cs typeface="Arial"/>
              <a:sym typeface="Arial"/>
            </a:endParaRPr>
          </a:p>
        </p:txBody>
      </p:sp>
      <p:sp>
        <p:nvSpPr>
          <p:cNvPr id="527" name="Google Shape;527;p46"/>
          <p:cNvSpPr/>
          <p:nvPr/>
        </p:nvSpPr>
        <p:spPr>
          <a:xfrm>
            <a:off x="649224" y="2016252"/>
            <a:ext cx="2304288" cy="33832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700"/>
              <a:buFont typeface="Arial"/>
              <a:buNone/>
            </a:pPr>
            <a:r>
              <a:rPr lang="en-US" sz="2700" b="1" i="0" u="none" strike="noStrike" cap="none">
                <a:solidFill>
                  <a:srgbClr val="172024"/>
                </a:solidFill>
                <a:latin typeface="Arial"/>
                <a:ea typeface="Arial"/>
                <a:cs typeface="Arial"/>
                <a:sym typeface="Arial"/>
              </a:rPr>
              <a:t>A$9.55</a:t>
            </a:r>
            <a:endParaRPr sz="2700" b="0" i="0" u="none" strike="noStrike" cap="none">
              <a:solidFill>
                <a:srgbClr val="000000"/>
              </a:solidFill>
              <a:latin typeface="Arial"/>
              <a:ea typeface="Arial"/>
              <a:cs typeface="Arial"/>
              <a:sym typeface="Arial"/>
            </a:endParaRPr>
          </a:p>
        </p:txBody>
      </p:sp>
      <p:sp>
        <p:nvSpPr>
          <p:cNvPr id="528" name="Google Shape;528;p46"/>
          <p:cNvSpPr/>
          <p:nvPr/>
        </p:nvSpPr>
        <p:spPr>
          <a:xfrm>
            <a:off x="649224" y="2423160"/>
            <a:ext cx="2304288" cy="14630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20"/>
              <a:buFont typeface="Arial"/>
              <a:buNone/>
            </a:pPr>
            <a:r>
              <a:rPr lang="en-US" sz="1020" b="0" i="0" u="none" strike="noStrike" cap="none">
                <a:solidFill>
                  <a:srgbClr val="676D70"/>
                </a:solidFill>
                <a:latin typeface="Arial"/>
                <a:ea typeface="Arial"/>
                <a:cs typeface="Arial"/>
                <a:sym typeface="Arial"/>
              </a:rPr>
              <a:t>Enterprise value ≈ US$2.78bn</a:t>
            </a:r>
            <a:endParaRPr sz="1020" b="0" i="0" u="none" strike="noStrike" cap="none">
              <a:solidFill>
                <a:srgbClr val="000000"/>
              </a:solidFill>
              <a:latin typeface="Arial"/>
              <a:ea typeface="Arial"/>
              <a:cs typeface="Arial"/>
              <a:sym typeface="Arial"/>
            </a:endParaRPr>
          </a:p>
        </p:txBody>
      </p:sp>
      <p:sp>
        <p:nvSpPr>
          <p:cNvPr id="529" name="Google Shape;529;p46"/>
          <p:cNvSpPr/>
          <p:nvPr/>
        </p:nvSpPr>
        <p:spPr>
          <a:xfrm>
            <a:off x="3273552" y="1655064"/>
            <a:ext cx="2615184" cy="982980"/>
          </a:xfrm>
          <a:prstGeom prst="rect">
            <a:avLst/>
          </a:prstGeom>
          <a:solidFill>
            <a:srgbClr val="F4F1E5"/>
          </a:solidFill>
          <a:ln w="12700" cap="flat" cmpd="sng">
            <a:solidFill>
              <a:srgbClr val="F4F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46"/>
          <p:cNvSpPr/>
          <p:nvPr/>
        </p:nvSpPr>
        <p:spPr>
          <a:xfrm>
            <a:off x="3429000" y="1783080"/>
            <a:ext cx="2304288" cy="17373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a:solidFill>
                  <a:srgbClr val="75621A"/>
                </a:solidFill>
                <a:latin typeface="Arial"/>
                <a:ea typeface="Arial"/>
                <a:cs typeface="Arial"/>
                <a:sym typeface="Arial"/>
              </a:rPr>
              <a:t>FY2028 CONSENSUS EBITDA</a:t>
            </a:r>
            <a:endParaRPr sz="1000" b="0" i="0" u="none" strike="noStrike" cap="none">
              <a:solidFill>
                <a:srgbClr val="000000"/>
              </a:solidFill>
              <a:latin typeface="Arial"/>
              <a:ea typeface="Arial"/>
              <a:cs typeface="Arial"/>
              <a:sym typeface="Arial"/>
            </a:endParaRPr>
          </a:p>
        </p:txBody>
      </p:sp>
      <p:sp>
        <p:nvSpPr>
          <p:cNvPr id="531" name="Google Shape;531;p46"/>
          <p:cNvSpPr/>
          <p:nvPr/>
        </p:nvSpPr>
        <p:spPr>
          <a:xfrm>
            <a:off x="3429000" y="2016252"/>
            <a:ext cx="2304288" cy="33832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700"/>
              <a:buFont typeface="Arial"/>
              <a:buNone/>
            </a:pPr>
            <a:r>
              <a:rPr lang="en-US" sz="2700" b="1" i="0" u="none" strike="noStrike" cap="none">
                <a:solidFill>
                  <a:srgbClr val="172024"/>
                </a:solidFill>
                <a:latin typeface="Arial"/>
                <a:ea typeface="Arial"/>
                <a:cs typeface="Arial"/>
                <a:sym typeface="Arial"/>
              </a:rPr>
              <a:t>10.9×</a:t>
            </a:r>
            <a:endParaRPr sz="2700" b="0" i="0" u="none" strike="noStrike" cap="none">
              <a:solidFill>
                <a:srgbClr val="000000"/>
              </a:solidFill>
              <a:latin typeface="Arial"/>
              <a:ea typeface="Arial"/>
              <a:cs typeface="Arial"/>
              <a:sym typeface="Arial"/>
            </a:endParaRPr>
          </a:p>
        </p:txBody>
      </p:sp>
      <p:sp>
        <p:nvSpPr>
          <p:cNvPr id="532" name="Google Shape;532;p46"/>
          <p:cNvSpPr/>
          <p:nvPr/>
        </p:nvSpPr>
        <p:spPr>
          <a:xfrm>
            <a:off x="3429000" y="2423160"/>
            <a:ext cx="2304288" cy="14630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20"/>
              <a:buFont typeface="Arial"/>
              <a:buNone/>
            </a:pPr>
            <a:r>
              <a:rPr lang="en-US" sz="1020" b="0" i="0" u="none" strike="noStrike" cap="none">
                <a:solidFill>
                  <a:srgbClr val="676D70"/>
                </a:solidFill>
                <a:latin typeface="Arial"/>
                <a:ea typeface="Arial"/>
                <a:cs typeface="Arial"/>
                <a:sym typeface="Arial"/>
              </a:rPr>
              <a:t>FY2027 multiple: 14.5×</a:t>
            </a:r>
            <a:endParaRPr sz="1020" b="0" i="0" u="none" strike="noStrike" cap="none">
              <a:solidFill>
                <a:srgbClr val="000000"/>
              </a:solidFill>
              <a:latin typeface="Arial"/>
              <a:ea typeface="Arial"/>
              <a:cs typeface="Arial"/>
              <a:sym typeface="Arial"/>
            </a:endParaRPr>
          </a:p>
        </p:txBody>
      </p:sp>
      <p:sp>
        <p:nvSpPr>
          <p:cNvPr id="533" name="Google Shape;533;p46"/>
          <p:cNvSpPr/>
          <p:nvPr/>
        </p:nvSpPr>
        <p:spPr>
          <a:xfrm>
            <a:off x="6053328" y="1655064"/>
            <a:ext cx="2615184" cy="982980"/>
          </a:xfrm>
          <a:prstGeom prst="rect">
            <a:avLst/>
          </a:prstGeom>
          <a:solidFill>
            <a:srgbClr val="F4F1E5"/>
          </a:solidFill>
          <a:ln w="12700" cap="flat" cmpd="sng">
            <a:solidFill>
              <a:srgbClr val="F4F1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46"/>
          <p:cNvSpPr/>
          <p:nvPr/>
        </p:nvSpPr>
        <p:spPr>
          <a:xfrm>
            <a:off x="6208776" y="1783080"/>
            <a:ext cx="2304288" cy="17373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a:solidFill>
                  <a:srgbClr val="75621A"/>
                </a:solidFill>
                <a:latin typeface="Arial"/>
                <a:ea typeface="Arial"/>
                <a:cs typeface="Arial"/>
                <a:sym typeface="Arial"/>
              </a:rPr>
              <a:t>12-MONTH TARGET</a:t>
            </a:r>
            <a:endParaRPr sz="1000" b="0" i="0" u="none" strike="noStrike" cap="none">
              <a:solidFill>
                <a:srgbClr val="000000"/>
              </a:solidFill>
              <a:latin typeface="Arial"/>
              <a:ea typeface="Arial"/>
              <a:cs typeface="Arial"/>
              <a:sym typeface="Arial"/>
            </a:endParaRPr>
          </a:p>
        </p:txBody>
      </p:sp>
      <p:sp>
        <p:nvSpPr>
          <p:cNvPr id="535" name="Google Shape;535;p46"/>
          <p:cNvSpPr/>
          <p:nvPr/>
        </p:nvSpPr>
        <p:spPr>
          <a:xfrm>
            <a:off x="6208776" y="2016252"/>
            <a:ext cx="2304288" cy="33832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700"/>
              <a:buFont typeface="Arial"/>
              <a:buNone/>
            </a:pPr>
            <a:r>
              <a:rPr lang="en-US" sz="2700" b="1" i="0" u="none" strike="noStrike" cap="none">
                <a:solidFill>
                  <a:srgbClr val="172024"/>
                </a:solidFill>
                <a:latin typeface="Arial"/>
                <a:ea typeface="Arial"/>
                <a:cs typeface="Arial"/>
                <a:sym typeface="Arial"/>
              </a:rPr>
              <a:t>A$10.31</a:t>
            </a:r>
            <a:endParaRPr sz="2700" b="0" i="0" u="none" strike="noStrike" cap="none">
              <a:solidFill>
                <a:srgbClr val="000000"/>
              </a:solidFill>
              <a:latin typeface="Arial"/>
              <a:ea typeface="Arial"/>
              <a:cs typeface="Arial"/>
              <a:sym typeface="Arial"/>
            </a:endParaRPr>
          </a:p>
        </p:txBody>
      </p:sp>
      <p:sp>
        <p:nvSpPr>
          <p:cNvPr id="536" name="Google Shape;536;p46"/>
          <p:cNvSpPr/>
          <p:nvPr/>
        </p:nvSpPr>
        <p:spPr>
          <a:xfrm>
            <a:off x="6208776" y="2423160"/>
            <a:ext cx="2304288" cy="14630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20"/>
              <a:buFont typeface="Arial"/>
              <a:buNone/>
            </a:pPr>
            <a:r>
              <a:rPr lang="en-US" sz="1020" b="0" i="0" u="none" strike="noStrike" cap="none">
                <a:solidFill>
                  <a:srgbClr val="676D70"/>
                </a:solidFill>
                <a:latin typeface="Arial"/>
                <a:ea typeface="Arial"/>
                <a:cs typeface="Arial"/>
                <a:sym typeface="Arial"/>
              </a:rPr>
              <a:t>+8%</a:t>
            </a:r>
            <a:endParaRPr sz="1020" b="0" i="0" u="none" strike="noStrike" cap="none">
              <a:solidFill>
                <a:srgbClr val="000000"/>
              </a:solidFill>
              <a:latin typeface="Arial"/>
              <a:ea typeface="Arial"/>
              <a:cs typeface="Arial"/>
              <a:sym typeface="Arial"/>
            </a:endParaRPr>
          </a:p>
        </p:txBody>
      </p:sp>
      <p:sp>
        <p:nvSpPr>
          <p:cNvPr id="537" name="Google Shape;537;p46"/>
          <p:cNvSpPr/>
          <p:nvPr/>
        </p:nvSpPr>
        <p:spPr>
          <a:xfrm>
            <a:off x="493776" y="2843784"/>
            <a:ext cx="5294376" cy="2414016"/>
          </a:xfrm>
          <a:prstGeom prst="rect">
            <a:avLst/>
          </a:prstGeom>
          <a:solidFill>
            <a:srgbClr val="FAF8F1"/>
          </a:solidFill>
          <a:ln w="9525" cap="flat" cmpd="sng">
            <a:solidFill>
              <a:srgbClr val="D7D8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46"/>
          <p:cNvSpPr/>
          <p:nvPr/>
        </p:nvSpPr>
        <p:spPr>
          <a:xfrm>
            <a:off x="685800" y="3017520"/>
            <a:ext cx="4910328"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a:solidFill>
                  <a:srgbClr val="75621A"/>
                </a:solidFill>
                <a:latin typeface="Arial"/>
                <a:ea typeface="Arial"/>
                <a:cs typeface="Arial"/>
                <a:sym typeface="Arial"/>
              </a:rPr>
              <a:t>FORWARD MULTIPLE SENSITIVITY / FY2028</a:t>
            </a:r>
            <a:endParaRPr sz="1000" b="0" i="0" u="none" strike="noStrike" cap="none">
              <a:solidFill>
                <a:srgbClr val="000000"/>
              </a:solidFill>
              <a:latin typeface="Arial"/>
              <a:ea typeface="Arial"/>
              <a:cs typeface="Arial"/>
              <a:sym typeface="Arial"/>
            </a:endParaRPr>
          </a:p>
        </p:txBody>
      </p:sp>
      <p:cxnSp>
        <p:nvCxnSpPr>
          <p:cNvPr id="539" name="Google Shape;539;p46"/>
          <p:cNvCxnSpPr/>
          <p:nvPr/>
        </p:nvCxnSpPr>
        <p:spPr>
          <a:xfrm>
            <a:off x="822960" y="3973068"/>
            <a:ext cx="4645152" cy="0"/>
          </a:xfrm>
          <a:prstGeom prst="straightConnector1">
            <a:avLst/>
          </a:prstGeom>
          <a:noFill/>
          <a:ln w="82550" cap="flat" cmpd="sng">
            <a:solidFill>
              <a:srgbClr val="D7D8D4"/>
            </a:solidFill>
            <a:prstDash val="solid"/>
            <a:round/>
            <a:headEnd type="none" w="sm" len="sm"/>
            <a:tailEnd type="none" w="sm" len="sm"/>
          </a:ln>
        </p:spPr>
      </p:cxnSp>
      <p:cxnSp>
        <p:nvCxnSpPr>
          <p:cNvPr id="540" name="Google Shape;540;p46"/>
          <p:cNvCxnSpPr/>
          <p:nvPr/>
        </p:nvCxnSpPr>
        <p:spPr>
          <a:xfrm>
            <a:off x="822960" y="3973068"/>
            <a:ext cx="4645152" cy="0"/>
          </a:xfrm>
          <a:prstGeom prst="straightConnector1">
            <a:avLst/>
          </a:prstGeom>
          <a:noFill/>
          <a:ln w="25400" cap="flat" cmpd="sng">
            <a:solidFill>
              <a:srgbClr val="75621A"/>
            </a:solidFill>
            <a:prstDash val="solid"/>
            <a:round/>
            <a:headEnd type="none" w="sm" len="sm"/>
            <a:tailEnd type="none" w="sm" len="sm"/>
          </a:ln>
        </p:spPr>
      </p:cxnSp>
      <p:cxnSp>
        <p:nvCxnSpPr>
          <p:cNvPr id="541" name="Google Shape;541;p46"/>
          <p:cNvCxnSpPr/>
          <p:nvPr/>
        </p:nvCxnSpPr>
        <p:spPr>
          <a:xfrm>
            <a:off x="822960" y="3890772"/>
            <a:ext cx="0" cy="164592"/>
          </a:xfrm>
          <a:prstGeom prst="straightConnector1">
            <a:avLst/>
          </a:prstGeom>
          <a:noFill/>
          <a:ln w="15225" cap="flat" cmpd="sng">
            <a:solidFill>
              <a:srgbClr val="75621A"/>
            </a:solidFill>
            <a:prstDash val="solid"/>
            <a:round/>
            <a:headEnd type="none" w="sm" len="sm"/>
            <a:tailEnd type="none" w="sm" len="sm"/>
          </a:ln>
        </p:spPr>
      </p:cxnSp>
      <p:cxnSp>
        <p:nvCxnSpPr>
          <p:cNvPr id="542" name="Google Shape;542;p46"/>
          <p:cNvCxnSpPr/>
          <p:nvPr/>
        </p:nvCxnSpPr>
        <p:spPr>
          <a:xfrm>
            <a:off x="5468112" y="3890772"/>
            <a:ext cx="0" cy="164592"/>
          </a:xfrm>
          <a:prstGeom prst="straightConnector1">
            <a:avLst/>
          </a:prstGeom>
          <a:noFill/>
          <a:ln w="15225" cap="flat" cmpd="sng">
            <a:solidFill>
              <a:srgbClr val="75621A"/>
            </a:solidFill>
            <a:prstDash val="solid"/>
            <a:round/>
            <a:headEnd type="none" w="sm" len="sm"/>
            <a:tailEnd type="none" w="sm" len="sm"/>
          </a:ln>
        </p:spPr>
      </p:cxnSp>
      <p:sp>
        <p:nvSpPr>
          <p:cNvPr id="543" name="Google Shape;543;p46"/>
          <p:cNvSpPr/>
          <p:nvPr/>
        </p:nvSpPr>
        <p:spPr>
          <a:xfrm>
            <a:off x="1818742" y="3923690"/>
            <a:ext cx="98755" cy="98755"/>
          </a:xfrm>
          <a:prstGeom prst="ellipse">
            <a:avLst/>
          </a:prstGeom>
          <a:solidFill>
            <a:srgbClr val="172024"/>
          </a:solidFill>
          <a:ln w="12700" cap="flat" cmpd="sng">
            <a:solidFill>
              <a:srgbClr val="17202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44" name="Google Shape;544;p46"/>
          <p:cNvCxnSpPr/>
          <p:nvPr/>
        </p:nvCxnSpPr>
        <p:spPr>
          <a:xfrm>
            <a:off x="1868119" y="3822192"/>
            <a:ext cx="0" cy="59436"/>
          </a:xfrm>
          <a:prstGeom prst="straightConnector1">
            <a:avLst/>
          </a:prstGeom>
          <a:noFill/>
          <a:ln w="9525" cap="flat" cmpd="sng">
            <a:solidFill>
              <a:srgbClr val="676D70"/>
            </a:solidFill>
            <a:prstDash val="solid"/>
            <a:round/>
            <a:headEnd type="none" w="sm" len="sm"/>
            <a:tailEnd type="none" w="sm" len="sm"/>
          </a:ln>
        </p:spPr>
      </p:cxnSp>
      <p:sp>
        <p:nvSpPr>
          <p:cNvPr id="545" name="Google Shape;545;p46"/>
          <p:cNvSpPr/>
          <p:nvPr/>
        </p:nvSpPr>
        <p:spPr>
          <a:xfrm>
            <a:off x="1319479" y="3374136"/>
            <a:ext cx="1097280" cy="21945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350"/>
              <a:buFont typeface="Arial"/>
              <a:buNone/>
            </a:pPr>
            <a:r>
              <a:rPr lang="en-US" sz="1350" b="1" i="0" u="none" strike="noStrike" cap="none">
                <a:solidFill>
                  <a:srgbClr val="172024"/>
                </a:solidFill>
                <a:latin typeface="Arial"/>
                <a:ea typeface="Arial"/>
                <a:cs typeface="Arial"/>
                <a:sym typeface="Arial"/>
              </a:rPr>
              <a:t>10.9×</a:t>
            </a:r>
            <a:endParaRPr sz="1350" b="0" i="0" u="none" strike="noStrike" cap="none">
              <a:solidFill>
                <a:srgbClr val="000000"/>
              </a:solidFill>
              <a:latin typeface="Arial"/>
              <a:ea typeface="Arial"/>
              <a:cs typeface="Arial"/>
              <a:sym typeface="Arial"/>
            </a:endParaRPr>
          </a:p>
        </p:txBody>
      </p:sp>
      <p:sp>
        <p:nvSpPr>
          <p:cNvPr id="546" name="Google Shape;546;p46"/>
          <p:cNvSpPr/>
          <p:nvPr/>
        </p:nvSpPr>
        <p:spPr>
          <a:xfrm>
            <a:off x="1319479" y="3621024"/>
            <a:ext cx="1097280" cy="17373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0" i="0" u="none" strike="noStrike" cap="none">
                <a:solidFill>
                  <a:srgbClr val="676D70"/>
                </a:solidFill>
                <a:latin typeface="Arial"/>
                <a:ea typeface="Arial"/>
                <a:cs typeface="Arial"/>
                <a:sym typeface="Arial"/>
              </a:rPr>
              <a:t>Reference</a:t>
            </a:r>
            <a:endParaRPr sz="1050" b="0" i="0" u="none" strike="noStrike" cap="none">
              <a:solidFill>
                <a:srgbClr val="000000"/>
              </a:solidFill>
              <a:latin typeface="Arial"/>
              <a:ea typeface="Arial"/>
              <a:cs typeface="Arial"/>
              <a:sym typeface="Arial"/>
            </a:endParaRPr>
          </a:p>
        </p:txBody>
      </p:sp>
      <p:sp>
        <p:nvSpPr>
          <p:cNvPr id="547" name="Google Shape;547;p46"/>
          <p:cNvSpPr/>
          <p:nvPr/>
        </p:nvSpPr>
        <p:spPr>
          <a:xfrm>
            <a:off x="3086100" y="3913632"/>
            <a:ext cx="118872" cy="118872"/>
          </a:xfrm>
          <a:prstGeom prst="ellipse">
            <a:avLst/>
          </a:prstGeom>
          <a:solidFill>
            <a:srgbClr val="75621A"/>
          </a:solidFill>
          <a:ln w="12700" cap="flat" cmpd="sng">
            <a:solidFill>
              <a:srgbClr val="75621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48" name="Google Shape;548;p46"/>
          <p:cNvCxnSpPr/>
          <p:nvPr/>
        </p:nvCxnSpPr>
        <p:spPr>
          <a:xfrm>
            <a:off x="3145536" y="3602736"/>
            <a:ext cx="0" cy="278892"/>
          </a:xfrm>
          <a:prstGeom prst="straightConnector1">
            <a:avLst/>
          </a:prstGeom>
          <a:noFill/>
          <a:ln w="11425" cap="flat" cmpd="sng">
            <a:solidFill>
              <a:srgbClr val="75621A"/>
            </a:solidFill>
            <a:prstDash val="solid"/>
            <a:round/>
            <a:headEnd type="none" w="sm" len="sm"/>
            <a:tailEnd type="none" w="sm" len="sm"/>
          </a:ln>
        </p:spPr>
      </p:cxnSp>
      <p:sp>
        <p:nvSpPr>
          <p:cNvPr id="549" name="Google Shape;549;p46"/>
          <p:cNvSpPr/>
          <p:nvPr/>
        </p:nvSpPr>
        <p:spPr>
          <a:xfrm>
            <a:off x="2468880" y="3383280"/>
            <a:ext cx="1353312" cy="21031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75621A"/>
                </a:solidFill>
                <a:latin typeface="Arial"/>
                <a:ea typeface="Arial"/>
                <a:cs typeface="Arial"/>
                <a:sym typeface="Arial"/>
              </a:rPr>
              <a:t>12× target</a:t>
            </a:r>
            <a:endParaRPr sz="1400" b="0" i="0" u="none" strike="noStrike" cap="none">
              <a:solidFill>
                <a:srgbClr val="000000"/>
              </a:solidFill>
              <a:latin typeface="Arial"/>
              <a:ea typeface="Arial"/>
              <a:cs typeface="Arial"/>
              <a:sym typeface="Arial"/>
            </a:endParaRPr>
          </a:p>
        </p:txBody>
      </p:sp>
      <p:cxnSp>
        <p:nvCxnSpPr>
          <p:cNvPr id="550" name="Google Shape;550;p46"/>
          <p:cNvCxnSpPr/>
          <p:nvPr/>
        </p:nvCxnSpPr>
        <p:spPr>
          <a:xfrm>
            <a:off x="4771339" y="3648456"/>
            <a:ext cx="0" cy="649224"/>
          </a:xfrm>
          <a:prstGeom prst="straightConnector1">
            <a:avLst/>
          </a:prstGeom>
          <a:noFill/>
          <a:ln w="12700" cap="flat" cmpd="sng">
            <a:solidFill>
              <a:srgbClr val="8B1234"/>
            </a:solidFill>
            <a:prstDash val="dash"/>
            <a:round/>
            <a:headEnd type="none" w="sm" len="sm"/>
            <a:tailEnd type="none" w="sm" len="sm"/>
          </a:ln>
        </p:spPr>
      </p:cxnSp>
      <p:sp>
        <p:nvSpPr>
          <p:cNvPr id="551" name="Google Shape;551;p46"/>
          <p:cNvSpPr/>
          <p:nvPr/>
        </p:nvSpPr>
        <p:spPr>
          <a:xfrm>
            <a:off x="4731106" y="3932834"/>
            <a:ext cx="80467" cy="80467"/>
          </a:xfrm>
          <a:prstGeom prst="rect">
            <a:avLst/>
          </a:prstGeom>
          <a:solidFill>
            <a:srgbClr val="8B1234"/>
          </a:solidFill>
          <a:ln w="12700" cap="flat" cmpd="sng">
            <a:solidFill>
              <a:srgbClr val="8B123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2" name="Google Shape;552;p46"/>
          <p:cNvSpPr/>
          <p:nvPr/>
        </p:nvSpPr>
        <p:spPr>
          <a:xfrm>
            <a:off x="4076395" y="3383280"/>
            <a:ext cx="1389888" cy="21031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8B1234"/>
                </a:solidFill>
                <a:latin typeface="Arial"/>
                <a:ea typeface="Arial"/>
                <a:cs typeface="Arial"/>
                <a:sym typeface="Arial"/>
              </a:rPr>
              <a:t>13.4× gate</a:t>
            </a:r>
            <a:endParaRPr sz="1400" b="0" i="0" u="none" strike="noStrike" cap="none">
              <a:solidFill>
                <a:srgbClr val="000000"/>
              </a:solidFill>
              <a:latin typeface="Arial"/>
              <a:ea typeface="Arial"/>
              <a:cs typeface="Arial"/>
              <a:sym typeface="Arial"/>
            </a:endParaRPr>
          </a:p>
        </p:txBody>
      </p:sp>
      <p:sp>
        <p:nvSpPr>
          <p:cNvPr id="553" name="Google Shape;553;p46"/>
          <p:cNvSpPr/>
          <p:nvPr/>
        </p:nvSpPr>
        <p:spPr>
          <a:xfrm>
            <a:off x="740664" y="4151376"/>
            <a:ext cx="566928" cy="21031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172024"/>
                </a:solidFill>
                <a:latin typeface="Arial"/>
                <a:ea typeface="Arial"/>
                <a:cs typeface="Arial"/>
                <a:sym typeface="Arial"/>
              </a:rPr>
              <a:t>10×</a:t>
            </a:r>
            <a:endParaRPr sz="1400" b="0" i="0" u="none" strike="noStrike" cap="none">
              <a:solidFill>
                <a:srgbClr val="000000"/>
              </a:solidFill>
              <a:latin typeface="Arial"/>
              <a:ea typeface="Arial"/>
              <a:cs typeface="Arial"/>
              <a:sym typeface="Arial"/>
            </a:endParaRPr>
          </a:p>
        </p:txBody>
      </p:sp>
      <p:sp>
        <p:nvSpPr>
          <p:cNvPr id="554" name="Google Shape;554;p46"/>
          <p:cNvSpPr/>
          <p:nvPr/>
        </p:nvSpPr>
        <p:spPr>
          <a:xfrm>
            <a:off x="5001768" y="4151376"/>
            <a:ext cx="548640" cy="21031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400"/>
              <a:buFont typeface="Arial"/>
              <a:buNone/>
            </a:pPr>
            <a:r>
              <a:rPr lang="en-US" sz="1400" b="1" i="0" u="none" strike="noStrike" cap="none">
                <a:solidFill>
                  <a:srgbClr val="172024"/>
                </a:solidFill>
                <a:latin typeface="Arial"/>
                <a:ea typeface="Arial"/>
                <a:cs typeface="Arial"/>
                <a:sym typeface="Arial"/>
              </a:rPr>
              <a:t>14×</a:t>
            </a:r>
            <a:endParaRPr sz="1400" b="0" i="0" u="none" strike="noStrike" cap="none">
              <a:solidFill>
                <a:srgbClr val="000000"/>
              </a:solidFill>
              <a:latin typeface="Arial"/>
              <a:ea typeface="Arial"/>
              <a:cs typeface="Arial"/>
              <a:sym typeface="Arial"/>
            </a:endParaRPr>
          </a:p>
        </p:txBody>
      </p:sp>
      <p:sp>
        <p:nvSpPr>
          <p:cNvPr id="555" name="Google Shape;555;p46"/>
          <p:cNvSpPr/>
          <p:nvPr/>
        </p:nvSpPr>
        <p:spPr>
          <a:xfrm>
            <a:off x="740664" y="4425696"/>
            <a:ext cx="731520" cy="21031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676D70"/>
                </a:solidFill>
                <a:latin typeface="Arial"/>
                <a:ea typeface="Arial"/>
                <a:cs typeface="Arial"/>
                <a:sym typeface="Arial"/>
              </a:rPr>
              <a:t>A$8.70</a:t>
            </a:r>
            <a:endParaRPr sz="1200" b="0" i="0" u="none" strike="noStrike" cap="none">
              <a:solidFill>
                <a:srgbClr val="000000"/>
              </a:solidFill>
              <a:latin typeface="Arial"/>
              <a:ea typeface="Arial"/>
              <a:cs typeface="Arial"/>
              <a:sym typeface="Arial"/>
            </a:endParaRPr>
          </a:p>
        </p:txBody>
      </p:sp>
      <p:sp>
        <p:nvSpPr>
          <p:cNvPr id="556" name="Google Shape;556;p46"/>
          <p:cNvSpPr/>
          <p:nvPr/>
        </p:nvSpPr>
        <p:spPr>
          <a:xfrm>
            <a:off x="4517136" y="4425696"/>
            <a:ext cx="1033272" cy="21031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rgbClr val="676D70"/>
                </a:solidFill>
                <a:latin typeface="Arial"/>
                <a:ea typeface="Arial"/>
                <a:cs typeface="Arial"/>
                <a:sym typeface="Arial"/>
              </a:rPr>
              <a:t>A$11.92</a:t>
            </a:r>
            <a:endParaRPr sz="1200" b="0" i="0" u="none" strike="noStrike" cap="none">
              <a:solidFill>
                <a:srgbClr val="000000"/>
              </a:solidFill>
              <a:latin typeface="Arial"/>
              <a:ea typeface="Arial"/>
              <a:cs typeface="Arial"/>
              <a:sym typeface="Arial"/>
            </a:endParaRPr>
          </a:p>
        </p:txBody>
      </p:sp>
      <p:cxnSp>
        <p:nvCxnSpPr>
          <p:cNvPr id="557" name="Google Shape;557;p46"/>
          <p:cNvCxnSpPr/>
          <p:nvPr/>
        </p:nvCxnSpPr>
        <p:spPr>
          <a:xfrm>
            <a:off x="694944" y="4782312"/>
            <a:ext cx="4892040" cy="0"/>
          </a:xfrm>
          <a:prstGeom prst="straightConnector1">
            <a:avLst/>
          </a:prstGeom>
          <a:noFill/>
          <a:ln w="9525" cap="flat" cmpd="sng">
            <a:solidFill>
              <a:srgbClr val="D7D8D4"/>
            </a:solidFill>
            <a:prstDash val="solid"/>
            <a:round/>
            <a:headEnd type="none" w="sm" len="sm"/>
            <a:tailEnd type="none" w="sm" len="sm"/>
          </a:ln>
        </p:spPr>
      </p:cxnSp>
      <p:sp>
        <p:nvSpPr>
          <p:cNvPr id="558" name="Google Shape;558;p46"/>
          <p:cNvSpPr/>
          <p:nvPr/>
        </p:nvSpPr>
        <p:spPr>
          <a:xfrm>
            <a:off x="704088" y="4901184"/>
            <a:ext cx="4864608" cy="1828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5"/>
              <a:buFont typeface="Arial"/>
              <a:buNone/>
            </a:pPr>
            <a:r>
              <a:rPr lang="en-US" sz="1205" b="0" i="0" u="none" strike="noStrike" cap="none">
                <a:solidFill>
                  <a:srgbClr val="676D70"/>
                </a:solidFill>
                <a:latin typeface="Arial"/>
                <a:ea typeface="Arial"/>
                <a:cs typeface="Arial"/>
                <a:sym typeface="Arial"/>
              </a:rPr>
              <a:t>Tested range: 10–14×  |  A$8.70–11.92</a:t>
            </a:r>
            <a:endParaRPr sz="1205" b="0" i="0" u="none" strike="noStrike" cap="none">
              <a:solidFill>
                <a:srgbClr val="000000"/>
              </a:solidFill>
              <a:latin typeface="Arial"/>
              <a:ea typeface="Arial"/>
              <a:cs typeface="Arial"/>
              <a:sym typeface="Arial"/>
            </a:endParaRPr>
          </a:p>
        </p:txBody>
      </p:sp>
      <p:sp>
        <p:nvSpPr>
          <p:cNvPr id="559" name="Google Shape;559;p46"/>
          <p:cNvSpPr/>
          <p:nvPr/>
        </p:nvSpPr>
        <p:spPr>
          <a:xfrm>
            <a:off x="5952744" y="2843784"/>
            <a:ext cx="2715768" cy="2414016"/>
          </a:xfrm>
          <a:prstGeom prst="rect">
            <a:avLst/>
          </a:prstGeom>
          <a:solidFill>
            <a:srgbClr val="FAF8F1"/>
          </a:solidFill>
          <a:ln w="9525" cap="flat" cmpd="sng">
            <a:solidFill>
              <a:srgbClr val="D7D8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46"/>
          <p:cNvSpPr/>
          <p:nvPr/>
        </p:nvSpPr>
        <p:spPr>
          <a:xfrm>
            <a:off x="6144768" y="3017520"/>
            <a:ext cx="2331720"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a:solidFill>
                  <a:srgbClr val="75621A"/>
                </a:solidFill>
                <a:latin typeface="Arial"/>
                <a:ea typeface="Arial"/>
                <a:cs typeface="Arial"/>
                <a:sym typeface="Arial"/>
              </a:rPr>
              <a:t>TRAILING PEERS</a:t>
            </a:r>
            <a:endParaRPr sz="1000" b="0" i="0" u="none" strike="noStrike" cap="none">
              <a:solidFill>
                <a:srgbClr val="000000"/>
              </a:solidFill>
              <a:latin typeface="Arial"/>
              <a:ea typeface="Arial"/>
              <a:cs typeface="Arial"/>
              <a:sym typeface="Arial"/>
            </a:endParaRPr>
          </a:p>
        </p:txBody>
      </p:sp>
      <p:sp>
        <p:nvSpPr>
          <p:cNvPr id="561" name="Google Shape;561;p46"/>
          <p:cNvSpPr/>
          <p:nvPr/>
        </p:nvSpPr>
        <p:spPr>
          <a:xfrm>
            <a:off x="6153912" y="3474720"/>
            <a:ext cx="96012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50"/>
              <a:buFont typeface="Arial"/>
              <a:buNone/>
            </a:pPr>
            <a:r>
              <a:rPr lang="en-US" sz="1450" b="1" i="0" u="none" strike="noStrike" cap="none">
                <a:solidFill>
                  <a:srgbClr val="303638"/>
                </a:solidFill>
                <a:latin typeface="Arial"/>
                <a:ea typeface="Arial"/>
                <a:cs typeface="Arial"/>
                <a:sym typeface="Arial"/>
              </a:rPr>
              <a:t>KAP</a:t>
            </a:r>
            <a:endParaRPr sz="1450" b="0" i="0" u="none" strike="noStrike" cap="none">
              <a:solidFill>
                <a:srgbClr val="000000"/>
              </a:solidFill>
              <a:latin typeface="Arial"/>
              <a:ea typeface="Arial"/>
              <a:cs typeface="Arial"/>
              <a:sym typeface="Arial"/>
            </a:endParaRPr>
          </a:p>
        </p:txBody>
      </p:sp>
      <p:sp>
        <p:nvSpPr>
          <p:cNvPr id="562" name="Google Shape;562;p46"/>
          <p:cNvSpPr/>
          <p:nvPr/>
        </p:nvSpPr>
        <p:spPr>
          <a:xfrm>
            <a:off x="7205472" y="3474720"/>
            <a:ext cx="1234440" cy="25603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172024"/>
                </a:solidFill>
                <a:latin typeface="Arial"/>
                <a:ea typeface="Arial"/>
                <a:cs typeface="Arial"/>
                <a:sym typeface="Arial"/>
              </a:rPr>
              <a:t>7.8×</a:t>
            </a:r>
            <a:endParaRPr sz="1800" b="0" i="0" u="none" strike="noStrike" cap="none">
              <a:solidFill>
                <a:srgbClr val="000000"/>
              </a:solidFill>
              <a:latin typeface="Arial"/>
              <a:ea typeface="Arial"/>
              <a:cs typeface="Arial"/>
              <a:sym typeface="Arial"/>
            </a:endParaRPr>
          </a:p>
        </p:txBody>
      </p:sp>
      <p:cxnSp>
        <p:nvCxnSpPr>
          <p:cNvPr id="563" name="Google Shape;563;p46"/>
          <p:cNvCxnSpPr/>
          <p:nvPr/>
        </p:nvCxnSpPr>
        <p:spPr>
          <a:xfrm>
            <a:off x="6153912" y="3803904"/>
            <a:ext cx="2304288" cy="0"/>
          </a:xfrm>
          <a:prstGeom prst="straightConnector1">
            <a:avLst/>
          </a:prstGeom>
          <a:noFill/>
          <a:ln w="9525" cap="flat" cmpd="sng">
            <a:solidFill>
              <a:srgbClr val="D7D8D4"/>
            </a:solidFill>
            <a:prstDash val="solid"/>
            <a:round/>
            <a:headEnd type="none" w="sm" len="sm"/>
            <a:tailEnd type="none" w="sm" len="sm"/>
          </a:ln>
        </p:spPr>
      </p:cxnSp>
      <p:sp>
        <p:nvSpPr>
          <p:cNvPr id="564" name="Google Shape;564;p46"/>
          <p:cNvSpPr/>
          <p:nvPr/>
        </p:nvSpPr>
        <p:spPr>
          <a:xfrm>
            <a:off x="6153912" y="3877056"/>
            <a:ext cx="96012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50"/>
              <a:buFont typeface="Arial"/>
              <a:buNone/>
            </a:pPr>
            <a:r>
              <a:rPr lang="en-US" sz="1450" b="1" i="0" u="none" strike="noStrike" cap="none">
                <a:solidFill>
                  <a:srgbClr val="303638"/>
                </a:solidFill>
                <a:latin typeface="Arial"/>
                <a:ea typeface="Arial"/>
                <a:cs typeface="Arial"/>
                <a:sym typeface="Arial"/>
              </a:rPr>
              <a:t>CCJ</a:t>
            </a:r>
            <a:endParaRPr sz="1450" b="0" i="0" u="none" strike="noStrike" cap="none">
              <a:solidFill>
                <a:srgbClr val="000000"/>
              </a:solidFill>
              <a:latin typeface="Arial"/>
              <a:ea typeface="Arial"/>
              <a:cs typeface="Arial"/>
              <a:sym typeface="Arial"/>
            </a:endParaRPr>
          </a:p>
        </p:txBody>
      </p:sp>
      <p:sp>
        <p:nvSpPr>
          <p:cNvPr id="565" name="Google Shape;565;p46"/>
          <p:cNvSpPr/>
          <p:nvPr/>
        </p:nvSpPr>
        <p:spPr>
          <a:xfrm>
            <a:off x="7205472" y="3877056"/>
            <a:ext cx="1234440" cy="25603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172024"/>
                </a:solidFill>
                <a:latin typeface="Arial"/>
                <a:ea typeface="Arial"/>
                <a:cs typeface="Arial"/>
                <a:sym typeface="Arial"/>
              </a:rPr>
              <a:t>68×</a:t>
            </a:r>
            <a:endParaRPr sz="1800" b="0" i="0" u="none" strike="noStrike" cap="none">
              <a:solidFill>
                <a:srgbClr val="000000"/>
              </a:solidFill>
              <a:latin typeface="Arial"/>
              <a:ea typeface="Arial"/>
              <a:cs typeface="Arial"/>
              <a:sym typeface="Arial"/>
            </a:endParaRPr>
          </a:p>
        </p:txBody>
      </p:sp>
      <p:cxnSp>
        <p:nvCxnSpPr>
          <p:cNvPr id="566" name="Google Shape;566;p46"/>
          <p:cNvCxnSpPr/>
          <p:nvPr/>
        </p:nvCxnSpPr>
        <p:spPr>
          <a:xfrm>
            <a:off x="6153912" y="4206240"/>
            <a:ext cx="2304288" cy="0"/>
          </a:xfrm>
          <a:prstGeom prst="straightConnector1">
            <a:avLst/>
          </a:prstGeom>
          <a:noFill/>
          <a:ln w="9525" cap="flat" cmpd="sng">
            <a:solidFill>
              <a:srgbClr val="D7D8D4"/>
            </a:solidFill>
            <a:prstDash val="solid"/>
            <a:round/>
            <a:headEnd type="none" w="sm" len="sm"/>
            <a:tailEnd type="none" w="sm" len="sm"/>
          </a:ln>
        </p:spPr>
      </p:cxnSp>
      <p:sp>
        <p:nvSpPr>
          <p:cNvPr id="567" name="Google Shape;567;p46"/>
          <p:cNvSpPr/>
          <p:nvPr/>
        </p:nvSpPr>
        <p:spPr>
          <a:xfrm>
            <a:off x="6153912" y="4279392"/>
            <a:ext cx="96012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50"/>
              <a:buFont typeface="Arial"/>
              <a:buNone/>
            </a:pPr>
            <a:r>
              <a:rPr lang="en-US" sz="1450" b="1" i="0" u="none" strike="noStrike" cap="none">
                <a:solidFill>
                  <a:srgbClr val="303638"/>
                </a:solidFill>
                <a:latin typeface="Arial"/>
                <a:ea typeface="Arial"/>
                <a:cs typeface="Arial"/>
                <a:sym typeface="Arial"/>
              </a:rPr>
              <a:t>BOE</a:t>
            </a:r>
            <a:endParaRPr sz="1450" b="0" i="0" u="none" strike="noStrike" cap="none">
              <a:solidFill>
                <a:srgbClr val="000000"/>
              </a:solidFill>
              <a:latin typeface="Arial"/>
              <a:ea typeface="Arial"/>
              <a:cs typeface="Arial"/>
              <a:sym typeface="Arial"/>
            </a:endParaRPr>
          </a:p>
        </p:txBody>
      </p:sp>
      <p:sp>
        <p:nvSpPr>
          <p:cNvPr id="568" name="Google Shape;568;p46"/>
          <p:cNvSpPr/>
          <p:nvPr/>
        </p:nvSpPr>
        <p:spPr>
          <a:xfrm>
            <a:off x="7205472" y="4279392"/>
            <a:ext cx="1234440" cy="256032"/>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172024"/>
                </a:solidFill>
                <a:latin typeface="Arial"/>
                <a:ea typeface="Arial"/>
                <a:cs typeface="Arial"/>
                <a:sym typeface="Arial"/>
              </a:rPr>
              <a:t>27×</a:t>
            </a:r>
            <a:endParaRPr sz="1800" b="0" i="0" u="none" strike="noStrike" cap="none">
              <a:solidFill>
                <a:srgbClr val="000000"/>
              </a:solidFill>
              <a:latin typeface="Arial"/>
              <a:ea typeface="Arial"/>
              <a:cs typeface="Arial"/>
              <a:sym typeface="Arial"/>
            </a:endParaRPr>
          </a:p>
        </p:txBody>
      </p:sp>
      <p:sp>
        <p:nvSpPr>
          <p:cNvPr id="569" name="Google Shape;569;p46"/>
          <p:cNvSpPr/>
          <p:nvPr/>
        </p:nvSpPr>
        <p:spPr>
          <a:xfrm>
            <a:off x="6153912" y="4782312"/>
            <a:ext cx="2295144" cy="32918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105"/>
              <a:buFont typeface="Arial"/>
              <a:buNone/>
            </a:pPr>
            <a:r>
              <a:rPr lang="en-US" sz="1105" b="0" i="0" u="none" strike="noStrike" cap="none">
                <a:solidFill>
                  <a:srgbClr val="676D70"/>
                </a:solidFill>
                <a:latin typeface="Arial"/>
                <a:ea typeface="Arial"/>
                <a:cs typeface="Arial"/>
                <a:sym typeface="Arial"/>
              </a:rPr>
              <a:t>Different reporting periods</a:t>
            </a:r>
            <a:endParaRPr sz="1105"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5"/>
              <a:buFont typeface="Arial"/>
              <a:buNone/>
            </a:pPr>
            <a:r>
              <a:rPr lang="en-US" sz="1105" b="0" i="0" u="none" strike="noStrike" cap="none">
                <a:solidFill>
                  <a:srgbClr val="676D70"/>
                </a:solidFill>
                <a:latin typeface="Arial"/>
                <a:ea typeface="Arial"/>
                <a:cs typeface="Arial"/>
                <a:sym typeface="Arial"/>
              </a:rPr>
              <a:t>and business stages</a:t>
            </a:r>
            <a:endParaRPr sz="1105" b="0" i="0" u="none" strike="noStrike" cap="none">
              <a:solidFill>
                <a:srgbClr val="000000"/>
              </a:solidFill>
              <a:latin typeface="Arial"/>
              <a:ea typeface="Arial"/>
              <a:cs typeface="Arial"/>
              <a:sym typeface="Arial"/>
            </a:endParaRPr>
          </a:p>
        </p:txBody>
      </p:sp>
      <p:sp>
        <p:nvSpPr>
          <p:cNvPr id="570" name="Google Shape;570;p46"/>
          <p:cNvSpPr txBox="1"/>
          <p:nvPr/>
        </p:nvSpPr>
        <p:spPr>
          <a:xfrm>
            <a:off x="822950" y="6163050"/>
            <a:ext cx="5604300" cy="6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Source: </a:t>
            </a:r>
            <a:r>
              <a:rPr lang="en-US">
                <a:solidFill>
                  <a:schemeClr val="dk1"/>
                </a:solidFill>
              </a:rPr>
              <a:t>https://stockanalysis.com/stocks/ccj/statistics/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4"/>
        <p:cNvGrpSpPr/>
        <p:nvPr/>
      </p:nvGrpSpPr>
      <p:grpSpPr>
        <a:xfrm>
          <a:off x="0" y="0"/>
          <a:ext cx="0" cy="0"/>
          <a:chOff x="0" y="0"/>
          <a:chExt cx="0" cy="0"/>
        </a:xfrm>
      </p:grpSpPr>
      <p:sp>
        <p:nvSpPr>
          <p:cNvPr id="575" name="Google Shape;575;p45"/>
          <p:cNvSpPr/>
          <p:nvPr/>
        </p:nvSpPr>
        <p:spPr>
          <a:xfrm>
            <a:off x="4940891" y="1407042"/>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76" name="Google Shape;576;p45"/>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200" b="1" i="0" u="none" strike="noStrike" cap="none">
                <a:solidFill>
                  <a:srgbClr val="000000"/>
                </a:solidFill>
                <a:latin typeface="Arial"/>
                <a:ea typeface="Arial"/>
                <a:cs typeface="Arial"/>
                <a:sym typeface="Arial"/>
              </a:rPr>
              <a:t>Paladin: Investment plan</a:t>
            </a:r>
            <a:endParaRPr sz="2400" b="0" i="0" u="none" strike="noStrike" cap="none">
              <a:solidFill>
                <a:schemeClr val="dk1"/>
              </a:solidFill>
              <a:latin typeface="Calibri"/>
              <a:ea typeface="Calibri"/>
              <a:cs typeface="Calibri"/>
              <a:sym typeface="Calibri"/>
            </a:endParaRPr>
          </a:p>
        </p:txBody>
      </p:sp>
      <p:sp>
        <p:nvSpPr>
          <p:cNvPr id="577" name="Google Shape;577;p45"/>
          <p:cNvSpPr/>
          <p:nvPr/>
        </p:nvSpPr>
        <p:spPr>
          <a:xfrm>
            <a:off x="524865" y="1407042"/>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78" name="Google Shape;578;p45"/>
          <p:cNvSpPr txBox="1"/>
          <p:nvPr/>
        </p:nvSpPr>
        <p:spPr>
          <a:xfrm>
            <a:off x="1312265" y="1584842"/>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Execution plan</a:t>
            </a:r>
            <a:endParaRPr sz="1400" b="0" i="0" u="none" strike="noStrike" cap="none">
              <a:solidFill>
                <a:srgbClr val="000000"/>
              </a:solidFill>
              <a:latin typeface="Arial"/>
              <a:ea typeface="Arial"/>
              <a:cs typeface="Arial"/>
              <a:sym typeface="Arial"/>
            </a:endParaRPr>
          </a:p>
        </p:txBody>
      </p:sp>
      <p:sp>
        <p:nvSpPr>
          <p:cNvPr id="579" name="Google Shape;579;p45"/>
          <p:cNvSpPr txBox="1"/>
          <p:nvPr/>
        </p:nvSpPr>
        <p:spPr>
          <a:xfrm>
            <a:off x="728065" y="2118242"/>
            <a:ext cx="3492500" cy="2926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Entry: </a:t>
            </a:r>
            <a:r>
              <a:rPr lang="en-US" sz="1800" b="0" i="0" u="none" strike="noStrike" cap="none">
                <a:solidFill>
                  <a:srgbClr val="222222"/>
                </a:solidFill>
                <a:latin typeface="Arial"/>
                <a:ea typeface="Arial"/>
                <a:cs typeface="Arial"/>
                <a:sym typeface="Arial"/>
              </a:rPr>
              <a:t>≤ A$8.59, or a target ≥ A$11.46</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Target: </a:t>
            </a:r>
            <a:r>
              <a:rPr lang="en-US" sz="1800" b="0" i="0" u="none" strike="noStrike" cap="none">
                <a:solidFill>
                  <a:srgbClr val="222222"/>
                </a:solidFill>
                <a:latin typeface="Arial"/>
                <a:ea typeface="Arial"/>
                <a:cs typeface="Arial"/>
                <a:sym typeface="Arial"/>
              </a:rPr>
              <a:t>A$10.31 (+8%); gate not met</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Exit review: </a:t>
            </a:r>
            <a:r>
              <a:rPr lang="en-US" sz="1800" b="0" i="0" u="none" strike="noStrike" cap="none">
                <a:solidFill>
                  <a:srgbClr val="222222"/>
                </a:solidFill>
                <a:latin typeface="Arial"/>
                <a:ea typeface="Arial"/>
                <a:cs typeface="Arial"/>
                <a:sym typeface="Arial"/>
              </a:rPr>
              <a:t>A$8.12, or a guidance cut</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1200"/>
              </a:spcAft>
              <a:buClr>
                <a:srgbClr val="6E6020"/>
              </a:buClr>
              <a:buSzPts val="1800"/>
              <a:buFont typeface="Arial"/>
              <a:buNone/>
            </a:pPr>
            <a:r>
              <a:rPr lang="en-US" sz="1800" b="1" i="0" u="none" strike="noStrike" cap="none">
                <a:solidFill>
                  <a:srgbClr val="6E6020"/>
                </a:solidFill>
                <a:latin typeface="Arial"/>
                <a:ea typeface="Arial"/>
                <a:cs typeface="Arial"/>
                <a:sym typeface="Arial"/>
              </a:rPr>
              <a:t>Size: </a:t>
            </a:r>
            <a:r>
              <a:rPr lang="en-US" sz="1800" b="0" i="0" u="none" strike="noStrike" cap="none">
                <a:solidFill>
                  <a:srgbClr val="222222"/>
                </a:solidFill>
                <a:latin typeface="Arial"/>
                <a:ea typeface="Arial"/>
                <a:cs typeface="Arial"/>
                <a:sym typeface="Arial"/>
              </a:rPr>
              <a:t>up to 1.60% of NAV</a:t>
            </a:r>
            <a:endParaRPr sz="1800" b="0" i="0" u="none" strike="noStrike" cap="none">
              <a:solidFill>
                <a:srgbClr val="000000"/>
              </a:solidFill>
              <a:latin typeface="Arial"/>
              <a:ea typeface="Arial"/>
              <a:cs typeface="Arial"/>
              <a:sym typeface="Arial"/>
            </a:endParaRPr>
          </a:p>
        </p:txBody>
      </p:sp>
      <p:pic>
        <p:nvPicPr>
          <p:cNvPr id="580" name="Google Shape;580;p45"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581" name="Google Shape;581;p45" descr="Execution plan icon"/>
          <p:cNvSpPr/>
          <p:nvPr/>
        </p:nvSpPr>
        <p:spPr>
          <a:xfrm>
            <a:off x="829665" y="1686442"/>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45"/>
          <p:cNvSpPr txBox="1"/>
          <p:nvPr/>
        </p:nvSpPr>
        <p:spPr>
          <a:xfrm>
            <a:off x="5020665" y="1910390"/>
            <a:ext cx="3793726" cy="295465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Arial"/>
                <a:ea typeface="Arial"/>
                <a:cs typeface="Arial"/>
                <a:sym typeface="Arial"/>
              </a:rPr>
              <a:t>Our worries: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Langer Heinrich output ceiling: </a:t>
            </a:r>
            <a:r>
              <a:rPr lang="en-US" sz="1800" b="0" i="0" u="none" strike="noStrike" cap="none">
                <a:solidFill>
                  <a:srgbClr val="000000"/>
                </a:solidFill>
                <a:latin typeface="Arial"/>
                <a:ea typeface="Arial"/>
                <a:cs typeface="Arial"/>
                <a:sym typeface="Arial"/>
              </a:rPr>
              <a:t>Ord Minnett doesn't expect the mine to sustain its 6 Mlb nameplate for a full year and cut FY28–30 to 5.7 Mlb.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PLS funding: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 potential significant capital raise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86"/>
        <p:cNvGrpSpPr/>
        <p:nvPr/>
      </p:nvGrpSpPr>
      <p:grpSpPr>
        <a:xfrm>
          <a:off x="0" y="0"/>
          <a:ext cx="0" cy="0"/>
          <a:chOff x="0" y="0"/>
          <a:chExt cx="0" cy="0"/>
        </a:xfrm>
      </p:grpSpPr>
      <p:sp>
        <p:nvSpPr>
          <p:cNvPr id="587" name="Google Shape;587;p47"/>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200" b="1" i="0" u="none" strike="noStrike" cap="none">
                <a:solidFill>
                  <a:srgbClr val="000000"/>
                </a:solidFill>
                <a:latin typeface="Arial"/>
                <a:ea typeface="Arial"/>
                <a:cs typeface="Arial"/>
                <a:sym typeface="Arial"/>
              </a:rPr>
              <a:t>Potential Long - Denison: construction-stage upside</a:t>
            </a:r>
            <a:endParaRPr sz="2400" b="0" i="0" u="none" strike="noStrike" cap="none">
              <a:solidFill>
                <a:schemeClr val="dk1"/>
              </a:solidFill>
              <a:latin typeface="Calibri"/>
              <a:ea typeface="Calibri"/>
              <a:cs typeface="Calibri"/>
              <a:sym typeface="Calibri"/>
            </a:endParaRPr>
          </a:p>
        </p:txBody>
      </p:sp>
      <p:sp>
        <p:nvSpPr>
          <p:cNvPr id="588" name="Google Shape;588;p47"/>
          <p:cNvSpPr/>
          <p:nvPr/>
        </p:nvSpPr>
        <p:spPr>
          <a:xfrm>
            <a:off x="5461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9" name="Google Shape;589;p47"/>
          <p:cNvSpPr txBox="1"/>
          <p:nvPr/>
        </p:nvSpPr>
        <p:spPr>
          <a:xfrm>
            <a:off x="13335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Thesis</a:t>
            </a:r>
            <a:endParaRPr sz="1400" b="0" i="0" u="none" strike="noStrike" cap="none">
              <a:solidFill>
                <a:srgbClr val="000000"/>
              </a:solidFill>
              <a:latin typeface="Arial"/>
              <a:ea typeface="Arial"/>
              <a:cs typeface="Arial"/>
              <a:sym typeface="Arial"/>
            </a:endParaRPr>
          </a:p>
        </p:txBody>
      </p:sp>
      <p:sp>
        <p:nvSpPr>
          <p:cNvPr id="590" name="Google Shape;590;p47"/>
          <p:cNvSpPr txBox="1"/>
          <p:nvPr/>
        </p:nvSpPr>
        <p:spPr>
          <a:xfrm>
            <a:off x="749300" y="1778000"/>
            <a:ext cx="3492500" cy="2926080"/>
          </a:xfrm>
          <a:prstGeom prst="rect">
            <a:avLst/>
          </a:prstGeom>
          <a:noFill/>
          <a:ln>
            <a:noFill/>
          </a:ln>
        </p:spPr>
        <p:txBody>
          <a:bodyPr spcFirstLastPara="1" wrap="square" lIns="0" tIns="0" rIns="0" bIns="0" anchor="t" anchorCtr="0">
            <a:noAutofit/>
          </a:bodyPr>
          <a:lstStyle/>
          <a:p>
            <a:pPr marL="228600" marR="0" lvl="0" indent="-228600" algn="l" rtl="0">
              <a:lnSpc>
                <a:spcPct val="100000"/>
              </a:lnSpc>
              <a:spcBef>
                <a:spcPts val="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95% of Wheeler River; FID Feb 2026</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Study opex US$6.28/lb (2023)</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Capex ~C$600M; output mid-2028</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120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Value rises as risk falls</a:t>
            </a:r>
            <a:endParaRPr sz="1800" b="0" i="0" u="none" strike="noStrike" cap="none">
              <a:solidFill>
                <a:srgbClr val="000000"/>
              </a:solidFill>
              <a:latin typeface="Arial"/>
              <a:ea typeface="Arial"/>
              <a:cs typeface="Arial"/>
              <a:sym typeface="Arial"/>
            </a:endParaRPr>
          </a:p>
        </p:txBody>
      </p:sp>
      <p:sp>
        <p:nvSpPr>
          <p:cNvPr id="591" name="Google Shape;591;p47"/>
          <p:cNvSpPr/>
          <p:nvPr/>
        </p:nvSpPr>
        <p:spPr>
          <a:xfrm>
            <a:off x="47244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92" name="Google Shape;592;p47"/>
          <p:cNvSpPr txBox="1"/>
          <p:nvPr/>
        </p:nvSpPr>
        <p:spPr>
          <a:xfrm>
            <a:off x="55118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Execution plan</a:t>
            </a:r>
            <a:endParaRPr sz="1400" b="0" i="0" u="none" strike="noStrike" cap="none">
              <a:solidFill>
                <a:srgbClr val="000000"/>
              </a:solidFill>
              <a:latin typeface="Arial"/>
              <a:ea typeface="Arial"/>
              <a:cs typeface="Arial"/>
              <a:sym typeface="Arial"/>
            </a:endParaRPr>
          </a:p>
        </p:txBody>
      </p:sp>
      <p:sp>
        <p:nvSpPr>
          <p:cNvPr id="593" name="Google Shape;593;p47"/>
          <p:cNvSpPr txBox="1"/>
          <p:nvPr/>
        </p:nvSpPr>
        <p:spPr>
          <a:xfrm>
            <a:off x="4927600" y="1778000"/>
            <a:ext cx="3492500" cy="2926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Entry: </a:t>
            </a:r>
            <a:r>
              <a:rPr lang="en-US" sz="1800" b="0" i="0" u="none" strike="noStrike" cap="none">
                <a:solidFill>
                  <a:srgbClr val="222222"/>
                </a:solidFill>
                <a:latin typeface="Arial"/>
                <a:ea typeface="Arial"/>
                <a:cs typeface="Arial"/>
                <a:sym typeface="Arial"/>
              </a:rPr>
              <a:t>≥30% upside</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Funding test: </a:t>
            </a:r>
            <a:r>
              <a:rPr lang="en-US" sz="1800" b="0" i="0" u="none" strike="noStrike" cap="none">
                <a:solidFill>
                  <a:srgbClr val="222222"/>
                </a:solidFill>
                <a:latin typeface="Arial"/>
                <a:ea typeface="Arial"/>
                <a:cs typeface="Arial"/>
                <a:sym typeface="Arial"/>
              </a:rPr>
              <a:t>costs covered + 20% cushion</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Exit review: </a:t>
            </a:r>
            <a:r>
              <a:rPr lang="en-US" sz="1800" b="0" i="0" u="none" strike="noStrike" cap="none">
                <a:solidFill>
                  <a:srgbClr val="222222"/>
                </a:solidFill>
                <a:latin typeface="Arial"/>
                <a:ea typeface="Arial"/>
                <a:cs typeface="Arial"/>
                <a:sym typeface="Arial"/>
              </a:rPr>
              <a:t>6-month slip or +15% cost</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1200"/>
              </a:spcAft>
              <a:buClr>
                <a:srgbClr val="6E6020"/>
              </a:buClr>
              <a:buSzPts val="1800"/>
              <a:buFont typeface="Arial"/>
              <a:buNone/>
            </a:pPr>
            <a:r>
              <a:rPr lang="en-US" sz="1800" b="1" i="0" u="none" strike="noStrike" cap="none">
                <a:solidFill>
                  <a:srgbClr val="6E6020"/>
                </a:solidFill>
                <a:latin typeface="Arial"/>
                <a:ea typeface="Arial"/>
                <a:cs typeface="Arial"/>
                <a:sym typeface="Arial"/>
              </a:rPr>
              <a:t>Size: </a:t>
            </a:r>
            <a:r>
              <a:rPr lang="en-US" sz="1800" b="0" i="0" u="none" strike="noStrike" cap="none">
                <a:solidFill>
                  <a:srgbClr val="222222"/>
                </a:solidFill>
                <a:latin typeface="Arial"/>
                <a:ea typeface="Arial"/>
                <a:cs typeface="Arial"/>
                <a:sym typeface="Arial"/>
              </a:rPr>
              <a:t>0.80% of NAV, on milestones</a:t>
            </a:r>
            <a:endParaRPr sz="1800" b="0" i="0" u="none" strike="noStrike" cap="none">
              <a:solidFill>
                <a:srgbClr val="000000"/>
              </a:solidFill>
              <a:latin typeface="Arial"/>
              <a:ea typeface="Arial"/>
              <a:cs typeface="Arial"/>
              <a:sym typeface="Arial"/>
            </a:endParaRPr>
          </a:p>
        </p:txBody>
      </p:sp>
      <p:sp>
        <p:nvSpPr>
          <p:cNvPr id="594" name="Google Shape;594;p47"/>
          <p:cNvSpPr/>
          <p:nvPr/>
        </p:nvSpPr>
        <p:spPr>
          <a:xfrm>
            <a:off x="546100" y="5120640"/>
            <a:ext cx="8051800" cy="685800"/>
          </a:xfrm>
          <a:prstGeom prst="roundRect">
            <a:avLst>
              <a:gd name="adj" fmla="val 10000"/>
            </a:avLst>
          </a:prstGeom>
          <a:no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95" name="Google Shape;595;p47"/>
          <p:cNvSpPr txBox="1"/>
          <p:nvPr/>
        </p:nvSpPr>
        <p:spPr>
          <a:xfrm>
            <a:off x="749300" y="5184648"/>
            <a:ext cx="764540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Dissent: </a:t>
            </a:r>
            <a:r>
              <a:rPr lang="en-US" sz="1400" b="0" i="0" u="none" strike="noStrike" cap="none">
                <a:solidFill>
                  <a:srgbClr val="222222"/>
                </a:solidFill>
                <a:latin typeface="Arial"/>
                <a:ea typeface="Arial"/>
                <a:cs typeface="Arial"/>
                <a:sym typeface="Arial"/>
              </a:rPr>
              <a:t>US$6.28/lb is a study number; a 2-year delay cuts value ~17%.</a:t>
            </a:r>
            <a:endParaRPr sz="1400" b="0" i="0" u="none" strike="noStrike" cap="none">
              <a:solidFill>
                <a:srgbClr val="000000"/>
              </a:solidFill>
              <a:latin typeface="Arial"/>
              <a:ea typeface="Arial"/>
              <a:cs typeface="Arial"/>
              <a:sym typeface="Arial"/>
            </a:endParaRPr>
          </a:p>
        </p:txBody>
      </p:sp>
      <p:pic>
        <p:nvPicPr>
          <p:cNvPr id="596" name="Google Shape;596;p47"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597" name="Google Shape;597;p47" descr="Thesis icon"/>
          <p:cNvSpPr/>
          <p:nvPr/>
        </p:nvSpPr>
        <p:spPr>
          <a:xfrm>
            <a:off x="8509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47" descr="Execution plan icon"/>
          <p:cNvSpPr/>
          <p:nvPr/>
        </p:nvSpPr>
        <p:spPr>
          <a:xfrm>
            <a:off x="50292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47"/>
          <p:cNvSpPr txBox="1"/>
          <p:nvPr/>
        </p:nvSpPr>
        <p:spPr>
          <a:xfrm>
            <a:off x="548650" y="6223025"/>
            <a:ext cx="7645500" cy="50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Sources: Detail: IC Memo §3.3 · Denison FID (Feb 24, 2026); Q2 2026 results (Aug 12, 2026); Phoenix feasibility highlights</a:t>
            </a:r>
            <a:endParaRPr/>
          </a:p>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3"/>
        <p:cNvGrpSpPr/>
        <p:nvPr/>
      </p:nvGrpSpPr>
      <p:grpSpPr>
        <a:xfrm>
          <a:off x="0" y="0"/>
          <a:ext cx="0" cy="0"/>
          <a:chOff x="0" y="0"/>
          <a:chExt cx="0" cy="0"/>
        </a:xfrm>
      </p:grpSpPr>
      <p:sp>
        <p:nvSpPr>
          <p:cNvPr id="604" name="Google Shape;604;p48"/>
          <p:cNvSpPr txBox="1"/>
          <p:nvPr/>
        </p:nvSpPr>
        <p:spPr>
          <a:xfrm>
            <a:off x="548640" y="365760"/>
            <a:ext cx="8244486"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200" b="1" i="0" u="none" strike="noStrike" cap="none">
                <a:solidFill>
                  <a:srgbClr val="000000"/>
                </a:solidFill>
                <a:latin typeface="Arial"/>
                <a:ea typeface="Arial"/>
                <a:cs typeface="Arial"/>
                <a:sym typeface="Arial"/>
              </a:rPr>
              <a:t>Potential Long - Kazatomprom: low cost, if the cash gets out</a:t>
            </a:r>
            <a:endParaRPr sz="2400" b="0" i="0" u="none" strike="noStrike" cap="none">
              <a:solidFill>
                <a:schemeClr val="dk1"/>
              </a:solidFill>
              <a:latin typeface="Calibri"/>
              <a:ea typeface="Calibri"/>
              <a:cs typeface="Calibri"/>
              <a:sym typeface="Calibri"/>
            </a:endParaRPr>
          </a:p>
        </p:txBody>
      </p:sp>
      <p:sp>
        <p:nvSpPr>
          <p:cNvPr id="605" name="Google Shape;605;p48"/>
          <p:cNvSpPr/>
          <p:nvPr/>
        </p:nvSpPr>
        <p:spPr>
          <a:xfrm>
            <a:off x="5461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06" name="Google Shape;606;p48"/>
          <p:cNvSpPr txBox="1"/>
          <p:nvPr/>
        </p:nvSpPr>
        <p:spPr>
          <a:xfrm>
            <a:off x="13335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Thesis</a:t>
            </a:r>
            <a:endParaRPr sz="1400" b="0" i="0" u="none" strike="noStrike" cap="none">
              <a:solidFill>
                <a:srgbClr val="000000"/>
              </a:solidFill>
              <a:latin typeface="Arial"/>
              <a:ea typeface="Arial"/>
              <a:cs typeface="Arial"/>
              <a:sym typeface="Arial"/>
            </a:endParaRPr>
          </a:p>
        </p:txBody>
      </p:sp>
      <p:sp>
        <p:nvSpPr>
          <p:cNvPr id="607" name="Google Shape;607;p48"/>
          <p:cNvSpPr txBox="1"/>
          <p:nvPr/>
        </p:nvSpPr>
        <p:spPr>
          <a:xfrm>
            <a:off x="749300" y="1778000"/>
            <a:ext cx="3492500" cy="2926080"/>
          </a:xfrm>
          <a:prstGeom prst="rect">
            <a:avLst/>
          </a:prstGeom>
          <a:noFill/>
          <a:ln>
            <a:noFill/>
          </a:ln>
        </p:spPr>
        <p:txBody>
          <a:bodyPr spcFirstLastPara="1" wrap="square" lIns="0" tIns="0" rIns="0" bIns="0" anchor="t" anchorCtr="0">
            <a:noAutofit/>
          </a:bodyPr>
          <a:lstStyle/>
          <a:p>
            <a:pPr marL="228600" marR="0" lvl="0" indent="-228600" algn="l" rtl="0">
              <a:lnSpc>
                <a:spcPct val="100000"/>
              </a:lnSpc>
              <a:spcBef>
                <a:spcPts val="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Largest ISR producer</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H1 C1 cost US$24.48/lb</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AISC US$38.45 vs. realized US$67.88</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120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FY AISC guide up: US$39.00–40.50</a:t>
            </a:r>
            <a:endParaRPr sz="1800" b="0" i="0" u="none" strike="noStrike" cap="none">
              <a:solidFill>
                <a:srgbClr val="000000"/>
              </a:solidFill>
              <a:latin typeface="Arial"/>
              <a:ea typeface="Arial"/>
              <a:cs typeface="Arial"/>
              <a:sym typeface="Arial"/>
            </a:endParaRPr>
          </a:p>
        </p:txBody>
      </p:sp>
      <p:sp>
        <p:nvSpPr>
          <p:cNvPr id="608" name="Google Shape;608;p48"/>
          <p:cNvSpPr/>
          <p:nvPr/>
        </p:nvSpPr>
        <p:spPr>
          <a:xfrm>
            <a:off x="47244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09" name="Google Shape;609;p48"/>
          <p:cNvSpPr txBox="1"/>
          <p:nvPr/>
        </p:nvSpPr>
        <p:spPr>
          <a:xfrm>
            <a:off x="55118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Execution plan</a:t>
            </a:r>
            <a:endParaRPr sz="1400" b="0" i="0" u="none" strike="noStrike" cap="none">
              <a:solidFill>
                <a:srgbClr val="000000"/>
              </a:solidFill>
              <a:latin typeface="Arial"/>
              <a:ea typeface="Arial"/>
              <a:cs typeface="Arial"/>
              <a:sym typeface="Arial"/>
            </a:endParaRPr>
          </a:p>
        </p:txBody>
      </p:sp>
      <p:sp>
        <p:nvSpPr>
          <p:cNvPr id="610" name="Google Shape;610;p48"/>
          <p:cNvSpPr txBox="1"/>
          <p:nvPr/>
        </p:nvSpPr>
        <p:spPr>
          <a:xfrm>
            <a:off x="4927600" y="1778000"/>
            <a:ext cx="3492500" cy="2926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Screen first: </a:t>
            </a:r>
            <a:r>
              <a:rPr lang="en-US" sz="1800" b="0" i="0" u="none" strike="noStrike" cap="none">
                <a:solidFill>
                  <a:srgbClr val="222222"/>
                </a:solidFill>
                <a:latin typeface="Arial"/>
                <a:ea typeface="Arial"/>
                <a:cs typeface="Arial"/>
                <a:sym typeface="Arial"/>
              </a:rPr>
              <a:t>custody, dividends, sanctions</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Entry: </a:t>
            </a:r>
            <a:r>
              <a:rPr lang="en-US" sz="1800" b="0" i="0" u="none" strike="noStrike" cap="none">
                <a:solidFill>
                  <a:srgbClr val="222222"/>
                </a:solidFill>
                <a:latin typeface="Arial"/>
                <a:ea typeface="Arial"/>
                <a:cs typeface="Arial"/>
                <a:sym typeface="Arial"/>
              </a:rPr>
              <a:t>≥30% upside to cash-flow value</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Exit review: </a:t>
            </a:r>
            <a:r>
              <a:rPr lang="en-US" sz="1800" b="0" i="0" u="none" strike="noStrike" cap="none">
                <a:solidFill>
                  <a:srgbClr val="222222"/>
                </a:solidFill>
                <a:latin typeface="Arial"/>
                <a:ea typeface="Arial"/>
                <a:cs typeface="Arial"/>
                <a:sym typeface="Arial"/>
              </a:rPr>
              <a:t>route, tax or access change</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1200"/>
              </a:spcAft>
              <a:buClr>
                <a:srgbClr val="6E6020"/>
              </a:buClr>
              <a:buSzPts val="1800"/>
              <a:buFont typeface="Arial"/>
              <a:buNone/>
            </a:pPr>
            <a:r>
              <a:rPr lang="en-US" sz="1800" b="1" i="0" u="none" strike="noStrike" cap="none">
                <a:solidFill>
                  <a:srgbClr val="6E6020"/>
                </a:solidFill>
                <a:latin typeface="Arial"/>
                <a:ea typeface="Arial"/>
                <a:cs typeface="Arial"/>
                <a:sym typeface="Arial"/>
              </a:rPr>
              <a:t>Size: </a:t>
            </a:r>
            <a:r>
              <a:rPr lang="en-US" sz="1800" b="0" i="0" u="none" strike="noStrike" cap="none">
                <a:solidFill>
                  <a:srgbClr val="222222"/>
                </a:solidFill>
                <a:latin typeface="Arial"/>
                <a:ea typeface="Arial"/>
                <a:cs typeface="Arial"/>
                <a:sym typeface="Arial"/>
              </a:rPr>
              <a:t>0.60% of NAV; cash if a check fails</a:t>
            </a:r>
            <a:endParaRPr sz="1800" b="0" i="0" u="none" strike="noStrike" cap="none">
              <a:solidFill>
                <a:srgbClr val="000000"/>
              </a:solidFill>
              <a:latin typeface="Arial"/>
              <a:ea typeface="Arial"/>
              <a:cs typeface="Arial"/>
              <a:sym typeface="Arial"/>
            </a:endParaRPr>
          </a:p>
        </p:txBody>
      </p:sp>
      <p:sp>
        <p:nvSpPr>
          <p:cNvPr id="611" name="Google Shape;611;p48"/>
          <p:cNvSpPr/>
          <p:nvPr/>
        </p:nvSpPr>
        <p:spPr>
          <a:xfrm>
            <a:off x="546100" y="5120640"/>
            <a:ext cx="8051800" cy="685800"/>
          </a:xfrm>
          <a:prstGeom prst="roundRect">
            <a:avLst>
              <a:gd name="adj" fmla="val 10000"/>
            </a:avLst>
          </a:prstGeom>
          <a:no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12" name="Google Shape;612;p48"/>
          <p:cNvSpPr txBox="1"/>
          <p:nvPr/>
        </p:nvSpPr>
        <p:spPr>
          <a:xfrm>
            <a:off x="749300" y="5184648"/>
            <a:ext cx="764540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Dissent: </a:t>
            </a:r>
            <a:r>
              <a:rPr lang="en-US" sz="1400" b="0" i="0" u="none" strike="noStrike" cap="none">
                <a:solidFill>
                  <a:srgbClr val="222222"/>
                </a:solidFill>
                <a:latin typeface="Arial"/>
                <a:ea typeface="Arial"/>
                <a:cs typeface="Arial"/>
                <a:sym typeface="Arial"/>
              </a:rPr>
              <a:t>jurisdiction risk and rising costs erode the low-cost edge.</a:t>
            </a:r>
            <a:endParaRPr sz="1400" b="0" i="0" u="none" strike="noStrike" cap="none">
              <a:solidFill>
                <a:srgbClr val="000000"/>
              </a:solidFill>
              <a:latin typeface="Arial"/>
              <a:ea typeface="Arial"/>
              <a:cs typeface="Arial"/>
              <a:sym typeface="Arial"/>
            </a:endParaRPr>
          </a:p>
        </p:txBody>
      </p:sp>
      <p:pic>
        <p:nvPicPr>
          <p:cNvPr id="613" name="Google Shape;613;p48"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614" name="Google Shape;614;p48" descr="Thesis icon"/>
          <p:cNvSpPr/>
          <p:nvPr/>
        </p:nvSpPr>
        <p:spPr>
          <a:xfrm>
            <a:off x="8509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5" name="Google Shape;615;p48" descr="Execution plan icon"/>
          <p:cNvSpPr/>
          <p:nvPr/>
        </p:nvSpPr>
        <p:spPr>
          <a:xfrm>
            <a:off x="50292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6" name="Google Shape;616;p48"/>
          <p:cNvSpPr txBox="1"/>
          <p:nvPr/>
        </p:nvSpPr>
        <p:spPr>
          <a:xfrm>
            <a:off x="805538" y="6331200"/>
            <a:ext cx="7730700" cy="68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Sources: Detail: IC Memo §3.4 · Kazatomprom H1 2026 results RNS (Aug 21, 2026)</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4"/>
          <p:cNvSpPr/>
          <p:nvPr/>
        </p:nvSpPr>
        <p:spPr>
          <a:xfrm>
            <a:off x="548640" y="2788920"/>
            <a:ext cx="109728" cy="1280160"/>
          </a:xfrm>
          <a:prstGeom prst="rect">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22" name="Google Shape;622;p4"/>
          <p:cNvSpPr txBox="1"/>
          <p:nvPr/>
        </p:nvSpPr>
        <p:spPr>
          <a:xfrm>
            <a:off x="868680" y="2651760"/>
            <a:ext cx="7680960" cy="1554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Arial"/>
                <a:ea typeface="Arial"/>
                <a:cs typeface="Arial"/>
                <a:sym typeface="Arial"/>
              </a:rPr>
              <a:t>Long position viewed by different Philosophies</a:t>
            </a:r>
            <a:endParaRPr sz="3600" b="0" i="0" u="none" strike="noStrike" cap="none">
              <a:solidFill>
                <a:schemeClr val="dk1"/>
              </a:solidFill>
              <a:latin typeface="Calibri"/>
              <a:ea typeface="Calibri"/>
              <a:cs typeface="Calibri"/>
              <a:sym typeface="Calibri"/>
            </a:endParaRPr>
          </a:p>
        </p:txBody>
      </p:sp>
      <p:pic>
        <p:nvPicPr>
          <p:cNvPr id="623" name="Google Shape;623;p4"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7"/>
        <p:cNvGrpSpPr/>
        <p:nvPr/>
      </p:nvGrpSpPr>
      <p:grpSpPr>
        <a:xfrm>
          <a:off x="0" y="0"/>
          <a:ext cx="0" cy="0"/>
          <a:chOff x="0" y="0"/>
          <a:chExt cx="0" cy="0"/>
        </a:xfrm>
      </p:grpSpPr>
      <p:sp>
        <p:nvSpPr>
          <p:cNvPr id="628" name="Google Shape;628;hfca5d1e675fc023_0_0"/>
          <p:cNvSpPr txBox="1"/>
          <p:nvPr/>
        </p:nvSpPr>
        <p:spPr>
          <a:xfrm>
            <a:off x="548640" y="365760"/>
            <a:ext cx="8046600" cy="502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Six different investment philosophies on one asset</a:t>
            </a:r>
            <a:endParaRPr sz="2400" b="1" i="0" u="none" strike="noStrike" cap="none">
              <a:solidFill>
                <a:srgbClr val="000000"/>
              </a:solidFill>
              <a:latin typeface="Arial"/>
              <a:ea typeface="Arial"/>
              <a:cs typeface="Arial"/>
              <a:sym typeface="Arial"/>
            </a:endParaRPr>
          </a:p>
        </p:txBody>
      </p:sp>
      <p:sp>
        <p:nvSpPr>
          <p:cNvPr id="629" name="Google Shape;629;hfca5d1e675fc023_0_0"/>
          <p:cNvSpPr txBox="1"/>
          <p:nvPr/>
        </p:nvSpPr>
        <p:spPr>
          <a:xfrm>
            <a:off x="546100" y="914400"/>
            <a:ext cx="8051700" cy="365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2000"/>
              <a:buFont typeface="Arial"/>
              <a:buNone/>
            </a:pPr>
            <a:endParaRPr sz="1400" b="0" i="0" u="none" strike="noStrike" cap="none">
              <a:solidFill>
                <a:srgbClr val="000000"/>
              </a:solidFill>
              <a:latin typeface="Arial"/>
              <a:ea typeface="Arial"/>
              <a:cs typeface="Arial"/>
              <a:sym typeface="Arial"/>
            </a:endParaRPr>
          </a:p>
        </p:txBody>
      </p:sp>
      <p:graphicFrame>
        <p:nvGraphicFramePr>
          <p:cNvPr id="630" name="Google Shape;630;hfca5d1e675fc023_0_0"/>
          <p:cNvGraphicFramePr/>
          <p:nvPr/>
        </p:nvGraphicFramePr>
        <p:xfrm>
          <a:off x="546100" y="1188720"/>
          <a:ext cx="3000000" cy="3000000"/>
        </p:xfrm>
        <a:graphic>
          <a:graphicData uri="http://schemas.openxmlformats.org/drawingml/2006/table">
            <a:tbl>
              <a:tblPr>
                <a:noFill/>
                <a:tableStyleId>{67C04448-9542-46E3-BF30-04DBAA183EC1}</a:tableStyleId>
              </a:tblPr>
              <a:tblGrid>
                <a:gridCol w="2377450">
                  <a:extLst>
                    <a:ext uri="{9D8B030D-6E8A-4147-A177-3AD203B41FA5}">
                      <a16:colId xmlns:a16="http://schemas.microsoft.com/office/drawing/2014/main" val="20000"/>
                    </a:ext>
                  </a:extLst>
                </a:gridCol>
                <a:gridCol w="2834650">
                  <a:extLst>
                    <a:ext uri="{9D8B030D-6E8A-4147-A177-3AD203B41FA5}">
                      <a16:colId xmlns:a16="http://schemas.microsoft.com/office/drawing/2014/main" val="20001"/>
                    </a:ext>
                  </a:extLst>
                </a:gridCol>
                <a:gridCol w="2834650">
                  <a:extLst>
                    <a:ext uri="{9D8B030D-6E8A-4147-A177-3AD203B41FA5}">
                      <a16:colId xmlns:a16="http://schemas.microsoft.com/office/drawing/2014/main" val="20002"/>
                    </a:ext>
                  </a:extLst>
                </a:gridCol>
              </a:tblGrid>
              <a:tr h="314500">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555555"/>
                          </a:solidFill>
                        </a:rPr>
                        <a:t>Author</a:t>
                      </a:r>
                      <a:endParaRPr sz="1400" u="none" strike="noStrike" cap="none"/>
                    </a:p>
                  </a:txBody>
                  <a:tcPr marL="45725" marR="91450" marT="54875" marB="54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555555"/>
                          </a:solidFill>
                        </a:rPr>
                        <a:t>Book</a:t>
                      </a:r>
                      <a:endParaRPr sz="1400" u="none" strike="noStrike" cap="none"/>
                    </a:p>
                  </a:txBody>
                  <a:tcPr marL="45725" marR="91450" marT="54875" marB="54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555555"/>
                          </a:solidFill>
                        </a:rPr>
                        <a:t>Style</a:t>
                      </a:r>
                      <a:endParaRPr sz="1400" u="none" strike="noStrike" cap="none"/>
                    </a:p>
                  </a:txBody>
                  <a:tcPr marL="45725" marR="91450" marT="54875" marB="54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566925">
                <a:tc>
                  <a:txBody>
                    <a:bodyPr/>
                    <a:lstStyle/>
                    <a:p>
                      <a:pPr marL="0" marR="0" lvl="0" indent="0" algn="l" rtl="0">
                        <a:lnSpc>
                          <a:spcPct val="100000"/>
                        </a:lnSpc>
                        <a:spcBef>
                          <a:spcPts val="0"/>
                        </a:spcBef>
                        <a:spcAft>
                          <a:spcPts val="0"/>
                        </a:spcAft>
                        <a:buClr>
                          <a:srgbClr val="6E6020"/>
                        </a:buClr>
                        <a:buSzPts val="1800"/>
                        <a:buFont typeface="Arial"/>
                        <a:buNone/>
                      </a:pPr>
                      <a:r>
                        <a:rPr lang="en-US" sz="1600" b="1" i="0" u="none" strike="noStrike" cap="none">
                          <a:solidFill>
                            <a:srgbClr val="222222"/>
                          </a:solidFill>
                        </a:rPr>
                        <a:t>Peter Lynch</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One Up on Wall Street</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Growth at a reasonable price</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1"/>
                  </a:ext>
                </a:extLst>
              </a:tr>
              <a:tr h="566925">
                <a:tc>
                  <a:txBody>
                    <a:bodyPr/>
                    <a:lstStyle/>
                    <a:p>
                      <a:pPr marL="0" marR="0" lvl="0" indent="0" algn="l" rtl="0">
                        <a:lnSpc>
                          <a:spcPct val="100000"/>
                        </a:lnSpc>
                        <a:spcBef>
                          <a:spcPts val="0"/>
                        </a:spcBef>
                        <a:spcAft>
                          <a:spcPts val="0"/>
                        </a:spcAft>
                        <a:buClr>
                          <a:srgbClr val="6E6020"/>
                        </a:buClr>
                        <a:buSzPts val="1800"/>
                        <a:buFont typeface="Arial"/>
                        <a:buNone/>
                      </a:pPr>
                      <a:r>
                        <a:rPr lang="en-US" sz="1600" b="1" i="0" u="none" strike="noStrike" cap="none">
                          <a:solidFill>
                            <a:srgbClr val="222222"/>
                          </a:solidFill>
                        </a:rPr>
                        <a:t>Thornton L. O’glove</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Quality of Earnings</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Forensic accounting</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2"/>
                  </a:ext>
                </a:extLst>
              </a:tr>
              <a:tr h="566925">
                <a:tc>
                  <a:txBody>
                    <a:bodyPr/>
                    <a:lstStyle/>
                    <a:p>
                      <a:pPr marL="0" marR="0" lvl="0" indent="0" algn="l" rtl="0">
                        <a:lnSpc>
                          <a:spcPct val="100000"/>
                        </a:lnSpc>
                        <a:spcBef>
                          <a:spcPts val="0"/>
                        </a:spcBef>
                        <a:spcAft>
                          <a:spcPts val="0"/>
                        </a:spcAft>
                        <a:buClr>
                          <a:srgbClr val="6E6020"/>
                        </a:buClr>
                        <a:buSzPts val="1800"/>
                        <a:buFont typeface="Arial"/>
                        <a:buNone/>
                      </a:pPr>
                      <a:r>
                        <a:rPr lang="en-US" sz="1600" b="1" i="0" u="none" strike="noStrike" cap="none">
                          <a:solidFill>
                            <a:srgbClr val="222222"/>
                          </a:solidFill>
                        </a:rPr>
                        <a:t>Benjamin Graham</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Security Analysis</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Deep value, margin of safety</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3"/>
                  </a:ext>
                </a:extLst>
              </a:tr>
              <a:tr h="566925">
                <a:tc>
                  <a:txBody>
                    <a:bodyPr/>
                    <a:lstStyle/>
                    <a:p>
                      <a:pPr marL="0" marR="0" lvl="0" indent="0" algn="l" rtl="0">
                        <a:lnSpc>
                          <a:spcPct val="100000"/>
                        </a:lnSpc>
                        <a:spcBef>
                          <a:spcPts val="0"/>
                        </a:spcBef>
                        <a:spcAft>
                          <a:spcPts val="0"/>
                        </a:spcAft>
                        <a:buClr>
                          <a:srgbClr val="6E6020"/>
                        </a:buClr>
                        <a:buSzPts val="1800"/>
                        <a:buFont typeface="Arial"/>
                        <a:buNone/>
                      </a:pPr>
                      <a:r>
                        <a:rPr lang="en-US" sz="1600" b="1" i="0" u="none" strike="noStrike" cap="none">
                          <a:solidFill>
                            <a:srgbClr val="222222"/>
                          </a:solidFill>
                        </a:rPr>
                        <a:t>Nassim Taleb</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The Black Swan</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Tail risk, barbell</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4"/>
                  </a:ext>
                </a:extLst>
              </a:tr>
              <a:tr h="566925">
                <a:tc>
                  <a:txBody>
                    <a:bodyPr/>
                    <a:lstStyle/>
                    <a:p>
                      <a:pPr marL="0" marR="0" lvl="0" indent="0" algn="l" rtl="0">
                        <a:lnSpc>
                          <a:spcPct val="100000"/>
                        </a:lnSpc>
                        <a:spcBef>
                          <a:spcPts val="0"/>
                        </a:spcBef>
                        <a:spcAft>
                          <a:spcPts val="0"/>
                        </a:spcAft>
                        <a:buClr>
                          <a:srgbClr val="6E6020"/>
                        </a:buClr>
                        <a:buSzPts val="1800"/>
                        <a:buFont typeface="Arial"/>
                        <a:buNone/>
                      </a:pPr>
                      <a:r>
                        <a:rPr lang="en-US" sz="1600" b="1" i="0" u="none" strike="noStrike" cap="none">
                          <a:solidFill>
                            <a:srgbClr val="222222"/>
                          </a:solidFill>
                        </a:rPr>
                        <a:t>Morgan Housel</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The Psychology of Money</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Behavioral finance</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5"/>
                  </a:ext>
                </a:extLst>
              </a:tr>
              <a:tr h="566925">
                <a:tc>
                  <a:txBody>
                    <a:bodyPr/>
                    <a:lstStyle/>
                    <a:p>
                      <a:pPr marL="0" marR="0" lvl="0" indent="0" algn="l" rtl="0">
                        <a:lnSpc>
                          <a:spcPct val="100000"/>
                        </a:lnSpc>
                        <a:spcBef>
                          <a:spcPts val="0"/>
                        </a:spcBef>
                        <a:spcAft>
                          <a:spcPts val="0"/>
                        </a:spcAft>
                        <a:buClr>
                          <a:srgbClr val="6E6020"/>
                        </a:buClr>
                        <a:buSzPts val="1800"/>
                        <a:buFont typeface="Arial"/>
                        <a:buNone/>
                      </a:pPr>
                      <a:r>
                        <a:rPr lang="en-US" sz="1600" b="1" i="0" u="none" strike="noStrike" cap="none">
                          <a:solidFill>
                            <a:srgbClr val="222222"/>
                          </a:solidFill>
                        </a:rPr>
                        <a:t>Tim Koller</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Valuation</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800"/>
                        <a:buFont typeface="Arial"/>
                        <a:buNone/>
                      </a:pPr>
                      <a:r>
                        <a:rPr lang="en-US" sz="1600" b="0" i="0" u="none" strike="noStrike" cap="none">
                          <a:solidFill>
                            <a:srgbClr val="222222"/>
                          </a:solidFill>
                        </a:rPr>
                        <a:t>Corporate valuation (DCF)</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631" name="Google Shape;631;hfca5d1e675fc023_0_0"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5"/>
        <p:cNvGrpSpPr/>
        <p:nvPr/>
      </p:nvGrpSpPr>
      <p:grpSpPr>
        <a:xfrm>
          <a:off x="0" y="0"/>
          <a:ext cx="0" cy="0"/>
          <a:chOff x="0" y="0"/>
          <a:chExt cx="0" cy="0"/>
        </a:xfrm>
      </p:grpSpPr>
      <p:sp>
        <p:nvSpPr>
          <p:cNvPr id="636" name="Google Shape;636;p49"/>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Six philosophies, three stocks</a:t>
            </a:r>
            <a:endParaRPr sz="2400" b="0" i="0" u="none" strike="noStrike" cap="none">
              <a:solidFill>
                <a:schemeClr val="dk1"/>
              </a:solidFill>
              <a:latin typeface="Calibri"/>
              <a:ea typeface="Calibri"/>
              <a:cs typeface="Calibri"/>
              <a:sym typeface="Calibri"/>
            </a:endParaRPr>
          </a:p>
        </p:txBody>
      </p:sp>
      <p:graphicFrame>
        <p:nvGraphicFramePr>
          <p:cNvPr id="637" name="Google Shape;637;p49"/>
          <p:cNvGraphicFramePr/>
          <p:nvPr/>
        </p:nvGraphicFramePr>
        <p:xfrm>
          <a:off x="546100" y="1143000"/>
          <a:ext cx="3000000" cy="3000000"/>
        </p:xfrm>
        <a:graphic>
          <a:graphicData uri="http://schemas.openxmlformats.org/drawingml/2006/table">
            <a:tbl>
              <a:tblPr>
                <a:noFill/>
                <a:tableStyleId>{67C04448-9542-46E3-BF30-04DBAA183EC1}</a:tableStyleId>
              </a:tblPr>
              <a:tblGrid>
                <a:gridCol w="1097275">
                  <a:extLst>
                    <a:ext uri="{9D8B030D-6E8A-4147-A177-3AD203B41FA5}">
                      <a16:colId xmlns:a16="http://schemas.microsoft.com/office/drawing/2014/main" val="20000"/>
                    </a:ext>
                  </a:extLst>
                </a:gridCol>
                <a:gridCol w="2331725">
                  <a:extLst>
                    <a:ext uri="{9D8B030D-6E8A-4147-A177-3AD203B41FA5}">
                      <a16:colId xmlns:a16="http://schemas.microsoft.com/office/drawing/2014/main" val="20001"/>
                    </a:ext>
                  </a:extLst>
                </a:gridCol>
                <a:gridCol w="2331725">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31800">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Lens</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Paladin (A)</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Denison (B)</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Kazatomprom (C)</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Lynch</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Track the ramp; don’t overpay</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Own only on milestones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Hard to know from here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O’glove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Cost must show in cash flow</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Inventory sales aren’t mine cash</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Dividends need cash cover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Graham</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No margin of safety at 86x</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Speculative until it produces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Cheap only if we get paid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Taleb</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One mine: one point of failure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Small bet, big upside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Sanctions risk hard to size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4"/>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Housel</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Cash gives room; price doesn’t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Much must go right: keep small</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Size so being wrong is OK</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5"/>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Koller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Mine DCF + PLS option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DCF with delay cases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Country-risk scenarios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638" name="Google Shape;638;p49"/>
          <p:cNvSpPr/>
          <p:nvPr/>
        </p:nvSpPr>
        <p:spPr>
          <a:xfrm>
            <a:off x="546100" y="4754880"/>
            <a:ext cx="8051800" cy="4572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400" b="1" i="0" u="none" strike="noStrike" cap="none">
                <a:solidFill>
                  <a:srgbClr val="6E6020"/>
                </a:solidFill>
                <a:latin typeface="Arial"/>
                <a:ea typeface="Arial"/>
                <a:cs typeface="Arial"/>
                <a:sym typeface="Arial"/>
              </a:rPr>
              <a:t>Agree:</a:t>
            </a:r>
            <a:r>
              <a:rPr lang="en-US" sz="1400" b="0" i="0" u="none" strike="noStrike" cap="none">
                <a:solidFill>
                  <a:srgbClr val="222222"/>
                </a:solidFill>
                <a:latin typeface="Arial"/>
                <a:ea typeface="Arial"/>
                <a:cs typeface="Arial"/>
                <a:sym typeface="Arial"/>
              </a:rPr>
              <a:t> Paladin is best, but re-test the price; DNN and KAP stay small.</a:t>
            </a:r>
            <a:endParaRPr sz="1400" b="0" i="0" u="none" strike="noStrike" cap="none">
              <a:solidFill>
                <a:srgbClr val="000000"/>
              </a:solidFill>
              <a:latin typeface="Arial"/>
              <a:ea typeface="Arial"/>
              <a:cs typeface="Arial"/>
              <a:sym typeface="Arial"/>
            </a:endParaRPr>
          </a:p>
        </p:txBody>
      </p:sp>
      <p:sp>
        <p:nvSpPr>
          <p:cNvPr id="639" name="Google Shape;639;p49"/>
          <p:cNvSpPr/>
          <p:nvPr/>
        </p:nvSpPr>
        <p:spPr>
          <a:xfrm>
            <a:off x="546100" y="5349240"/>
            <a:ext cx="8051800" cy="4572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400" b="1" i="0" u="none" strike="noStrike" cap="none">
                <a:solidFill>
                  <a:srgbClr val="6E6020"/>
                </a:solidFill>
                <a:latin typeface="Arial"/>
                <a:ea typeface="Arial"/>
                <a:cs typeface="Arial"/>
                <a:sym typeface="Arial"/>
              </a:rPr>
              <a:t>Differ:</a:t>
            </a:r>
            <a:r>
              <a:rPr lang="en-US" sz="1400" b="0" i="0" u="none" strike="noStrike" cap="none">
                <a:solidFill>
                  <a:srgbClr val="222222"/>
                </a:solidFill>
                <a:latin typeface="Arial"/>
                <a:ea typeface="Arial"/>
                <a:cs typeface="Arial"/>
                <a:sym typeface="Arial"/>
              </a:rPr>
              <a:t> Taleb likes Denison’s upside; Graham and O’glove want cash first.</a:t>
            </a:r>
            <a:endParaRPr sz="1400" b="0" i="0" u="none" strike="noStrike" cap="none">
              <a:solidFill>
                <a:srgbClr val="000000"/>
              </a:solidFill>
              <a:latin typeface="Arial"/>
              <a:ea typeface="Arial"/>
              <a:cs typeface="Arial"/>
              <a:sym typeface="Arial"/>
            </a:endParaRPr>
          </a:p>
        </p:txBody>
      </p:sp>
      <p:pic>
        <p:nvPicPr>
          <p:cNvPr id="640" name="Google Shape;640;p49"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4"/>
        <p:cNvGrpSpPr/>
        <p:nvPr/>
      </p:nvGrpSpPr>
      <p:grpSpPr>
        <a:xfrm>
          <a:off x="0" y="0"/>
          <a:ext cx="0" cy="0"/>
          <a:chOff x="0" y="0"/>
          <a:chExt cx="0" cy="0"/>
        </a:xfrm>
      </p:grpSpPr>
      <p:sp>
        <p:nvSpPr>
          <p:cNvPr id="645" name="Google Shape;645;p50"/>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Catalysts to watch and scenarios</a:t>
            </a:r>
            <a:endParaRPr sz="2400" b="0" i="0" u="none" strike="noStrike" cap="none">
              <a:solidFill>
                <a:schemeClr val="dk1"/>
              </a:solidFill>
              <a:latin typeface="Calibri"/>
              <a:ea typeface="Calibri"/>
              <a:cs typeface="Calibri"/>
              <a:sym typeface="Calibri"/>
            </a:endParaRPr>
          </a:p>
        </p:txBody>
      </p:sp>
      <p:graphicFrame>
        <p:nvGraphicFramePr>
          <p:cNvPr id="646" name="Google Shape;646;p50"/>
          <p:cNvGraphicFramePr/>
          <p:nvPr/>
        </p:nvGraphicFramePr>
        <p:xfrm>
          <a:off x="546100" y="1143000"/>
          <a:ext cx="3000000" cy="3000000"/>
        </p:xfrm>
        <a:graphic>
          <a:graphicData uri="http://schemas.openxmlformats.org/drawingml/2006/table">
            <a:tbl>
              <a:tblPr>
                <a:noFill/>
                <a:tableStyleId>{73E05E1D-DC12-4CE8-90A4-E3FEB1B50801}</a:tableStyleId>
              </a:tblPr>
              <a:tblGrid>
                <a:gridCol w="82295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965950">
                  <a:extLst>
                    <a:ext uri="{9D8B030D-6E8A-4147-A177-3AD203B41FA5}">
                      <a16:colId xmlns:a16="http://schemas.microsoft.com/office/drawing/2014/main" val="20002"/>
                    </a:ext>
                  </a:extLst>
                </a:gridCol>
                <a:gridCol w="1920250">
                  <a:extLst>
                    <a:ext uri="{9D8B030D-6E8A-4147-A177-3AD203B41FA5}">
                      <a16:colId xmlns:a16="http://schemas.microsoft.com/office/drawing/2014/main" val="20003"/>
                    </a:ext>
                  </a:extLst>
                </a:gridCol>
                <a:gridCol w="1965950">
                  <a:extLst>
                    <a:ext uri="{9D8B030D-6E8A-4147-A177-3AD203B41FA5}">
                      <a16:colId xmlns:a16="http://schemas.microsoft.com/office/drawing/2014/main" val="20004"/>
                    </a:ext>
                  </a:extLst>
                </a:gridCol>
              </a:tblGrid>
              <a:tr h="431800">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Case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Spot / Term</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Paladin (A)</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Denison (B)</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Kazatomprom (C)</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1500" b="1" i="0" u="none" strike="noStrike" cap="none">
                          <a:solidFill>
                            <a:srgbClr val="222222"/>
                          </a:solidFill>
                          <a:latin typeface="Arial"/>
                          <a:ea typeface="Arial"/>
                          <a:cs typeface="Arial"/>
                          <a:sym typeface="Arial"/>
                        </a:rPr>
                        <a:t>Bear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$60 / $75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Margin squeezed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Funding pressure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Costs squeeze margin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1500" b="1" i="0" u="none" strike="noStrike" cap="none">
                          <a:solidFill>
                            <a:srgbClr val="222222"/>
                          </a:solidFill>
                          <a:latin typeface="Arial"/>
                          <a:ea typeface="Arial"/>
                          <a:cs typeface="Arial"/>
                          <a:sym typeface="Arial"/>
                        </a:rPr>
                        <a:t>Base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$95 / $100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Ramp lifts cash</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Value builds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Solid if costs hold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1500" b="1" i="0" u="none" strike="noStrike" cap="none">
                          <a:solidFill>
                            <a:srgbClr val="222222"/>
                          </a:solidFill>
                          <a:latin typeface="Arial"/>
                          <a:ea typeface="Arial"/>
                          <a:cs typeface="Arial"/>
                          <a:sym typeface="Arial"/>
                        </a:rPr>
                        <a:t>Bull</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$120 / $115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More cash, lagged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Most upside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500" b="0" i="0" u="none" strike="noStrike" cap="none">
                          <a:solidFill>
                            <a:srgbClr val="222222"/>
                          </a:solidFill>
                          <a:latin typeface="Arial"/>
                          <a:ea typeface="Arial"/>
                          <a:cs typeface="Arial"/>
                          <a:sym typeface="Arial"/>
                        </a:rPr>
                        <a:t>More cash if paid out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647" name="Google Shape;647;p50"/>
          <p:cNvSpPr/>
          <p:nvPr/>
        </p:nvSpPr>
        <p:spPr>
          <a:xfrm>
            <a:off x="546100" y="3291840"/>
            <a:ext cx="8051800" cy="4572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400" b="1" i="0" u="none" strike="noStrike" cap="none">
                <a:solidFill>
                  <a:srgbClr val="6E6020"/>
                </a:solidFill>
                <a:latin typeface="Arial"/>
                <a:ea typeface="Arial"/>
                <a:cs typeface="Arial"/>
                <a:sym typeface="Arial"/>
              </a:rPr>
              <a:t>Next 90 days:</a:t>
            </a:r>
            <a:r>
              <a:rPr lang="en-US" sz="1400" b="0" i="0" u="none" strike="noStrike" cap="none">
                <a:solidFill>
                  <a:srgbClr val="222222"/>
                </a:solidFill>
                <a:latin typeface="Arial"/>
                <a:ea typeface="Arial"/>
                <a:cs typeface="Arial"/>
                <a:sym typeface="Arial"/>
              </a:rPr>
              <a:t> Paladin report (~Oct 21–22), AGM (Nov 17), sleeve review (Nov 9).</a:t>
            </a:r>
            <a:endParaRPr sz="1400" b="0" i="0" u="none" strike="noStrike" cap="none">
              <a:solidFill>
                <a:srgbClr val="000000"/>
              </a:solidFill>
              <a:latin typeface="Arial"/>
              <a:ea typeface="Arial"/>
              <a:cs typeface="Arial"/>
              <a:sym typeface="Arial"/>
            </a:endParaRPr>
          </a:p>
        </p:txBody>
      </p:sp>
      <p:sp>
        <p:nvSpPr>
          <p:cNvPr id="648" name="Google Shape;648;p50"/>
          <p:cNvSpPr/>
          <p:nvPr/>
        </p:nvSpPr>
        <p:spPr>
          <a:xfrm>
            <a:off x="546100" y="3886200"/>
            <a:ext cx="8051800" cy="4572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400" b="1" i="0" u="none" strike="noStrike" cap="none">
                <a:solidFill>
                  <a:srgbClr val="6E6020"/>
                </a:solidFill>
                <a:latin typeface="Arial"/>
                <a:ea typeface="Arial"/>
                <a:cs typeface="Arial"/>
                <a:sym typeface="Arial"/>
              </a:rPr>
              <a:t>Through 2027:</a:t>
            </a:r>
            <a:r>
              <a:rPr lang="en-US" sz="1400" b="0" i="0" u="none" strike="noStrike" cap="none">
                <a:solidFill>
                  <a:srgbClr val="222222"/>
                </a:solidFill>
                <a:latin typeface="Arial"/>
                <a:ea typeface="Arial"/>
                <a:cs typeface="Arial"/>
                <a:sym typeface="Arial"/>
              </a:rPr>
              <a:t> Phoenix build, PLS licensing, Kazatomprom costs.</a:t>
            </a:r>
            <a:endParaRPr sz="1400" b="0" i="0" u="none" strike="noStrike" cap="none">
              <a:solidFill>
                <a:srgbClr val="000000"/>
              </a:solidFill>
              <a:latin typeface="Arial"/>
              <a:ea typeface="Arial"/>
              <a:cs typeface="Arial"/>
              <a:sym typeface="Arial"/>
            </a:endParaRPr>
          </a:p>
        </p:txBody>
      </p:sp>
      <p:sp>
        <p:nvSpPr>
          <p:cNvPr id="649" name="Google Shape;649;p50"/>
          <p:cNvSpPr/>
          <p:nvPr/>
        </p:nvSpPr>
        <p:spPr>
          <a:xfrm>
            <a:off x="546100" y="4480560"/>
            <a:ext cx="8051800" cy="4572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400" b="1" i="0" u="none" strike="noStrike" cap="none">
                <a:solidFill>
                  <a:srgbClr val="6E6020"/>
                </a:solidFill>
                <a:latin typeface="Arial"/>
                <a:ea typeface="Arial"/>
                <a:cs typeface="Arial"/>
                <a:sym typeface="Arial"/>
              </a:rPr>
              <a:t>2028:</a:t>
            </a:r>
            <a:r>
              <a:rPr lang="en-US" sz="1400" b="0" i="0" u="none" strike="noStrike" cap="none">
                <a:solidFill>
                  <a:srgbClr val="222222"/>
                </a:solidFill>
                <a:latin typeface="Arial"/>
                <a:ea typeface="Arial"/>
                <a:cs typeface="Arial"/>
                <a:sym typeface="Arial"/>
              </a:rPr>
              <a:t> Russian-uranium waivers end; Phoenix first output.</a:t>
            </a:r>
            <a:endParaRPr sz="1400" b="0" i="0" u="none" strike="noStrike" cap="none">
              <a:solidFill>
                <a:srgbClr val="000000"/>
              </a:solidFill>
              <a:latin typeface="Arial"/>
              <a:ea typeface="Arial"/>
              <a:cs typeface="Arial"/>
              <a:sym typeface="Arial"/>
            </a:endParaRPr>
          </a:p>
        </p:txBody>
      </p:sp>
      <p:pic>
        <p:nvPicPr>
          <p:cNvPr id="650" name="Google Shape;650;p50"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51"/>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200" b="1" i="0" u="none" strike="noStrike" cap="none">
                <a:solidFill>
                  <a:srgbClr val="000000"/>
                </a:solidFill>
                <a:latin typeface="Arial"/>
                <a:ea typeface="Arial"/>
                <a:cs typeface="Arial"/>
                <a:sym typeface="Arial"/>
              </a:rPr>
              <a:t>Council Review: pressure-testing the Long call</a:t>
            </a:r>
            <a:endParaRPr sz="2400" b="0" i="0" u="none" strike="noStrike" cap="none">
              <a:solidFill>
                <a:schemeClr val="dk1"/>
              </a:solidFill>
              <a:latin typeface="Calibri"/>
              <a:ea typeface="Calibri"/>
              <a:cs typeface="Calibri"/>
              <a:sym typeface="Calibri"/>
            </a:endParaRPr>
          </a:p>
        </p:txBody>
      </p:sp>
      <p:sp>
        <p:nvSpPr>
          <p:cNvPr id="656" name="Google Shape;656;p51"/>
          <p:cNvSpPr/>
          <p:nvPr/>
        </p:nvSpPr>
        <p:spPr>
          <a:xfrm>
            <a:off x="5461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7" name="Google Shape;657;p51"/>
          <p:cNvSpPr txBox="1"/>
          <p:nvPr/>
        </p:nvSpPr>
        <p:spPr>
          <a:xfrm>
            <a:off x="1063625"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What the Council found</a:t>
            </a:r>
            <a:endParaRPr sz="1400" b="0" i="0" u="none" strike="noStrike" cap="none">
              <a:solidFill>
                <a:srgbClr val="000000"/>
              </a:solidFill>
              <a:latin typeface="Arial"/>
              <a:ea typeface="Arial"/>
              <a:cs typeface="Arial"/>
              <a:sym typeface="Arial"/>
            </a:endParaRPr>
          </a:p>
        </p:txBody>
      </p:sp>
      <p:sp>
        <p:nvSpPr>
          <p:cNvPr id="658" name="Google Shape;658;p51"/>
          <p:cNvSpPr txBox="1"/>
          <p:nvPr/>
        </p:nvSpPr>
        <p:spPr>
          <a:xfrm>
            <a:off x="749300" y="1778000"/>
            <a:ext cx="3492500" cy="2926080"/>
          </a:xfrm>
          <a:prstGeom prst="rect">
            <a:avLst/>
          </a:prstGeom>
          <a:noFill/>
          <a:ln>
            <a:noFill/>
          </a:ln>
        </p:spPr>
        <p:txBody>
          <a:bodyPr spcFirstLastPara="1" wrap="square" lIns="0" tIns="0" rIns="0" bIns="0" anchor="t" anchorCtr="0">
            <a:noAutofit/>
          </a:bodyPr>
          <a:lstStyle/>
          <a:p>
            <a:pPr marL="228600" marR="0" lvl="0" indent="-228600" algn="l" rtl="0">
              <a:lnSpc>
                <a:spcPct val="100000"/>
              </a:lnSpc>
              <a:spcBef>
                <a:spcPts val="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Am I Deluded? Not yet: 3 of 7 names ranked</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Attack the Deal: 20% gate had no valuation</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Stress Test: a 61x P/E can compress</a:t>
            </a:r>
            <a:endParaRPr sz="18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1200"/>
              </a:spcAft>
              <a:buClr>
                <a:srgbClr val="6E6020"/>
              </a:buClr>
              <a:buSzPts val="1800"/>
              <a:buFont typeface="Arial"/>
              <a:buChar char="•"/>
            </a:pPr>
            <a:r>
              <a:rPr lang="en-US" sz="1800" b="0" i="0" u="none" strike="noStrike" cap="none">
                <a:solidFill>
                  <a:srgbClr val="222222"/>
                </a:solidFill>
                <a:latin typeface="Arial"/>
                <a:ea typeface="Arial"/>
                <a:cs typeface="Arial"/>
                <a:sym typeface="Arial"/>
              </a:rPr>
              <a:t>Read My Excuse: KAP delay real; CCJ’s avoidable</a:t>
            </a:r>
            <a:endParaRPr sz="1800" b="0" i="0" u="none" strike="noStrike" cap="none">
              <a:solidFill>
                <a:srgbClr val="000000"/>
              </a:solidFill>
              <a:latin typeface="Arial"/>
              <a:ea typeface="Arial"/>
              <a:cs typeface="Arial"/>
              <a:sym typeface="Arial"/>
            </a:endParaRPr>
          </a:p>
        </p:txBody>
      </p:sp>
      <p:sp>
        <p:nvSpPr>
          <p:cNvPr id="659" name="Google Shape;659;p51"/>
          <p:cNvSpPr/>
          <p:nvPr/>
        </p:nvSpPr>
        <p:spPr>
          <a:xfrm>
            <a:off x="47244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60" name="Google Shape;660;p51"/>
          <p:cNvSpPr txBox="1"/>
          <p:nvPr/>
        </p:nvSpPr>
        <p:spPr>
          <a:xfrm>
            <a:off x="5200650" y="1244600"/>
            <a:ext cx="2921000" cy="457200"/>
          </a:xfrm>
          <a:prstGeom prst="rect">
            <a:avLst/>
          </a:prstGeom>
          <a:noFill/>
          <a:ln>
            <a:noFill/>
          </a:ln>
        </p:spPr>
        <p:txBody>
          <a:bodyPr spcFirstLastPara="1" wrap="square" lIns="0" tIns="0" rIns="0" bIns="0" anchor="ctr" anchorCtr="0">
            <a:normAutofit fontScale="92500"/>
          </a:bodyPr>
          <a:lstStyle/>
          <a:p>
            <a:pPr marL="0" marR="0" lvl="0" indent="0" algn="l" rtl="0">
              <a:lnSpc>
                <a:spcPct val="100000"/>
              </a:lnSpc>
              <a:spcBef>
                <a:spcPts val="0"/>
              </a:spcBef>
              <a:spcAft>
                <a:spcPts val="0"/>
              </a:spcAft>
              <a:buClr>
                <a:srgbClr val="6E6020"/>
              </a:buClr>
              <a:buSzPct val="108108"/>
              <a:buFont typeface="Arial"/>
              <a:buNone/>
            </a:pPr>
            <a:r>
              <a:rPr lang="en-US" sz="2000" b="1" i="0" u="none" strike="noStrike" cap="none">
                <a:solidFill>
                  <a:srgbClr val="6E6020"/>
                </a:solidFill>
                <a:latin typeface="Arial"/>
                <a:ea typeface="Arial"/>
                <a:cs typeface="Arial"/>
                <a:sym typeface="Arial"/>
              </a:rPr>
              <a:t>What changed as a result</a:t>
            </a:r>
            <a:endParaRPr sz="1400" b="0" i="0" u="none" strike="noStrike" cap="none">
              <a:solidFill>
                <a:srgbClr val="000000"/>
              </a:solidFill>
              <a:latin typeface="Arial"/>
              <a:ea typeface="Arial"/>
              <a:cs typeface="Arial"/>
              <a:sym typeface="Arial"/>
            </a:endParaRPr>
          </a:p>
        </p:txBody>
      </p:sp>
      <p:sp>
        <p:nvSpPr>
          <p:cNvPr id="661" name="Google Shape;661;p51"/>
          <p:cNvSpPr txBox="1"/>
          <p:nvPr/>
        </p:nvSpPr>
        <p:spPr>
          <a:xfrm>
            <a:off x="4927600" y="1778000"/>
            <a:ext cx="3492500" cy="2926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Ranking: </a:t>
            </a:r>
            <a:r>
              <a:rPr lang="en-US" sz="1800" b="0" i="0" u="none" strike="noStrike" cap="none">
                <a:solidFill>
                  <a:srgbClr val="222222"/>
                </a:solidFill>
                <a:latin typeface="Arial"/>
                <a:ea typeface="Arial"/>
                <a:cs typeface="Arial"/>
                <a:sym typeface="Arial"/>
              </a:rPr>
              <a:t>all seven re-scored; Paladin leads</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SPUT: </a:t>
            </a:r>
            <a:r>
              <a:rPr lang="en-US" sz="1800" b="0" i="0" u="none" strike="noStrike" cap="none">
                <a:solidFill>
                  <a:srgbClr val="222222"/>
                </a:solidFill>
                <a:latin typeface="Arial"/>
                <a:ea typeface="Arial"/>
                <a:cs typeface="Arial"/>
                <a:sym typeface="Arial"/>
              </a:rPr>
              <a:t>moved to the Alternative</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800" b="1" i="0" u="none" strike="noStrike" cap="none">
                <a:solidFill>
                  <a:srgbClr val="6E6020"/>
                </a:solidFill>
                <a:latin typeface="Arial"/>
                <a:ea typeface="Arial"/>
                <a:cs typeface="Arial"/>
                <a:sym typeface="Arial"/>
              </a:rPr>
              <a:t>Re-test: </a:t>
            </a:r>
            <a:r>
              <a:rPr lang="en-US" sz="1800" b="0" i="0" u="none" strike="noStrike" cap="none">
                <a:solidFill>
                  <a:srgbClr val="222222"/>
                </a:solidFill>
                <a:latin typeface="Arial"/>
                <a:ea typeface="Arial"/>
                <a:cs typeface="Arial"/>
                <a:sym typeface="Arial"/>
              </a:rPr>
              <a:t>Paladin +8%: Watchlist</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1200"/>
              </a:spcAft>
              <a:buClr>
                <a:srgbClr val="6E6020"/>
              </a:buClr>
              <a:buSzPts val="1800"/>
              <a:buFont typeface="Arial"/>
              <a:buNone/>
            </a:pPr>
            <a:r>
              <a:rPr lang="en-US" sz="1800" b="1" i="0" u="none" strike="noStrike" cap="none">
                <a:solidFill>
                  <a:srgbClr val="6E6020"/>
                </a:solidFill>
                <a:latin typeface="Arial"/>
                <a:ea typeface="Arial"/>
                <a:cs typeface="Arial"/>
                <a:sym typeface="Arial"/>
              </a:rPr>
              <a:t>Sign-off: </a:t>
            </a:r>
            <a:r>
              <a:rPr lang="en-US" sz="1800" b="0" i="0" u="none" strike="noStrike" cap="none">
                <a:solidFill>
                  <a:srgbClr val="222222"/>
                </a:solidFill>
                <a:latin typeface="Arial"/>
                <a:ea typeface="Arial"/>
                <a:cs typeface="Arial"/>
                <a:sym typeface="Arial"/>
              </a:rPr>
              <a:t>Xiaowen Chen, Sep 27</a:t>
            </a:r>
            <a:endParaRPr sz="1800" b="0" i="0" u="none" strike="noStrike" cap="none">
              <a:solidFill>
                <a:srgbClr val="000000"/>
              </a:solidFill>
              <a:latin typeface="Arial"/>
              <a:ea typeface="Arial"/>
              <a:cs typeface="Arial"/>
              <a:sym typeface="Arial"/>
            </a:endParaRPr>
          </a:p>
        </p:txBody>
      </p:sp>
      <p:sp>
        <p:nvSpPr>
          <p:cNvPr id="662" name="Google Shape;662;p51"/>
          <p:cNvSpPr/>
          <p:nvPr/>
        </p:nvSpPr>
        <p:spPr>
          <a:xfrm>
            <a:off x="546100" y="5120640"/>
            <a:ext cx="8051800" cy="685800"/>
          </a:xfrm>
          <a:prstGeom prst="roundRect">
            <a:avLst>
              <a:gd name="adj" fmla="val 10000"/>
            </a:avLst>
          </a:prstGeom>
          <a:no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63" name="Google Shape;663;p51"/>
          <p:cNvSpPr txBox="1"/>
          <p:nvPr/>
        </p:nvSpPr>
        <p:spPr>
          <a:xfrm>
            <a:off x="749300" y="5184648"/>
            <a:ext cx="764540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Still open: </a:t>
            </a:r>
            <a:r>
              <a:rPr lang="en-US" sz="1400" b="0" i="0" u="none" strike="noStrike" cap="none">
                <a:solidFill>
                  <a:srgbClr val="222222"/>
                </a:solidFill>
                <a:latin typeface="Arial"/>
                <a:ea typeface="Arial"/>
                <a:cs typeface="Arial"/>
                <a:sym typeface="Arial"/>
              </a:rPr>
              <a:t>Cameco valuation (Oct 30), KAP access, Denison funding.</a:t>
            </a:r>
            <a:endParaRPr sz="1400" b="0" i="0" u="none" strike="noStrike" cap="none">
              <a:solidFill>
                <a:srgbClr val="000000"/>
              </a:solidFill>
              <a:latin typeface="Arial"/>
              <a:ea typeface="Arial"/>
              <a:cs typeface="Arial"/>
              <a:sym typeface="Arial"/>
            </a:endParaRPr>
          </a:p>
        </p:txBody>
      </p:sp>
      <p:pic>
        <p:nvPicPr>
          <p:cNvPr id="664" name="Google Shape;664;p51"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665" name="Google Shape;665;p51"/>
          <p:cNvSpPr txBox="1"/>
          <p:nvPr/>
        </p:nvSpPr>
        <p:spPr>
          <a:xfrm>
            <a:off x="685800" y="6355080"/>
            <a:ext cx="79095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050"/>
              <a:buFont typeface="Arial"/>
              <a:buNone/>
            </a:pPr>
            <a:r>
              <a:rPr lang="en-US" sz="1050" b="0" i="0" u="none" strike="noStrike" cap="none">
                <a:solidFill>
                  <a:srgbClr val="555555"/>
                </a:solidFill>
                <a:latin typeface="Arial"/>
                <a:ea typeface="Arial"/>
                <a:cs typeface="Arial"/>
                <a:sym typeface="Arial"/>
              </a:rPr>
              <a:t>Analysis: Xiaowen Chen; slide: Claude</a:t>
            </a:r>
            <a:endParaRPr sz="1050" b="0" i="0" u="none" strike="noStrike" cap="none">
              <a:solidFill>
                <a:schemeClr val="dk1"/>
              </a:solidFill>
              <a:latin typeface="Calibri"/>
              <a:ea typeface="Calibri"/>
              <a:cs typeface="Calibri"/>
              <a:sym typeface="Calibri"/>
            </a:endParaRPr>
          </a:p>
        </p:txBody>
      </p:sp>
      <p:sp>
        <p:nvSpPr>
          <p:cNvPr id="666" name="Google Shape;666;p51" descr="Thesis icon"/>
          <p:cNvSpPr/>
          <p:nvPr/>
        </p:nvSpPr>
        <p:spPr>
          <a:xfrm>
            <a:off x="8509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51" descr="Execution plan icon"/>
          <p:cNvSpPr/>
          <p:nvPr/>
        </p:nvSpPr>
        <p:spPr>
          <a:xfrm>
            <a:off x="50292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1"/>
        <p:cNvGrpSpPr/>
        <p:nvPr/>
      </p:nvGrpSpPr>
      <p:grpSpPr>
        <a:xfrm>
          <a:off x="0" y="0"/>
          <a:ext cx="0" cy="0"/>
          <a:chOff x="0" y="0"/>
          <a:chExt cx="0" cy="0"/>
        </a:xfrm>
      </p:grpSpPr>
      <p:sp>
        <p:nvSpPr>
          <p:cNvPr id="672" name="Google Shape;672;p21"/>
          <p:cNvSpPr/>
          <p:nvPr/>
        </p:nvSpPr>
        <p:spPr>
          <a:xfrm>
            <a:off x="548640" y="2788920"/>
            <a:ext cx="109728" cy="1280160"/>
          </a:xfrm>
          <a:prstGeom prst="rect">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3" name="Google Shape;673;p21"/>
          <p:cNvSpPr txBox="1"/>
          <p:nvPr/>
        </p:nvSpPr>
        <p:spPr>
          <a:xfrm>
            <a:off x="868680" y="2651760"/>
            <a:ext cx="7680960" cy="1554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Arial"/>
                <a:ea typeface="Arial"/>
                <a:cs typeface="Arial"/>
                <a:sym typeface="Arial"/>
              </a:rPr>
              <a:t>Alternative Investment: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Arial"/>
                <a:ea typeface="Arial"/>
                <a:cs typeface="Arial"/>
                <a:sym typeface="Arial"/>
              </a:rPr>
              <a:t>Vertical Supply Chain</a:t>
            </a:r>
            <a:endParaRPr sz="3600" b="0" i="0" u="none" strike="noStrike" cap="none">
              <a:solidFill>
                <a:schemeClr val="dk1"/>
              </a:solidFill>
              <a:latin typeface="Calibri"/>
              <a:ea typeface="Calibri"/>
              <a:cs typeface="Calibri"/>
              <a:sym typeface="Calibri"/>
            </a:endParaRPr>
          </a:p>
        </p:txBody>
      </p:sp>
      <p:pic>
        <p:nvPicPr>
          <p:cNvPr id="674" name="Google Shape;674;p21"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52"/>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How the six qualified as Alternatives</a:t>
            </a:r>
            <a:endParaRPr sz="2400" b="0" i="0" u="none" strike="noStrike" cap="none">
              <a:solidFill>
                <a:schemeClr val="dk1"/>
              </a:solidFill>
              <a:latin typeface="Calibri"/>
              <a:ea typeface="Calibri"/>
              <a:cs typeface="Calibri"/>
              <a:sym typeface="Calibri"/>
            </a:endParaRPr>
          </a:p>
        </p:txBody>
      </p:sp>
      <p:graphicFrame>
        <p:nvGraphicFramePr>
          <p:cNvPr id="680" name="Google Shape;680;p52"/>
          <p:cNvGraphicFramePr/>
          <p:nvPr/>
        </p:nvGraphicFramePr>
        <p:xfrm>
          <a:off x="546100" y="1143000"/>
          <a:ext cx="8046750" cy="2858980"/>
        </p:xfrm>
        <a:graphic>
          <a:graphicData uri="http://schemas.openxmlformats.org/drawingml/2006/table">
            <a:tbl>
              <a:tblPr>
                <a:noFill/>
                <a:tableStyleId>{67C04448-9542-46E3-BF30-04DBAA183EC1}</a:tableStyleId>
              </a:tblPr>
              <a:tblGrid>
                <a:gridCol w="77725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91850">
                  <a:extLst>
                    <a:ext uri="{9D8B030D-6E8A-4147-A177-3AD203B41FA5}">
                      <a16:colId xmlns:a16="http://schemas.microsoft.com/office/drawing/2014/main" val="20002"/>
                    </a:ext>
                  </a:extLst>
                </a:gridCol>
                <a:gridCol w="2148850">
                  <a:extLst>
                    <a:ext uri="{9D8B030D-6E8A-4147-A177-3AD203B41FA5}">
                      <a16:colId xmlns:a16="http://schemas.microsoft.com/office/drawing/2014/main" val="20003"/>
                    </a:ext>
                  </a:extLst>
                </a:gridCol>
              </a:tblGrid>
              <a:tr h="310900">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Name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Segment</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Nuclear share of revenue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Result</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41147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SPUT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Physical uranium</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None: holds uranium (98%+ of assets)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Pass: uranium-fund rule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41147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BWXT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Components &amp; services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Gov. Ops segment 73% (FY2025 10-K)</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Pass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41147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CEG</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Generation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~28–38% (est.); not disclosed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Ineligible (estimate)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r h="41147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LEU</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Enrichment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~100% (est.)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Pass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4"/>
                  </a:ext>
                </a:extLst>
              </a:tr>
              <a:tr h="41147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SMR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Advanced reactors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100%, but $10.7M revenue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Pass; no binding orders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5"/>
                  </a:ext>
                </a:extLst>
              </a:tr>
              <a:tr h="411475">
                <a:tc>
                  <a:txBody>
                    <a:bodyPr/>
                    <a:lstStyle/>
                    <a:p>
                      <a:pPr marL="0" marR="0" lvl="0" indent="0" algn="l" rtl="0">
                        <a:lnSpc>
                          <a:spcPct val="100000"/>
                        </a:lnSpc>
                        <a:spcBef>
                          <a:spcPts val="0"/>
                        </a:spcBef>
                        <a:spcAft>
                          <a:spcPts val="0"/>
                        </a:spcAft>
                        <a:buClr>
                          <a:srgbClr val="222222"/>
                        </a:buClr>
                        <a:buSzPts val="1400"/>
                        <a:buFont typeface="Arial"/>
                        <a:buNone/>
                      </a:pPr>
                      <a:r>
                        <a:rPr lang="en-US" sz="1300" b="1" i="0" u="none" strike="noStrike" cap="none">
                          <a:solidFill>
                            <a:srgbClr val="222222"/>
                          </a:solidFill>
                          <a:latin typeface="Arial"/>
                          <a:ea typeface="Arial"/>
                          <a:cs typeface="Arial"/>
                          <a:sym typeface="Arial"/>
                        </a:rPr>
                        <a:t>OKLO</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Advanced reactors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$1.21M services; Meta prepayment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300" b="0" i="0" u="none" strike="noStrike" cap="none">
                          <a:solidFill>
                            <a:srgbClr val="222222"/>
                          </a:solidFill>
                          <a:latin typeface="Arial"/>
                          <a:ea typeface="Arial"/>
                          <a:cs typeface="Arial"/>
                          <a:sym typeface="Arial"/>
                        </a:rPr>
                        <a:t>Not yet: prepayment ≠ contract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681" name="Google Shape;681;p52"/>
          <p:cNvSpPr/>
          <p:nvPr/>
        </p:nvSpPr>
        <p:spPr>
          <a:xfrm>
            <a:off x="546100" y="4069080"/>
            <a:ext cx="8051800" cy="4572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400" b="1" i="0" u="none" strike="noStrike" cap="none">
                <a:solidFill>
                  <a:srgbClr val="6E6020"/>
                </a:solidFill>
                <a:latin typeface="Arial"/>
                <a:ea typeface="Arial"/>
                <a:cs typeface="Arial"/>
                <a:sym typeface="Arial"/>
              </a:rPr>
              <a:t>Listed and liquid:</a:t>
            </a:r>
            <a:r>
              <a:rPr lang="en-US" sz="1400" b="0" i="0" u="none" strike="noStrike" cap="none">
                <a:solidFill>
                  <a:srgbClr val="222222"/>
                </a:solidFill>
                <a:latin typeface="Arial"/>
                <a:ea typeface="Arial"/>
                <a:cs typeface="Arial"/>
                <a:sym typeface="Arial"/>
              </a:rPr>
              <a:t> all six pass.</a:t>
            </a:r>
            <a:endParaRPr sz="1400" b="0" i="0" u="none" strike="noStrike" cap="none">
              <a:solidFill>
                <a:srgbClr val="000000"/>
              </a:solidFill>
              <a:latin typeface="Arial"/>
              <a:ea typeface="Arial"/>
              <a:cs typeface="Arial"/>
              <a:sym typeface="Arial"/>
            </a:endParaRPr>
          </a:p>
        </p:txBody>
      </p:sp>
      <p:sp>
        <p:nvSpPr>
          <p:cNvPr id="682" name="Google Shape;682;p52"/>
          <p:cNvSpPr/>
          <p:nvPr/>
        </p:nvSpPr>
        <p:spPr>
          <a:xfrm>
            <a:off x="546100" y="4663440"/>
            <a:ext cx="8051800" cy="4572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400" b="1" i="0" u="none" strike="noStrike" cap="none">
                <a:solidFill>
                  <a:srgbClr val="6E6020"/>
                </a:solidFill>
                <a:latin typeface="Arial"/>
                <a:ea typeface="Arial"/>
                <a:cs typeface="Arial"/>
                <a:sym typeface="Arial"/>
              </a:rPr>
              <a:t>Nuclear revenue:</a:t>
            </a:r>
            <a:r>
              <a:rPr lang="en-US" sz="1400" b="0" i="0" u="none" strike="noStrike" cap="none">
                <a:solidFill>
                  <a:srgbClr val="222222"/>
                </a:solidFill>
                <a:latin typeface="Arial"/>
                <a:ea typeface="Arial"/>
                <a:cs typeface="Arial"/>
                <a:sym typeface="Arial"/>
              </a:rPr>
              <a:t> majority (50%+) from nuclear power; uranium funds (90%+) qualify.</a:t>
            </a:r>
            <a:endParaRPr sz="1400" b="0" i="0" u="none" strike="noStrike" cap="none">
              <a:solidFill>
                <a:srgbClr val="000000"/>
              </a:solidFill>
              <a:latin typeface="Arial"/>
              <a:ea typeface="Arial"/>
              <a:cs typeface="Arial"/>
              <a:sym typeface="Arial"/>
            </a:endParaRPr>
          </a:p>
        </p:txBody>
      </p:sp>
      <p:sp>
        <p:nvSpPr>
          <p:cNvPr id="683" name="Google Shape;683;p52"/>
          <p:cNvSpPr/>
          <p:nvPr/>
        </p:nvSpPr>
        <p:spPr>
          <a:xfrm>
            <a:off x="546100" y="5257800"/>
            <a:ext cx="8051800" cy="4572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400" b="1" i="0" u="none" strike="noStrike" cap="none">
                <a:solidFill>
                  <a:srgbClr val="6E6020"/>
                </a:solidFill>
                <a:latin typeface="Arial"/>
                <a:ea typeface="Arial"/>
                <a:cs typeface="Arial"/>
                <a:sym typeface="Arial"/>
              </a:rPr>
              <a:t>Beats our best calls?</a:t>
            </a:r>
            <a:r>
              <a:rPr lang="en-US" sz="1400" b="0" i="0" u="none" strike="noStrike" cap="none">
                <a:solidFill>
                  <a:srgbClr val="222222"/>
                </a:solidFill>
                <a:latin typeface="Arial"/>
                <a:ea typeface="Arial"/>
                <a:cs typeface="Arial"/>
                <a:sym typeface="Arial"/>
              </a:rPr>
              <a:t> BWXT ~15% upside vs. Paladin ~8%; neither clears 20%.</a:t>
            </a:r>
            <a:endParaRPr sz="1400" b="0" i="0" u="none" strike="noStrike" cap="none">
              <a:solidFill>
                <a:srgbClr val="000000"/>
              </a:solidFill>
              <a:latin typeface="Arial"/>
              <a:ea typeface="Arial"/>
              <a:cs typeface="Arial"/>
              <a:sym typeface="Arial"/>
            </a:endParaRPr>
          </a:p>
        </p:txBody>
      </p:sp>
      <p:pic>
        <p:nvPicPr>
          <p:cNvPr id="684" name="Google Shape;684;p52"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685" name="Google Shape;685;p52"/>
          <p:cNvSpPr txBox="1"/>
          <p:nvPr/>
        </p:nvSpPr>
        <p:spPr>
          <a:xfrm>
            <a:off x="685800" y="6355080"/>
            <a:ext cx="79095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050"/>
              <a:buFont typeface="Arial"/>
              <a:buNone/>
            </a:pPr>
            <a:r>
              <a:rPr lang="en-US" sz="1050" b="0" i="0" u="none" strike="noStrike" cap="none">
                <a:solidFill>
                  <a:srgbClr val="555555"/>
                </a:solidFill>
                <a:latin typeface="Arial"/>
                <a:ea typeface="Arial"/>
                <a:cs typeface="Arial"/>
                <a:sym typeface="Arial"/>
              </a:rPr>
              <a:t>Slide: Claude</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9"/>
        <p:cNvGrpSpPr/>
        <p:nvPr/>
      </p:nvGrpSpPr>
      <p:grpSpPr>
        <a:xfrm>
          <a:off x="0" y="0"/>
          <a:ext cx="0" cy="0"/>
          <a:chOff x="0" y="0"/>
          <a:chExt cx="0" cy="0"/>
        </a:xfrm>
      </p:grpSpPr>
      <p:sp>
        <p:nvSpPr>
          <p:cNvPr id="690" name="Google Shape;690;p5"/>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Alternative: BWXT on the Watchlist</a:t>
            </a:r>
            <a:endParaRPr sz="2400" b="0" i="0" u="none" strike="noStrike" cap="none">
              <a:solidFill>
                <a:schemeClr val="dk1"/>
              </a:solidFill>
              <a:latin typeface="Calibri"/>
              <a:ea typeface="Calibri"/>
              <a:cs typeface="Calibri"/>
              <a:sym typeface="Calibri"/>
            </a:endParaRPr>
          </a:p>
        </p:txBody>
      </p:sp>
      <p:graphicFrame>
        <p:nvGraphicFramePr>
          <p:cNvPr id="691" name="Google Shape;691;p5"/>
          <p:cNvGraphicFramePr/>
          <p:nvPr/>
        </p:nvGraphicFramePr>
        <p:xfrm>
          <a:off x="546100" y="1143000"/>
          <a:ext cx="8046725" cy="3284800"/>
        </p:xfrm>
        <a:graphic>
          <a:graphicData uri="http://schemas.openxmlformats.org/drawingml/2006/table">
            <a:tbl>
              <a:tblPr>
                <a:noFill/>
                <a:tableStyleId>{67C04448-9542-46E3-BF30-04DBAA183EC1}</a:tableStyleId>
              </a:tblPr>
              <a:tblGrid>
                <a:gridCol w="86867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502925">
                  <a:extLst>
                    <a:ext uri="{9D8B030D-6E8A-4147-A177-3AD203B41FA5}">
                      <a16:colId xmlns:a16="http://schemas.microsoft.com/office/drawing/2014/main" val="20002"/>
                    </a:ext>
                  </a:extLst>
                </a:gridCol>
                <a:gridCol w="54865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594350">
                  <a:extLst>
                    <a:ext uri="{9D8B030D-6E8A-4147-A177-3AD203B41FA5}">
                      <a16:colId xmlns:a16="http://schemas.microsoft.com/office/drawing/2014/main" val="20005"/>
                    </a:ext>
                  </a:extLst>
                </a:gridCol>
                <a:gridCol w="502925">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2011675">
                  <a:extLst>
                    <a:ext uri="{9D8B030D-6E8A-4147-A177-3AD203B41FA5}">
                      <a16:colId xmlns:a16="http://schemas.microsoft.com/office/drawing/2014/main" val="20008"/>
                    </a:ext>
                  </a:extLst>
                </a:gridCol>
              </a:tblGrid>
              <a:tr h="431800">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Company</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Segment</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Val</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Cash</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Growth</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Resil.</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Mkt</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Score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Verdict</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475500">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222222"/>
                          </a:solidFill>
                          <a:latin typeface="Arial"/>
                          <a:ea typeface="Arial"/>
                          <a:cs typeface="Arial"/>
                          <a:sym typeface="Arial"/>
                        </a:rPr>
                        <a:t>SPUT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Physical uranium</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3.85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Runner-up</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475500">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6E6020"/>
                          </a:solidFill>
                          <a:latin typeface="Arial"/>
                          <a:ea typeface="Arial"/>
                          <a:cs typeface="Arial"/>
                          <a:sym typeface="Arial"/>
                        </a:rPr>
                        <a:t>BWXT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6E6020"/>
                          </a:solidFill>
                          <a:latin typeface="Arial"/>
                          <a:ea typeface="Arial"/>
                          <a:cs typeface="Arial"/>
                          <a:sym typeface="Arial"/>
                        </a:rPr>
                        <a:t>Components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6E6020"/>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6E6020"/>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6E6020"/>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6E6020"/>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6E6020"/>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1" i="0" u="none" strike="noStrike" cap="none">
                          <a:solidFill>
                            <a:srgbClr val="6E6020"/>
                          </a:solidFill>
                          <a:latin typeface="Arial"/>
                          <a:ea typeface="Arial"/>
                          <a:cs typeface="Arial"/>
                          <a:sym typeface="Arial"/>
                        </a:rPr>
                        <a:t>3.80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6E6020"/>
                          </a:solidFill>
                          <a:latin typeface="Arial"/>
                          <a:ea typeface="Arial"/>
                          <a:cs typeface="Arial"/>
                          <a:sym typeface="Arial"/>
                        </a:rPr>
                        <a:t>Watchlist (lead)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475500">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222222"/>
                          </a:solidFill>
                          <a:latin typeface="Arial"/>
                          <a:ea typeface="Arial"/>
                          <a:cs typeface="Arial"/>
                          <a:sym typeface="Arial"/>
                        </a:rPr>
                        <a:t>CEG</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Generation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3.40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Ineligible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r h="475500">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222222"/>
                          </a:solidFill>
                          <a:latin typeface="Arial"/>
                          <a:ea typeface="Arial"/>
                          <a:cs typeface="Arial"/>
                          <a:sym typeface="Arial"/>
                        </a:rPr>
                        <a:t>LEU</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Enrichment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2.25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Not selected: 229x</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4"/>
                  </a:ext>
                </a:extLst>
              </a:tr>
              <a:tr h="475500">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222222"/>
                          </a:solidFill>
                          <a:latin typeface="Arial"/>
                          <a:ea typeface="Arial"/>
                          <a:cs typeface="Arial"/>
                          <a:sym typeface="Arial"/>
                        </a:rPr>
                        <a:t>SMR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Adv. reactors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1.65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Watchlist short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5"/>
                  </a:ext>
                </a:extLst>
              </a:tr>
              <a:tr h="475500">
                <a:tc>
                  <a:txBody>
                    <a:bodyPr/>
                    <a:lstStyle/>
                    <a:p>
                      <a:pPr marL="0" marR="0" lvl="0" indent="0" algn="l" rtl="0">
                        <a:lnSpc>
                          <a:spcPct val="100000"/>
                        </a:lnSpc>
                        <a:spcBef>
                          <a:spcPts val="0"/>
                        </a:spcBef>
                        <a:spcAft>
                          <a:spcPts val="0"/>
                        </a:spcAft>
                        <a:buClr>
                          <a:srgbClr val="222222"/>
                        </a:buClr>
                        <a:buSzPts val="1400"/>
                        <a:buFont typeface="Arial"/>
                        <a:buNone/>
                      </a:pPr>
                      <a:r>
                        <a:rPr lang="en-US" sz="1400" b="1" i="0" u="none" strike="noStrike" cap="none">
                          <a:solidFill>
                            <a:srgbClr val="222222"/>
                          </a:solidFill>
                          <a:latin typeface="Arial"/>
                          <a:ea typeface="Arial"/>
                          <a:cs typeface="Arial"/>
                          <a:sym typeface="Arial"/>
                        </a:rPr>
                        <a:t>OKLO</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Adv. reactors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1.40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400" b="0" i="0" u="none" strike="noStrike" cap="none">
                          <a:solidFill>
                            <a:srgbClr val="222222"/>
                          </a:solidFill>
                          <a:latin typeface="Arial"/>
                          <a:ea typeface="Arial"/>
                          <a:cs typeface="Arial"/>
                          <a:sym typeface="Arial"/>
                        </a:rPr>
                        <a:t>Ineligible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692" name="Google Shape;692;p5"/>
          <p:cNvSpPr/>
          <p:nvPr/>
        </p:nvSpPr>
        <p:spPr>
          <a:xfrm>
            <a:off x="546100" y="4508500"/>
            <a:ext cx="8051800" cy="3810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6E6020"/>
                </a:solidFill>
                <a:latin typeface="Arial"/>
                <a:ea typeface="Arial"/>
                <a:cs typeface="Arial"/>
                <a:sym typeface="Arial"/>
              </a:rPr>
              <a:t>Human chair:</a:t>
            </a:r>
            <a:r>
              <a:rPr lang="en-US" sz="1400" b="0" i="0" u="none" strike="noStrike" cap="none">
                <a:solidFill>
                  <a:srgbClr val="222222"/>
                </a:solidFill>
                <a:latin typeface="Arial"/>
                <a:ea typeface="Arial"/>
                <a:cs typeface="Arial"/>
                <a:sym typeface="Arial"/>
              </a:rPr>
              <a:t> Shawyan Tabari. </a:t>
            </a:r>
            <a:r>
              <a:rPr lang="en-US" sz="1400" b="1" i="0" u="none" strike="noStrike" cap="none">
                <a:solidFill>
                  <a:srgbClr val="6E6020"/>
                </a:solidFill>
                <a:latin typeface="Arial"/>
                <a:ea typeface="Arial"/>
                <a:cs typeface="Arial"/>
                <a:sym typeface="Arial"/>
              </a:rPr>
              <a:t>Verdict:</a:t>
            </a:r>
            <a:r>
              <a:rPr lang="en-US" sz="1400" b="0" i="0" u="none" strike="noStrike" cap="none">
                <a:solidFill>
                  <a:srgbClr val="222222"/>
                </a:solidFill>
                <a:latin typeface="Arial"/>
                <a:ea typeface="Arial"/>
                <a:cs typeface="Arial"/>
                <a:sym typeface="Arial"/>
              </a:rPr>
              <a:t> Watchlist (BWXT lead).</a:t>
            </a:r>
            <a:endParaRPr sz="1400" b="0" i="0" u="none" strike="noStrike" cap="none">
              <a:solidFill>
                <a:srgbClr val="000000"/>
              </a:solidFill>
              <a:latin typeface="Arial"/>
              <a:ea typeface="Arial"/>
              <a:cs typeface="Arial"/>
              <a:sym typeface="Arial"/>
            </a:endParaRPr>
          </a:p>
        </p:txBody>
      </p:sp>
      <p:sp>
        <p:nvSpPr>
          <p:cNvPr id="693" name="Google Shape;693;p5"/>
          <p:cNvSpPr/>
          <p:nvPr/>
        </p:nvSpPr>
        <p:spPr>
          <a:xfrm>
            <a:off x="546100" y="4965700"/>
            <a:ext cx="8051800" cy="12319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6E6020"/>
                </a:solidFill>
                <a:latin typeface="Arial"/>
                <a:ea typeface="Arial"/>
                <a:cs typeface="Arial"/>
                <a:sym typeface="Arial"/>
              </a:rPr>
              <a:t>Our read: </a:t>
            </a:r>
            <a:r>
              <a:rPr lang="en-US" sz="1400" b="0" i="0" u="none" strike="noStrike" cap="none">
                <a:solidFill>
                  <a:srgbClr val="6E6020"/>
                </a:solidFill>
                <a:latin typeface="Arial"/>
                <a:ea typeface="Arial"/>
                <a:cs typeface="Arial"/>
                <a:sym typeface="Arial"/>
              </a:rPr>
              <a:t>We're confident BWXT is the right Alternative pick, even though SPUT scores slightly higher. Owning SPUT would concentrate the uranium bet we already make through the miners. </a:t>
            </a:r>
            <a:endParaRPr sz="1400" b="0" i="0" u="none" strike="noStrike" cap="none">
              <a:solidFill>
                <a:srgbClr val="222222"/>
              </a:solidFill>
              <a:highlight>
                <a:srgbClr val="FFFF00"/>
              </a:highlight>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6E6020"/>
                </a:solidFill>
                <a:latin typeface="Arial"/>
                <a:ea typeface="Arial"/>
                <a:cs typeface="Arial"/>
                <a:sym typeface="Arial"/>
              </a:rPr>
              <a:t>BWXT is the only company building reactors for the Navy's submarines and carriers, so it gets paid whether uranium goes up or down. The only problem is price. Upside today is about 15% and our bar is 20%, so for now it </a:t>
            </a:r>
            <a:r>
              <a:rPr lang="en-US" sz="1400" b="1" i="0" u="none" strike="noStrike" cap="none">
                <a:solidFill>
                  <a:srgbClr val="6E6020"/>
                </a:solidFill>
                <a:latin typeface="Arial"/>
                <a:ea typeface="Arial"/>
                <a:cs typeface="Arial"/>
                <a:sym typeface="Arial"/>
              </a:rPr>
              <a:t>stays on the Watchlist</a:t>
            </a:r>
            <a:r>
              <a:rPr lang="en-US" sz="1400" b="0" i="0" u="none" strike="noStrike" cap="none">
                <a:solidFill>
                  <a:srgbClr val="6E6020"/>
                </a:solidFill>
                <a:latin typeface="Arial"/>
                <a:ea typeface="Arial"/>
                <a:cs typeface="Arial"/>
                <a:sym typeface="Arial"/>
              </a:rPr>
              <a:t>.</a:t>
            </a:r>
            <a:endParaRPr sz="1400" b="0" i="0" u="none" strike="noStrike" cap="none">
              <a:solidFill>
                <a:srgbClr val="222222"/>
              </a:solidFill>
              <a:highlight>
                <a:srgbClr val="FFFF00"/>
              </a:highlight>
              <a:latin typeface="Arial"/>
              <a:ea typeface="Arial"/>
              <a:cs typeface="Arial"/>
              <a:sym typeface="Arial"/>
            </a:endParaRPr>
          </a:p>
        </p:txBody>
      </p:sp>
      <p:pic>
        <p:nvPicPr>
          <p:cNvPr id="694" name="Google Shape;694;p5"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6"/>
          <p:cNvSpPr txBox="1"/>
          <p:nvPr/>
        </p:nvSpPr>
        <p:spPr>
          <a:xfrm>
            <a:off x="548640" y="365760"/>
            <a:ext cx="8046720" cy="502920"/>
          </a:xfrm>
          <a:prstGeom prst="rect">
            <a:avLst/>
          </a:prstGeom>
          <a:noFill/>
          <a:ln>
            <a:noFill/>
          </a:ln>
        </p:spPr>
        <p:txBody>
          <a:bodyPr spcFirstLastPara="1" wrap="square" lIns="0" tIns="0" rIns="0" bIns="0" anchor="ctr" anchorCtr="0">
            <a:norm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SPUT vs. BWXT: cheap uranium vs. a growing backlog</a:t>
            </a:r>
            <a:endParaRPr sz="2400" b="0" i="0" u="none" strike="noStrike" cap="none">
              <a:solidFill>
                <a:schemeClr val="dk1"/>
              </a:solidFill>
              <a:latin typeface="Calibri"/>
              <a:ea typeface="Calibri"/>
              <a:cs typeface="Calibri"/>
              <a:sym typeface="Calibri"/>
            </a:endParaRPr>
          </a:p>
        </p:txBody>
      </p:sp>
      <p:graphicFrame>
        <p:nvGraphicFramePr>
          <p:cNvPr id="700" name="Google Shape;700;p6"/>
          <p:cNvGraphicFramePr/>
          <p:nvPr/>
        </p:nvGraphicFramePr>
        <p:xfrm>
          <a:off x="393192" y="1097280"/>
          <a:ext cx="3000000" cy="3000000"/>
        </p:xfrm>
        <a:graphic>
          <a:graphicData uri="http://schemas.openxmlformats.org/drawingml/2006/table">
            <a:tbl>
              <a:tblPr>
                <a:noFill/>
                <a:tableStyleId>{67C04448-9542-46E3-BF30-04DBAA183EC1}</a:tableStyleId>
              </a:tblPr>
              <a:tblGrid>
                <a:gridCol w="1965950">
                  <a:extLst>
                    <a:ext uri="{9D8B030D-6E8A-4147-A177-3AD203B41FA5}">
                      <a16:colId xmlns:a16="http://schemas.microsoft.com/office/drawing/2014/main" val="20000"/>
                    </a:ext>
                  </a:extLst>
                </a:gridCol>
                <a:gridCol w="2606050">
                  <a:extLst>
                    <a:ext uri="{9D8B030D-6E8A-4147-A177-3AD203B41FA5}">
                      <a16:colId xmlns:a16="http://schemas.microsoft.com/office/drawing/2014/main" val="20001"/>
                    </a:ext>
                  </a:extLst>
                </a:gridCol>
                <a:gridCol w="594350">
                  <a:extLst>
                    <a:ext uri="{9D8B030D-6E8A-4147-A177-3AD203B41FA5}">
                      <a16:colId xmlns:a16="http://schemas.microsoft.com/office/drawing/2014/main" val="20002"/>
                    </a:ext>
                  </a:extLst>
                </a:gridCol>
                <a:gridCol w="2606050">
                  <a:extLst>
                    <a:ext uri="{9D8B030D-6E8A-4147-A177-3AD203B41FA5}">
                      <a16:colId xmlns:a16="http://schemas.microsoft.com/office/drawing/2014/main" val="20003"/>
                    </a:ext>
                  </a:extLst>
                </a:gridCol>
                <a:gridCol w="594350">
                  <a:extLst>
                    <a:ext uri="{9D8B030D-6E8A-4147-A177-3AD203B41FA5}">
                      <a16:colId xmlns:a16="http://schemas.microsoft.com/office/drawing/2014/main" val="20004"/>
                    </a:ext>
                  </a:extLst>
                </a:gridCol>
              </a:tblGrid>
              <a:tr h="431800">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Factor</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SPUT: Evidence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Score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BWXT: Evidence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Score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Valuation (25%)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Price US$19.00 vs. NAV US$21.52</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11.7% discount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21.1x EV/EBITDA (2026 guide)</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FCF yield ~2.8%</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Cash Economics (20%)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Spot US$89.68, term US$96.50/lb</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Fees 0.71% a year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Book-to-bill 1.7x</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Gov. Ops margin guide ~20.5%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Growth (20%)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Can’t issue units below NAV</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Backlog $8.4B, up 40%</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Army Janus selection (Aug 26)</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Resilience (20%)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98%+ of assets in uranium</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Net debt $1.41B (~2.3x EBITDA)</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Fitch BBB</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4"/>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Market Confirmation (15%)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12-month: −3% to −5%</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Cohort average: −40.5%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12-month: −20.9%</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Analysts cutting targets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5"/>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Weighted Score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1" i="0" u="none" strike="noStrike" cap="none">
                          <a:solidFill>
                            <a:srgbClr val="6E6020"/>
                          </a:solidFill>
                          <a:latin typeface="Arial"/>
                          <a:ea typeface="Arial"/>
                          <a:cs typeface="Arial"/>
                          <a:sym typeface="Arial"/>
                        </a:rPr>
                        <a:t>3.85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1" i="0" u="none" strike="noStrike" cap="none">
                          <a:solidFill>
                            <a:srgbClr val="6E6020"/>
                          </a:solidFill>
                          <a:latin typeface="Arial"/>
                          <a:ea typeface="Arial"/>
                          <a:cs typeface="Arial"/>
                          <a:sym typeface="Arial"/>
                        </a:rPr>
                        <a:t>3.80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6"/>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Eligibility</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Pass: uranium-fund rule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222222"/>
                          </a:solidFill>
                          <a:latin typeface="Arial"/>
                          <a:ea typeface="Arial"/>
                          <a:cs typeface="Arial"/>
                          <a:sym typeface="Arial"/>
                        </a:rPr>
                        <a:t>Pass: 73% of revenue from Gov. Ops segment (FY2025 10-K)</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701" name="Google Shape;701;p6"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702" name="Google Shape;702;p6"/>
          <p:cNvSpPr/>
          <p:nvPr/>
        </p:nvSpPr>
        <p:spPr>
          <a:xfrm>
            <a:off x="393700" y="5110480"/>
            <a:ext cx="8511540" cy="98552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6E6020"/>
                </a:solidFill>
                <a:latin typeface="Arial"/>
                <a:ea typeface="Arial"/>
                <a:cs typeface="Arial"/>
                <a:sym typeface="Arial"/>
              </a:rPr>
              <a:t>Our read: </a:t>
            </a:r>
            <a:r>
              <a:rPr lang="en-US" sz="1400" b="0" i="0" u="none" strike="noStrike" cap="none">
                <a:solidFill>
                  <a:srgbClr val="6E6020"/>
                </a:solidFill>
                <a:latin typeface="Arial"/>
                <a:ea typeface="Arial"/>
                <a:cs typeface="Arial"/>
                <a:sym typeface="Arial"/>
              </a:rPr>
              <a:t>When you look at these two side by side, the difference is clear. SPUT is uranium at a discount, and it only pays off if uranium goes up. BWXT's order book grew 40% in one year. The scores are basically tied, so we'd rather own the company that can grow on its own.</a:t>
            </a:r>
            <a:endParaRPr sz="1400" b="0" i="0" u="none" strike="noStrike" cap="none">
              <a:solidFill>
                <a:srgbClr val="222222"/>
              </a:solidFill>
              <a:highlight>
                <a:srgbClr val="FFFF00"/>
              </a:highlight>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54"/>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CEG is ineligible; LEU is priced for growth</a:t>
            </a:r>
            <a:endParaRPr sz="2400" b="0" i="0" u="none" strike="noStrike" cap="none">
              <a:solidFill>
                <a:schemeClr val="dk1"/>
              </a:solidFill>
              <a:latin typeface="Calibri"/>
              <a:ea typeface="Calibri"/>
              <a:cs typeface="Calibri"/>
              <a:sym typeface="Calibri"/>
            </a:endParaRPr>
          </a:p>
        </p:txBody>
      </p:sp>
      <p:graphicFrame>
        <p:nvGraphicFramePr>
          <p:cNvPr id="708" name="Google Shape;708;p54"/>
          <p:cNvGraphicFramePr/>
          <p:nvPr/>
        </p:nvGraphicFramePr>
        <p:xfrm>
          <a:off x="393192" y="1097280"/>
          <a:ext cx="3000000" cy="3000000"/>
        </p:xfrm>
        <a:graphic>
          <a:graphicData uri="http://schemas.openxmlformats.org/drawingml/2006/table">
            <a:tbl>
              <a:tblPr>
                <a:noFill/>
                <a:tableStyleId>{67C04448-9542-46E3-BF30-04DBAA183EC1}</a:tableStyleId>
              </a:tblPr>
              <a:tblGrid>
                <a:gridCol w="1965950">
                  <a:extLst>
                    <a:ext uri="{9D8B030D-6E8A-4147-A177-3AD203B41FA5}">
                      <a16:colId xmlns:a16="http://schemas.microsoft.com/office/drawing/2014/main" val="20000"/>
                    </a:ext>
                  </a:extLst>
                </a:gridCol>
                <a:gridCol w="2606050">
                  <a:extLst>
                    <a:ext uri="{9D8B030D-6E8A-4147-A177-3AD203B41FA5}">
                      <a16:colId xmlns:a16="http://schemas.microsoft.com/office/drawing/2014/main" val="20001"/>
                    </a:ext>
                  </a:extLst>
                </a:gridCol>
                <a:gridCol w="594350">
                  <a:extLst>
                    <a:ext uri="{9D8B030D-6E8A-4147-A177-3AD203B41FA5}">
                      <a16:colId xmlns:a16="http://schemas.microsoft.com/office/drawing/2014/main" val="20002"/>
                    </a:ext>
                  </a:extLst>
                </a:gridCol>
                <a:gridCol w="2606050">
                  <a:extLst>
                    <a:ext uri="{9D8B030D-6E8A-4147-A177-3AD203B41FA5}">
                      <a16:colId xmlns:a16="http://schemas.microsoft.com/office/drawing/2014/main" val="20003"/>
                    </a:ext>
                  </a:extLst>
                </a:gridCol>
                <a:gridCol w="594350">
                  <a:extLst>
                    <a:ext uri="{9D8B030D-6E8A-4147-A177-3AD203B41FA5}">
                      <a16:colId xmlns:a16="http://schemas.microsoft.com/office/drawing/2014/main" val="20004"/>
                    </a:ext>
                  </a:extLst>
                </a:gridCol>
              </a:tblGrid>
              <a:tr h="431800">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Factor</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CEG: Evidence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Score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LEU: Evidence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Score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Valuation (25%)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14.8x EV/EBITDA (trailing)</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21.3x forward P/E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229x EV/EBITDA (trailing)</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60x forward P/E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Cash Economics (20%)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PJM capacity at the $325 cap</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2026 EPS guide $11.50–12.50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Negative free cash flow</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Growth (20%)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Calpine closed Jan 2026</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Crane restart in 2027</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Backlog $4.5B</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$900M DOE HALEU award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Resilience (20%)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Not documented (Council flag)</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Relies on Russian supply to 2027</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~$500M share raise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4"/>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Market Confirmation (15%)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12-month: −22.4%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3</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12-month: −46.7%</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5"/>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Weighted Score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1" i="0" u="none" strike="noStrike" cap="none">
                          <a:solidFill>
                            <a:srgbClr val="6E6020"/>
                          </a:solidFill>
                          <a:latin typeface="Arial"/>
                          <a:ea typeface="Arial"/>
                          <a:cs typeface="Arial"/>
                          <a:sym typeface="Arial"/>
                        </a:rPr>
                        <a:t>3.40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1" i="0" u="none" strike="noStrike" cap="none">
                          <a:solidFill>
                            <a:srgbClr val="6E6020"/>
                          </a:solidFill>
                          <a:latin typeface="Arial"/>
                          <a:ea typeface="Arial"/>
                          <a:cs typeface="Arial"/>
                          <a:sym typeface="Arial"/>
                        </a:rPr>
                        <a:t>2.25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6"/>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Eligibility</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Ineligible (28–38%, est.)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Pass (~100%, est.)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709" name="Google Shape;709;p54"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710" name="Google Shape;710;p54"/>
          <p:cNvSpPr txBox="1"/>
          <p:nvPr/>
        </p:nvSpPr>
        <p:spPr>
          <a:xfrm>
            <a:off x="685800" y="6355080"/>
            <a:ext cx="79095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050"/>
              <a:buFont typeface="Arial"/>
              <a:buNone/>
            </a:pPr>
            <a:r>
              <a:rPr lang="en-US" sz="1050" b="0" i="0" u="none" strike="noStrike" cap="none">
                <a:solidFill>
                  <a:srgbClr val="555555"/>
                </a:solidFill>
                <a:latin typeface="Arial"/>
                <a:ea typeface="Arial"/>
                <a:cs typeface="Arial"/>
                <a:sym typeface="Arial"/>
              </a:rPr>
              <a:t>Slide: Claude</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55"/>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SMR and OKLO: cash to spend, no orders to show</a:t>
            </a:r>
            <a:endParaRPr sz="2400" b="0" i="0" u="none" strike="noStrike" cap="none">
              <a:solidFill>
                <a:schemeClr val="dk1"/>
              </a:solidFill>
              <a:latin typeface="Calibri"/>
              <a:ea typeface="Calibri"/>
              <a:cs typeface="Calibri"/>
              <a:sym typeface="Calibri"/>
            </a:endParaRPr>
          </a:p>
        </p:txBody>
      </p:sp>
      <p:graphicFrame>
        <p:nvGraphicFramePr>
          <p:cNvPr id="716" name="Google Shape;716;p55"/>
          <p:cNvGraphicFramePr/>
          <p:nvPr/>
        </p:nvGraphicFramePr>
        <p:xfrm>
          <a:off x="393192" y="1097280"/>
          <a:ext cx="3000000" cy="3000000"/>
        </p:xfrm>
        <a:graphic>
          <a:graphicData uri="http://schemas.openxmlformats.org/drawingml/2006/table">
            <a:tbl>
              <a:tblPr>
                <a:noFill/>
                <a:tableStyleId>{67C04448-9542-46E3-BF30-04DBAA183EC1}</a:tableStyleId>
              </a:tblPr>
              <a:tblGrid>
                <a:gridCol w="1965950">
                  <a:extLst>
                    <a:ext uri="{9D8B030D-6E8A-4147-A177-3AD203B41FA5}">
                      <a16:colId xmlns:a16="http://schemas.microsoft.com/office/drawing/2014/main" val="20000"/>
                    </a:ext>
                  </a:extLst>
                </a:gridCol>
                <a:gridCol w="2606050">
                  <a:extLst>
                    <a:ext uri="{9D8B030D-6E8A-4147-A177-3AD203B41FA5}">
                      <a16:colId xmlns:a16="http://schemas.microsoft.com/office/drawing/2014/main" val="20001"/>
                    </a:ext>
                  </a:extLst>
                </a:gridCol>
                <a:gridCol w="594350">
                  <a:extLst>
                    <a:ext uri="{9D8B030D-6E8A-4147-A177-3AD203B41FA5}">
                      <a16:colId xmlns:a16="http://schemas.microsoft.com/office/drawing/2014/main" val="20002"/>
                    </a:ext>
                  </a:extLst>
                </a:gridCol>
                <a:gridCol w="2606050">
                  <a:extLst>
                    <a:ext uri="{9D8B030D-6E8A-4147-A177-3AD203B41FA5}">
                      <a16:colId xmlns:a16="http://schemas.microsoft.com/office/drawing/2014/main" val="20003"/>
                    </a:ext>
                  </a:extLst>
                </a:gridCol>
                <a:gridCol w="594350">
                  <a:extLst>
                    <a:ext uri="{9D8B030D-6E8A-4147-A177-3AD203B41FA5}">
                      <a16:colId xmlns:a16="http://schemas.microsoft.com/office/drawing/2014/main" val="20004"/>
                    </a:ext>
                  </a:extLst>
                </a:gridCol>
              </a:tblGrid>
              <a:tr h="431800">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Factor</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SMR: Evidence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Score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OKLO: Evidence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1200" b="1" i="0" u="none" strike="noStrike" cap="none">
                          <a:solidFill>
                            <a:srgbClr val="555555"/>
                          </a:solidFill>
                          <a:latin typeface="Arial"/>
                          <a:ea typeface="Arial"/>
                          <a:cs typeface="Arial"/>
                          <a:sym typeface="Arial"/>
                        </a:rPr>
                        <a:t>Score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Valuation (25%)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EV ~$1.73B, cash-adjusted</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No binding orders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EV ~$4.07B, pre-revenue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Cash Economics (20%)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Trailing revenue $10.7M</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Q2 revenue $1.21M (services)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Growth (20%)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NRC approval, 77 MWe (2025)</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TVA 6 GW deal non-binding</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Reactor criticality ~Aug 6</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Aurora plant target 2028</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Resilience (20%)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$1.9B liquidity, no debt</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$750M share-sale program</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$3.0B liquidity</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New $1B share-sale program</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2</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4"/>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Market Confirmation (15%)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12-month: −78.8%</a:t>
                      </a:r>
                      <a:endParaRPr sz="1400" u="none" strike="noStrike" cap="none"/>
                    </a:p>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UBS Sell, $6 target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12-month: −68% to −71%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latin typeface="Arial"/>
                          <a:ea typeface="Arial"/>
                          <a:cs typeface="Arial"/>
                          <a:sym typeface="Arial"/>
                        </a:rPr>
                        <a:t>1</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5"/>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Weighted Score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1" i="0" u="none" strike="noStrike" cap="none">
                          <a:solidFill>
                            <a:srgbClr val="6E6020"/>
                          </a:solidFill>
                          <a:latin typeface="Arial"/>
                          <a:ea typeface="Arial"/>
                          <a:cs typeface="Arial"/>
                          <a:sym typeface="Arial"/>
                        </a:rPr>
                        <a:t>1.65</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1200" b="1" i="0" u="none" strike="noStrike" cap="none">
                          <a:solidFill>
                            <a:srgbClr val="6E6020"/>
                          </a:solidFill>
                          <a:latin typeface="Arial"/>
                          <a:ea typeface="Arial"/>
                          <a:cs typeface="Arial"/>
                          <a:sym typeface="Arial"/>
                        </a:rPr>
                        <a:t>1.40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6"/>
                  </a:ext>
                </a:extLst>
              </a:tr>
              <a:tr h="512075">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Short Feasibility</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Fail: no dated catalyst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1" i="0" u="none" strike="noStrike" cap="none">
                          <a:solidFill>
                            <a:srgbClr val="222222"/>
                          </a:solidFill>
                          <a:latin typeface="Arial"/>
                          <a:ea typeface="Arial"/>
                          <a:cs typeface="Arial"/>
                          <a:sym typeface="Arial"/>
                        </a:rPr>
                        <a:t>Fail: no catalyst; crowded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222222"/>
                        </a:buClr>
                        <a:buSzPts val="1400"/>
                        <a:buFont typeface="Arial"/>
                        <a:buNone/>
                      </a:pP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pic>
        <p:nvPicPr>
          <p:cNvPr id="717" name="Google Shape;717;p55"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718" name="Google Shape;718;p55"/>
          <p:cNvSpPr txBox="1"/>
          <p:nvPr/>
        </p:nvSpPr>
        <p:spPr>
          <a:xfrm>
            <a:off x="685800" y="6355080"/>
            <a:ext cx="79095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050"/>
              <a:buFont typeface="Arial"/>
              <a:buNone/>
            </a:pPr>
            <a:r>
              <a:rPr lang="en-US" sz="1050" b="0" i="0" u="none" strike="noStrike" cap="none">
                <a:solidFill>
                  <a:srgbClr val="555555"/>
                </a:solidFill>
                <a:latin typeface="Arial"/>
                <a:ea typeface="Arial"/>
                <a:cs typeface="Arial"/>
                <a:sym typeface="Arial"/>
              </a:rPr>
              <a:t>Slide: Claude</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2"/>
        <p:cNvGrpSpPr/>
        <p:nvPr/>
      </p:nvGrpSpPr>
      <p:grpSpPr>
        <a:xfrm>
          <a:off x="0" y="0"/>
          <a:ext cx="0" cy="0"/>
          <a:chOff x="0" y="0"/>
          <a:chExt cx="0" cy="0"/>
        </a:xfrm>
      </p:grpSpPr>
      <p:sp>
        <p:nvSpPr>
          <p:cNvPr id="723" name="Google Shape;723;p7"/>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BWXT: business up, price not yet at the gate</a:t>
            </a:r>
            <a:endParaRPr sz="2400" b="0" i="0" u="none" strike="noStrike" cap="none">
              <a:solidFill>
                <a:schemeClr val="dk1"/>
              </a:solidFill>
              <a:latin typeface="Calibri"/>
              <a:ea typeface="Calibri"/>
              <a:cs typeface="Calibri"/>
              <a:sym typeface="Calibri"/>
            </a:endParaRPr>
          </a:p>
        </p:txBody>
      </p:sp>
      <p:sp>
        <p:nvSpPr>
          <p:cNvPr id="724" name="Google Shape;724;p7"/>
          <p:cNvSpPr/>
          <p:nvPr/>
        </p:nvSpPr>
        <p:spPr>
          <a:xfrm>
            <a:off x="546100" y="1066800"/>
            <a:ext cx="3873500" cy="248920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25" name="Google Shape;725;p7"/>
          <p:cNvSpPr/>
          <p:nvPr/>
        </p:nvSpPr>
        <p:spPr>
          <a:xfrm>
            <a:off x="749300" y="1244600"/>
            <a:ext cx="457200" cy="45720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26" name="Google Shape;726;p7"/>
          <p:cNvSpPr txBox="1"/>
          <p:nvPr/>
        </p:nvSpPr>
        <p:spPr>
          <a:xfrm>
            <a:off x="13335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Thesis</a:t>
            </a:r>
            <a:endParaRPr sz="1400" b="0" i="0" u="none" strike="noStrike" cap="none">
              <a:solidFill>
                <a:srgbClr val="000000"/>
              </a:solidFill>
              <a:latin typeface="Arial"/>
              <a:ea typeface="Arial"/>
              <a:cs typeface="Arial"/>
              <a:sym typeface="Arial"/>
            </a:endParaRPr>
          </a:p>
        </p:txBody>
      </p:sp>
      <p:sp>
        <p:nvSpPr>
          <p:cNvPr id="727" name="Google Shape;727;p7"/>
          <p:cNvSpPr txBox="1"/>
          <p:nvPr/>
        </p:nvSpPr>
        <p:spPr>
          <a:xfrm>
            <a:off x="749300" y="1778000"/>
            <a:ext cx="3492500" cy="1651000"/>
          </a:xfrm>
          <a:prstGeom prst="rect">
            <a:avLst/>
          </a:prstGeom>
          <a:noFill/>
          <a:ln>
            <a:noFill/>
          </a:ln>
        </p:spPr>
        <p:txBody>
          <a:bodyPr spcFirstLastPara="1" wrap="square" lIns="0" tIns="0" rIns="0" bIns="0" anchor="t" anchorCtr="0">
            <a:noAutofit/>
          </a:bodyPr>
          <a:lstStyle/>
          <a:p>
            <a:pPr marL="228600" marR="0" lvl="0" indent="-228600" algn="l" rtl="0">
              <a:lnSpc>
                <a:spcPct val="100000"/>
              </a:lnSpc>
              <a:spcBef>
                <a:spcPts val="0"/>
              </a:spcBef>
              <a:spcAft>
                <a:spcPts val="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Backlog $8.4B, up ~40%</a:t>
            </a:r>
            <a:endParaRPr sz="14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Book-to-bill 1.7x</a:t>
            </a:r>
            <a:endParaRPr sz="14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Guidance raised twice in 2026</a:t>
            </a:r>
            <a:endParaRPr sz="14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120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Shares ~43% below 52-week high</a:t>
            </a:r>
            <a:endParaRPr sz="1400" b="0" i="0" u="none" strike="noStrike" cap="none">
              <a:solidFill>
                <a:srgbClr val="000000"/>
              </a:solidFill>
              <a:latin typeface="Arial"/>
              <a:ea typeface="Arial"/>
              <a:cs typeface="Arial"/>
              <a:sym typeface="Arial"/>
            </a:endParaRPr>
          </a:p>
        </p:txBody>
      </p:sp>
      <p:sp>
        <p:nvSpPr>
          <p:cNvPr id="728" name="Google Shape;728;p7"/>
          <p:cNvSpPr/>
          <p:nvPr/>
        </p:nvSpPr>
        <p:spPr>
          <a:xfrm>
            <a:off x="4724400" y="1066800"/>
            <a:ext cx="3873500" cy="248920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29" name="Google Shape;729;p7"/>
          <p:cNvSpPr/>
          <p:nvPr/>
        </p:nvSpPr>
        <p:spPr>
          <a:xfrm>
            <a:off x="4927600" y="1244600"/>
            <a:ext cx="457200" cy="45720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0" name="Google Shape;730;p7"/>
          <p:cNvSpPr txBox="1"/>
          <p:nvPr/>
        </p:nvSpPr>
        <p:spPr>
          <a:xfrm>
            <a:off x="55118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Execution plan</a:t>
            </a:r>
            <a:endParaRPr sz="1400" b="0" i="0" u="none" strike="noStrike" cap="none">
              <a:solidFill>
                <a:srgbClr val="000000"/>
              </a:solidFill>
              <a:latin typeface="Arial"/>
              <a:ea typeface="Arial"/>
              <a:cs typeface="Arial"/>
              <a:sym typeface="Arial"/>
            </a:endParaRPr>
          </a:p>
        </p:txBody>
      </p:sp>
      <p:sp>
        <p:nvSpPr>
          <p:cNvPr id="731" name="Google Shape;731;p7"/>
          <p:cNvSpPr txBox="1"/>
          <p:nvPr/>
        </p:nvSpPr>
        <p:spPr>
          <a:xfrm>
            <a:off x="4927600" y="1778000"/>
            <a:ext cx="3492500" cy="165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Entry: </a:t>
            </a:r>
            <a:r>
              <a:rPr lang="en-US" sz="1400" b="0" i="0" u="none" strike="noStrike" cap="none">
                <a:solidFill>
                  <a:srgbClr val="222222"/>
                </a:solidFill>
                <a:latin typeface="Arial"/>
                <a:ea typeface="Arial"/>
                <a:cs typeface="Arial"/>
                <a:sym typeface="Arial"/>
              </a:rPr>
              <a:t>≤ ~$133, or a higher target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Target: </a:t>
            </a:r>
            <a:r>
              <a:rPr lang="en-US" sz="1400" b="0" i="0" u="none" strike="noStrike" cap="none">
                <a:solidFill>
                  <a:srgbClr val="222222"/>
                </a:solidFill>
                <a:latin typeface="Arial"/>
                <a:ea typeface="Arial"/>
                <a:cs typeface="Arial"/>
                <a:sym typeface="Arial"/>
              </a:rPr>
              <a:t>$152–167 (12 months)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Stop: </a:t>
            </a:r>
            <a:r>
              <a:rPr lang="en-US" sz="1400" b="0" i="0" u="none" strike="noStrike" cap="none">
                <a:solidFill>
                  <a:srgbClr val="222222"/>
                </a:solidFill>
                <a:latin typeface="Arial"/>
                <a:ea typeface="Arial"/>
                <a:cs typeface="Arial"/>
                <a:sym typeface="Arial"/>
              </a:rPr>
              <a:t>close below $125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1200"/>
              </a:spcAft>
              <a:buClr>
                <a:srgbClr val="6E6020"/>
              </a:buClr>
              <a:buSzPts val="1800"/>
              <a:buFont typeface="Arial"/>
              <a:buNone/>
            </a:pPr>
            <a:r>
              <a:rPr lang="en-US" sz="1400" b="1" i="0" u="none" strike="noStrike" cap="none">
                <a:solidFill>
                  <a:srgbClr val="6E6020"/>
                </a:solidFill>
                <a:latin typeface="Arial"/>
                <a:ea typeface="Arial"/>
                <a:cs typeface="Arial"/>
                <a:sym typeface="Arial"/>
              </a:rPr>
              <a:t>Size: </a:t>
            </a:r>
            <a:r>
              <a:rPr lang="en-US" sz="1400" b="0" i="0" u="none" strike="noStrike" cap="none">
                <a:solidFill>
                  <a:srgbClr val="222222"/>
                </a:solidFill>
                <a:latin typeface="Arial"/>
                <a:ea typeface="Arial"/>
                <a:cs typeface="Arial"/>
                <a:sym typeface="Arial"/>
              </a:rPr>
              <a:t>one-third starter</a:t>
            </a:r>
            <a:endParaRPr sz="1400" b="0" i="0" u="none" strike="noStrike" cap="none">
              <a:solidFill>
                <a:srgbClr val="000000"/>
              </a:solidFill>
              <a:latin typeface="Arial"/>
              <a:ea typeface="Arial"/>
              <a:cs typeface="Arial"/>
              <a:sym typeface="Arial"/>
            </a:endParaRPr>
          </a:p>
        </p:txBody>
      </p:sp>
      <p:sp>
        <p:nvSpPr>
          <p:cNvPr id="732" name="Google Shape;732;p7"/>
          <p:cNvSpPr/>
          <p:nvPr/>
        </p:nvSpPr>
        <p:spPr>
          <a:xfrm>
            <a:off x="546100" y="3683000"/>
            <a:ext cx="8051800" cy="1066800"/>
          </a:xfrm>
          <a:prstGeom prst="roundRect">
            <a:avLst>
              <a:gd name="adj" fmla="val 10000"/>
            </a:avLst>
          </a:prstGeom>
          <a:no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3" name="Google Shape;733;p7"/>
          <p:cNvSpPr txBox="1"/>
          <p:nvPr/>
        </p:nvSpPr>
        <p:spPr>
          <a:xfrm>
            <a:off x="688340" y="3698240"/>
            <a:ext cx="7909560" cy="9753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6E6020"/>
                </a:solidFill>
                <a:latin typeface="Arial"/>
                <a:ea typeface="Arial"/>
                <a:cs typeface="Arial"/>
                <a:sym typeface="Arial"/>
              </a:rPr>
              <a:t>Strongest dissent: </a:t>
            </a:r>
            <a:r>
              <a:rPr lang="en-US" sz="1400" b="0" i="0" u="none" strike="noStrike" cap="none">
                <a:solidFill>
                  <a:srgbClr val="6E6020"/>
                </a:solidFill>
                <a:latin typeface="Arial"/>
                <a:ea typeface="Arial"/>
                <a:cs typeface="Arial"/>
                <a:sym typeface="Arial"/>
              </a:rPr>
              <a:t>The best argument against BWXT is that the whole nuclear sector is trading on sentiment right now. BWXT raised guidance in Q2 and the stock still went down. We agree the price could keep falling, but the business isn't what's falling. That's a significant argument in favor of waiting for a better price.</a:t>
            </a:r>
            <a:endParaRPr sz="1400" b="0" i="0" u="none" strike="noStrike" cap="none">
              <a:solidFill>
                <a:srgbClr val="6E6020"/>
              </a:solidFill>
              <a:latin typeface="Arial"/>
              <a:ea typeface="Arial"/>
              <a:cs typeface="Arial"/>
              <a:sym typeface="Arial"/>
            </a:endParaRPr>
          </a:p>
        </p:txBody>
      </p:sp>
      <p:pic>
        <p:nvPicPr>
          <p:cNvPr id="734" name="Google Shape;734;p7"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735" name="Google Shape;735;p7"/>
          <p:cNvSpPr/>
          <p:nvPr/>
        </p:nvSpPr>
        <p:spPr>
          <a:xfrm>
            <a:off x="434340" y="4902200"/>
            <a:ext cx="8255000" cy="1143000"/>
          </a:xfrm>
          <a:prstGeom prst="roundRect">
            <a:avLst>
              <a:gd name="adj" fmla="val 10000"/>
            </a:avLst>
          </a:prstGeom>
          <a:solidFill>
            <a:srgbClr val="F4F1E3"/>
          </a:solidFill>
          <a:ln w="12700" cap="flat" cmpd="sng">
            <a:solidFill>
              <a:srgbClr val="F4F1E3"/>
            </a:solidFill>
            <a:prstDash val="solid"/>
            <a:round/>
            <a:headEnd type="none" w="sm" len="sm"/>
            <a:tailEnd type="none" w="sm" len="sm"/>
          </a:ln>
        </p:spPr>
        <p:txBody>
          <a:bodyPr spcFirstLastPara="1" wrap="square" lIns="203200" tIns="50800" rIns="203200" bIns="508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6E6020"/>
                </a:solidFill>
                <a:latin typeface="Arial"/>
                <a:ea typeface="Arial"/>
                <a:cs typeface="Arial"/>
                <a:sym typeface="Arial"/>
              </a:rPr>
              <a:t>What would change our mind: </a:t>
            </a:r>
            <a:r>
              <a:rPr lang="en-US" sz="1400" b="0" i="0" u="none" strike="noStrike" cap="none">
                <a:solidFill>
                  <a:srgbClr val="6E6020"/>
                </a:solidFill>
                <a:latin typeface="Arial"/>
                <a:ea typeface="Arial"/>
                <a:cs typeface="Arial"/>
                <a:sym typeface="Arial"/>
              </a:rPr>
              <a:t>If Investor Day on September 29 gives us a reason to raise our target to around $166, that clears our 20% bar and we'd buy. </a:t>
            </a:r>
            <a:br>
              <a:rPr lang="en-US" sz="1400" b="0" i="0" u="none" strike="noStrike" cap="none">
                <a:solidFill>
                  <a:srgbClr val="6E6020"/>
                </a:solidFill>
                <a:latin typeface="Arial"/>
                <a:ea typeface="Arial"/>
                <a:cs typeface="Arial"/>
                <a:sym typeface="Arial"/>
              </a:rPr>
            </a:br>
            <a:br>
              <a:rPr lang="en-US" sz="1400" b="0" i="0" u="none" strike="noStrike" cap="none">
                <a:solidFill>
                  <a:srgbClr val="6E6020"/>
                </a:solidFill>
                <a:latin typeface="Arial"/>
                <a:ea typeface="Arial"/>
                <a:cs typeface="Arial"/>
                <a:sym typeface="Arial"/>
              </a:rPr>
            </a:br>
            <a:r>
              <a:rPr lang="en-US" sz="1400" b="0" i="0" u="none" strike="noStrike" cap="none">
                <a:solidFill>
                  <a:srgbClr val="6E6020"/>
                </a:solidFill>
                <a:latin typeface="Arial"/>
                <a:ea typeface="Arial"/>
                <a:cs typeface="Arial"/>
                <a:sym typeface="Arial"/>
              </a:rPr>
              <a:t>If book-to-bill drops below 1.0, they're shipping more than they're winning new orders, thus leading us to drop it</a:t>
            </a:r>
            <a:endParaRPr sz="1400" b="0" i="0" u="none" strike="noStrike" cap="none">
              <a:solidFill>
                <a:srgbClr val="6E6020"/>
              </a:solidFill>
              <a:latin typeface="Arial"/>
              <a:ea typeface="Arial"/>
              <a:cs typeface="Arial"/>
              <a:sym typeface="Arial"/>
            </a:endParaRPr>
          </a:p>
        </p:txBody>
      </p:sp>
      <p:sp>
        <p:nvSpPr>
          <p:cNvPr id="736" name="Google Shape;736;p7" descr="Thesis icon"/>
          <p:cNvSpPr/>
          <p:nvPr/>
        </p:nvSpPr>
        <p:spPr>
          <a:xfrm>
            <a:off x="838200" y="1333500"/>
            <a:ext cx="279400" cy="279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p7" descr="Execution plan icon"/>
          <p:cNvSpPr/>
          <p:nvPr/>
        </p:nvSpPr>
        <p:spPr>
          <a:xfrm>
            <a:off x="5016500" y="1333500"/>
            <a:ext cx="279400" cy="279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8"/>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BWXT: good business, price not yet at the gate</a:t>
            </a:r>
            <a:endParaRPr sz="2400" b="0" i="0" u="none" strike="noStrike" cap="none">
              <a:solidFill>
                <a:schemeClr val="dk1"/>
              </a:solidFill>
              <a:latin typeface="Calibri"/>
              <a:ea typeface="Calibri"/>
              <a:cs typeface="Calibri"/>
              <a:sym typeface="Calibri"/>
            </a:endParaRPr>
          </a:p>
        </p:txBody>
      </p:sp>
      <p:pic>
        <p:nvPicPr>
          <p:cNvPr id="743" name="Google Shape;743;p8"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744" name="Google Shape;744;p8"/>
          <p:cNvSpPr/>
          <p:nvPr/>
        </p:nvSpPr>
        <p:spPr>
          <a:xfrm>
            <a:off x="500000" y="2492000"/>
            <a:ext cx="8200000" cy="30000"/>
          </a:xfrm>
          <a:prstGeom prst="rect">
            <a:avLst/>
          </a:prstGeom>
          <a:solidFill>
            <a:srgbClr val="C9CF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45" name="Google Shape;745;p8"/>
          <p:cNvSpPr txBox="1"/>
          <p:nvPr/>
        </p:nvSpPr>
        <p:spPr>
          <a:xfrm>
            <a:off x="1183271" y="2812000"/>
            <a:ext cx="400000" cy="26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999999"/>
                </a:solidFill>
                <a:latin typeface="Arial"/>
                <a:ea typeface="Arial"/>
                <a:cs typeface="Arial"/>
                <a:sym typeface="Arial"/>
              </a:rPr>
              <a:t>$120</a:t>
            </a:r>
            <a:endParaRPr sz="1400" b="0" i="0" u="none" strike="noStrike" cap="none">
              <a:solidFill>
                <a:srgbClr val="000000"/>
              </a:solidFill>
              <a:latin typeface="Arial"/>
              <a:ea typeface="Arial"/>
              <a:cs typeface="Arial"/>
              <a:sym typeface="Arial"/>
            </a:endParaRPr>
          </a:p>
        </p:txBody>
      </p:sp>
      <p:sp>
        <p:nvSpPr>
          <p:cNvPr id="746" name="Google Shape;746;p8"/>
          <p:cNvSpPr txBox="1"/>
          <p:nvPr/>
        </p:nvSpPr>
        <p:spPr>
          <a:xfrm>
            <a:off x="2567353" y="2812000"/>
            <a:ext cx="700000" cy="26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999999"/>
                </a:solidFill>
                <a:latin typeface="Arial"/>
                <a:ea typeface="Arial"/>
                <a:cs typeface="Arial"/>
                <a:sym typeface="Arial"/>
              </a:rPr>
              <a:t>$150</a:t>
            </a:r>
            <a:endParaRPr sz="1400" b="0" i="0" u="none" strike="noStrike" cap="none">
              <a:solidFill>
                <a:srgbClr val="000000"/>
              </a:solidFill>
              <a:latin typeface="Arial"/>
              <a:ea typeface="Arial"/>
              <a:cs typeface="Arial"/>
              <a:sym typeface="Arial"/>
            </a:endParaRPr>
          </a:p>
        </p:txBody>
      </p:sp>
      <p:sp>
        <p:nvSpPr>
          <p:cNvPr id="747" name="Google Shape;747;p8"/>
          <p:cNvSpPr txBox="1"/>
          <p:nvPr/>
        </p:nvSpPr>
        <p:spPr>
          <a:xfrm>
            <a:off x="5124156" y="2812000"/>
            <a:ext cx="700000" cy="26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999999"/>
                </a:solidFill>
                <a:latin typeface="Arial"/>
                <a:ea typeface="Arial"/>
                <a:cs typeface="Arial"/>
                <a:sym typeface="Arial"/>
              </a:rPr>
              <a:t>$200</a:t>
            </a:r>
            <a:endParaRPr sz="1400" b="0" i="0" u="none" strike="noStrike" cap="none">
              <a:solidFill>
                <a:srgbClr val="000000"/>
              </a:solidFill>
              <a:latin typeface="Arial"/>
              <a:ea typeface="Arial"/>
              <a:cs typeface="Arial"/>
              <a:sym typeface="Arial"/>
            </a:endParaRPr>
          </a:p>
        </p:txBody>
      </p:sp>
      <p:sp>
        <p:nvSpPr>
          <p:cNvPr id="748" name="Google Shape;748;p8"/>
          <p:cNvSpPr txBox="1"/>
          <p:nvPr/>
        </p:nvSpPr>
        <p:spPr>
          <a:xfrm>
            <a:off x="7680960" y="2812000"/>
            <a:ext cx="700000" cy="26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999999"/>
                </a:solidFill>
                <a:latin typeface="Arial"/>
                <a:ea typeface="Arial"/>
                <a:cs typeface="Arial"/>
                <a:sym typeface="Arial"/>
              </a:rPr>
              <a:t>$250</a:t>
            </a:r>
            <a:endParaRPr sz="1400" b="0" i="0" u="none" strike="noStrike" cap="none">
              <a:solidFill>
                <a:srgbClr val="000000"/>
              </a:solidFill>
              <a:latin typeface="Arial"/>
              <a:ea typeface="Arial"/>
              <a:cs typeface="Arial"/>
              <a:sym typeface="Arial"/>
            </a:endParaRPr>
          </a:p>
        </p:txBody>
      </p:sp>
      <p:sp>
        <p:nvSpPr>
          <p:cNvPr id="749" name="Google Shape;749;p8"/>
          <p:cNvSpPr/>
          <p:nvPr/>
        </p:nvSpPr>
        <p:spPr>
          <a:xfrm>
            <a:off x="3021669" y="2317000"/>
            <a:ext cx="767040" cy="380000"/>
          </a:xfrm>
          <a:prstGeom prst="roundRect">
            <a:avLst>
              <a:gd name="adj" fmla="val 16667"/>
            </a:avLst>
          </a:prstGeom>
          <a:solidFill>
            <a:srgbClr val="F4F1E3"/>
          </a:solidFill>
          <a:ln w="22225" cap="flat" cmpd="sng">
            <a:solidFill>
              <a:srgbClr val="6E602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50" name="Google Shape;750;p8"/>
          <p:cNvSpPr/>
          <p:nvPr/>
        </p:nvSpPr>
        <p:spPr>
          <a:xfrm>
            <a:off x="2129799" y="2307000"/>
            <a:ext cx="400000" cy="400000"/>
          </a:xfrm>
          <a:prstGeom prst="ellipse">
            <a:avLst/>
          </a:prstGeom>
          <a:solidFill>
            <a:srgbClr val="1F3A5F"/>
          </a:solidFill>
          <a:ln w="28575"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51" name="Google Shape;751;p8"/>
          <p:cNvSpPr txBox="1"/>
          <p:nvPr/>
        </p:nvSpPr>
        <p:spPr>
          <a:xfrm>
            <a:off x="1918319" y="1542000"/>
            <a:ext cx="822960" cy="4600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222222"/>
                </a:solidFill>
                <a:latin typeface="Arial"/>
                <a:ea typeface="Arial"/>
                <a:cs typeface="Arial"/>
                <a:sym typeface="Arial"/>
              </a:rPr>
              <a:t>$138.47</a:t>
            </a:r>
            <a:endParaRPr sz="1400" b="0" i="0" u="none" strike="noStrike" cap="none">
              <a:solidFill>
                <a:srgbClr val="000000"/>
              </a:solidFill>
              <a:latin typeface="Arial"/>
              <a:ea typeface="Arial"/>
              <a:cs typeface="Arial"/>
              <a:sym typeface="Arial"/>
            </a:endParaRPr>
          </a:p>
        </p:txBody>
      </p:sp>
      <p:sp>
        <p:nvSpPr>
          <p:cNvPr id="752" name="Google Shape;752;p8"/>
          <p:cNvSpPr txBox="1"/>
          <p:nvPr/>
        </p:nvSpPr>
        <p:spPr>
          <a:xfrm>
            <a:off x="1964039" y="3192000"/>
            <a:ext cx="731520" cy="406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555555"/>
                </a:solidFill>
                <a:latin typeface="Arial"/>
                <a:ea typeface="Arial"/>
                <a:cs typeface="Arial"/>
                <a:sym typeface="Arial"/>
              </a:rPr>
              <a:t>Price,</a:t>
            </a:r>
            <a:br>
              <a:rPr lang="en-US" sz="1200" b="0" i="0" u="none" strike="noStrike" cap="none">
                <a:solidFill>
                  <a:srgbClr val="555555"/>
                </a:solidFill>
                <a:latin typeface="Arial"/>
                <a:ea typeface="Arial"/>
                <a:cs typeface="Arial"/>
                <a:sym typeface="Arial"/>
              </a:rPr>
            </a:br>
            <a:r>
              <a:rPr lang="en-US" sz="1200" b="0" i="0" u="none" strike="noStrike" cap="none">
                <a:solidFill>
                  <a:srgbClr val="555555"/>
                </a:solidFill>
                <a:latin typeface="Arial"/>
                <a:ea typeface="Arial"/>
                <a:cs typeface="Arial"/>
                <a:sym typeface="Arial"/>
              </a:rPr>
              <a:t>Sep 25</a:t>
            </a:r>
            <a:endParaRPr sz="1400" b="0" i="0" u="none" strike="noStrike" cap="none">
              <a:solidFill>
                <a:srgbClr val="000000"/>
              </a:solidFill>
              <a:latin typeface="Arial"/>
              <a:ea typeface="Arial"/>
              <a:cs typeface="Arial"/>
              <a:sym typeface="Arial"/>
            </a:endParaRPr>
          </a:p>
        </p:txBody>
      </p:sp>
      <p:sp>
        <p:nvSpPr>
          <p:cNvPr id="753" name="Google Shape;753;p8"/>
          <p:cNvSpPr/>
          <p:nvPr/>
        </p:nvSpPr>
        <p:spPr>
          <a:xfrm>
            <a:off x="1490996" y="2357000"/>
            <a:ext cx="300000" cy="300000"/>
          </a:xfrm>
          <a:prstGeom prst="ellipse">
            <a:avLst/>
          </a:prstGeom>
          <a:solidFill>
            <a:srgbClr val="6E6020"/>
          </a:solidFill>
          <a:ln w="28575"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54" name="Google Shape;754;p8"/>
          <p:cNvSpPr txBox="1"/>
          <p:nvPr/>
        </p:nvSpPr>
        <p:spPr>
          <a:xfrm>
            <a:off x="1275236" y="1542000"/>
            <a:ext cx="731520" cy="4600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222222"/>
                </a:solidFill>
                <a:latin typeface="Arial"/>
                <a:ea typeface="Arial"/>
                <a:cs typeface="Arial"/>
                <a:sym typeface="Arial"/>
              </a:rPr>
              <a:t>$125</a:t>
            </a:r>
            <a:endParaRPr sz="1400" b="0" i="0" u="none" strike="noStrike" cap="none">
              <a:solidFill>
                <a:srgbClr val="000000"/>
              </a:solidFill>
              <a:latin typeface="Arial"/>
              <a:ea typeface="Arial"/>
              <a:cs typeface="Arial"/>
              <a:sym typeface="Arial"/>
            </a:endParaRPr>
          </a:p>
        </p:txBody>
      </p:sp>
      <p:sp>
        <p:nvSpPr>
          <p:cNvPr id="755" name="Google Shape;755;p8"/>
          <p:cNvSpPr txBox="1"/>
          <p:nvPr/>
        </p:nvSpPr>
        <p:spPr>
          <a:xfrm>
            <a:off x="1360996" y="3192000"/>
            <a:ext cx="560000" cy="2286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555555"/>
                </a:solidFill>
                <a:latin typeface="Arial"/>
                <a:ea typeface="Arial"/>
                <a:cs typeface="Arial"/>
                <a:sym typeface="Arial"/>
              </a:rPr>
              <a:t>Stop</a:t>
            </a:r>
            <a:endParaRPr sz="1400" b="0" i="0" u="none" strike="noStrike" cap="none">
              <a:solidFill>
                <a:srgbClr val="000000"/>
              </a:solidFill>
              <a:latin typeface="Arial"/>
              <a:ea typeface="Arial"/>
              <a:cs typeface="Arial"/>
              <a:sym typeface="Arial"/>
            </a:endParaRPr>
          </a:p>
        </p:txBody>
      </p:sp>
      <p:sp>
        <p:nvSpPr>
          <p:cNvPr id="756" name="Google Shape;756;p8"/>
          <p:cNvSpPr/>
          <p:nvPr/>
        </p:nvSpPr>
        <p:spPr>
          <a:xfrm>
            <a:off x="6042105" y="2357000"/>
            <a:ext cx="300000" cy="300000"/>
          </a:xfrm>
          <a:prstGeom prst="ellipse">
            <a:avLst/>
          </a:prstGeom>
          <a:solidFill>
            <a:srgbClr val="6E6020"/>
          </a:solidFill>
          <a:ln w="28575"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57" name="Google Shape;757;p8"/>
          <p:cNvSpPr txBox="1"/>
          <p:nvPr/>
        </p:nvSpPr>
        <p:spPr>
          <a:xfrm>
            <a:off x="5780625" y="1542000"/>
            <a:ext cx="822960" cy="4600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222222"/>
                </a:solidFill>
                <a:latin typeface="Arial"/>
                <a:ea typeface="Arial"/>
                <a:cs typeface="Arial"/>
                <a:sym typeface="Arial"/>
              </a:rPr>
              <a:t>~$214</a:t>
            </a:r>
            <a:endParaRPr sz="1400" b="0" i="0" u="none" strike="noStrike" cap="none">
              <a:solidFill>
                <a:srgbClr val="000000"/>
              </a:solidFill>
              <a:latin typeface="Arial"/>
              <a:ea typeface="Arial"/>
              <a:cs typeface="Arial"/>
              <a:sym typeface="Arial"/>
            </a:endParaRPr>
          </a:p>
        </p:txBody>
      </p:sp>
      <p:sp>
        <p:nvSpPr>
          <p:cNvPr id="758" name="Google Shape;758;p8"/>
          <p:cNvSpPr txBox="1"/>
          <p:nvPr/>
        </p:nvSpPr>
        <p:spPr>
          <a:xfrm>
            <a:off x="5689185" y="3192000"/>
            <a:ext cx="1005840" cy="6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555555"/>
                </a:solidFill>
                <a:latin typeface="Arial"/>
                <a:ea typeface="Arial"/>
                <a:cs typeface="Arial"/>
                <a:sym typeface="Arial"/>
              </a:rPr>
              <a:t>Street avg. target</a:t>
            </a:r>
            <a:endParaRPr sz="1400" b="0" i="0" u="none" strike="noStrike" cap="none">
              <a:solidFill>
                <a:srgbClr val="000000"/>
              </a:solidFill>
              <a:latin typeface="Arial"/>
              <a:ea typeface="Arial"/>
              <a:cs typeface="Arial"/>
              <a:sym typeface="Arial"/>
            </a:endParaRPr>
          </a:p>
        </p:txBody>
      </p:sp>
      <p:sp>
        <p:nvSpPr>
          <p:cNvPr id="759" name="Google Shape;759;p8"/>
          <p:cNvSpPr/>
          <p:nvPr/>
        </p:nvSpPr>
        <p:spPr>
          <a:xfrm>
            <a:off x="7464711" y="2357000"/>
            <a:ext cx="300000" cy="300000"/>
          </a:xfrm>
          <a:prstGeom prst="ellipse">
            <a:avLst/>
          </a:prstGeom>
          <a:solidFill>
            <a:srgbClr val="6E6020"/>
          </a:solidFill>
          <a:ln w="28575"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60" name="Google Shape;760;p8"/>
          <p:cNvSpPr txBox="1"/>
          <p:nvPr/>
        </p:nvSpPr>
        <p:spPr>
          <a:xfrm>
            <a:off x="7203231" y="1542000"/>
            <a:ext cx="822960" cy="4600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222222"/>
                </a:solidFill>
                <a:latin typeface="Arial"/>
                <a:ea typeface="Arial"/>
                <a:cs typeface="Arial"/>
                <a:sym typeface="Arial"/>
              </a:rPr>
              <a:t>$241.82</a:t>
            </a:r>
            <a:endParaRPr sz="1400" b="0" i="0" u="none" strike="noStrike" cap="none">
              <a:solidFill>
                <a:srgbClr val="000000"/>
              </a:solidFill>
              <a:latin typeface="Arial"/>
              <a:ea typeface="Arial"/>
              <a:cs typeface="Arial"/>
              <a:sym typeface="Arial"/>
            </a:endParaRPr>
          </a:p>
        </p:txBody>
      </p:sp>
      <p:sp>
        <p:nvSpPr>
          <p:cNvPr id="761" name="Google Shape;761;p8"/>
          <p:cNvSpPr txBox="1"/>
          <p:nvPr/>
        </p:nvSpPr>
        <p:spPr>
          <a:xfrm>
            <a:off x="7157511" y="3192000"/>
            <a:ext cx="914400" cy="6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555555"/>
                </a:solidFill>
                <a:latin typeface="Arial"/>
                <a:ea typeface="Arial"/>
                <a:cs typeface="Arial"/>
                <a:sym typeface="Arial"/>
              </a:rPr>
              <a:t>52-week high</a:t>
            </a:r>
            <a:endParaRPr sz="1400" b="0" i="0" u="none" strike="noStrike" cap="none">
              <a:solidFill>
                <a:srgbClr val="000000"/>
              </a:solidFill>
              <a:latin typeface="Arial"/>
              <a:ea typeface="Arial"/>
              <a:cs typeface="Arial"/>
              <a:sym typeface="Arial"/>
            </a:endParaRPr>
          </a:p>
        </p:txBody>
      </p:sp>
      <p:sp>
        <p:nvSpPr>
          <p:cNvPr id="762" name="Google Shape;762;p8"/>
          <p:cNvSpPr txBox="1"/>
          <p:nvPr/>
        </p:nvSpPr>
        <p:spPr>
          <a:xfrm>
            <a:off x="2902270" y="1540256"/>
            <a:ext cx="1005840" cy="26161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6E6020"/>
                </a:solidFill>
                <a:latin typeface="Arial"/>
                <a:ea typeface="Arial"/>
                <a:cs typeface="Arial"/>
                <a:sym typeface="Arial"/>
              </a:rPr>
              <a:t>$152–167</a:t>
            </a:r>
            <a:endParaRPr sz="1400" b="0" i="0" u="none" strike="noStrike" cap="none">
              <a:solidFill>
                <a:srgbClr val="000000"/>
              </a:solidFill>
              <a:latin typeface="Arial"/>
              <a:ea typeface="Arial"/>
              <a:cs typeface="Arial"/>
              <a:sym typeface="Arial"/>
            </a:endParaRPr>
          </a:p>
        </p:txBody>
      </p:sp>
      <p:sp>
        <p:nvSpPr>
          <p:cNvPr id="763" name="Google Shape;763;p8"/>
          <p:cNvSpPr txBox="1"/>
          <p:nvPr/>
        </p:nvSpPr>
        <p:spPr>
          <a:xfrm>
            <a:off x="2947990" y="3192000"/>
            <a:ext cx="914400" cy="620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555555"/>
                </a:solidFill>
                <a:latin typeface="Arial"/>
                <a:ea typeface="Arial"/>
                <a:cs typeface="Arial"/>
                <a:sym typeface="Arial"/>
              </a:rPr>
              <a:t>Target (calc.)</a:t>
            </a:r>
            <a:endParaRPr sz="1400" b="0" i="0" u="none" strike="noStrike" cap="none">
              <a:solidFill>
                <a:srgbClr val="000000"/>
              </a:solidFill>
              <a:latin typeface="Arial"/>
              <a:ea typeface="Arial"/>
              <a:cs typeface="Arial"/>
              <a:sym typeface="Arial"/>
            </a:endParaRPr>
          </a:p>
        </p:txBody>
      </p:sp>
      <p:sp>
        <p:nvSpPr>
          <p:cNvPr id="764" name="Google Shape;764;p8"/>
          <p:cNvSpPr/>
          <p:nvPr/>
        </p:nvSpPr>
        <p:spPr>
          <a:xfrm>
            <a:off x="495300" y="4069080"/>
            <a:ext cx="8163560" cy="2021840"/>
          </a:xfrm>
          <a:prstGeom prst="roundRect">
            <a:avLst>
              <a:gd name="adj" fmla="val 16667"/>
            </a:avLst>
          </a:prstGeom>
          <a:solidFill>
            <a:srgbClr val="FFFFFF"/>
          </a:solidFill>
          <a:ln w="19050" cap="flat" cmpd="sng">
            <a:solidFill>
              <a:srgbClr val="6E6020"/>
            </a:solidFill>
            <a:prstDash val="solid"/>
            <a:round/>
            <a:headEnd type="none" w="sm" len="sm"/>
            <a:tailEnd type="none" w="sm" len="sm"/>
          </a:ln>
        </p:spPr>
        <p:txBody>
          <a:bodyPr spcFirstLastPara="1" wrap="square" lIns="228600" tIns="76200" rIns="228600" bIns="762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222222"/>
                </a:solidFill>
                <a:latin typeface="Arial"/>
                <a:ea typeface="Arial"/>
                <a:cs typeface="Arial"/>
                <a:sym typeface="Arial"/>
              </a:rPr>
              <a:t>Target midpoint $159.50 vs. $138.47 today = +15%.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400"/>
              <a:buFont typeface="Arial"/>
              <a:buNone/>
            </a:pPr>
            <a:r>
              <a:rPr lang="en-US" sz="1400" b="1" i="0" u="none" strike="noStrike" cap="none">
                <a:solidFill>
                  <a:srgbClr val="6E6020"/>
                </a:solidFill>
                <a:latin typeface="Arial"/>
                <a:ea typeface="Arial"/>
                <a:cs typeface="Arial"/>
                <a:sym typeface="Arial"/>
              </a:rPr>
              <a:t>Our read: </a:t>
            </a:r>
            <a:r>
              <a:rPr lang="en-US" sz="1400" b="0" i="0" u="none" strike="noStrike" cap="none">
                <a:solidFill>
                  <a:srgbClr val="6E6020"/>
                </a:solidFill>
                <a:latin typeface="Arial"/>
                <a:ea typeface="Arial"/>
                <a:cs typeface="Arial"/>
                <a:sym typeface="Arial"/>
              </a:rPr>
              <a:t>Buy at $138 today and we're risking about 10% to make about 15%, roughly 1.6 : 1. </a:t>
            </a:r>
            <a:br>
              <a:rPr lang="en-US" sz="1400" b="0" i="0" u="none" strike="noStrike" cap="none">
                <a:solidFill>
                  <a:srgbClr val="6E6020"/>
                </a:solidFill>
                <a:latin typeface="Arial"/>
                <a:ea typeface="Arial"/>
                <a:cs typeface="Arial"/>
                <a:sym typeface="Arial"/>
              </a:rPr>
            </a:br>
            <a:br>
              <a:rPr lang="en-US" sz="1400" b="0" i="0" u="none" strike="noStrike" cap="none">
                <a:solidFill>
                  <a:srgbClr val="6E6020"/>
                </a:solidFill>
                <a:latin typeface="Arial"/>
                <a:ea typeface="Arial"/>
                <a:cs typeface="Arial"/>
                <a:sym typeface="Arial"/>
              </a:rPr>
            </a:br>
            <a:r>
              <a:rPr lang="en-US" sz="1400" b="0" i="0" u="none" strike="noStrike" cap="none">
                <a:solidFill>
                  <a:srgbClr val="6E6020"/>
                </a:solidFill>
                <a:latin typeface="Arial"/>
                <a:ea typeface="Arial"/>
                <a:cs typeface="Arial"/>
                <a:sym typeface="Arial"/>
              </a:rPr>
              <a:t>Wait for $133 and we're risking 6% to make 20%, better than 3 : 1. It's the same stock, same business, but with twice the payoff just for being patient. That's why BWXT gets the same 20% bar as Paladin.</a:t>
            </a:r>
            <a:br>
              <a:rPr lang="en-US" sz="1400" b="0" i="0" u="none" strike="noStrike" cap="none">
                <a:solidFill>
                  <a:srgbClr val="6E6020"/>
                </a:solidFill>
                <a:latin typeface="Arial"/>
                <a:ea typeface="Arial"/>
                <a:cs typeface="Arial"/>
                <a:sym typeface="Arial"/>
              </a:rPr>
            </a:br>
            <a:br>
              <a:rPr lang="en-US" sz="1400" b="0" i="0" u="none" strike="noStrike" cap="none">
                <a:solidFill>
                  <a:srgbClr val="6E6020"/>
                </a:solidFill>
                <a:latin typeface="Arial"/>
                <a:ea typeface="Arial"/>
                <a:cs typeface="Arial"/>
                <a:sym typeface="Arial"/>
              </a:rPr>
            </a:br>
            <a:r>
              <a:rPr lang="en-US" sz="1400" b="0" i="0" u="none" strike="noStrike" cap="none">
                <a:solidFill>
                  <a:srgbClr val="6E6020"/>
                </a:solidFill>
                <a:latin typeface="Arial"/>
                <a:ea typeface="Arial"/>
                <a:cs typeface="Arial"/>
                <a:sym typeface="Arial"/>
              </a:rPr>
              <a:t>We're confident $133 is the right entry because of this.</a:t>
            </a:r>
            <a:endParaRPr sz="1400" b="0" i="0" u="none" strike="noStrike" cap="none">
              <a:solidFill>
                <a:srgbClr val="6E6020"/>
              </a:solidFill>
              <a:latin typeface="Arial"/>
              <a:ea typeface="Arial"/>
              <a:cs typeface="Arial"/>
              <a:sym typeface="Arial"/>
            </a:endParaRPr>
          </a:p>
        </p:txBody>
      </p:sp>
      <p:sp>
        <p:nvSpPr>
          <p:cNvPr id="765" name="Google Shape;765;p8" descr="Entry marker at about $133"/>
          <p:cNvSpPr/>
          <p:nvPr/>
        </p:nvSpPr>
        <p:spPr>
          <a:xfrm>
            <a:off x="1968294" y="2427000"/>
            <a:ext cx="160000" cy="160000"/>
          </a:xfrm>
          <a:prstGeom prst="ellipse">
            <a:avLst/>
          </a:prstGeom>
          <a:solidFill>
            <a:srgbClr val="6E6020"/>
          </a:solidFill>
          <a:ln w="2857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cxnSp>
        <p:nvCxnSpPr>
          <p:cNvPr id="766" name="Google Shape;766;p8"/>
          <p:cNvCxnSpPr/>
          <p:nvPr/>
        </p:nvCxnSpPr>
        <p:spPr>
          <a:xfrm>
            <a:off x="2048294" y="2612400"/>
            <a:ext cx="0" cy="1019800"/>
          </a:xfrm>
          <a:prstGeom prst="straightConnector1">
            <a:avLst/>
          </a:prstGeom>
          <a:noFill/>
          <a:ln w="9525" cap="flat" cmpd="sng">
            <a:solidFill>
              <a:srgbClr val="6E6020"/>
            </a:solidFill>
            <a:prstDash val="solid"/>
            <a:round/>
            <a:headEnd type="none" w="sm" len="sm"/>
            <a:tailEnd type="none" w="sm" len="sm"/>
          </a:ln>
        </p:spPr>
      </p:cxnSp>
      <p:sp>
        <p:nvSpPr>
          <p:cNvPr id="767" name="Google Shape;767;p8"/>
          <p:cNvSpPr txBox="1"/>
          <p:nvPr/>
        </p:nvSpPr>
        <p:spPr>
          <a:xfrm>
            <a:off x="1548294" y="3657600"/>
            <a:ext cx="1000000" cy="2286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6E6020"/>
                </a:solidFill>
                <a:latin typeface="Arial"/>
                <a:ea typeface="Arial"/>
                <a:cs typeface="Arial"/>
                <a:sym typeface="Arial"/>
              </a:rPr>
              <a:t>Entry ~$133</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10"/>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BWXT: catalysts and what the multiple implies</a:t>
            </a:r>
            <a:endParaRPr sz="2400" b="0" i="0" u="none" strike="noStrike" cap="none">
              <a:solidFill>
                <a:schemeClr val="dk1"/>
              </a:solidFill>
              <a:latin typeface="Calibri"/>
              <a:ea typeface="Calibri"/>
              <a:cs typeface="Calibri"/>
              <a:sym typeface="Calibri"/>
            </a:endParaRPr>
          </a:p>
        </p:txBody>
      </p:sp>
      <p:graphicFrame>
        <p:nvGraphicFramePr>
          <p:cNvPr id="773" name="Google Shape;773;p10"/>
          <p:cNvGraphicFramePr/>
          <p:nvPr/>
        </p:nvGraphicFramePr>
        <p:xfrm>
          <a:off x="546100" y="1066800"/>
          <a:ext cx="3000000" cy="3000000"/>
        </p:xfrm>
        <a:graphic>
          <a:graphicData uri="http://schemas.openxmlformats.org/drawingml/2006/table">
            <a:tbl>
              <a:tblPr>
                <a:noFill/>
                <a:tableStyleId>{67C04448-9542-46E3-BF30-04DBAA183EC1}</a:tableStyleId>
              </a:tblPr>
              <a:tblGrid>
                <a:gridCol w="1005850">
                  <a:extLst>
                    <a:ext uri="{9D8B030D-6E8A-4147-A177-3AD203B41FA5}">
                      <a16:colId xmlns:a16="http://schemas.microsoft.com/office/drawing/2014/main" val="20000"/>
                    </a:ext>
                  </a:extLst>
                </a:gridCol>
                <a:gridCol w="1737350">
                  <a:extLst>
                    <a:ext uri="{9D8B030D-6E8A-4147-A177-3AD203B41FA5}">
                      <a16:colId xmlns:a16="http://schemas.microsoft.com/office/drawing/2014/main" val="20001"/>
                    </a:ext>
                  </a:extLst>
                </a:gridCol>
                <a:gridCol w="1463050">
                  <a:extLst>
                    <a:ext uri="{9D8B030D-6E8A-4147-A177-3AD203B41FA5}">
                      <a16:colId xmlns:a16="http://schemas.microsoft.com/office/drawing/2014/main" val="20002"/>
                    </a:ext>
                  </a:extLst>
                </a:gridCol>
                <a:gridCol w="3840475">
                  <a:extLst>
                    <a:ext uri="{9D8B030D-6E8A-4147-A177-3AD203B41FA5}">
                      <a16:colId xmlns:a16="http://schemas.microsoft.com/office/drawing/2014/main" val="20003"/>
                    </a:ext>
                  </a:extLst>
                </a:gridCol>
              </a:tblGrid>
              <a:tr h="431800">
                <a:tc>
                  <a:txBody>
                    <a:bodyPr/>
                    <a:lstStyle/>
                    <a:p>
                      <a:pPr marL="0" marR="0" lvl="0" indent="0" algn="l"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Case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EV / 2026 EBITDA</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Implied price</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200"/>
                        <a:buFont typeface="Arial"/>
                        <a:buNone/>
                      </a:pPr>
                      <a:r>
                        <a:rPr lang="en-US" sz="1200" b="1" u="none" strike="noStrike" cap="none">
                          <a:solidFill>
                            <a:srgbClr val="555555"/>
                          </a:solidFill>
                          <a:latin typeface="Arial"/>
                          <a:ea typeface="Arial"/>
                          <a:cs typeface="Arial"/>
                          <a:sym typeface="Arial"/>
                        </a:rPr>
                        <a:t>What it takes</a:t>
                      </a:r>
                      <a:endParaRPr sz="1400" u="none" strike="noStrike" cap="none"/>
                    </a:p>
                  </a:txBody>
                  <a:tcPr marL="45725" marR="45725" marT="27425" marB="274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304800">
                <a:tc>
                  <a:txBody>
                    <a:bodyPr/>
                    <a:lstStyle/>
                    <a:p>
                      <a:pPr marL="0" marR="0" lvl="0" indent="0" algn="l" rtl="0">
                        <a:lnSpc>
                          <a:spcPct val="100000"/>
                        </a:lnSpc>
                        <a:spcBef>
                          <a:spcPts val="0"/>
                        </a:spcBef>
                        <a:spcAft>
                          <a:spcPts val="0"/>
                        </a:spcAft>
                        <a:buClr>
                          <a:srgbClr val="222222"/>
                        </a:buClr>
                        <a:buSzPts val="1400"/>
                        <a:buFont typeface="Arial"/>
                        <a:buNone/>
                      </a:pPr>
                      <a:r>
                        <a:rPr lang="en-US" sz="1200" b="1" u="none" strike="noStrike" cap="none">
                          <a:solidFill>
                            <a:srgbClr val="222222"/>
                          </a:solidFill>
                          <a:latin typeface="Arial"/>
                          <a:ea typeface="Arial"/>
                          <a:cs typeface="Arial"/>
                          <a:sym typeface="Arial"/>
                        </a:rPr>
                        <a:t>Bear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18x</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~$116</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Sector keeps de-rating (Council stress test)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304800">
                <a:tc>
                  <a:txBody>
                    <a:bodyPr/>
                    <a:lstStyle/>
                    <a:p>
                      <a:pPr marL="0" marR="0" lvl="0" indent="0" algn="l" rtl="0">
                        <a:lnSpc>
                          <a:spcPct val="100000"/>
                        </a:lnSpc>
                        <a:spcBef>
                          <a:spcPts val="0"/>
                        </a:spcBef>
                        <a:spcAft>
                          <a:spcPts val="0"/>
                        </a:spcAft>
                        <a:buClr>
                          <a:srgbClr val="6E6020"/>
                        </a:buClr>
                        <a:buSzPts val="1400"/>
                        <a:buFont typeface="Arial"/>
                        <a:buNone/>
                      </a:pPr>
                      <a:r>
                        <a:rPr lang="en-US" sz="1200" b="1" u="none" strike="noStrike" cap="none">
                          <a:solidFill>
                            <a:srgbClr val="6E6020"/>
                          </a:solidFill>
                          <a:latin typeface="Arial"/>
                          <a:ea typeface="Arial"/>
                          <a:cs typeface="Arial"/>
                          <a:sym typeface="Arial"/>
                        </a:rPr>
                        <a:t>Today</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21.1x</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$138.47</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6E6020"/>
                        </a:buClr>
                        <a:buSzPts val="1400"/>
                        <a:buFont typeface="Arial"/>
                        <a:buNone/>
                      </a:pPr>
                      <a:r>
                        <a:rPr lang="en-US" sz="1200" b="0" u="none" strike="noStrike" cap="none">
                          <a:solidFill>
                            <a:srgbClr val="6E6020"/>
                          </a:solidFill>
                          <a:latin typeface="Arial"/>
                          <a:ea typeface="Arial"/>
                          <a:cs typeface="Arial"/>
                          <a:sym typeface="Arial"/>
                        </a:rPr>
                        <a:t>Sep 25 close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solidFill>
                      <a:srgbClr val="F4F1E3"/>
                    </a:solidFill>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Clr>
                          <a:srgbClr val="222222"/>
                        </a:buClr>
                        <a:buSzPts val="1400"/>
                        <a:buFont typeface="Arial"/>
                        <a:buNone/>
                      </a:pPr>
                      <a:r>
                        <a:rPr lang="en-US" sz="1200" b="1" u="none" strike="noStrike" cap="none">
                          <a:solidFill>
                            <a:srgbClr val="222222"/>
                          </a:solidFill>
                          <a:latin typeface="Arial"/>
                          <a:ea typeface="Arial"/>
                          <a:cs typeface="Arial"/>
                          <a:sym typeface="Arial"/>
                        </a:rPr>
                        <a:t>Base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23–25x</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$152–167</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Guidance delivered; multiple recovers</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r h="304800">
                <a:tc>
                  <a:txBody>
                    <a:bodyPr/>
                    <a:lstStyle/>
                    <a:p>
                      <a:pPr marL="0" marR="0" lvl="0" indent="0" algn="l" rtl="0">
                        <a:lnSpc>
                          <a:spcPct val="100000"/>
                        </a:lnSpc>
                        <a:spcBef>
                          <a:spcPts val="0"/>
                        </a:spcBef>
                        <a:spcAft>
                          <a:spcPts val="0"/>
                        </a:spcAft>
                        <a:buClr>
                          <a:srgbClr val="222222"/>
                        </a:buClr>
                        <a:buSzPts val="1400"/>
                        <a:buFont typeface="Arial"/>
                        <a:buNone/>
                      </a:pPr>
                      <a:r>
                        <a:rPr lang="en-US" sz="1200" b="1" u="none" strike="noStrike" cap="none">
                          <a:solidFill>
                            <a:srgbClr val="222222"/>
                          </a:solidFill>
                          <a:latin typeface="Arial"/>
                          <a:ea typeface="Arial"/>
                          <a:cs typeface="Arial"/>
                          <a:sym typeface="Arial"/>
                        </a:rPr>
                        <a:t>Street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~31.5x</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~$214</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Street average target (MarketBeat)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4"/>
                  </a:ext>
                </a:extLst>
              </a:tr>
              <a:tr h="304800">
                <a:tc>
                  <a:txBody>
                    <a:bodyPr/>
                    <a:lstStyle/>
                    <a:p>
                      <a:pPr marL="0" marR="0" lvl="0" indent="0" algn="l" rtl="0">
                        <a:lnSpc>
                          <a:spcPct val="100000"/>
                        </a:lnSpc>
                        <a:spcBef>
                          <a:spcPts val="0"/>
                        </a:spcBef>
                        <a:spcAft>
                          <a:spcPts val="0"/>
                        </a:spcAft>
                        <a:buClr>
                          <a:srgbClr val="222222"/>
                        </a:buClr>
                        <a:buSzPts val="1400"/>
                        <a:buFont typeface="Arial"/>
                        <a:buNone/>
                      </a:pPr>
                      <a:r>
                        <a:rPr lang="en-US" sz="1200" b="1" u="none" strike="noStrike" cap="none">
                          <a:solidFill>
                            <a:srgbClr val="222222"/>
                          </a:solidFill>
                          <a:latin typeface="Arial"/>
                          <a:ea typeface="Arial"/>
                          <a:cs typeface="Arial"/>
                          <a:sym typeface="Arial"/>
                        </a:rPr>
                        <a:t>Imagination</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~40x (assumed)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u="none" strike="noStrike" cap="none">
                          <a:solidFill>
                            <a:srgbClr val="222222"/>
                          </a:solidFill>
                          <a:latin typeface="Arial"/>
                          <a:ea typeface="Arial"/>
                          <a:cs typeface="Arial"/>
                          <a:sym typeface="Arial"/>
                        </a:rPr>
                        <a:t>~$276</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400"/>
                        <a:buFont typeface="Arial"/>
                        <a:buNone/>
                      </a:pPr>
                      <a:r>
                        <a:rPr lang="en-US" sz="1200" b="0" i="0" u="none" strike="noStrike" cap="none">
                          <a:solidFill>
                            <a:srgbClr val="222222"/>
                          </a:solidFill>
                        </a:rPr>
                        <a:t>Imagine: The Army's microreactor program takes off, data centers start ordering small reactors, and investors start valuing BWXT like a growth company instead of a Navy contractor.</a:t>
                      </a:r>
                      <a:endParaRPr sz="1400" i="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774" name="Google Shape;774;p10"/>
          <p:cNvSpPr/>
          <p:nvPr/>
        </p:nvSpPr>
        <p:spPr>
          <a:xfrm>
            <a:off x="546100" y="3708400"/>
            <a:ext cx="8051800" cy="4572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400" b="1" i="0" u="none" strike="noStrike" cap="none">
                <a:solidFill>
                  <a:srgbClr val="6E6020"/>
                </a:solidFill>
                <a:latin typeface="Arial"/>
                <a:ea typeface="Arial"/>
                <a:cs typeface="Arial"/>
                <a:sym typeface="Arial"/>
              </a:rPr>
              <a:t>Next: Investor Day (Sep 29); Q3 results (early Nov).</a:t>
            </a:r>
            <a:endParaRPr sz="1400" b="0" i="0" u="none" strike="noStrike" cap="none">
              <a:solidFill>
                <a:srgbClr val="000000"/>
              </a:solidFill>
              <a:latin typeface="Arial"/>
              <a:ea typeface="Arial"/>
              <a:cs typeface="Arial"/>
              <a:sym typeface="Arial"/>
            </a:endParaRPr>
          </a:p>
        </p:txBody>
      </p:sp>
      <p:sp>
        <p:nvSpPr>
          <p:cNvPr id="775" name="Google Shape;775;p10"/>
          <p:cNvSpPr/>
          <p:nvPr/>
        </p:nvSpPr>
        <p:spPr>
          <a:xfrm>
            <a:off x="546100" y="4343400"/>
            <a:ext cx="8051800" cy="4572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1400" b="1" i="0" u="none" strike="noStrike" cap="none">
                <a:solidFill>
                  <a:srgbClr val="6E6020"/>
                </a:solidFill>
                <a:latin typeface="Arial"/>
                <a:ea typeface="Arial"/>
                <a:cs typeface="Arial"/>
                <a:sym typeface="Arial"/>
              </a:rPr>
              <a:t>By early 2027: medical sale closes; 2027 guidance (~Feb).</a:t>
            </a:r>
            <a:endParaRPr sz="1400" b="0" i="0" u="none" strike="noStrike" cap="none">
              <a:solidFill>
                <a:srgbClr val="000000"/>
              </a:solidFill>
              <a:latin typeface="Arial"/>
              <a:ea typeface="Arial"/>
              <a:cs typeface="Arial"/>
              <a:sym typeface="Arial"/>
            </a:endParaRPr>
          </a:p>
        </p:txBody>
      </p:sp>
      <p:sp>
        <p:nvSpPr>
          <p:cNvPr id="776" name="Google Shape;776;p10"/>
          <p:cNvSpPr/>
          <p:nvPr/>
        </p:nvSpPr>
        <p:spPr>
          <a:xfrm>
            <a:off x="546100" y="4978400"/>
            <a:ext cx="8051800" cy="78740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000000"/>
              </a:buClr>
              <a:buSzPts val="1400"/>
              <a:buFont typeface="Arial"/>
              <a:buNone/>
            </a:pPr>
            <a:br>
              <a:rPr lang="en-US" sz="1400" b="1" i="0" u="none" strike="noStrike" cap="none">
                <a:solidFill>
                  <a:srgbClr val="6E6020"/>
                </a:solidFill>
                <a:latin typeface="Arial"/>
                <a:ea typeface="Arial"/>
                <a:cs typeface="Arial"/>
                <a:sym typeface="Arial"/>
              </a:rPr>
            </a:br>
            <a:r>
              <a:rPr lang="en-US" sz="1400" b="1" i="0" u="none" strike="noStrike" cap="none">
                <a:solidFill>
                  <a:srgbClr val="6E6020"/>
                </a:solidFill>
                <a:latin typeface="Arial"/>
                <a:ea typeface="Arial"/>
                <a:cs typeface="Arial"/>
                <a:sym typeface="Arial"/>
              </a:rPr>
              <a:t>Risk: </a:t>
            </a:r>
            <a:r>
              <a:rPr lang="en-US" sz="1400" b="0" i="0" u="none" strike="noStrike" cap="none">
                <a:solidFill>
                  <a:srgbClr val="6E6020"/>
                </a:solidFill>
                <a:latin typeface="Arial"/>
                <a:ea typeface="Arial"/>
                <a:cs typeface="Arial"/>
                <a:sym typeface="Arial"/>
              </a:rPr>
              <a:t>68% of BWXT's revenue comes from one customer, the U.S. government. These are long Navy programs though, so budget fights usually delay contracts instead of canceling them.</a:t>
            </a:r>
            <a:endParaRPr sz="1400" b="0" i="0" u="none" strike="noStrike" cap="none">
              <a:solidFill>
                <a:srgbClr val="6E602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6E6020"/>
              </a:solidFill>
              <a:latin typeface="Arial"/>
              <a:ea typeface="Arial"/>
              <a:cs typeface="Arial"/>
              <a:sym typeface="Arial"/>
            </a:endParaRPr>
          </a:p>
        </p:txBody>
      </p:sp>
      <p:pic>
        <p:nvPicPr>
          <p:cNvPr id="777" name="Google Shape;777;p10"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58"/>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200" b="1" i="0" u="none" strike="noStrike" cap="none">
                <a:solidFill>
                  <a:srgbClr val="000000"/>
                </a:solidFill>
                <a:latin typeface="Arial"/>
                <a:ea typeface="Arial"/>
                <a:cs typeface="Arial"/>
                <a:sym typeface="Arial"/>
              </a:rPr>
              <a:t>Council Review: pressure-testing the Alternative</a:t>
            </a:r>
            <a:endParaRPr sz="2400" b="0" i="0" u="none" strike="noStrike" cap="none">
              <a:solidFill>
                <a:schemeClr val="dk1"/>
              </a:solidFill>
              <a:latin typeface="Calibri"/>
              <a:ea typeface="Calibri"/>
              <a:cs typeface="Calibri"/>
              <a:sym typeface="Calibri"/>
            </a:endParaRPr>
          </a:p>
        </p:txBody>
      </p:sp>
      <p:sp>
        <p:nvSpPr>
          <p:cNvPr id="783" name="Google Shape;783;p58"/>
          <p:cNvSpPr/>
          <p:nvPr/>
        </p:nvSpPr>
        <p:spPr>
          <a:xfrm>
            <a:off x="5461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4" name="Google Shape;784;p58"/>
          <p:cNvSpPr/>
          <p:nvPr/>
        </p:nvSpPr>
        <p:spPr>
          <a:xfrm>
            <a:off x="749300" y="1244600"/>
            <a:ext cx="457200" cy="45720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5" name="Google Shape;785;p58"/>
          <p:cNvSpPr txBox="1"/>
          <p:nvPr/>
        </p:nvSpPr>
        <p:spPr>
          <a:xfrm>
            <a:off x="13335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What the Council found</a:t>
            </a:r>
            <a:endParaRPr sz="1400" b="0" i="0" u="none" strike="noStrike" cap="none">
              <a:solidFill>
                <a:srgbClr val="000000"/>
              </a:solidFill>
              <a:latin typeface="Arial"/>
              <a:ea typeface="Arial"/>
              <a:cs typeface="Arial"/>
              <a:sym typeface="Arial"/>
            </a:endParaRPr>
          </a:p>
        </p:txBody>
      </p:sp>
      <p:sp>
        <p:nvSpPr>
          <p:cNvPr id="786" name="Google Shape;786;p58"/>
          <p:cNvSpPr txBox="1"/>
          <p:nvPr/>
        </p:nvSpPr>
        <p:spPr>
          <a:xfrm>
            <a:off x="749300" y="1778000"/>
            <a:ext cx="3492500" cy="2926080"/>
          </a:xfrm>
          <a:prstGeom prst="rect">
            <a:avLst/>
          </a:prstGeom>
          <a:noFill/>
          <a:ln>
            <a:noFill/>
          </a:ln>
        </p:spPr>
        <p:txBody>
          <a:bodyPr spcFirstLastPara="1" wrap="square" lIns="0" tIns="0" rIns="0" bIns="0" anchor="t" anchorCtr="0">
            <a:noAutofit/>
          </a:bodyPr>
          <a:lstStyle/>
          <a:p>
            <a:pPr marL="228600" marR="0" lvl="0" indent="-228600" algn="l" rtl="0">
              <a:lnSpc>
                <a:spcPct val="100000"/>
              </a:lnSpc>
              <a:spcBef>
                <a:spcPts val="0"/>
              </a:spcBef>
              <a:spcAft>
                <a:spcPts val="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Am I Deluded? Partly: SPUT passed over by judgment</a:t>
            </a:r>
            <a:endParaRPr sz="14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Attack the Deal: ~15% upside, below the gate</a:t>
            </a:r>
            <a:endParaRPr sz="14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Stress Test: de-rating to 18x (~$116)</a:t>
            </a:r>
            <a:endParaRPr sz="14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120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Read My Excuse: waiting for Sep 29 is fair</a:t>
            </a:r>
            <a:endParaRPr sz="1400" b="0" i="0" u="none" strike="noStrike" cap="none">
              <a:solidFill>
                <a:srgbClr val="000000"/>
              </a:solidFill>
              <a:latin typeface="Arial"/>
              <a:ea typeface="Arial"/>
              <a:cs typeface="Arial"/>
              <a:sym typeface="Arial"/>
            </a:endParaRPr>
          </a:p>
        </p:txBody>
      </p:sp>
      <p:sp>
        <p:nvSpPr>
          <p:cNvPr id="787" name="Google Shape;787;p58"/>
          <p:cNvSpPr/>
          <p:nvPr/>
        </p:nvSpPr>
        <p:spPr>
          <a:xfrm>
            <a:off x="47244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8" name="Google Shape;788;p58"/>
          <p:cNvSpPr/>
          <p:nvPr/>
        </p:nvSpPr>
        <p:spPr>
          <a:xfrm>
            <a:off x="4927600" y="1244600"/>
            <a:ext cx="457200" cy="45720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9" name="Google Shape;789;p58"/>
          <p:cNvSpPr txBox="1"/>
          <p:nvPr/>
        </p:nvSpPr>
        <p:spPr>
          <a:xfrm>
            <a:off x="5511800" y="1244600"/>
            <a:ext cx="2921000" cy="457200"/>
          </a:xfrm>
          <a:prstGeom prst="rect">
            <a:avLst/>
          </a:prstGeom>
          <a:noFill/>
          <a:ln>
            <a:noFill/>
          </a:ln>
        </p:spPr>
        <p:txBody>
          <a:bodyPr spcFirstLastPara="1" wrap="square" lIns="0" tIns="0" rIns="0" bIns="0" anchor="ctr" anchorCtr="0">
            <a:normAutofit fontScale="92500"/>
          </a:bodyPr>
          <a:lstStyle/>
          <a:p>
            <a:pPr marL="0" marR="0" lvl="0" indent="0" algn="l" rtl="0">
              <a:lnSpc>
                <a:spcPct val="100000"/>
              </a:lnSpc>
              <a:spcBef>
                <a:spcPts val="0"/>
              </a:spcBef>
              <a:spcAft>
                <a:spcPts val="0"/>
              </a:spcAft>
              <a:buClr>
                <a:srgbClr val="6E6020"/>
              </a:buClr>
              <a:buSzPct val="108108"/>
              <a:buFont typeface="Arial"/>
              <a:buNone/>
            </a:pPr>
            <a:r>
              <a:rPr lang="en-US" sz="2000" b="1" i="0" u="none" strike="noStrike" cap="none">
                <a:solidFill>
                  <a:srgbClr val="6E6020"/>
                </a:solidFill>
                <a:latin typeface="Arial"/>
                <a:ea typeface="Arial"/>
                <a:cs typeface="Arial"/>
                <a:sym typeface="Arial"/>
              </a:rPr>
              <a:t>What changed as a result</a:t>
            </a:r>
            <a:endParaRPr sz="1400" b="0" i="0" u="none" strike="noStrike" cap="none">
              <a:solidFill>
                <a:srgbClr val="000000"/>
              </a:solidFill>
              <a:latin typeface="Arial"/>
              <a:ea typeface="Arial"/>
              <a:cs typeface="Arial"/>
              <a:sym typeface="Arial"/>
            </a:endParaRPr>
          </a:p>
        </p:txBody>
      </p:sp>
      <p:sp>
        <p:nvSpPr>
          <p:cNvPr id="790" name="Google Shape;790;p58"/>
          <p:cNvSpPr txBox="1"/>
          <p:nvPr/>
        </p:nvSpPr>
        <p:spPr>
          <a:xfrm>
            <a:off x="4927600" y="1778000"/>
            <a:ext cx="3492500" cy="2926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Verdict: </a:t>
            </a:r>
            <a:r>
              <a:rPr lang="en-US" sz="1400" b="0" i="0" u="none" strike="noStrike" cap="none">
                <a:solidFill>
                  <a:srgbClr val="222222"/>
                </a:solidFill>
                <a:latin typeface="Arial"/>
                <a:ea typeface="Arial"/>
                <a:cs typeface="Arial"/>
                <a:sym typeface="Arial"/>
              </a:rPr>
              <a:t>stage entry → Watchlist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Corrections: </a:t>
            </a:r>
            <a:r>
              <a:rPr lang="en-US" sz="1400" b="0" i="0" u="none" strike="noStrike" cap="none">
                <a:solidFill>
                  <a:srgbClr val="222222"/>
                </a:solidFill>
                <a:latin typeface="Arial"/>
                <a:ea typeface="Arial"/>
                <a:cs typeface="Arial"/>
                <a:sym typeface="Arial"/>
              </a:rPr>
              <a:t>book-to-bill; Crane date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Flagged: </a:t>
            </a:r>
            <a:r>
              <a:rPr lang="en-US" sz="1400" b="0" i="0" u="none" strike="noStrike" cap="none">
                <a:solidFill>
                  <a:srgbClr val="222222"/>
                </a:solidFill>
                <a:latin typeface="Arial"/>
                <a:ea typeface="Arial"/>
                <a:cs typeface="Arial"/>
                <a:sym typeface="Arial"/>
              </a:rPr>
              <a:t>CEG resilience; SPUT, CEG eligibility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1200"/>
              </a:spcAft>
              <a:buClr>
                <a:srgbClr val="6E6020"/>
              </a:buClr>
              <a:buSzPts val="1800"/>
              <a:buFont typeface="Arial"/>
              <a:buNone/>
            </a:pPr>
            <a:r>
              <a:rPr lang="en-US" sz="1400" b="1" i="0" u="none" strike="noStrike" cap="none">
                <a:solidFill>
                  <a:srgbClr val="6E6020"/>
                </a:solidFill>
                <a:latin typeface="Arial"/>
                <a:ea typeface="Arial"/>
                <a:cs typeface="Arial"/>
                <a:sym typeface="Arial"/>
              </a:rPr>
              <a:t>Sign-off: </a:t>
            </a:r>
            <a:r>
              <a:rPr lang="en-US" sz="1400" b="0" i="0" u="none" strike="noStrike" cap="none">
                <a:solidFill>
                  <a:srgbClr val="222222"/>
                </a:solidFill>
                <a:latin typeface="Arial"/>
                <a:ea typeface="Arial"/>
                <a:cs typeface="Arial"/>
                <a:sym typeface="Arial"/>
              </a:rPr>
              <a:t>Michael Kiernan, Sep 27</a:t>
            </a:r>
            <a:endParaRPr sz="1400" b="0" i="0" u="none" strike="noStrike" cap="none">
              <a:solidFill>
                <a:srgbClr val="000000"/>
              </a:solidFill>
              <a:latin typeface="Arial"/>
              <a:ea typeface="Arial"/>
              <a:cs typeface="Arial"/>
              <a:sym typeface="Arial"/>
            </a:endParaRPr>
          </a:p>
        </p:txBody>
      </p:sp>
      <p:sp>
        <p:nvSpPr>
          <p:cNvPr id="791" name="Google Shape;791;p58"/>
          <p:cNvSpPr/>
          <p:nvPr/>
        </p:nvSpPr>
        <p:spPr>
          <a:xfrm>
            <a:off x="546100" y="5120640"/>
            <a:ext cx="8051800" cy="685800"/>
          </a:xfrm>
          <a:prstGeom prst="roundRect">
            <a:avLst>
              <a:gd name="adj" fmla="val 10000"/>
            </a:avLst>
          </a:prstGeom>
          <a:no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2" name="Google Shape;792;p58"/>
          <p:cNvSpPr txBox="1"/>
          <p:nvPr/>
        </p:nvSpPr>
        <p:spPr>
          <a:xfrm>
            <a:off x="749300" y="5184648"/>
            <a:ext cx="764540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Recommendation: </a:t>
            </a:r>
            <a:r>
              <a:rPr lang="en-US" sz="1400" b="0" i="0" u="none" strike="noStrike" cap="none">
                <a:solidFill>
                  <a:srgbClr val="222222"/>
                </a:solidFill>
                <a:latin typeface="Arial"/>
                <a:ea typeface="Arial"/>
                <a:cs typeface="Arial"/>
                <a:sym typeface="Arial"/>
              </a:rPr>
              <a:t>Watchlist BWXT. A self-review by Claude.</a:t>
            </a:r>
            <a:endParaRPr sz="1400" b="0" i="0" u="none" strike="noStrike" cap="none">
              <a:solidFill>
                <a:srgbClr val="000000"/>
              </a:solidFill>
              <a:latin typeface="Arial"/>
              <a:ea typeface="Arial"/>
              <a:cs typeface="Arial"/>
              <a:sym typeface="Arial"/>
            </a:endParaRPr>
          </a:p>
        </p:txBody>
      </p:sp>
      <p:pic>
        <p:nvPicPr>
          <p:cNvPr id="793" name="Google Shape;793;p58"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794" name="Google Shape;794;p58"/>
          <p:cNvSpPr txBox="1"/>
          <p:nvPr/>
        </p:nvSpPr>
        <p:spPr>
          <a:xfrm>
            <a:off x="685800" y="6355080"/>
            <a:ext cx="79095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050"/>
              <a:buFont typeface="Arial"/>
              <a:buNone/>
            </a:pPr>
            <a:r>
              <a:rPr lang="en-US" sz="1050" b="0" i="0" u="none" strike="noStrike" cap="none">
                <a:solidFill>
                  <a:srgbClr val="555555"/>
                </a:solidFill>
                <a:latin typeface="Arial"/>
                <a:ea typeface="Arial"/>
                <a:cs typeface="Arial"/>
                <a:sym typeface="Arial"/>
              </a:rPr>
              <a:t>Slide: Claude</a:t>
            </a:r>
            <a:endParaRPr sz="1050" b="0" i="0" u="none" strike="noStrike" cap="none">
              <a:solidFill>
                <a:schemeClr val="dk1"/>
              </a:solidFill>
              <a:latin typeface="Calibri"/>
              <a:ea typeface="Calibri"/>
              <a:cs typeface="Calibri"/>
              <a:sym typeface="Calibri"/>
            </a:endParaRPr>
          </a:p>
        </p:txBody>
      </p:sp>
      <p:sp>
        <p:nvSpPr>
          <p:cNvPr id="795" name="Google Shape;795;p58" descr="Thesis icon"/>
          <p:cNvSpPr/>
          <p:nvPr/>
        </p:nvSpPr>
        <p:spPr>
          <a:xfrm>
            <a:off x="8509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6" name="Google Shape;796;p58" descr="Execution plan icon"/>
          <p:cNvSpPr/>
          <p:nvPr/>
        </p:nvSpPr>
        <p:spPr>
          <a:xfrm>
            <a:off x="50292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59"/>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200" b="1" i="0" u="none" strike="noStrike" cap="none">
                <a:solidFill>
                  <a:srgbClr val="000000"/>
                </a:solidFill>
                <a:latin typeface="Arial"/>
                <a:ea typeface="Arial"/>
                <a:cs typeface="Arial"/>
                <a:sym typeface="Arial"/>
              </a:rPr>
              <a:t>Outside red team: GPT Sol 6.0 on the Alternative</a:t>
            </a:r>
            <a:endParaRPr sz="2400" b="0" i="0" u="none" strike="noStrike" cap="none">
              <a:solidFill>
                <a:schemeClr val="dk1"/>
              </a:solidFill>
              <a:latin typeface="Calibri"/>
              <a:ea typeface="Calibri"/>
              <a:cs typeface="Calibri"/>
              <a:sym typeface="Calibri"/>
            </a:endParaRPr>
          </a:p>
        </p:txBody>
      </p:sp>
      <p:sp>
        <p:nvSpPr>
          <p:cNvPr id="802" name="Google Shape;802;p59"/>
          <p:cNvSpPr/>
          <p:nvPr/>
        </p:nvSpPr>
        <p:spPr>
          <a:xfrm>
            <a:off x="5461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3" name="Google Shape;803;p59"/>
          <p:cNvSpPr/>
          <p:nvPr/>
        </p:nvSpPr>
        <p:spPr>
          <a:xfrm>
            <a:off x="749300" y="1244600"/>
            <a:ext cx="457200" cy="45720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4" name="Google Shape;804;p59"/>
          <p:cNvSpPr txBox="1"/>
          <p:nvPr/>
        </p:nvSpPr>
        <p:spPr>
          <a:xfrm>
            <a:off x="1333500" y="1244600"/>
            <a:ext cx="2921000" cy="457200"/>
          </a:xfrm>
          <a:prstGeom prst="rect">
            <a:avLst/>
          </a:prstGeom>
          <a:noFill/>
          <a:ln>
            <a:noFill/>
          </a:ln>
        </p:spPr>
        <p:txBody>
          <a:bodyPr spcFirstLastPara="1" wrap="square" lIns="0" tIns="0" rIns="0" bIns="0" anchor="ctr" anchorCtr="0">
            <a:norm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What GPT Sol 6.0 found</a:t>
            </a:r>
            <a:endParaRPr sz="1400" b="0" i="0" u="none" strike="noStrike" cap="none">
              <a:solidFill>
                <a:srgbClr val="000000"/>
              </a:solidFill>
              <a:latin typeface="Arial"/>
              <a:ea typeface="Arial"/>
              <a:cs typeface="Arial"/>
              <a:sym typeface="Arial"/>
            </a:endParaRPr>
          </a:p>
        </p:txBody>
      </p:sp>
      <p:sp>
        <p:nvSpPr>
          <p:cNvPr id="805" name="Google Shape;805;p59"/>
          <p:cNvSpPr txBox="1"/>
          <p:nvPr/>
        </p:nvSpPr>
        <p:spPr>
          <a:xfrm>
            <a:off x="749300" y="1778000"/>
            <a:ext cx="3492500" cy="2926080"/>
          </a:xfrm>
          <a:prstGeom prst="rect">
            <a:avLst/>
          </a:prstGeom>
          <a:noFill/>
          <a:ln>
            <a:noFill/>
          </a:ln>
        </p:spPr>
        <p:txBody>
          <a:bodyPr spcFirstLastPara="1" wrap="square" lIns="0" tIns="0" rIns="0" bIns="0" anchor="t" anchorCtr="0">
            <a:noAutofit/>
          </a:bodyPr>
          <a:lstStyle/>
          <a:p>
            <a:pPr marL="228600" marR="0" lvl="0" indent="-228600" algn="l" rtl="0">
              <a:lnSpc>
                <a:spcPct val="100000"/>
              </a:lnSpc>
              <a:spcBef>
                <a:spcPts val="0"/>
              </a:spcBef>
              <a:spcAft>
                <a:spcPts val="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Critical: Meta deal called unconfirmed</a:t>
            </a:r>
            <a:endParaRPr sz="14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High: eligibility overstated</a:t>
            </a:r>
            <a:endParaRPr sz="14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Medium: BWXT lead is a judgment</a:t>
            </a:r>
            <a:endParaRPr sz="1400" b="0" i="0" u="none" strike="noStrike" cap="none">
              <a:solidFill>
                <a:srgbClr val="000000"/>
              </a:solidFill>
              <a:latin typeface="Arial"/>
              <a:ea typeface="Arial"/>
              <a:cs typeface="Arial"/>
              <a:sym typeface="Arial"/>
            </a:endParaRPr>
          </a:p>
          <a:p>
            <a:pPr marL="228600" marR="0" lvl="0" indent="-228600" algn="l" rtl="0">
              <a:lnSpc>
                <a:spcPct val="100000"/>
              </a:lnSpc>
              <a:spcBef>
                <a:spcPts val="1200"/>
              </a:spcBef>
              <a:spcAft>
                <a:spcPts val="1200"/>
              </a:spcAft>
              <a:buClr>
                <a:srgbClr val="6E6020"/>
              </a:buClr>
              <a:buSzPts val="1800"/>
              <a:buFont typeface="Arial"/>
              <a:buChar char="•"/>
            </a:pPr>
            <a:r>
              <a:rPr lang="en-US" sz="1400" b="0" i="0" u="none" strike="noStrike" cap="none">
                <a:solidFill>
                  <a:srgbClr val="222222"/>
                </a:solidFill>
                <a:latin typeface="Arial"/>
                <a:ea typeface="Arial"/>
                <a:cs typeface="Arial"/>
                <a:sym typeface="Arial"/>
              </a:rPr>
              <a:t>Held: scores and valuation math</a:t>
            </a:r>
            <a:endParaRPr sz="1400" b="0" i="0" u="none" strike="noStrike" cap="none">
              <a:solidFill>
                <a:srgbClr val="000000"/>
              </a:solidFill>
              <a:latin typeface="Arial"/>
              <a:ea typeface="Arial"/>
              <a:cs typeface="Arial"/>
              <a:sym typeface="Arial"/>
            </a:endParaRPr>
          </a:p>
        </p:txBody>
      </p:sp>
      <p:sp>
        <p:nvSpPr>
          <p:cNvPr id="806" name="Google Shape;806;p59"/>
          <p:cNvSpPr/>
          <p:nvPr/>
        </p:nvSpPr>
        <p:spPr>
          <a:xfrm>
            <a:off x="4724400" y="1066800"/>
            <a:ext cx="3873500" cy="3840480"/>
          </a:xfrm>
          <a:prstGeom prst="roundRect">
            <a:avLst>
              <a:gd name="adj" fmla="val 7500"/>
            </a:avLst>
          </a:prstGeom>
          <a:solidFill>
            <a:srgbClr val="F4F1E3"/>
          </a:solidFill>
          <a:ln w="12700" cap="flat" cmpd="sng">
            <a:solidFill>
              <a:srgbClr val="F4F1E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7" name="Google Shape;807;p59"/>
          <p:cNvSpPr/>
          <p:nvPr/>
        </p:nvSpPr>
        <p:spPr>
          <a:xfrm>
            <a:off x="4927600" y="1244600"/>
            <a:ext cx="457200" cy="457200"/>
          </a:xfrm>
          <a:prstGeom prst="ellipse">
            <a:avLst/>
          </a:prstGeom>
          <a:solidFill>
            <a:srgbClr val="6E6020"/>
          </a:solidFill>
          <a:ln w="12700" cap="flat" cmpd="sng">
            <a:solidFill>
              <a:srgbClr val="6E602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8" name="Google Shape;808;p59"/>
          <p:cNvSpPr txBox="1"/>
          <p:nvPr/>
        </p:nvSpPr>
        <p:spPr>
          <a:xfrm>
            <a:off x="5511800" y="1244600"/>
            <a:ext cx="2921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E6020"/>
              </a:buClr>
              <a:buSzPts val="2000"/>
              <a:buFont typeface="Arial"/>
              <a:buNone/>
            </a:pPr>
            <a:r>
              <a:rPr lang="en-US" sz="2000" b="1" i="0" u="none" strike="noStrike" cap="none">
                <a:solidFill>
                  <a:srgbClr val="6E6020"/>
                </a:solidFill>
                <a:latin typeface="Arial"/>
                <a:ea typeface="Arial"/>
                <a:cs typeface="Arial"/>
                <a:sym typeface="Arial"/>
              </a:rPr>
              <a:t>What we fixed</a:t>
            </a:r>
            <a:endParaRPr sz="1400" b="0" i="0" u="none" strike="noStrike" cap="none">
              <a:solidFill>
                <a:srgbClr val="000000"/>
              </a:solidFill>
              <a:latin typeface="Arial"/>
              <a:ea typeface="Arial"/>
              <a:cs typeface="Arial"/>
              <a:sym typeface="Arial"/>
            </a:endParaRPr>
          </a:p>
        </p:txBody>
      </p:sp>
      <p:sp>
        <p:nvSpPr>
          <p:cNvPr id="809" name="Google Shape;809;p59"/>
          <p:cNvSpPr txBox="1"/>
          <p:nvPr/>
        </p:nvSpPr>
        <p:spPr>
          <a:xfrm>
            <a:off x="4927600" y="1778000"/>
            <a:ext cx="3492500" cy="29260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Oklo: </a:t>
            </a:r>
            <a:r>
              <a:rPr lang="en-US" sz="1400" b="0" i="0" u="none" strike="noStrike" cap="none">
                <a:solidFill>
                  <a:srgbClr val="222222"/>
                </a:solidFill>
                <a:latin typeface="Arial"/>
                <a:ea typeface="Arial"/>
                <a:cs typeface="Arial"/>
                <a:sym typeface="Arial"/>
              </a:rPr>
              <a:t>Meta deal cited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Eligibility: </a:t>
            </a:r>
            <a:r>
              <a:rPr lang="en-US" sz="1400" b="0" i="0" u="none" strike="noStrike" cap="none">
                <a:solidFill>
                  <a:srgbClr val="222222"/>
                </a:solidFill>
                <a:latin typeface="Arial"/>
                <a:ea typeface="Arial"/>
                <a:cs typeface="Arial"/>
                <a:sym typeface="Arial"/>
              </a:rPr>
              <a:t>SPUT rule written; CEG ineligible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6E6020"/>
              </a:buClr>
              <a:buSzPts val="1800"/>
              <a:buFont typeface="Arial"/>
              <a:buNone/>
            </a:pPr>
            <a:r>
              <a:rPr lang="en-US" sz="1400" b="1" i="0" u="none" strike="noStrike" cap="none">
                <a:solidFill>
                  <a:srgbClr val="6E6020"/>
                </a:solidFill>
                <a:latin typeface="Arial"/>
                <a:ea typeface="Arial"/>
                <a:cs typeface="Arial"/>
                <a:sym typeface="Arial"/>
              </a:rPr>
              <a:t>Labels: </a:t>
            </a:r>
            <a:r>
              <a:rPr lang="en-US" sz="1400" b="0" i="0" u="none" strike="noStrike" cap="none">
                <a:solidFill>
                  <a:srgbClr val="222222"/>
                </a:solidFill>
                <a:latin typeface="Arial"/>
                <a:ea typeface="Arial"/>
                <a:cs typeface="Arial"/>
                <a:sym typeface="Arial"/>
              </a:rPr>
              <a:t>BWXT lead = portfolio judgment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1200"/>
              </a:spcAft>
              <a:buClr>
                <a:srgbClr val="6E6020"/>
              </a:buClr>
              <a:buSzPts val="1800"/>
              <a:buFont typeface="Arial"/>
              <a:buNone/>
            </a:pPr>
            <a:r>
              <a:rPr lang="en-US" sz="1400" b="1" i="0" u="none" strike="noStrike" cap="none">
                <a:solidFill>
                  <a:srgbClr val="6E6020"/>
                </a:solidFill>
                <a:latin typeface="Arial"/>
                <a:ea typeface="Arial"/>
                <a:cs typeface="Arial"/>
                <a:sym typeface="Arial"/>
              </a:rPr>
              <a:t>Verdict: </a:t>
            </a:r>
            <a:r>
              <a:rPr lang="en-US" sz="1400" b="0" i="0" u="none" strike="noStrike" cap="none">
                <a:solidFill>
                  <a:srgbClr val="222222"/>
                </a:solidFill>
                <a:latin typeface="Arial"/>
                <a:ea typeface="Arial"/>
                <a:cs typeface="Arial"/>
                <a:sym typeface="Arial"/>
              </a:rPr>
              <a:t>unchanged: Watchlist</a:t>
            </a:r>
            <a:endParaRPr sz="1400" b="0" i="0" u="none" strike="noStrike" cap="none">
              <a:solidFill>
                <a:srgbClr val="000000"/>
              </a:solidFill>
              <a:latin typeface="Arial"/>
              <a:ea typeface="Arial"/>
              <a:cs typeface="Arial"/>
              <a:sym typeface="Arial"/>
            </a:endParaRPr>
          </a:p>
        </p:txBody>
      </p:sp>
      <p:pic>
        <p:nvPicPr>
          <p:cNvPr id="810" name="Google Shape;810;p59"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811" name="Google Shape;811;p59" descr="Thesis icon"/>
          <p:cNvSpPr/>
          <p:nvPr/>
        </p:nvSpPr>
        <p:spPr>
          <a:xfrm>
            <a:off x="8509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59" descr="Execution plan icon"/>
          <p:cNvSpPr/>
          <p:nvPr/>
        </p:nvSpPr>
        <p:spPr>
          <a:xfrm>
            <a:off x="5029200" y="1346200"/>
            <a:ext cx="254000" cy="2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16"/>
        <p:cNvGrpSpPr/>
        <p:nvPr/>
      </p:nvGrpSpPr>
      <p:grpSpPr>
        <a:xfrm>
          <a:off x="0" y="0"/>
          <a:ext cx="0" cy="0"/>
          <a:chOff x="0" y="0"/>
          <a:chExt cx="0" cy="0"/>
        </a:xfrm>
      </p:grpSpPr>
      <p:sp>
        <p:nvSpPr>
          <p:cNvPr id="817" name="Google Shape;817;p24"/>
          <p:cNvSpPr/>
          <p:nvPr/>
        </p:nvSpPr>
        <p:spPr>
          <a:xfrm>
            <a:off x="548640" y="2788920"/>
            <a:ext cx="109728" cy="1280160"/>
          </a:xfrm>
          <a:prstGeom prst="rect">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8" name="Google Shape;818;p24"/>
          <p:cNvSpPr txBox="1"/>
          <p:nvPr/>
        </p:nvSpPr>
        <p:spPr>
          <a:xfrm>
            <a:off x="868680" y="2651760"/>
            <a:ext cx="7680960" cy="1554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Arial"/>
                <a:ea typeface="Arial"/>
                <a:cs typeface="Arial"/>
                <a:sym typeface="Arial"/>
              </a:rPr>
              <a:t>Council Findings</a:t>
            </a:r>
            <a:endParaRPr sz="3600" b="0" i="0" u="none" strike="noStrike" cap="none">
              <a:solidFill>
                <a:schemeClr val="dk1"/>
              </a:solidFill>
              <a:latin typeface="Calibri"/>
              <a:ea typeface="Calibri"/>
              <a:cs typeface="Calibri"/>
              <a:sym typeface="Calibri"/>
            </a:endParaRPr>
          </a:p>
        </p:txBody>
      </p:sp>
      <p:pic>
        <p:nvPicPr>
          <p:cNvPr id="819" name="Google Shape;819;p24"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60"/>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What the Council changed</a:t>
            </a:r>
            <a:endParaRPr sz="2400" b="0" i="0" u="none" strike="noStrike" cap="none">
              <a:solidFill>
                <a:schemeClr val="dk1"/>
              </a:solidFill>
              <a:latin typeface="Calibri"/>
              <a:ea typeface="Calibri"/>
              <a:cs typeface="Calibri"/>
              <a:sym typeface="Calibri"/>
            </a:endParaRPr>
          </a:p>
        </p:txBody>
      </p:sp>
      <p:sp>
        <p:nvSpPr>
          <p:cNvPr id="825" name="Google Shape;825;p60"/>
          <p:cNvSpPr txBox="1"/>
          <p:nvPr/>
        </p:nvSpPr>
        <p:spPr>
          <a:xfrm>
            <a:off x="546100" y="914400"/>
            <a:ext cx="805180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2000"/>
              <a:buFont typeface="Arial"/>
              <a:buNone/>
            </a:pPr>
            <a:r>
              <a:rPr lang="en-US" sz="2000" b="0" i="0" u="none" strike="noStrike" cap="none">
                <a:solidFill>
                  <a:srgbClr val="555555"/>
                </a:solidFill>
                <a:latin typeface="Arial"/>
                <a:ea typeface="Arial"/>
                <a:cs typeface="Arial"/>
                <a:sym typeface="Arial"/>
              </a:rPr>
              <a:t>The Council’s decisive challenge for each call</a:t>
            </a:r>
            <a:endParaRPr sz="1400" b="0" i="0" u="none" strike="noStrike" cap="none">
              <a:solidFill>
                <a:srgbClr val="000000"/>
              </a:solidFill>
              <a:latin typeface="Arial"/>
              <a:ea typeface="Arial"/>
              <a:cs typeface="Arial"/>
              <a:sym typeface="Arial"/>
            </a:endParaRPr>
          </a:p>
        </p:txBody>
      </p:sp>
      <p:graphicFrame>
        <p:nvGraphicFramePr>
          <p:cNvPr id="826" name="Google Shape;826;p60"/>
          <p:cNvGraphicFramePr/>
          <p:nvPr/>
        </p:nvGraphicFramePr>
        <p:xfrm>
          <a:off x="546100" y="1463040"/>
          <a:ext cx="8046700" cy="2712750"/>
        </p:xfrm>
        <a:graphic>
          <a:graphicData uri="http://schemas.openxmlformats.org/drawingml/2006/table">
            <a:tbl>
              <a:tblPr>
                <a:noFill/>
                <a:tableStyleId>{67C04448-9542-46E3-BF30-04DBAA183EC1}</a:tableStyleId>
              </a:tblPr>
              <a:tblGrid>
                <a:gridCol w="1280150">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2926075">
                  <a:extLst>
                    <a:ext uri="{9D8B030D-6E8A-4147-A177-3AD203B41FA5}">
                      <a16:colId xmlns:a16="http://schemas.microsoft.com/office/drawing/2014/main" val="20002"/>
                    </a:ext>
                  </a:extLst>
                </a:gridCol>
                <a:gridCol w="2194550">
                  <a:extLst>
                    <a:ext uri="{9D8B030D-6E8A-4147-A177-3AD203B41FA5}">
                      <a16:colId xmlns:a16="http://schemas.microsoft.com/office/drawing/2014/main" val="20003"/>
                    </a:ext>
                  </a:extLst>
                </a:gridCol>
              </a:tblGrid>
              <a:tr h="381000">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555555"/>
                          </a:solidFill>
                          <a:latin typeface="Arial"/>
                          <a:ea typeface="Arial"/>
                          <a:cs typeface="Arial"/>
                          <a:sym typeface="Arial"/>
                        </a:rPr>
                        <a:t>Mandate</a:t>
                      </a:r>
                      <a:endParaRPr sz="1400" u="none" strike="noStrike" cap="none"/>
                    </a:p>
                  </a:txBody>
                  <a:tcPr marL="45725" marR="91450" marT="54875" marB="54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555555"/>
                          </a:solidFill>
                          <a:latin typeface="Arial"/>
                          <a:ea typeface="Arial"/>
                          <a:cs typeface="Arial"/>
                          <a:sym typeface="Arial"/>
                        </a:rPr>
                        <a:t>Persona</a:t>
                      </a:r>
                      <a:endParaRPr sz="1400" u="none" strike="noStrike" cap="none"/>
                    </a:p>
                  </a:txBody>
                  <a:tcPr marL="45725" marR="91450" marT="54875" marB="54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555555"/>
                          </a:solidFill>
                          <a:latin typeface="Arial"/>
                          <a:ea typeface="Arial"/>
                          <a:cs typeface="Arial"/>
                          <a:sym typeface="Arial"/>
                        </a:rPr>
                        <a:t>Challenge</a:t>
                      </a:r>
                      <a:endParaRPr sz="1400" u="none" strike="noStrike" cap="none"/>
                    </a:p>
                  </a:txBody>
                  <a:tcPr marL="45725" marR="91450" marT="54875" marB="54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555555"/>
                          </a:solidFill>
                          <a:latin typeface="Arial"/>
                          <a:ea typeface="Arial"/>
                          <a:cs typeface="Arial"/>
                          <a:sym typeface="Arial"/>
                        </a:rPr>
                        <a:t>Effect on the call</a:t>
                      </a:r>
                      <a:endParaRPr sz="1400" u="none" strike="noStrike" cap="none"/>
                    </a:p>
                  </a:txBody>
                  <a:tcPr marL="45725" marR="91450" marT="54875" marB="54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777250">
                <a:tc>
                  <a:txBody>
                    <a:bodyPr/>
                    <a:lstStyle/>
                    <a:p>
                      <a:pPr marL="0" marR="0" lvl="0" indent="0" algn="l" rtl="0">
                        <a:lnSpc>
                          <a:spcPct val="100000"/>
                        </a:lnSpc>
                        <a:spcBef>
                          <a:spcPts val="0"/>
                        </a:spcBef>
                        <a:spcAft>
                          <a:spcPts val="0"/>
                        </a:spcAft>
                        <a:buClr>
                          <a:srgbClr val="767676"/>
                        </a:buClr>
                        <a:buSzPts val="1800"/>
                        <a:buFont typeface="Arial"/>
                        <a:buNone/>
                      </a:pPr>
                      <a:r>
                        <a:rPr lang="en-US" sz="1600" b="1" i="0" u="none" strike="noStrike" cap="none">
                          <a:solidFill>
                            <a:srgbClr val="A23B2A"/>
                          </a:solidFill>
                          <a:latin typeface="Arial"/>
                          <a:ea typeface="Arial"/>
                          <a:cs typeface="Arial"/>
                          <a:sym typeface="Arial"/>
                        </a:rPr>
                        <a:t>Short</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767676"/>
                        </a:buClr>
                        <a:buSzPts val="1800"/>
                        <a:buFont typeface="Arial"/>
                        <a:buNone/>
                      </a:pPr>
                      <a:r>
                        <a:rPr lang="en-US" sz="1600" b="0" i="0" u="none" strike="noStrike" cap="none">
                          <a:solidFill>
                            <a:srgbClr val="222222"/>
                          </a:solidFill>
                          <a:latin typeface="Arial"/>
                          <a:ea typeface="Arial"/>
                          <a:cs typeface="Arial"/>
                          <a:sym typeface="Arial"/>
                        </a:rPr>
                        <a:t>Stress Test</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767676"/>
                        </a:buClr>
                        <a:buSzPts val="1800"/>
                        <a:buFont typeface="Arial"/>
                        <a:buNone/>
                      </a:pPr>
                      <a:r>
                        <a:rPr lang="en-US" sz="1600" b="0" i="0" u="none" strike="noStrike" cap="none">
                          <a:solidFill>
                            <a:srgbClr val="222222"/>
                          </a:solidFill>
                          <a:latin typeface="Arial"/>
                          <a:ea typeface="Arial"/>
                          <a:cs typeface="Arial"/>
                          <a:sym typeface="Arial"/>
                        </a:rPr>
                        <a:t>Rare-earth squeeze risk</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767676"/>
                        </a:buClr>
                        <a:buSzPts val="1800"/>
                        <a:buFont typeface="Arial"/>
                        <a:buNone/>
                      </a:pPr>
                      <a:r>
                        <a:rPr lang="en-US" sz="1600" b="0" i="0" u="none" strike="noStrike" cap="none">
                          <a:solidFill>
                            <a:srgbClr val="222222"/>
                          </a:solidFill>
                          <a:latin typeface="Arial"/>
                          <a:ea typeface="Arial"/>
                          <a:cs typeface="Arial"/>
                          <a:sym typeface="Arial"/>
                        </a:rPr>
                        <a:t>Kept Watchlist</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777250">
                <a:tc>
                  <a:txBody>
                    <a:bodyPr/>
                    <a:lstStyle/>
                    <a:p>
                      <a:pPr marL="0" marR="0" lvl="0" indent="0" algn="l" rtl="0">
                        <a:lnSpc>
                          <a:spcPct val="100000"/>
                        </a:lnSpc>
                        <a:spcBef>
                          <a:spcPts val="0"/>
                        </a:spcBef>
                        <a:spcAft>
                          <a:spcPts val="0"/>
                        </a:spcAft>
                        <a:buClr>
                          <a:srgbClr val="767676"/>
                        </a:buClr>
                        <a:buSzPts val="1800"/>
                        <a:buFont typeface="Arial"/>
                        <a:buNone/>
                      </a:pPr>
                      <a:r>
                        <a:rPr lang="en-US" sz="1600" b="1" i="0" u="none" strike="noStrike" cap="none">
                          <a:solidFill>
                            <a:srgbClr val="1F3A5F"/>
                          </a:solidFill>
                          <a:latin typeface="Arial"/>
                          <a:ea typeface="Arial"/>
                          <a:cs typeface="Arial"/>
                          <a:sym typeface="Arial"/>
                        </a:rPr>
                        <a:t>Long</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767676"/>
                        </a:buClr>
                        <a:buSzPts val="1800"/>
                        <a:buFont typeface="Arial"/>
                        <a:buNone/>
                      </a:pPr>
                      <a:r>
                        <a:rPr lang="en-US" sz="1600" b="0" i="0" u="none" strike="noStrike" cap="none">
                          <a:solidFill>
                            <a:srgbClr val="222222"/>
                          </a:solidFill>
                          <a:latin typeface="Arial"/>
                          <a:ea typeface="Arial"/>
                          <a:cs typeface="Arial"/>
                          <a:sym typeface="Arial"/>
                        </a:rPr>
                        <a:t>Attack the Deal</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767676"/>
                        </a:buClr>
                        <a:buSzPts val="1800"/>
                        <a:buFont typeface="Arial"/>
                        <a:buNone/>
                      </a:pPr>
                      <a:r>
                        <a:rPr lang="en-US" sz="1600" b="0" i="0" u="none" strike="noStrike" cap="none">
                          <a:solidFill>
                            <a:srgbClr val="222222"/>
                          </a:solidFill>
                          <a:latin typeface="Arial"/>
                          <a:ea typeface="Arial"/>
                          <a:cs typeface="Arial"/>
                          <a:sym typeface="Arial"/>
                        </a:rPr>
                        <a:t>20% gate had no valuation</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767676"/>
                        </a:buClr>
                        <a:buSzPts val="1800"/>
                        <a:buFont typeface="Arial"/>
                        <a:buNone/>
                      </a:pPr>
                      <a:r>
                        <a:rPr lang="en-US" sz="1600" b="0" i="0" u="none" strike="noStrike" cap="none">
                          <a:solidFill>
                            <a:srgbClr val="222222"/>
                          </a:solidFill>
                          <a:latin typeface="Arial"/>
                          <a:ea typeface="Arial"/>
                          <a:cs typeface="Arial"/>
                          <a:sym typeface="Arial"/>
                        </a:rPr>
                        <a:t>Re-scored; Watchlist</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777250">
                <a:tc>
                  <a:txBody>
                    <a:bodyPr/>
                    <a:lstStyle/>
                    <a:p>
                      <a:pPr marL="0" marR="0" lvl="0" indent="0" algn="l" rtl="0">
                        <a:lnSpc>
                          <a:spcPct val="100000"/>
                        </a:lnSpc>
                        <a:spcBef>
                          <a:spcPts val="0"/>
                        </a:spcBef>
                        <a:spcAft>
                          <a:spcPts val="0"/>
                        </a:spcAft>
                        <a:buClr>
                          <a:srgbClr val="767676"/>
                        </a:buClr>
                        <a:buSzPts val="1800"/>
                        <a:buFont typeface="Arial"/>
                        <a:buNone/>
                      </a:pPr>
                      <a:r>
                        <a:rPr lang="en-US" sz="1600" b="1" i="0" u="none" strike="noStrike" cap="none">
                          <a:solidFill>
                            <a:srgbClr val="6E6020"/>
                          </a:solidFill>
                          <a:latin typeface="Arial"/>
                          <a:ea typeface="Arial"/>
                          <a:cs typeface="Arial"/>
                          <a:sym typeface="Arial"/>
                        </a:rPr>
                        <a:t>Alternative</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767676"/>
                        </a:buClr>
                        <a:buSzPts val="1800"/>
                        <a:buFont typeface="Arial"/>
                        <a:buNone/>
                      </a:pPr>
                      <a:r>
                        <a:rPr lang="en-US" sz="1600" b="0" i="0" u="none" strike="noStrike" cap="none">
                          <a:solidFill>
                            <a:srgbClr val="222222"/>
                          </a:solidFill>
                          <a:latin typeface="Arial"/>
                          <a:ea typeface="Arial"/>
                          <a:cs typeface="Arial"/>
                          <a:sym typeface="Arial"/>
                        </a:rPr>
                        <a:t>Attack the Deal</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767676"/>
                        </a:buClr>
                        <a:buSzPts val="1800"/>
                        <a:buFont typeface="Arial"/>
                        <a:buNone/>
                      </a:pPr>
                      <a:r>
                        <a:rPr lang="en-US" sz="1600" b="0" i="0" u="none" strike="noStrike" cap="none">
                          <a:solidFill>
                            <a:srgbClr val="222222"/>
                          </a:solidFill>
                          <a:latin typeface="Arial"/>
                          <a:ea typeface="Arial"/>
                          <a:cs typeface="Arial"/>
                          <a:sym typeface="Arial"/>
                        </a:rPr>
                        <a:t>~15% upside &lt; 20% gate</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767676"/>
                        </a:buClr>
                        <a:buSzPts val="1800"/>
                        <a:buFont typeface="Arial"/>
                        <a:buNone/>
                      </a:pPr>
                      <a:r>
                        <a:rPr lang="en-US" sz="1600" b="0" i="0" u="none" strike="noStrike" cap="none">
                          <a:solidFill>
                            <a:srgbClr val="222222"/>
                          </a:solidFill>
                          <a:latin typeface="Arial"/>
                          <a:ea typeface="Arial"/>
                          <a:cs typeface="Arial"/>
                          <a:sym typeface="Arial"/>
                        </a:rPr>
                        <a:t>Watchlist at ~$133</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827" name="Google Shape;827;p60"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828" name="Google Shape;828;p60"/>
          <p:cNvSpPr txBox="1"/>
          <p:nvPr/>
        </p:nvSpPr>
        <p:spPr>
          <a:xfrm>
            <a:off x="685800" y="6355080"/>
            <a:ext cx="79095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050"/>
              <a:buFont typeface="Arial"/>
              <a:buNone/>
            </a:pPr>
            <a:r>
              <a:rPr lang="en-US" sz="1050" b="0" i="0" u="none" strike="noStrike" cap="none">
                <a:solidFill>
                  <a:srgbClr val="555555"/>
                </a:solidFill>
                <a:latin typeface="Arial"/>
                <a:ea typeface="Arial"/>
                <a:cs typeface="Arial"/>
                <a:sym typeface="Arial"/>
              </a:rPr>
              <a:t>Slide first built by Shawyan Tabari (V8); revised by Claude</a:t>
            </a:r>
            <a:endParaRPr sz="1050" b="0" i="0" u="none" strike="noStrike" cap="none">
              <a:solidFill>
                <a:schemeClr val="dk1"/>
              </a:solidFill>
              <a:latin typeface="Calibri"/>
              <a:ea typeface="Calibri"/>
              <a:cs typeface="Calibri"/>
              <a:sym typeface="Calibri"/>
            </a:endParaRPr>
          </a:p>
        </p:txBody>
      </p:sp>
      <p:sp>
        <p:nvSpPr>
          <p:cNvPr id="829" name="Google Shape;829;p60"/>
          <p:cNvSpPr txBox="1"/>
          <p:nvPr/>
        </p:nvSpPr>
        <p:spPr>
          <a:xfrm>
            <a:off x="548640" y="4572000"/>
            <a:ext cx="8046720" cy="4572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6E6020"/>
                </a:solidFill>
                <a:latin typeface="Arial"/>
                <a:ea typeface="Arial"/>
                <a:cs typeface="Arial"/>
                <a:sym typeface="Arial"/>
              </a:rPr>
              <a:t>Alternative also red-teamed by GPT Sol 6.0: labels fixed, verdict unchanged.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3"/>
        <p:cNvGrpSpPr/>
        <p:nvPr/>
      </p:nvGrpSpPr>
      <p:grpSpPr>
        <a:xfrm>
          <a:off x="0" y="0"/>
          <a:ext cx="0" cy="0"/>
          <a:chOff x="0" y="0"/>
          <a:chExt cx="0" cy="0"/>
        </a:xfrm>
      </p:grpSpPr>
      <p:sp>
        <p:nvSpPr>
          <p:cNvPr id="834" name="Google Shape;834;h63c2feeac6858736_0_0"/>
          <p:cNvSpPr/>
          <p:nvPr/>
        </p:nvSpPr>
        <p:spPr>
          <a:xfrm>
            <a:off x="548640" y="2788920"/>
            <a:ext cx="109800" cy="1280100"/>
          </a:xfrm>
          <a:prstGeom prst="rect">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35" name="Google Shape;835;h63c2feeac6858736_0_0"/>
          <p:cNvSpPr txBox="1"/>
          <p:nvPr/>
        </p:nvSpPr>
        <p:spPr>
          <a:xfrm>
            <a:off x="868680" y="2651760"/>
            <a:ext cx="7680900" cy="1554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Arial"/>
                <a:ea typeface="Arial"/>
                <a:cs typeface="Arial"/>
                <a:sym typeface="Arial"/>
              </a:rPr>
              <a:t>Imaginative Thoughts</a:t>
            </a:r>
            <a:endParaRPr sz="3600" b="0" i="0" u="none" strike="noStrike" cap="none">
              <a:solidFill>
                <a:schemeClr val="dk1"/>
              </a:solidFill>
              <a:latin typeface="Calibri"/>
              <a:ea typeface="Calibri"/>
              <a:cs typeface="Calibri"/>
              <a:sym typeface="Calibri"/>
            </a:endParaRPr>
          </a:p>
        </p:txBody>
      </p:sp>
      <p:pic>
        <p:nvPicPr>
          <p:cNvPr id="836" name="Google Shape;836;h63c2feeac6858736_0_0"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61"/>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What if AI gets far more efficient?</a:t>
            </a:r>
            <a:endParaRPr sz="2400" b="0" i="0" u="none" strike="noStrike" cap="none">
              <a:solidFill>
                <a:schemeClr val="dk1"/>
              </a:solidFill>
              <a:latin typeface="Calibri"/>
              <a:ea typeface="Calibri"/>
              <a:cs typeface="Calibri"/>
              <a:sym typeface="Calibri"/>
            </a:endParaRPr>
          </a:p>
        </p:txBody>
      </p:sp>
      <p:pic>
        <p:nvPicPr>
          <p:cNvPr id="842" name="Google Shape;842;p61"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843" name="Google Shape;843;p61"/>
          <p:cNvSpPr txBox="1"/>
          <p:nvPr/>
        </p:nvSpPr>
        <p:spPr>
          <a:xfrm>
            <a:off x="548640" y="868680"/>
            <a:ext cx="8046720" cy="411480"/>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A23B2A"/>
                </a:solidFill>
                <a:latin typeface="Arial"/>
                <a:ea typeface="Arial"/>
                <a:cs typeface="Arial"/>
                <a:sym typeface="Arial"/>
              </a:rPr>
              <a:t>Imagination 1 of 4 · Bear</a:t>
            </a:r>
            <a:endParaRPr sz="1400" b="0" i="0" u="none" strike="noStrike" cap="none">
              <a:solidFill>
                <a:srgbClr val="000000"/>
              </a:solidFill>
              <a:latin typeface="Arial"/>
              <a:ea typeface="Arial"/>
              <a:cs typeface="Arial"/>
              <a:sym typeface="Arial"/>
            </a:endParaRPr>
          </a:p>
        </p:txBody>
      </p:sp>
      <p:sp>
        <p:nvSpPr>
          <p:cNvPr id="844" name="Google Shape;844;p61"/>
          <p:cNvSpPr txBox="1"/>
          <p:nvPr/>
        </p:nvSpPr>
        <p:spPr>
          <a:xfrm>
            <a:off x="548640" y="1325880"/>
            <a:ext cx="8046720" cy="411480"/>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A23B2A"/>
                </a:solidFill>
                <a:latin typeface="Arial"/>
                <a:ea typeface="Arial"/>
                <a:cs typeface="Arial"/>
                <a:sym typeface="Arial"/>
              </a:rPr>
              <a:t>What we know</a:t>
            </a:r>
            <a:endParaRPr sz="1400" b="0" i="0" u="none" strike="noStrike" cap="none">
              <a:solidFill>
                <a:srgbClr val="000000"/>
              </a:solidFill>
              <a:latin typeface="Arial"/>
              <a:ea typeface="Arial"/>
              <a:cs typeface="Arial"/>
              <a:sym typeface="Arial"/>
            </a:endParaRPr>
          </a:p>
        </p:txBody>
      </p:sp>
      <p:sp>
        <p:nvSpPr>
          <p:cNvPr id="845" name="Google Shape;845;p61"/>
          <p:cNvSpPr txBox="1"/>
          <p:nvPr/>
        </p:nvSpPr>
        <p:spPr>
          <a:xfrm>
            <a:off x="548640" y="1737360"/>
            <a:ext cx="8046720" cy="1874519"/>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 Light replaces copper: optical switches use up to 5x less power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00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 Better GPUs: the IEA's efficient case is only 20% lower (2035)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000"/>
              </a:spcBef>
              <a:spcAft>
                <a:spcPts val="600"/>
              </a:spcAft>
              <a:buClr>
                <a:srgbClr val="000000"/>
              </a:buClr>
              <a:buSzPts val="2000"/>
              <a:buFont typeface="Arial"/>
              <a:buNone/>
            </a:pPr>
            <a:r>
              <a:rPr lang="en-US" sz="2000" b="0" i="0" u="none" strike="noStrike" cap="none">
                <a:solidFill>
                  <a:srgbClr val="222222"/>
                </a:solidFill>
                <a:latin typeface="Arial"/>
                <a:ea typeface="Arial"/>
                <a:cs typeface="Arial"/>
                <a:sym typeface="Arial"/>
              </a:rPr>
              <a:t>• GPU heat warms homes, but makes little electricity</a:t>
            </a:r>
            <a:endParaRPr sz="1400" b="0" i="0" u="none" strike="noStrike" cap="none">
              <a:solidFill>
                <a:srgbClr val="000000"/>
              </a:solidFill>
              <a:latin typeface="Arial"/>
              <a:ea typeface="Arial"/>
              <a:cs typeface="Arial"/>
              <a:sym typeface="Arial"/>
            </a:endParaRPr>
          </a:p>
        </p:txBody>
      </p:sp>
      <p:sp>
        <p:nvSpPr>
          <p:cNvPr id="846" name="Google Shape;846;p61"/>
          <p:cNvSpPr/>
          <p:nvPr/>
        </p:nvSpPr>
        <p:spPr>
          <a:xfrm>
            <a:off x="548640" y="3703320"/>
            <a:ext cx="8046720" cy="1463040"/>
          </a:xfrm>
          <a:prstGeom prst="rect">
            <a:avLst/>
          </a:prstGeom>
          <a:solidFill>
            <a:srgbClr val="F2DAD6"/>
          </a:solidFill>
          <a:ln>
            <a:noFill/>
          </a:ln>
        </p:spPr>
        <p:txBody>
          <a:bodyPr spcFirstLastPara="1" wrap="square" lIns="109725" tIns="54850" rIns="1097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A23B2A"/>
                </a:solidFill>
                <a:latin typeface="Arial"/>
                <a:ea typeface="Arial"/>
                <a:cs typeface="Arial"/>
                <a:sym typeface="Arial"/>
              </a:rPr>
              <a:t>So what for us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Demand still grows, but fear hits first. </a:t>
            </a:r>
            <a:endParaRPr sz="17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After DeepSeek (Jan 27, 2025), CEG, Oklo and NuScale fell 20%+ in a day.</a:t>
            </a:r>
            <a:endParaRPr sz="1400" b="0" i="0" u="none" strike="noStrike" cap="none">
              <a:solidFill>
                <a:srgbClr val="000000"/>
              </a:solidFill>
              <a:latin typeface="Arial"/>
              <a:ea typeface="Arial"/>
              <a:cs typeface="Arial"/>
              <a:sym typeface="Arial"/>
            </a:endParaRPr>
          </a:p>
        </p:txBody>
      </p:sp>
      <p:sp>
        <p:nvSpPr>
          <p:cNvPr id="847" name="Google Shape;847;p61"/>
          <p:cNvSpPr/>
          <p:nvPr/>
        </p:nvSpPr>
        <p:spPr>
          <a:xfrm>
            <a:off x="548640" y="5303520"/>
            <a:ext cx="8046720" cy="548640"/>
          </a:xfrm>
          <a:prstGeom prst="rect">
            <a:avLst/>
          </a:prstGeom>
          <a:solidFill>
            <a:srgbClr val="FFFFFF"/>
          </a:solidFill>
          <a:ln w="15875" cap="flat" cmpd="sng">
            <a:solidFill>
              <a:srgbClr val="A23B2A"/>
            </a:solidFill>
            <a:prstDash val="solid"/>
            <a:round/>
            <a:headEnd type="none" w="sm" len="sm"/>
            <a:tailEnd type="none" w="sm" len="sm"/>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A23B2A"/>
                </a:solidFill>
                <a:latin typeface="Arial"/>
                <a:ea typeface="Arial"/>
                <a:cs typeface="Arial"/>
                <a:sym typeface="Arial"/>
              </a:rPr>
              <a:t>Signal to watch: The next efficiency scare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p62"/>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What if fusion delivers power by 2030?</a:t>
            </a:r>
            <a:endParaRPr sz="2400" b="0" i="0" u="none" strike="noStrike" cap="none">
              <a:solidFill>
                <a:schemeClr val="dk1"/>
              </a:solidFill>
              <a:latin typeface="Calibri"/>
              <a:ea typeface="Calibri"/>
              <a:cs typeface="Calibri"/>
              <a:sym typeface="Calibri"/>
            </a:endParaRPr>
          </a:p>
        </p:txBody>
      </p:sp>
      <p:pic>
        <p:nvPicPr>
          <p:cNvPr id="853" name="Google Shape;853;p62"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854" name="Google Shape;854;p62"/>
          <p:cNvSpPr txBox="1"/>
          <p:nvPr/>
        </p:nvSpPr>
        <p:spPr>
          <a:xfrm>
            <a:off x="548640" y="868680"/>
            <a:ext cx="8046720" cy="411480"/>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6E6020"/>
                </a:solidFill>
                <a:latin typeface="Arial"/>
                <a:ea typeface="Arial"/>
                <a:cs typeface="Arial"/>
                <a:sym typeface="Arial"/>
              </a:rPr>
              <a:t>Imagination 2 of 4 · Wild card</a:t>
            </a:r>
            <a:endParaRPr sz="1400" b="0" i="0" u="none" strike="noStrike" cap="none">
              <a:solidFill>
                <a:srgbClr val="000000"/>
              </a:solidFill>
              <a:latin typeface="Arial"/>
              <a:ea typeface="Arial"/>
              <a:cs typeface="Arial"/>
              <a:sym typeface="Arial"/>
            </a:endParaRPr>
          </a:p>
        </p:txBody>
      </p:sp>
      <p:sp>
        <p:nvSpPr>
          <p:cNvPr id="855" name="Google Shape;855;p62"/>
          <p:cNvSpPr txBox="1"/>
          <p:nvPr/>
        </p:nvSpPr>
        <p:spPr>
          <a:xfrm>
            <a:off x="548640" y="1325880"/>
            <a:ext cx="8046720" cy="411480"/>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6E6020"/>
                </a:solidFill>
                <a:latin typeface="Arial"/>
                <a:ea typeface="Arial"/>
                <a:cs typeface="Arial"/>
                <a:sym typeface="Arial"/>
              </a:rPr>
              <a:t>What we know</a:t>
            </a:r>
            <a:endParaRPr sz="1400" b="0" i="0" u="none" strike="noStrike" cap="none">
              <a:solidFill>
                <a:srgbClr val="000000"/>
              </a:solidFill>
              <a:latin typeface="Arial"/>
              <a:ea typeface="Arial"/>
              <a:cs typeface="Arial"/>
              <a:sym typeface="Arial"/>
            </a:endParaRPr>
          </a:p>
        </p:txBody>
      </p:sp>
      <p:sp>
        <p:nvSpPr>
          <p:cNvPr id="856" name="Google Shape;856;p62"/>
          <p:cNvSpPr txBox="1"/>
          <p:nvPr/>
        </p:nvSpPr>
        <p:spPr>
          <a:xfrm>
            <a:off x="548640" y="1737360"/>
            <a:ext cx="8046720" cy="1874519"/>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 Microsoft: 50 MW from Helion, target 2028</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00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 Google: 200 MW from Commonwealth Fusion, early 2030s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2000"/>
              </a:spcBef>
              <a:spcAft>
                <a:spcPts val="600"/>
              </a:spcAft>
              <a:buClr>
                <a:srgbClr val="000000"/>
              </a:buClr>
              <a:buSzPts val="2000"/>
              <a:buFont typeface="Arial"/>
              <a:buNone/>
            </a:pPr>
            <a:r>
              <a:rPr lang="en-US" sz="2000" b="0" i="0" u="none" strike="noStrike" cap="none">
                <a:solidFill>
                  <a:srgbClr val="222222"/>
                </a:solidFill>
                <a:latin typeface="Arial"/>
                <a:ea typeface="Arial"/>
                <a:cs typeface="Arial"/>
                <a:sym typeface="Arial"/>
              </a:rPr>
              <a:t>• OpenAI: in talks with Helion for up to 5 GW by 2030 (reported)</a:t>
            </a:r>
            <a:endParaRPr sz="1400" b="0" i="0" u="none" strike="noStrike" cap="none">
              <a:solidFill>
                <a:srgbClr val="000000"/>
              </a:solidFill>
              <a:latin typeface="Arial"/>
              <a:ea typeface="Arial"/>
              <a:cs typeface="Arial"/>
              <a:sym typeface="Arial"/>
            </a:endParaRPr>
          </a:p>
        </p:txBody>
      </p:sp>
      <p:sp>
        <p:nvSpPr>
          <p:cNvPr id="857" name="Google Shape;857;p62"/>
          <p:cNvSpPr/>
          <p:nvPr/>
        </p:nvSpPr>
        <p:spPr>
          <a:xfrm>
            <a:off x="548640" y="3703320"/>
            <a:ext cx="8046720" cy="1463040"/>
          </a:xfrm>
          <a:prstGeom prst="rect">
            <a:avLst/>
          </a:prstGeom>
          <a:solidFill>
            <a:srgbClr val="ECE8D2"/>
          </a:solidFill>
          <a:ln>
            <a:noFill/>
          </a:ln>
        </p:spPr>
        <p:txBody>
          <a:bodyPr spcFirstLastPara="1" wrap="square" lIns="109725" tIns="54850" rIns="1097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6E6020"/>
                </a:solidFill>
                <a:latin typeface="Arial"/>
                <a:ea typeface="Arial"/>
                <a:cs typeface="Arial"/>
                <a:sym typeface="Arial"/>
              </a:rPr>
              <a:t>So what for us</a:t>
            </a: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About 250 MW is signed: roughly 1% of US data-center power. </a:t>
            </a:r>
            <a:endParaRPr sz="20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It hurts the 2030s reactor story (SMR, OKLO), not fuel.</a:t>
            </a:r>
            <a:endParaRPr sz="2000" b="0" i="0" u="none" strike="noStrike" cap="none">
              <a:solidFill>
                <a:srgbClr val="000000"/>
              </a:solidFill>
              <a:latin typeface="Arial"/>
              <a:ea typeface="Arial"/>
              <a:cs typeface="Arial"/>
              <a:sym typeface="Arial"/>
            </a:endParaRPr>
          </a:p>
        </p:txBody>
      </p:sp>
      <p:sp>
        <p:nvSpPr>
          <p:cNvPr id="858" name="Google Shape;858;p62"/>
          <p:cNvSpPr/>
          <p:nvPr/>
        </p:nvSpPr>
        <p:spPr>
          <a:xfrm>
            <a:off x="548640" y="5303520"/>
            <a:ext cx="8046720" cy="548640"/>
          </a:xfrm>
          <a:prstGeom prst="rect">
            <a:avLst/>
          </a:prstGeom>
          <a:solidFill>
            <a:srgbClr val="FFFFFF"/>
          </a:solidFill>
          <a:ln w="15875" cap="flat" cmpd="sng">
            <a:solidFill>
              <a:srgbClr val="6E6020"/>
            </a:solidFill>
            <a:prstDash val="solid"/>
            <a:round/>
            <a:headEnd type="none" w="sm" len="sm"/>
            <a:tailEnd type="none" w="sm" len="sm"/>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6E6020"/>
                </a:solidFill>
                <a:latin typeface="Arial"/>
                <a:ea typeface="Arial"/>
                <a:cs typeface="Arial"/>
                <a:sym typeface="Arial"/>
              </a:rPr>
              <a:t>Signal to watch: CFS SPARC test (2027); Helion's first power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63"/>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What if state carbon laws are abolished?</a:t>
            </a:r>
            <a:endParaRPr sz="2400" b="0" i="0" u="none" strike="noStrike" cap="none">
              <a:solidFill>
                <a:schemeClr val="dk1"/>
              </a:solidFill>
              <a:latin typeface="Calibri"/>
              <a:ea typeface="Calibri"/>
              <a:cs typeface="Calibri"/>
              <a:sym typeface="Calibri"/>
            </a:endParaRPr>
          </a:p>
        </p:txBody>
      </p:sp>
      <p:pic>
        <p:nvPicPr>
          <p:cNvPr id="864" name="Google Shape;864;p63"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865" name="Google Shape;865;p63"/>
          <p:cNvSpPr txBox="1"/>
          <p:nvPr/>
        </p:nvSpPr>
        <p:spPr>
          <a:xfrm>
            <a:off x="548640" y="868680"/>
            <a:ext cx="8046720" cy="411480"/>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555555"/>
                </a:solidFill>
                <a:latin typeface="Arial"/>
                <a:ea typeface="Arial"/>
                <a:cs typeface="Arial"/>
                <a:sym typeface="Arial"/>
              </a:rPr>
              <a:t>Imagination 3 of 4 · Policy</a:t>
            </a:r>
            <a:endParaRPr sz="2000" b="0" i="0" u="none" strike="noStrike" cap="none">
              <a:solidFill>
                <a:srgbClr val="000000"/>
              </a:solidFill>
              <a:latin typeface="Arial"/>
              <a:ea typeface="Arial"/>
              <a:cs typeface="Arial"/>
              <a:sym typeface="Arial"/>
            </a:endParaRPr>
          </a:p>
        </p:txBody>
      </p:sp>
      <p:sp>
        <p:nvSpPr>
          <p:cNvPr id="866" name="Google Shape;866;p63"/>
          <p:cNvSpPr txBox="1"/>
          <p:nvPr/>
        </p:nvSpPr>
        <p:spPr>
          <a:xfrm>
            <a:off x="548640" y="1325880"/>
            <a:ext cx="8046720" cy="411480"/>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555555"/>
                </a:solidFill>
                <a:latin typeface="Arial"/>
                <a:ea typeface="Arial"/>
                <a:cs typeface="Arial"/>
                <a:sym typeface="Arial"/>
              </a:rPr>
              <a:t>What we know</a:t>
            </a:r>
            <a:endParaRPr sz="2000" b="0" i="0" u="none" strike="noStrike" cap="none">
              <a:solidFill>
                <a:srgbClr val="000000"/>
              </a:solidFill>
              <a:latin typeface="Arial"/>
              <a:ea typeface="Arial"/>
              <a:cs typeface="Arial"/>
              <a:sym typeface="Arial"/>
            </a:endParaRPr>
          </a:p>
        </p:txBody>
      </p:sp>
      <p:sp>
        <p:nvSpPr>
          <p:cNvPr id="867" name="Google Shape;867;p63"/>
          <p:cNvSpPr txBox="1"/>
          <p:nvPr/>
        </p:nvSpPr>
        <p:spPr>
          <a:xfrm>
            <a:off x="548640" y="1737360"/>
            <a:ext cx="8046720" cy="1874519"/>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 The Justice Department sued four states over climate laws May 2025</a:t>
            </a: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200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 A federal court blocked New York's $75B climate law</a:t>
            </a: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2000"/>
              </a:spcBef>
              <a:spcAft>
                <a:spcPts val="600"/>
              </a:spcAft>
              <a:buClr>
                <a:srgbClr val="000000"/>
              </a:buClr>
              <a:buSzPts val="2000"/>
              <a:buFont typeface="Arial"/>
              <a:buNone/>
            </a:pPr>
            <a:r>
              <a:rPr lang="en-US" sz="2000" b="0" i="0" u="none" strike="noStrike" cap="none">
                <a:solidFill>
                  <a:srgbClr val="222222"/>
                </a:solidFill>
                <a:latin typeface="Arial"/>
                <a:ea typeface="Arial"/>
                <a:cs typeface="Arial"/>
                <a:sym typeface="Arial"/>
              </a:rPr>
              <a:t>• New York's credits support CEG's upstate reactors</a:t>
            </a:r>
            <a:endParaRPr sz="2000" b="0" i="0" u="none" strike="noStrike" cap="none">
              <a:solidFill>
                <a:srgbClr val="000000"/>
              </a:solidFill>
              <a:latin typeface="Arial"/>
              <a:ea typeface="Arial"/>
              <a:cs typeface="Arial"/>
              <a:sym typeface="Arial"/>
            </a:endParaRPr>
          </a:p>
        </p:txBody>
      </p:sp>
      <p:sp>
        <p:nvSpPr>
          <p:cNvPr id="868" name="Google Shape;868;p63"/>
          <p:cNvSpPr/>
          <p:nvPr/>
        </p:nvSpPr>
        <p:spPr>
          <a:xfrm>
            <a:off x="548640" y="3703320"/>
            <a:ext cx="8046720" cy="1463040"/>
          </a:xfrm>
          <a:prstGeom prst="rect">
            <a:avLst/>
          </a:prstGeom>
          <a:solidFill>
            <a:srgbClr val="E6E6E6"/>
          </a:solidFill>
          <a:ln>
            <a:noFill/>
          </a:ln>
        </p:spPr>
        <p:txBody>
          <a:bodyPr spcFirstLastPara="1" wrap="square" lIns="109725" tIns="54850" rIns="1097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555555"/>
                </a:solidFill>
                <a:latin typeface="Arial"/>
                <a:ea typeface="Arial"/>
                <a:cs typeface="Arial"/>
                <a:sym typeface="Arial"/>
              </a:rPr>
              <a:t>So what for us</a:t>
            </a: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Nuclear loses its "clean" edge and gas gains. </a:t>
            </a:r>
            <a:endParaRPr sz="20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Nuclear's case becomes firm, 24/7 power. </a:t>
            </a:r>
            <a:endParaRPr sz="20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Hurts CEG, SMR and OKLO.</a:t>
            </a:r>
            <a:endParaRPr sz="2000" b="0" i="0" u="none" strike="noStrike" cap="none">
              <a:solidFill>
                <a:srgbClr val="000000"/>
              </a:solidFill>
              <a:latin typeface="Arial"/>
              <a:ea typeface="Arial"/>
              <a:cs typeface="Arial"/>
              <a:sym typeface="Arial"/>
            </a:endParaRPr>
          </a:p>
        </p:txBody>
      </p:sp>
      <p:sp>
        <p:nvSpPr>
          <p:cNvPr id="869" name="Google Shape;869;p63"/>
          <p:cNvSpPr/>
          <p:nvPr/>
        </p:nvSpPr>
        <p:spPr>
          <a:xfrm>
            <a:off x="548640" y="5303520"/>
            <a:ext cx="8046720" cy="548640"/>
          </a:xfrm>
          <a:prstGeom prst="rect">
            <a:avLst/>
          </a:prstGeom>
          <a:solidFill>
            <a:srgbClr val="FFFFFF"/>
          </a:solidFill>
          <a:ln w="15875" cap="flat" cmpd="sng">
            <a:solidFill>
              <a:srgbClr val="555555"/>
            </a:solidFill>
            <a:prstDash val="solid"/>
            <a:round/>
            <a:headEnd type="none" w="sm" len="sm"/>
            <a:tailEnd type="none" w="sm" len="sm"/>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555555"/>
                </a:solidFill>
                <a:latin typeface="Arial"/>
                <a:ea typeface="Arial"/>
                <a:cs typeface="Arial"/>
                <a:sym typeface="Arial"/>
              </a:rPr>
              <a:t>Signal to watch: Court rulings on state climate laws</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64"/>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What if time-to-power stays the bottleneck?</a:t>
            </a:r>
            <a:endParaRPr sz="2400" b="0" i="0" u="none" strike="noStrike" cap="none">
              <a:solidFill>
                <a:schemeClr val="dk1"/>
              </a:solidFill>
              <a:latin typeface="Calibri"/>
              <a:ea typeface="Calibri"/>
              <a:cs typeface="Calibri"/>
              <a:sym typeface="Calibri"/>
            </a:endParaRPr>
          </a:p>
        </p:txBody>
      </p:sp>
      <p:pic>
        <p:nvPicPr>
          <p:cNvPr id="875" name="Google Shape;875;p64"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876" name="Google Shape;876;p64"/>
          <p:cNvSpPr txBox="1"/>
          <p:nvPr/>
        </p:nvSpPr>
        <p:spPr>
          <a:xfrm>
            <a:off x="548640" y="868680"/>
            <a:ext cx="8046720" cy="411480"/>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1F3A5F"/>
                </a:solidFill>
                <a:latin typeface="Arial"/>
                <a:ea typeface="Arial"/>
                <a:cs typeface="Arial"/>
                <a:sym typeface="Arial"/>
              </a:rPr>
              <a:t>Imagination 4 of 4 · Bull</a:t>
            </a:r>
            <a:endParaRPr sz="2000" b="0" i="0" u="none" strike="noStrike" cap="none">
              <a:solidFill>
                <a:srgbClr val="000000"/>
              </a:solidFill>
              <a:latin typeface="Arial"/>
              <a:ea typeface="Arial"/>
              <a:cs typeface="Arial"/>
              <a:sym typeface="Arial"/>
            </a:endParaRPr>
          </a:p>
        </p:txBody>
      </p:sp>
      <p:sp>
        <p:nvSpPr>
          <p:cNvPr id="877" name="Google Shape;877;p64"/>
          <p:cNvSpPr txBox="1"/>
          <p:nvPr/>
        </p:nvSpPr>
        <p:spPr>
          <a:xfrm>
            <a:off x="548640" y="1325880"/>
            <a:ext cx="8046720" cy="411480"/>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1F3A5F"/>
                </a:solidFill>
                <a:latin typeface="Arial"/>
                <a:ea typeface="Arial"/>
                <a:cs typeface="Arial"/>
                <a:sym typeface="Arial"/>
              </a:rPr>
              <a:t>What we know</a:t>
            </a:r>
            <a:endParaRPr sz="2000" b="0" i="0" u="none" strike="noStrike" cap="none">
              <a:solidFill>
                <a:srgbClr val="000000"/>
              </a:solidFill>
              <a:latin typeface="Arial"/>
              <a:ea typeface="Arial"/>
              <a:cs typeface="Arial"/>
              <a:sym typeface="Arial"/>
            </a:endParaRPr>
          </a:p>
        </p:txBody>
      </p:sp>
      <p:sp>
        <p:nvSpPr>
          <p:cNvPr id="878" name="Google Shape;878;p64"/>
          <p:cNvSpPr txBox="1"/>
          <p:nvPr/>
        </p:nvSpPr>
        <p:spPr>
          <a:xfrm>
            <a:off x="548640" y="1737360"/>
            <a:ext cx="8046720" cy="1874519"/>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 PJM Interconnection's capacity price hit its $325/MW-day cap</a:t>
            </a: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200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 Data centers: 4.4% of US power in 2023, up to 12% by 2028</a:t>
            </a: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2000"/>
              </a:spcBef>
              <a:spcAft>
                <a:spcPts val="600"/>
              </a:spcAft>
              <a:buClr>
                <a:srgbClr val="000000"/>
              </a:buClr>
              <a:buSzPts val="2000"/>
              <a:buFont typeface="Arial"/>
              <a:buNone/>
            </a:pPr>
            <a:r>
              <a:rPr lang="en-US" sz="2000" b="0" i="0" u="none" strike="noStrike" cap="none">
                <a:solidFill>
                  <a:srgbClr val="222222"/>
                </a:solidFill>
                <a:latin typeface="Arial"/>
                <a:ea typeface="Arial"/>
                <a:cs typeface="Arial"/>
                <a:sym typeface="Arial"/>
              </a:rPr>
              <a:t>• Microsoft's 20-year deal restarts Crane (2027)</a:t>
            </a:r>
            <a:endParaRPr sz="2000" b="0" i="0" u="none" strike="noStrike" cap="none">
              <a:solidFill>
                <a:srgbClr val="000000"/>
              </a:solidFill>
              <a:latin typeface="Arial"/>
              <a:ea typeface="Arial"/>
              <a:cs typeface="Arial"/>
              <a:sym typeface="Arial"/>
            </a:endParaRPr>
          </a:p>
        </p:txBody>
      </p:sp>
      <p:sp>
        <p:nvSpPr>
          <p:cNvPr id="879" name="Google Shape;879;p64"/>
          <p:cNvSpPr/>
          <p:nvPr/>
        </p:nvSpPr>
        <p:spPr>
          <a:xfrm>
            <a:off x="548640" y="3703320"/>
            <a:ext cx="8046720" cy="1463040"/>
          </a:xfrm>
          <a:prstGeom prst="rect">
            <a:avLst/>
          </a:prstGeom>
          <a:solidFill>
            <a:srgbClr val="D6DEE8"/>
          </a:solidFill>
          <a:ln>
            <a:noFill/>
          </a:ln>
        </p:spPr>
        <p:txBody>
          <a:bodyPr spcFirstLastPara="1" wrap="square" lIns="109725" tIns="54850" rIns="1097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1F3A5F"/>
                </a:solidFill>
                <a:latin typeface="Arial"/>
                <a:ea typeface="Arial"/>
                <a:cs typeface="Arial"/>
                <a:sym typeface="Arial"/>
              </a:rPr>
              <a:t>So what for us</a:t>
            </a: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Existing reactors and the fuel chain win: </a:t>
            </a:r>
            <a:endParaRPr sz="20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CEG and BWXT. </a:t>
            </a:r>
            <a:endParaRPr sz="20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22222"/>
                </a:solidFill>
                <a:latin typeface="Arial"/>
                <a:ea typeface="Arial"/>
                <a:cs typeface="Arial"/>
                <a:sym typeface="Arial"/>
              </a:rPr>
              <a:t>Our UUUU short gets harder.</a:t>
            </a:r>
            <a:endParaRPr sz="2000" b="0" i="0" u="none" strike="noStrike" cap="none">
              <a:solidFill>
                <a:srgbClr val="000000"/>
              </a:solidFill>
              <a:latin typeface="Arial"/>
              <a:ea typeface="Arial"/>
              <a:cs typeface="Arial"/>
              <a:sym typeface="Arial"/>
            </a:endParaRPr>
          </a:p>
        </p:txBody>
      </p:sp>
      <p:sp>
        <p:nvSpPr>
          <p:cNvPr id="880" name="Google Shape;880;p64"/>
          <p:cNvSpPr/>
          <p:nvPr/>
        </p:nvSpPr>
        <p:spPr>
          <a:xfrm>
            <a:off x="548640" y="5303520"/>
            <a:ext cx="8046720" cy="548640"/>
          </a:xfrm>
          <a:prstGeom prst="rect">
            <a:avLst/>
          </a:prstGeom>
          <a:solidFill>
            <a:srgbClr val="FFFFFF"/>
          </a:solidFill>
          <a:ln w="15875" cap="flat" cmpd="sng">
            <a:solidFill>
              <a:srgbClr val="1F3A5F"/>
            </a:solidFill>
            <a:prstDash val="solid"/>
            <a:round/>
            <a:headEnd type="none" w="sm" len="sm"/>
            <a:tailEnd type="none" w="sm" len="sm"/>
          </a:ln>
        </p:spPr>
        <p:txBody>
          <a:bodyPr spcFirstLastPara="1" wrap="square" lIns="27425" tIns="27425" rIns="27425" bIns="27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1F3A5F"/>
                </a:solidFill>
                <a:latin typeface="Arial"/>
                <a:ea typeface="Arial"/>
                <a:cs typeface="Arial"/>
                <a:sym typeface="Arial"/>
              </a:rPr>
              <a:t>Signal to watch: PJM auctions; hyperscaler power deals</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65"/>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Imagination: what each future does to our names</a:t>
            </a:r>
            <a:endParaRPr sz="2400" b="0" i="0" u="none" strike="noStrike" cap="none">
              <a:solidFill>
                <a:schemeClr val="dk1"/>
              </a:solidFill>
              <a:latin typeface="Calibri"/>
              <a:ea typeface="Calibri"/>
              <a:cs typeface="Calibri"/>
              <a:sym typeface="Calibri"/>
            </a:endParaRPr>
          </a:p>
        </p:txBody>
      </p:sp>
      <p:graphicFrame>
        <p:nvGraphicFramePr>
          <p:cNvPr id="886" name="Google Shape;886;p65"/>
          <p:cNvGraphicFramePr/>
          <p:nvPr/>
        </p:nvGraphicFramePr>
        <p:xfrm>
          <a:off x="548640" y="1280160"/>
          <a:ext cx="3000000" cy="3000000"/>
        </p:xfrm>
        <a:graphic>
          <a:graphicData uri="http://schemas.openxmlformats.org/drawingml/2006/table">
            <a:tbl>
              <a:tblPr>
                <a:noFill/>
                <a:tableStyleId>{67C04448-9542-46E3-BF30-04DBAA183EC1}</a:tableStyleId>
              </a:tblPr>
              <a:tblGrid>
                <a:gridCol w="2560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097275">
                  <a:extLst>
                    <a:ext uri="{9D8B030D-6E8A-4147-A177-3AD203B41FA5}">
                      <a16:colId xmlns:a16="http://schemas.microsoft.com/office/drawing/2014/main" val="20002"/>
                    </a:ext>
                  </a:extLst>
                </a:gridCol>
                <a:gridCol w="1097275">
                  <a:extLst>
                    <a:ext uri="{9D8B030D-6E8A-4147-A177-3AD203B41FA5}">
                      <a16:colId xmlns:a16="http://schemas.microsoft.com/office/drawing/2014/main" val="20003"/>
                    </a:ext>
                  </a:extLst>
                </a:gridCol>
                <a:gridCol w="1097275">
                  <a:extLst>
                    <a:ext uri="{9D8B030D-6E8A-4147-A177-3AD203B41FA5}">
                      <a16:colId xmlns:a16="http://schemas.microsoft.com/office/drawing/2014/main" val="20004"/>
                    </a:ext>
                  </a:extLst>
                </a:gridCol>
                <a:gridCol w="1097275">
                  <a:extLst>
                    <a:ext uri="{9D8B030D-6E8A-4147-A177-3AD203B41FA5}">
                      <a16:colId xmlns:a16="http://schemas.microsoft.com/office/drawing/2014/main" val="20005"/>
                    </a:ext>
                  </a:extLst>
                </a:gridCol>
              </a:tblGrid>
              <a:tr h="640075">
                <a:tc>
                  <a:txBody>
                    <a:bodyPr/>
                    <a:lstStyle/>
                    <a:p>
                      <a:pPr marL="0" marR="0" lvl="0" indent="0" algn="l" rtl="0">
                        <a:lnSpc>
                          <a:spcPct val="100000"/>
                        </a:lnSpc>
                        <a:spcBef>
                          <a:spcPts val="0"/>
                        </a:spcBef>
                        <a:spcAft>
                          <a:spcPts val="0"/>
                        </a:spcAft>
                        <a:buClr>
                          <a:srgbClr val="555555"/>
                        </a:buClr>
                        <a:buSzPts val="1200"/>
                        <a:buFont typeface="Arial"/>
                        <a:buNone/>
                      </a:pPr>
                      <a:r>
                        <a:rPr lang="en-US" sz="2000" b="1" i="0" u="none" strike="noStrike" cap="none">
                          <a:solidFill>
                            <a:srgbClr val="FFFFFF"/>
                          </a:solidFill>
                          <a:latin typeface="Arial"/>
                          <a:ea typeface="Arial"/>
                          <a:cs typeface="Arial"/>
                          <a:sym typeface="Arial"/>
                        </a:rPr>
                        <a:t>Future</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2000" b="1" i="0" u="none" strike="noStrike" cap="none">
                          <a:solidFill>
                            <a:srgbClr val="FFFFFF"/>
                          </a:solidFill>
                          <a:latin typeface="Arial"/>
                          <a:ea typeface="Arial"/>
                          <a:cs typeface="Arial"/>
                          <a:sym typeface="Arial"/>
                        </a:rPr>
                        <a:t>UUUU (Short)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2000" b="1" i="0" u="none" strike="noStrike" cap="none">
                          <a:solidFill>
                            <a:srgbClr val="FFFFFF"/>
                          </a:solidFill>
                          <a:latin typeface="Arial"/>
                          <a:ea typeface="Arial"/>
                          <a:cs typeface="Arial"/>
                          <a:sym typeface="Arial"/>
                        </a:rPr>
                        <a:t>PDN (Long)</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2000" b="1" i="0" u="none" strike="noStrike" cap="none">
                          <a:solidFill>
                            <a:srgbClr val="FFFFFF"/>
                          </a:solidFill>
                          <a:latin typeface="Arial"/>
                          <a:ea typeface="Arial"/>
                          <a:cs typeface="Arial"/>
                          <a:sym typeface="Arial"/>
                        </a:rPr>
                        <a:t>BWXT (Alt.)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2000" b="1" i="0" u="none" strike="noStrike" cap="none">
                          <a:solidFill>
                            <a:srgbClr val="FFFFFF"/>
                          </a:solidFill>
                          <a:latin typeface="Arial"/>
                          <a:ea typeface="Arial"/>
                          <a:cs typeface="Arial"/>
                          <a:sym typeface="Arial"/>
                        </a:rPr>
                        <a:t>CEG</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tc>
                  <a:txBody>
                    <a:bodyPr/>
                    <a:lstStyle/>
                    <a:p>
                      <a:pPr marL="0" marR="0" lvl="0" indent="0" algn="ctr" rtl="0">
                        <a:lnSpc>
                          <a:spcPct val="100000"/>
                        </a:lnSpc>
                        <a:spcBef>
                          <a:spcPts val="0"/>
                        </a:spcBef>
                        <a:spcAft>
                          <a:spcPts val="0"/>
                        </a:spcAft>
                        <a:buClr>
                          <a:srgbClr val="555555"/>
                        </a:buClr>
                        <a:buSzPts val="1200"/>
                        <a:buFont typeface="Arial"/>
                        <a:buNone/>
                      </a:pPr>
                      <a:r>
                        <a:rPr lang="en-US" sz="2000" b="1" i="0" u="none" strike="noStrike" cap="none">
                          <a:solidFill>
                            <a:srgbClr val="FFFFFF"/>
                          </a:solidFill>
                          <a:latin typeface="Arial"/>
                          <a:ea typeface="Arial"/>
                          <a:cs typeface="Arial"/>
                          <a:sym typeface="Arial"/>
                        </a:rPr>
                        <a:t>SMR · OKLO</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extLst>
                  <a:ext uri="{0D108BD9-81ED-4DB2-BD59-A6C34878D82A}">
                    <a16:rowId xmlns:a16="http://schemas.microsoft.com/office/drawing/2014/main" val="10000"/>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2000" b="1" i="0" u="none" strike="noStrike" cap="none">
                          <a:solidFill>
                            <a:srgbClr val="A23B2A"/>
                          </a:solidFill>
                          <a:latin typeface="Arial"/>
                          <a:ea typeface="Arial"/>
                          <a:cs typeface="Arial"/>
                          <a:sym typeface="Arial"/>
                        </a:rPr>
                        <a:t>Bear: AI far more efficient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A23B2A"/>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A23B2A"/>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A23B2A"/>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A23B2A"/>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A23B2A"/>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2000" b="1" i="0" u="none" strike="noStrike" cap="none">
                          <a:solidFill>
                            <a:srgbClr val="6E6020"/>
                          </a:solidFill>
                          <a:latin typeface="Arial"/>
                          <a:ea typeface="Arial"/>
                          <a:cs typeface="Arial"/>
                          <a:sym typeface="Arial"/>
                        </a:rPr>
                        <a:t>Wild card: fusion by 2030</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555555"/>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555555"/>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555555"/>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555555"/>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A23B2A"/>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extLst>
                  <a:ext uri="{0D108BD9-81ED-4DB2-BD59-A6C34878D82A}">
                    <a16:rowId xmlns:a16="http://schemas.microsoft.com/office/drawing/2014/main" val="10002"/>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2000" b="1" i="0" u="none" strike="noStrike" cap="none">
                          <a:solidFill>
                            <a:srgbClr val="555555"/>
                          </a:solidFill>
                          <a:latin typeface="Arial"/>
                          <a:ea typeface="Arial"/>
                          <a:cs typeface="Arial"/>
                          <a:sym typeface="Arial"/>
                        </a:rPr>
                        <a:t>Policy: carbon laws abolished</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A23B2A"/>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555555"/>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555555"/>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A23B2A"/>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A23B2A"/>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02925">
                <a:tc>
                  <a:txBody>
                    <a:bodyPr/>
                    <a:lstStyle/>
                    <a:p>
                      <a:pPr marL="0" marR="0" lvl="0" indent="0" algn="l" rtl="0">
                        <a:lnSpc>
                          <a:spcPct val="100000"/>
                        </a:lnSpc>
                        <a:spcBef>
                          <a:spcPts val="0"/>
                        </a:spcBef>
                        <a:spcAft>
                          <a:spcPts val="0"/>
                        </a:spcAft>
                        <a:buClr>
                          <a:srgbClr val="222222"/>
                        </a:buClr>
                        <a:buSzPts val="1400"/>
                        <a:buFont typeface="Arial"/>
                        <a:buNone/>
                      </a:pPr>
                      <a:r>
                        <a:rPr lang="en-US" sz="2000" b="1" i="0" u="none" strike="noStrike" cap="none">
                          <a:solidFill>
                            <a:srgbClr val="1F3A5F"/>
                          </a:solidFill>
                          <a:latin typeface="Arial"/>
                          <a:ea typeface="Arial"/>
                          <a:cs typeface="Arial"/>
                          <a:sym typeface="Arial"/>
                        </a:rPr>
                        <a:t>Bull: time-to-power</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2E7D32"/>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2E7D32"/>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2E7D32"/>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2E7D32"/>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ctr" rtl="0">
                        <a:lnSpc>
                          <a:spcPct val="100000"/>
                        </a:lnSpc>
                        <a:spcBef>
                          <a:spcPts val="0"/>
                        </a:spcBef>
                        <a:spcAft>
                          <a:spcPts val="0"/>
                        </a:spcAft>
                        <a:buClr>
                          <a:srgbClr val="222222"/>
                        </a:buClr>
                        <a:buSzPts val="1400"/>
                        <a:buFont typeface="Arial"/>
                        <a:buNone/>
                      </a:pPr>
                      <a:r>
                        <a:rPr lang="en-US" sz="2000" b="1" i="0" u="none" strike="noStrike" cap="none">
                          <a:solidFill>
                            <a:srgbClr val="2E7D32"/>
                          </a:solidFill>
                          <a:latin typeface="Arial"/>
                          <a:ea typeface="Arial"/>
                          <a:cs typeface="Arial"/>
                          <a:sym typeface="Arial"/>
                        </a:rPr>
                        <a:t>▲</a:t>
                      </a:r>
                      <a:endParaRPr sz="1400" u="none" strike="noStrike" cap="none"/>
                    </a:p>
                  </a:txBody>
                  <a:tcPr marL="45725" marR="45725" marT="27425" marB="27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extLst>
                  <a:ext uri="{0D108BD9-81ED-4DB2-BD59-A6C34878D82A}">
                    <a16:rowId xmlns:a16="http://schemas.microsoft.com/office/drawing/2014/main" val="10004"/>
                  </a:ext>
                </a:extLst>
              </a:tr>
            </a:tbl>
          </a:graphicData>
        </a:graphic>
      </p:graphicFrame>
      <p:sp>
        <p:nvSpPr>
          <p:cNvPr id="887" name="Google Shape;887;p65"/>
          <p:cNvSpPr/>
          <p:nvPr/>
        </p:nvSpPr>
        <p:spPr>
          <a:xfrm>
            <a:off x="548640" y="4937760"/>
            <a:ext cx="8046720" cy="822960"/>
          </a:xfrm>
          <a:prstGeom prst="roundRect">
            <a:avLst>
              <a:gd name="adj" fmla="val 12000"/>
            </a:avLst>
          </a:prstGeom>
          <a:solidFill>
            <a:srgbClr val="F4F1E3"/>
          </a:solidFill>
          <a:ln w="12700" cap="flat" cmpd="sng">
            <a:solidFill>
              <a:srgbClr val="F4F1E3"/>
            </a:solidFill>
            <a:prstDash val="solid"/>
            <a:round/>
            <a:headEnd type="none" w="sm" len="sm"/>
            <a:tailEnd type="none" w="sm" len="sm"/>
          </a:ln>
        </p:spPr>
        <p:txBody>
          <a:bodyPr spcFirstLastPara="1" wrap="square" lIns="177800" tIns="50800" rIns="177800" bIns="50800" anchor="ctr" anchorCtr="0">
            <a:noAutofit/>
          </a:bodyPr>
          <a:lstStyle/>
          <a:p>
            <a:pPr marL="0" marR="0" lvl="0" indent="0" algn="l" rtl="0">
              <a:lnSpc>
                <a:spcPct val="100000"/>
              </a:lnSpc>
              <a:spcBef>
                <a:spcPts val="0"/>
              </a:spcBef>
              <a:spcAft>
                <a:spcPts val="0"/>
              </a:spcAft>
              <a:buClr>
                <a:srgbClr val="6E6020"/>
              </a:buClr>
              <a:buSzPts val="1600"/>
              <a:buFont typeface="Arial"/>
              <a:buNone/>
            </a:pPr>
            <a:r>
              <a:rPr lang="en-US" sz="2000" b="1" i="0" u="none" strike="noStrike" cap="none">
                <a:solidFill>
                  <a:srgbClr val="6E6020"/>
                </a:solidFill>
                <a:latin typeface="Arial"/>
                <a:ea typeface="Arial"/>
                <a:cs typeface="Arial"/>
                <a:sym typeface="Arial"/>
              </a:rPr>
              <a:t>A falling price helps our short and brings our entries closer. No future breaks our calls.</a:t>
            </a:r>
            <a:endParaRPr sz="1400" b="0" i="0" u="none" strike="noStrike" cap="none">
              <a:solidFill>
                <a:srgbClr val="000000"/>
              </a:solidFill>
              <a:latin typeface="Arial"/>
              <a:ea typeface="Arial"/>
              <a:cs typeface="Arial"/>
              <a:sym typeface="Arial"/>
            </a:endParaRPr>
          </a:p>
        </p:txBody>
      </p:sp>
      <p:pic>
        <p:nvPicPr>
          <p:cNvPr id="888" name="Google Shape;888;p65"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889" name="Google Shape;889;p65"/>
          <p:cNvSpPr txBox="1"/>
          <p:nvPr/>
        </p:nvSpPr>
        <p:spPr>
          <a:xfrm>
            <a:off x="548640" y="822960"/>
            <a:ext cx="8046720" cy="411480"/>
          </a:xfrm>
          <a:prstGeom prst="rect">
            <a:avLst/>
          </a:prstGeom>
          <a:noFill/>
          <a:ln>
            <a:noFill/>
          </a:ln>
        </p:spPr>
        <p:txBody>
          <a:bodyPr spcFirstLastPara="1" wrap="square" lIns="27425" tIns="27425" rIns="27425" bIns="27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555555"/>
                </a:solidFill>
                <a:latin typeface="Arial"/>
                <a:ea typeface="Arial"/>
                <a:cs typeface="Arial"/>
                <a:sym typeface="Arial"/>
              </a:rPr>
              <a:t>Effect on the share price:  ▲ up   ▼ down   – little change</a:t>
            </a:r>
            <a:endParaRPr sz="1400" b="0" i="0" u="none" strike="noStrike" cap="none">
              <a:solidFill>
                <a:srgbClr val="000000"/>
              </a:solidFill>
              <a:latin typeface="Arial"/>
              <a:ea typeface="Arial"/>
              <a:cs typeface="Arial"/>
              <a:sym typeface="Arial"/>
            </a:endParaRPr>
          </a:p>
        </p:txBody>
      </p:sp>
      <p:sp>
        <p:nvSpPr>
          <p:cNvPr id="890" name="Google Shape;890;p65"/>
          <p:cNvSpPr txBox="1"/>
          <p:nvPr/>
        </p:nvSpPr>
        <p:spPr>
          <a:xfrm>
            <a:off x="548640" y="4389120"/>
            <a:ext cx="8046720" cy="4572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222222"/>
                </a:solidFill>
                <a:latin typeface="Arial"/>
                <a:ea typeface="Arial"/>
                <a:cs typeface="Arial"/>
                <a:sym typeface="Arial"/>
              </a:rPr>
              <a:t>Our calls today: Watchlist on UUUU (short), PDN, BWXT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94"/>
        <p:cNvGrpSpPr/>
        <p:nvPr/>
      </p:nvGrpSpPr>
      <p:grpSpPr>
        <a:xfrm>
          <a:off x="0" y="0"/>
          <a:ext cx="0" cy="0"/>
          <a:chOff x="0" y="0"/>
          <a:chExt cx="0" cy="0"/>
        </a:xfrm>
      </p:grpSpPr>
      <p:sp>
        <p:nvSpPr>
          <p:cNvPr id="895" name="Google Shape;895;p26"/>
          <p:cNvSpPr/>
          <p:nvPr/>
        </p:nvSpPr>
        <p:spPr>
          <a:xfrm>
            <a:off x="548640" y="2788920"/>
            <a:ext cx="109728" cy="1280160"/>
          </a:xfrm>
          <a:prstGeom prst="rect">
            <a:avLst/>
          </a:prstGeom>
          <a:solidFill>
            <a:srgbClr val="1F3A5F"/>
          </a:solidFill>
          <a:ln w="12700" cap="flat" cmpd="sng">
            <a:solidFill>
              <a:srgbClr val="1F3A5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96" name="Google Shape;896;p26"/>
          <p:cNvSpPr txBox="1"/>
          <p:nvPr/>
        </p:nvSpPr>
        <p:spPr>
          <a:xfrm>
            <a:off x="868680" y="2651760"/>
            <a:ext cx="7680960" cy="1554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Arial"/>
                <a:ea typeface="Arial"/>
                <a:cs typeface="Arial"/>
                <a:sym typeface="Arial"/>
              </a:rPr>
              <a:t>Conclusion</a:t>
            </a:r>
            <a:endParaRPr sz="3600" b="0" i="0" u="none" strike="noStrike" cap="none">
              <a:solidFill>
                <a:schemeClr val="dk1"/>
              </a:solidFill>
              <a:latin typeface="Calibri"/>
              <a:ea typeface="Calibri"/>
              <a:cs typeface="Calibri"/>
              <a:sym typeface="Calibri"/>
            </a:endParaRPr>
          </a:p>
        </p:txBody>
      </p:sp>
      <p:pic>
        <p:nvPicPr>
          <p:cNvPr id="897" name="Google Shape;897;p26"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11"/>
          <p:cNvSpPr txBox="1"/>
          <p:nvPr/>
        </p:nvSpPr>
        <p:spPr>
          <a:xfrm>
            <a:off x="548640" y="386718"/>
            <a:ext cx="8092440" cy="774571"/>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420"/>
              <a:buFont typeface="Arial"/>
              <a:buNone/>
            </a:pPr>
            <a:r>
              <a:rPr lang="en-US" sz="2420" b="1" i="0" u="none" strike="noStrike" cap="none">
                <a:solidFill>
                  <a:srgbClr val="0C0C0C"/>
                </a:solidFill>
                <a:latin typeface="Arial"/>
                <a:ea typeface="Arial"/>
                <a:cs typeface="Arial"/>
                <a:sym typeface="Arial"/>
              </a:rPr>
              <a:t>Conclusion Summary: Watchlist across the board — PDN and UUUU closest to clearing</a:t>
            </a:r>
            <a:endParaRPr sz="1400" b="0" i="0" u="none" strike="noStrike" cap="none">
              <a:solidFill>
                <a:srgbClr val="000000"/>
              </a:solidFill>
              <a:latin typeface="Arial"/>
              <a:ea typeface="Arial"/>
              <a:cs typeface="Arial"/>
              <a:sym typeface="Arial"/>
            </a:endParaRPr>
          </a:p>
        </p:txBody>
      </p:sp>
      <p:cxnSp>
        <p:nvCxnSpPr>
          <p:cNvPr id="904" name="Google Shape;904;p11"/>
          <p:cNvCxnSpPr/>
          <p:nvPr/>
        </p:nvCxnSpPr>
        <p:spPr>
          <a:xfrm>
            <a:off x="548640" y="5989320"/>
            <a:ext cx="8046720" cy="0"/>
          </a:xfrm>
          <a:prstGeom prst="straightConnector1">
            <a:avLst/>
          </a:prstGeom>
          <a:noFill/>
          <a:ln w="9525" cap="flat" cmpd="sng">
            <a:solidFill>
              <a:srgbClr val="D9DCD8"/>
            </a:solidFill>
            <a:prstDash val="solid"/>
            <a:round/>
            <a:headEnd type="none" w="sm" len="sm"/>
            <a:tailEnd type="none" w="sm" len="sm"/>
          </a:ln>
          <a:effectLst>
            <a:outerShdw blurRad="40000" dist="20000" dir="5400000" rotWithShape="0">
              <a:srgbClr val="000000">
                <a:alpha val="38039"/>
              </a:srgbClr>
            </a:outerShdw>
          </a:effectLst>
        </p:spPr>
      </p:cxnSp>
      <p:pic>
        <p:nvPicPr>
          <p:cNvPr id="905" name="Google Shape;905;p11" descr="fordham_logo.png"/>
          <p:cNvPicPr preferRelativeResize="0"/>
          <p:nvPr/>
        </p:nvPicPr>
        <p:blipFill rotWithShape="1">
          <a:blip r:embed="rId3">
            <a:alphaModFix/>
          </a:blip>
          <a:srcRect/>
          <a:stretch/>
        </p:blipFill>
        <p:spPr>
          <a:xfrm>
            <a:off x="146304" y="6236208"/>
            <a:ext cx="347472" cy="429768"/>
          </a:xfrm>
          <a:prstGeom prst="rect">
            <a:avLst/>
          </a:prstGeom>
          <a:noFill/>
          <a:ln>
            <a:noFill/>
          </a:ln>
        </p:spPr>
      </p:pic>
      <p:sp>
        <p:nvSpPr>
          <p:cNvPr id="906" name="Google Shape;906;p11"/>
          <p:cNvSpPr/>
          <p:nvPr/>
        </p:nvSpPr>
        <p:spPr>
          <a:xfrm>
            <a:off x="548640" y="1737360"/>
            <a:ext cx="2523744" cy="3182112"/>
          </a:xfrm>
          <a:prstGeom prst="roundRect">
            <a:avLst>
              <a:gd name="adj" fmla="val 12000"/>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07" name="Google Shape;907;p11"/>
          <p:cNvSpPr/>
          <p:nvPr/>
        </p:nvSpPr>
        <p:spPr>
          <a:xfrm>
            <a:off x="548640" y="1737360"/>
            <a:ext cx="2523744" cy="50292"/>
          </a:xfrm>
          <a:prstGeom prst="rect">
            <a:avLst/>
          </a:prstGeom>
          <a:solidFill>
            <a:srgbClr val="45644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08" name="Google Shape;908;p11"/>
          <p:cNvSpPr/>
          <p:nvPr/>
        </p:nvSpPr>
        <p:spPr>
          <a:xfrm>
            <a:off x="3310128" y="1737360"/>
            <a:ext cx="2523744" cy="3182112"/>
          </a:xfrm>
          <a:prstGeom prst="roundRect">
            <a:avLst>
              <a:gd name="adj" fmla="val 12000"/>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09" name="Google Shape;909;p11"/>
          <p:cNvSpPr/>
          <p:nvPr/>
        </p:nvSpPr>
        <p:spPr>
          <a:xfrm>
            <a:off x="3310128" y="1737360"/>
            <a:ext cx="2523744" cy="50292"/>
          </a:xfrm>
          <a:prstGeom prst="rect">
            <a:avLst/>
          </a:prstGeom>
          <a:solidFill>
            <a:srgbClr val="8900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0" name="Google Shape;910;p11"/>
          <p:cNvSpPr/>
          <p:nvPr/>
        </p:nvSpPr>
        <p:spPr>
          <a:xfrm>
            <a:off x="6071616" y="1737360"/>
            <a:ext cx="2523744" cy="3182112"/>
          </a:xfrm>
          <a:prstGeom prst="roundRect">
            <a:avLst>
              <a:gd name="adj" fmla="val 12000"/>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1" name="Google Shape;911;p11"/>
          <p:cNvSpPr/>
          <p:nvPr/>
        </p:nvSpPr>
        <p:spPr>
          <a:xfrm>
            <a:off x="6071616" y="1737360"/>
            <a:ext cx="2523744" cy="50292"/>
          </a:xfrm>
          <a:prstGeom prst="rect">
            <a:avLst/>
          </a:prstGeom>
          <a:solidFill>
            <a:srgbClr val="7363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12" name="Google Shape;912;p11"/>
          <p:cNvSpPr txBox="1"/>
          <p:nvPr/>
        </p:nvSpPr>
        <p:spPr>
          <a:xfrm>
            <a:off x="713232" y="1938528"/>
            <a:ext cx="2194500" cy="1617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50"/>
              <a:buFont typeface="Arial"/>
              <a:buNone/>
            </a:pPr>
            <a:r>
              <a:rPr lang="en-US" sz="1050" b="1" i="0" u="none" strike="noStrike" cap="none">
                <a:solidFill>
                  <a:srgbClr val="45644E"/>
                </a:solidFill>
                <a:latin typeface="Arial"/>
                <a:ea typeface="Arial"/>
                <a:cs typeface="Arial"/>
                <a:sym typeface="Arial"/>
              </a:rPr>
              <a:t>LONG WAITING TIGGER</a:t>
            </a:r>
            <a:endParaRPr sz="1400" b="0" i="0" u="none" strike="noStrike" cap="none">
              <a:solidFill>
                <a:srgbClr val="000000"/>
              </a:solidFill>
              <a:latin typeface="Arial"/>
              <a:ea typeface="Arial"/>
              <a:cs typeface="Arial"/>
              <a:sym typeface="Arial"/>
            </a:endParaRPr>
          </a:p>
        </p:txBody>
      </p:sp>
      <p:sp>
        <p:nvSpPr>
          <p:cNvPr id="913" name="Google Shape;913;p11"/>
          <p:cNvSpPr txBox="1"/>
          <p:nvPr/>
        </p:nvSpPr>
        <p:spPr>
          <a:xfrm>
            <a:off x="713232" y="2249424"/>
            <a:ext cx="2194560" cy="48463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3200"/>
              <a:buFont typeface="Arial"/>
              <a:buNone/>
            </a:pPr>
            <a:r>
              <a:rPr lang="en-US" sz="3200" b="1" i="0" u="none" strike="noStrike" cap="none">
                <a:solidFill>
                  <a:srgbClr val="22282D"/>
                </a:solidFill>
                <a:latin typeface="Arial"/>
                <a:ea typeface="Arial"/>
                <a:cs typeface="Arial"/>
                <a:sym typeface="Arial"/>
              </a:rPr>
              <a:t>PDN</a:t>
            </a:r>
            <a:endParaRPr sz="1400" b="0" i="0" u="none" strike="noStrike" cap="none">
              <a:solidFill>
                <a:srgbClr val="000000"/>
              </a:solidFill>
              <a:latin typeface="Arial"/>
              <a:ea typeface="Arial"/>
              <a:cs typeface="Arial"/>
              <a:sym typeface="Arial"/>
            </a:endParaRPr>
          </a:p>
        </p:txBody>
      </p:sp>
      <p:sp>
        <p:nvSpPr>
          <p:cNvPr id="914" name="Google Shape;914;p11"/>
          <p:cNvSpPr txBox="1"/>
          <p:nvPr/>
        </p:nvSpPr>
        <p:spPr>
          <a:xfrm>
            <a:off x="713232" y="2807208"/>
            <a:ext cx="2194560"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20"/>
              <a:buFont typeface="Arial"/>
              <a:buNone/>
            </a:pPr>
            <a:r>
              <a:rPr lang="en-US" sz="1320" b="1" i="0" u="none" strike="noStrike" cap="none">
                <a:solidFill>
                  <a:srgbClr val="45644E"/>
                </a:solidFill>
                <a:latin typeface="Arial"/>
                <a:ea typeface="Arial"/>
                <a:cs typeface="Arial"/>
                <a:sym typeface="Arial"/>
              </a:rPr>
              <a:t>3.90 / 5</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320"/>
              <a:buFont typeface="Arial"/>
              <a:buNone/>
            </a:pPr>
            <a:r>
              <a:rPr lang="en-US" sz="1320" b="1" i="0" u="none" strike="noStrike" cap="none">
                <a:solidFill>
                  <a:srgbClr val="45644E"/>
                </a:solidFill>
                <a:latin typeface="Arial"/>
                <a:ea typeface="Arial"/>
                <a:cs typeface="Arial"/>
                <a:sym typeface="Arial"/>
              </a:rPr>
              <a:t>Leads the uranium cohort</a:t>
            </a:r>
            <a:endParaRPr sz="1400" b="0" i="0" u="none" strike="noStrike" cap="none">
              <a:solidFill>
                <a:srgbClr val="000000"/>
              </a:solidFill>
              <a:latin typeface="Arial"/>
              <a:ea typeface="Arial"/>
              <a:cs typeface="Arial"/>
              <a:sym typeface="Arial"/>
            </a:endParaRPr>
          </a:p>
        </p:txBody>
      </p:sp>
      <p:sp>
        <p:nvSpPr>
          <p:cNvPr id="915" name="Google Shape;915;p11"/>
          <p:cNvSpPr txBox="1"/>
          <p:nvPr/>
        </p:nvSpPr>
        <p:spPr>
          <a:xfrm>
            <a:off x="713232" y="3429000"/>
            <a:ext cx="2194560"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500"/>
              <a:buFont typeface="Arial"/>
              <a:buNone/>
            </a:pPr>
            <a:r>
              <a:rPr lang="en-US" sz="1500" b="0" i="0" u="none" strike="noStrike" cap="none">
                <a:solidFill>
                  <a:srgbClr val="22282D"/>
                </a:solidFill>
                <a:latin typeface="Arial"/>
                <a:ea typeface="Arial"/>
                <a:cs typeface="Arial"/>
                <a:sym typeface="Arial"/>
              </a:rPr>
              <a:t>Operating delivery and</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500"/>
              <a:buFont typeface="Arial"/>
              <a:buNone/>
            </a:pPr>
            <a:r>
              <a:rPr lang="en-US" sz="1500" b="0" i="0" u="none" strike="noStrike" cap="none">
                <a:solidFill>
                  <a:srgbClr val="22282D"/>
                </a:solidFill>
                <a:latin typeface="Arial"/>
                <a:ea typeface="Arial"/>
                <a:cs typeface="Arial"/>
                <a:sym typeface="Arial"/>
              </a:rPr>
              <a:t>uranium-price exposure.</a:t>
            </a:r>
            <a:endParaRPr sz="1400" b="0" i="0" u="none" strike="noStrike" cap="none">
              <a:solidFill>
                <a:srgbClr val="000000"/>
              </a:solidFill>
              <a:latin typeface="Arial"/>
              <a:ea typeface="Arial"/>
              <a:cs typeface="Arial"/>
              <a:sym typeface="Arial"/>
            </a:endParaRPr>
          </a:p>
        </p:txBody>
      </p:sp>
      <p:sp>
        <p:nvSpPr>
          <p:cNvPr id="916" name="Google Shape;916;p11"/>
          <p:cNvSpPr txBox="1"/>
          <p:nvPr/>
        </p:nvSpPr>
        <p:spPr>
          <a:xfrm>
            <a:off x="713232" y="4050791"/>
            <a:ext cx="2194560" cy="42062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420"/>
              <a:buFont typeface="Arial"/>
              <a:buNone/>
            </a:pPr>
            <a:r>
              <a:rPr lang="en-US" sz="1420" b="1" i="0" u="none" strike="noStrike" cap="none">
                <a:solidFill>
                  <a:srgbClr val="22282D"/>
                </a:solidFill>
                <a:latin typeface="Arial"/>
                <a:ea typeface="Arial"/>
                <a:cs typeface="Arial"/>
                <a:sym typeface="Arial"/>
              </a:rPr>
              <a:t>Entry ≤ A$8.59, or</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420"/>
              <a:buFont typeface="Arial"/>
              <a:buNone/>
            </a:pPr>
            <a:r>
              <a:rPr lang="en-US" sz="1420" b="1" i="0" u="none" strike="noStrike" cap="none">
                <a:solidFill>
                  <a:srgbClr val="22282D"/>
                </a:solidFill>
                <a:latin typeface="Arial"/>
                <a:ea typeface="Arial"/>
                <a:cs typeface="Arial"/>
                <a:sym typeface="Arial"/>
              </a:rPr>
              <a:t>≥20% revised upside.</a:t>
            </a:r>
            <a:endParaRPr sz="1400" b="0" i="0" u="none" strike="noStrike" cap="none">
              <a:solidFill>
                <a:srgbClr val="000000"/>
              </a:solidFill>
              <a:latin typeface="Arial"/>
              <a:ea typeface="Arial"/>
              <a:cs typeface="Arial"/>
              <a:sym typeface="Arial"/>
            </a:endParaRPr>
          </a:p>
        </p:txBody>
      </p:sp>
      <p:sp>
        <p:nvSpPr>
          <p:cNvPr id="917" name="Google Shape;917;p11"/>
          <p:cNvSpPr txBox="1"/>
          <p:nvPr/>
        </p:nvSpPr>
        <p:spPr>
          <a:xfrm>
            <a:off x="713232" y="4590288"/>
            <a:ext cx="219456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60"/>
              <a:buFont typeface="Arial"/>
              <a:buNone/>
            </a:pPr>
            <a:r>
              <a:rPr lang="en-US" sz="1060" b="0" i="0" u="none" strike="noStrike" cap="none">
                <a:solidFill>
                  <a:srgbClr val="666A6C"/>
                </a:solidFill>
                <a:latin typeface="Arial"/>
                <a:ea typeface="Arial"/>
                <a:cs typeface="Arial"/>
                <a:sym typeface="Arial"/>
              </a:rPr>
              <a:t>Cap 1.60% NAV | 24–36 mo.</a:t>
            </a:r>
            <a:endParaRPr sz="1400" b="0" i="0" u="none" strike="noStrike" cap="none">
              <a:solidFill>
                <a:srgbClr val="000000"/>
              </a:solidFill>
              <a:latin typeface="Arial"/>
              <a:ea typeface="Arial"/>
              <a:cs typeface="Arial"/>
              <a:sym typeface="Arial"/>
            </a:endParaRPr>
          </a:p>
        </p:txBody>
      </p:sp>
      <p:sp>
        <p:nvSpPr>
          <p:cNvPr id="918" name="Google Shape;918;p11"/>
          <p:cNvSpPr txBox="1"/>
          <p:nvPr/>
        </p:nvSpPr>
        <p:spPr>
          <a:xfrm>
            <a:off x="3474720" y="1938528"/>
            <a:ext cx="219456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50"/>
              <a:buFont typeface="Arial"/>
              <a:buNone/>
            </a:pPr>
            <a:r>
              <a:rPr lang="en-US" sz="1050" b="1" i="0" u="none" strike="noStrike" cap="none">
                <a:solidFill>
                  <a:srgbClr val="89002A"/>
                </a:solidFill>
                <a:latin typeface="Arial"/>
                <a:ea typeface="Arial"/>
                <a:cs typeface="Arial"/>
                <a:sym typeface="Arial"/>
              </a:rPr>
              <a:t>CONDITIONAL SHORT</a:t>
            </a:r>
            <a:endParaRPr sz="1400" b="0" i="0" u="none" strike="noStrike" cap="none">
              <a:solidFill>
                <a:srgbClr val="000000"/>
              </a:solidFill>
              <a:latin typeface="Arial"/>
              <a:ea typeface="Arial"/>
              <a:cs typeface="Arial"/>
              <a:sym typeface="Arial"/>
            </a:endParaRPr>
          </a:p>
        </p:txBody>
      </p:sp>
      <p:sp>
        <p:nvSpPr>
          <p:cNvPr id="919" name="Google Shape;919;p11"/>
          <p:cNvSpPr txBox="1"/>
          <p:nvPr/>
        </p:nvSpPr>
        <p:spPr>
          <a:xfrm>
            <a:off x="3474720" y="2249424"/>
            <a:ext cx="2194560" cy="48463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3200"/>
              <a:buFont typeface="Arial"/>
              <a:buNone/>
            </a:pPr>
            <a:r>
              <a:rPr lang="en-US" sz="3200" b="1" i="0" u="none" strike="noStrike" cap="none">
                <a:solidFill>
                  <a:srgbClr val="22282D"/>
                </a:solidFill>
                <a:latin typeface="Arial"/>
                <a:ea typeface="Arial"/>
                <a:cs typeface="Arial"/>
                <a:sym typeface="Arial"/>
              </a:rPr>
              <a:t>UUUU</a:t>
            </a:r>
            <a:endParaRPr sz="1400" b="0" i="0" u="none" strike="noStrike" cap="none">
              <a:solidFill>
                <a:srgbClr val="000000"/>
              </a:solidFill>
              <a:latin typeface="Arial"/>
              <a:ea typeface="Arial"/>
              <a:cs typeface="Arial"/>
              <a:sym typeface="Arial"/>
            </a:endParaRPr>
          </a:p>
        </p:txBody>
      </p:sp>
      <p:sp>
        <p:nvSpPr>
          <p:cNvPr id="920" name="Google Shape;920;p11"/>
          <p:cNvSpPr txBox="1"/>
          <p:nvPr/>
        </p:nvSpPr>
        <p:spPr>
          <a:xfrm>
            <a:off x="3474720" y="2807208"/>
            <a:ext cx="2194560"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20"/>
              <a:buFont typeface="Arial"/>
              <a:buNone/>
            </a:pPr>
            <a:r>
              <a:rPr lang="en-US" sz="1320" b="1" i="0" u="none" strike="noStrike" cap="none">
                <a:solidFill>
                  <a:srgbClr val="89002A"/>
                </a:solidFill>
                <a:latin typeface="Arial"/>
                <a:ea typeface="Arial"/>
                <a:cs typeface="Arial"/>
                <a:sym typeface="Arial"/>
              </a:rPr>
              <a:t>2.50 / 5</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320"/>
              <a:buFont typeface="Arial"/>
              <a:buNone/>
            </a:pPr>
            <a:r>
              <a:rPr lang="en-US" sz="1320" b="1" i="0" u="none" strike="noStrike" cap="none">
                <a:solidFill>
                  <a:srgbClr val="89002A"/>
                </a:solidFill>
                <a:latin typeface="Arial"/>
                <a:ea typeface="Arial"/>
                <a:cs typeface="Arial"/>
                <a:sym typeface="Arial"/>
              </a:rPr>
              <a:t>Event-driven candidate</a:t>
            </a:r>
            <a:endParaRPr sz="1400" b="0" i="0" u="none" strike="noStrike" cap="none">
              <a:solidFill>
                <a:srgbClr val="000000"/>
              </a:solidFill>
              <a:latin typeface="Arial"/>
              <a:ea typeface="Arial"/>
              <a:cs typeface="Arial"/>
              <a:sym typeface="Arial"/>
            </a:endParaRPr>
          </a:p>
        </p:txBody>
      </p:sp>
      <p:sp>
        <p:nvSpPr>
          <p:cNvPr id="921" name="Google Shape;921;p11"/>
          <p:cNvSpPr txBox="1"/>
          <p:nvPr/>
        </p:nvSpPr>
        <p:spPr>
          <a:xfrm>
            <a:off x="3474720" y="3429000"/>
            <a:ext cx="2194560"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420"/>
              <a:buFont typeface="Arial"/>
              <a:buNone/>
            </a:pPr>
            <a:r>
              <a:rPr lang="en-US" sz="1420" b="0" i="0" u="none" strike="noStrike" cap="none">
                <a:solidFill>
                  <a:srgbClr val="22282D"/>
                </a:solidFill>
                <a:latin typeface="Arial"/>
                <a:ea typeface="Arial"/>
                <a:cs typeface="Arial"/>
                <a:sym typeface="Arial"/>
              </a:rPr>
              <a:t>VAC funding and deal risk;</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420"/>
              <a:buFont typeface="Arial"/>
              <a:buNone/>
            </a:pPr>
            <a:r>
              <a:rPr lang="en-US" sz="1420" b="0" i="0" u="none" strike="noStrike" cap="none">
                <a:solidFill>
                  <a:srgbClr val="22282D"/>
                </a:solidFill>
                <a:latin typeface="Arial"/>
                <a:ea typeface="Arial"/>
                <a:cs typeface="Arial"/>
                <a:sym typeface="Arial"/>
              </a:rPr>
              <a:t>not a bearish uranium view.</a:t>
            </a:r>
            <a:endParaRPr sz="1400" b="0" i="0" u="none" strike="noStrike" cap="none">
              <a:solidFill>
                <a:srgbClr val="000000"/>
              </a:solidFill>
              <a:latin typeface="Arial"/>
              <a:ea typeface="Arial"/>
              <a:cs typeface="Arial"/>
              <a:sym typeface="Arial"/>
            </a:endParaRPr>
          </a:p>
        </p:txBody>
      </p:sp>
      <p:sp>
        <p:nvSpPr>
          <p:cNvPr id="922" name="Google Shape;922;p11"/>
          <p:cNvSpPr txBox="1"/>
          <p:nvPr/>
        </p:nvSpPr>
        <p:spPr>
          <a:xfrm>
            <a:off x="3474720" y="4050791"/>
            <a:ext cx="2194560" cy="42062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420"/>
              <a:buFont typeface="Arial"/>
              <a:buNone/>
            </a:pPr>
            <a:r>
              <a:rPr lang="en-US" sz="1420" b="1" i="0" u="none" strike="noStrike" cap="none">
                <a:solidFill>
                  <a:srgbClr val="22282D"/>
                </a:solidFill>
                <a:latin typeface="Arial"/>
                <a:ea typeface="Arial"/>
                <a:cs typeface="Arial"/>
                <a:sym typeface="Arial"/>
              </a:rPr>
              <a:t>Prove mispricing; pass</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420"/>
              <a:buFont typeface="Arial"/>
              <a:buNone/>
            </a:pPr>
            <a:r>
              <a:rPr lang="en-US" sz="1420" b="1" i="0" u="none" strike="noStrike" cap="none">
                <a:solidFill>
                  <a:srgbClr val="22282D"/>
                </a:solidFill>
                <a:latin typeface="Arial"/>
                <a:ea typeface="Arial"/>
                <a:cs typeface="Arial"/>
                <a:sym typeface="Arial"/>
              </a:rPr>
              <a:t>borrow / squeeze gates.</a:t>
            </a:r>
            <a:endParaRPr sz="1400" b="0" i="0" u="none" strike="noStrike" cap="none">
              <a:solidFill>
                <a:srgbClr val="000000"/>
              </a:solidFill>
              <a:latin typeface="Arial"/>
              <a:ea typeface="Arial"/>
              <a:cs typeface="Arial"/>
              <a:sym typeface="Arial"/>
            </a:endParaRPr>
          </a:p>
        </p:txBody>
      </p:sp>
      <p:sp>
        <p:nvSpPr>
          <p:cNvPr id="923" name="Google Shape;923;p11"/>
          <p:cNvSpPr txBox="1"/>
          <p:nvPr/>
        </p:nvSpPr>
        <p:spPr>
          <a:xfrm>
            <a:off x="3474720" y="4590288"/>
            <a:ext cx="219456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60"/>
              <a:buFont typeface="Arial"/>
              <a:buNone/>
            </a:pPr>
            <a:r>
              <a:rPr lang="en-US" sz="1060" b="0" i="0" u="none" strike="noStrike" cap="none">
                <a:solidFill>
                  <a:srgbClr val="666A6C"/>
                </a:solidFill>
                <a:latin typeface="Arial"/>
                <a:ea typeface="Arial"/>
                <a:cs typeface="Arial"/>
                <a:sym typeface="Arial"/>
              </a:rPr>
              <a:t>Cap ~1.00% NAV | 3–6 mo.</a:t>
            </a:r>
            <a:endParaRPr sz="1400" b="0" i="0" u="none" strike="noStrike" cap="none">
              <a:solidFill>
                <a:srgbClr val="000000"/>
              </a:solidFill>
              <a:latin typeface="Arial"/>
              <a:ea typeface="Arial"/>
              <a:cs typeface="Arial"/>
              <a:sym typeface="Arial"/>
            </a:endParaRPr>
          </a:p>
        </p:txBody>
      </p:sp>
      <p:sp>
        <p:nvSpPr>
          <p:cNvPr id="924" name="Google Shape;924;p11"/>
          <p:cNvSpPr txBox="1"/>
          <p:nvPr/>
        </p:nvSpPr>
        <p:spPr>
          <a:xfrm>
            <a:off x="6236207" y="1938528"/>
            <a:ext cx="219456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50"/>
              <a:buFont typeface="Arial"/>
              <a:buNone/>
            </a:pPr>
            <a:r>
              <a:rPr lang="en-US" sz="1050" b="1" i="0" u="none" strike="noStrike" cap="none">
                <a:solidFill>
                  <a:srgbClr val="736324"/>
                </a:solidFill>
                <a:latin typeface="Arial"/>
                <a:ea typeface="Arial"/>
                <a:cs typeface="Arial"/>
                <a:sym typeface="Arial"/>
              </a:rPr>
              <a:t>ALL OTHER NAMES</a:t>
            </a:r>
            <a:endParaRPr sz="1400" b="0" i="0" u="none" strike="noStrike" cap="none">
              <a:solidFill>
                <a:srgbClr val="000000"/>
              </a:solidFill>
              <a:latin typeface="Arial"/>
              <a:ea typeface="Arial"/>
              <a:cs typeface="Arial"/>
              <a:sym typeface="Arial"/>
            </a:endParaRPr>
          </a:p>
        </p:txBody>
      </p:sp>
      <p:sp>
        <p:nvSpPr>
          <p:cNvPr id="925" name="Google Shape;925;p11"/>
          <p:cNvSpPr txBox="1"/>
          <p:nvPr/>
        </p:nvSpPr>
        <p:spPr>
          <a:xfrm>
            <a:off x="6236207" y="2267712"/>
            <a:ext cx="2194560" cy="4389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400"/>
              <a:buFont typeface="Arial"/>
              <a:buNone/>
            </a:pPr>
            <a:r>
              <a:rPr lang="en-US" sz="2400" b="1" i="0" u="none" strike="noStrike" cap="none">
                <a:solidFill>
                  <a:srgbClr val="22282D"/>
                </a:solidFill>
                <a:latin typeface="Arial"/>
                <a:ea typeface="Arial"/>
                <a:cs typeface="Arial"/>
                <a:sym typeface="Arial"/>
              </a:rPr>
              <a:t>WATCHLIST</a:t>
            </a:r>
            <a:endParaRPr sz="1400" b="0" i="0" u="none" strike="noStrike" cap="none">
              <a:solidFill>
                <a:srgbClr val="000000"/>
              </a:solidFill>
              <a:latin typeface="Arial"/>
              <a:ea typeface="Arial"/>
              <a:cs typeface="Arial"/>
              <a:sym typeface="Arial"/>
            </a:endParaRPr>
          </a:p>
        </p:txBody>
      </p:sp>
      <p:sp>
        <p:nvSpPr>
          <p:cNvPr id="926" name="Google Shape;926;p11"/>
          <p:cNvSpPr txBox="1"/>
          <p:nvPr/>
        </p:nvSpPr>
        <p:spPr>
          <a:xfrm>
            <a:off x="6236207" y="2807208"/>
            <a:ext cx="2194560"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80"/>
              <a:buFont typeface="Arial"/>
              <a:buNone/>
            </a:pPr>
            <a:r>
              <a:rPr lang="en-US" sz="1280" b="1" i="0" u="none" strike="noStrike" cap="none">
                <a:solidFill>
                  <a:srgbClr val="736324"/>
                </a:solidFill>
                <a:latin typeface="Arial"/>
                <a:ea typeface="Arial"/>
                <a:cs typeface="Arial"/>
                <a:sym typeface="Arial"/>
              </a:rPr>
              <a:t>BWXT leads alternatives</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80"/>
              <a:buFont typeface="Arial"/>
              <a:buNone/>
            </a:pPr>
            <a:r>
              <a:rPr lang="en-US" sz="1280" b="1" i="0" u="none" strike="noStrike" cap="none">
                <a:solidFill>
                  <a:srgbClr val="736324"/>
                </a:solidFill>
                <a:latin typeface="Arial"/>
                <a:ea typeface="Arial"/>
                <a:cs typeface="Arial"/>
                <a:sym typeface="Arial"/>
              </a:rPr>
              <a:t>DNN · KAP · CCJ · others</a:t>
            </a:r>
            <a:endParaRPr sz="1400" b="0" i="0" u="none" strike="noStrike" cap="none">
              <a:solidFill>
                <a:srgbClr val="000000"/>
              </a:solidFill>
              <a:latin typeface="Arial"/>
              <a:ea typeface="Arial"/>
              <a:cs typeface="Arial"/>
              <a:sym typeface="Arial"/>
            </a:endParaRPr>
          </a:p>
        </p:txBody>
      </p:sp>
      <p:sp>
        <p:nvSpPr>
          <p:cNvPr id="927" name="Google Shape;927;p11"/>
          <p:cNvSpPr txBox="1"/>
          <p:nvPr/>
        </p:nvSpPr>
        <p:spPr>
          <a:xfrm>
            <a:off x="6236207" y="3429000"/>
            <a:ext cx="2194560"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500"/>
              <a:buFont typeface="Arial"/>
              <a:buNone/>
            </a:pPr>
            <a:r>
              <a:rPr lang="en-US" sz="1500" b="0" i="0" u="none" strike="noStrike" cap="none">
                <a:solidFill>
                  <a:srgbClr val="22282D"/>
                </a:solidFill>
                <a:latin typeface="Arial"/>
                <a:ea typeface="Arial"/>
                <a:cs typeface="Arial"/>
                <a:sym typeface="Arial"/>
              </a:rPr>
              <a:t>Revisit valuation, funding,</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500"/>
              <a:buFont typeface="Arial"/>
              <a:buNone/>
            </a:pPr>
            <a:r>
              <a:rPr lang="en-US" sz="1500" b="0" i="0" u="none" strike="noStrike" cap="none">
                <a:solidFill>
                  <a:srgbClr val="22282D"/>
                </a:solidFill>
                <a:latin typeface="Arial"/>
                <a:ea typeface="Arial"/>
                <a:cs typeface="Arial"/>
                <a:sym typeface="Arial"/>
              </a:rPr>
              <a:t>timing and eligibility.</a:t>
            </a:r>
            <a:endParaRPr sz="1400" b="0" i="0" u="none" strike="noStrike" cap="none">
              <a:solidFill>
                <a:srgbClr val="000000"/>
              </a:solidFill>
              <a:latin typeface="Arial"/>
              <a:ea typeface="Arial"/>
              <a:cs typeface="Arial"/>
              <a:sym typeface="Arial"/>
            </a:endParaRPr>
          </a:p>
        </p:txBody>
      </p:sp>
      <p:sp>
        <p:nvSpPr>
          <p:cNvPr id="928" name="Google Shape;928;p11"/>
          <p:cNvSpPr txBox="1"/>
          <p:nvPr/>
        </p:nvSpPr>
        <p:spPr>
          <a:xfrm>
            <a:off x="6236207" y="4050791"/>
            <a:ext cx="2194560" cy="42062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420"/>
              <a:buFont typeface="Arial"/>
              <a:buNone/>
            </a:pPr>
            <a:r>
              <a:rPr lang="en-US" sz="1420" b="1" i="0" u="none" strike="noStrike" cap="none">
                <a:solidFill>
                  <a:srgbClr val="22282D"/>
                </a:solidFill>
                <a:latin typeface="Arial"/>
                <a:ea typeface="Arial"/>
                <a:cs typeface="Arial"/>
                <a:sym typeface="Arial"/>
              </a:rPr>
              <a:t>No additional funded</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420"/>
              <a:buFont typeface="Arial"/>
              <a:buNone/>
            </a:pPr>
            <a:r>
              <a:rPr lang="en-US" sz="1420" b="1" i="0" u="none" strike="noStrike" cap="none">
                <a:solidFill>
                  <a:srgbClr val="22282D"/>
                </a:solidFill>
                <a:latin typeface="Arial"/>
                <a:ea typeface="Arial"/>
                <a:cs typeface="Arial"/>
                <a:sym typeface="Arial"/>
              </a:rPr>
              <a:t>positions at this stage.</a:t>
            </a:r>
            <a:endParaRPr sz="1400" b="0" i="0" u="none" strike="noStrike" cap="none">
              <a:solidFill>
                <a:srgbClr val="000000"/>
              </a:solidFill>
              <a:latin typeface="Arial"/>
              <a:ea typeface="Arial"/>
              <a:cs typeface="Arial"/>
              <a:sym typeface="Arial"/>
            </a:endParaRPr>
          </a:p>
        </p:txBody>
      </p:sp>
      <p:sp>
        <p:nvSpPr>
          <p:cNvPr id="929" name="Google Shape;929;p11"/>
          <p:cNvSpPr txBox="1"/>
          <p:nvPr/>
        </p:nvSpPr>
        <p:spPr>
          <a:xfrm>
            <a:off x="6236207" y="4590288"/>
            <a:ext cx="219456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18"/>
              <a:buFont typeface="Arial"/>
              <a:buNone/>
            </a:pPr>
            <a:r>
              <a:rPr lang="en-US" sz="1019" b="0" i="0" u="none" strike="noStrike" cap="none">
                <a:solidFill>
                  <a:srgbClr val="666A6C"/>
                </a:solidFill>
                <a:latin typeface="Arial"/>
                <a:ea typeface="Arial"/>
                <a:cs typeface="Arial"/>
                <a:sym typeface="Arial"/>
              </a:rPr>
              <a:t>Watchlist ≠ investment approval</a:t>
            </a:r>
            <a:endParaRPr sz="1400" b="0" i="0" u="none" strike="noStrike" cap="none">
              <a:solidFill>
                <a:srgbClr val="000000"/>
              </a:solidFill>
              <a:latin typeface="Arial"/>
              <a:ea typeface="Arial"/>
              <a:cs typeface="Arial"/>
              <a:sym typeface="Arial"/>
            </a:endParaRPr>
          </a:p>
        </p:txBody>
      </p:sp>
      <p:sp>
        <p:nvSpPr>
          <p:cNvPr id="930" name="Google Shape;930;p11"/>
          <p:cNvSpPr/>
          <p:nvPr/>
        </p:nvSpPr>
        <p:spPr>
          <a:xfrm>
            <a:off x="548640" y="5193792"/>
            <a:ext cx="8046720" cy="576072"/>
          </a:xfrm>
          <a:prstGeom prst="roundRect">
            <a:avLst>
              <a:gd name="adj" fmla="val 12000"/>
            </a:avLst>
          </a:prstGeom>
          <a:solidFill>
            <a:srgbClr val="8900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31" name="Google Shape;931;p11"/>
          <p:cNvSpPr txBox="1"/>
          <p:nvPr/>
        </p:nvSpPr>
        <p:spPr>
          <a:xfrm>
            <a:off x="749808" y="5321808"/>
            <a:ext cx="7589520" cy="29260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710"/>
              <a:buFont typeface="Arial"/>
              <a:buNone/>
            </a:pPr>
            <a:r>
              <a:rPr lang="en-US" sz="1710" b="1" i="0" u="none" strike="noStrike" cap="none">
                <a:solidFill>
                  <a:srgbClr val="FFFFFF"/>
                </a:solidFill>
                <a:latin typeface="Arial"/>
                <a:ea typeface="Arial"/>
                <a:cs typeface="Arial"/>
                <a:sym typeface="Arial"/>
              </a:rPr>
              <a:t>Select the exposures now. Release capital only when the gates clear.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12"/>
          <p:cNvSpPr txBox="1"/>
          <p:nvPr/>
        </p:nvSpPr>
        <p:spPr>
          <a:xfrm>
            <a:off x="548640" y="512064"/>
            <a:ext cx="8092440" cy="37234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420"/>
              <a:buFont typeface="Arial"/>
              <a:buNone/>
            </a:pPr>
            <a:r>
              <a:rPr lang="en-US" sz="2420" b="1" i="0" u="none" strike="noStrike" cap="none">
                <a:solidFill>
                  <a:srgbClr val="0C0C0C"/>
                </a:solidFill>
                <a:latin typeface="Arial"/>
                <a:ea typeface="Arial"/>
                <a:cs typeface="Arial"/>
                <a:sym typeface="Arial"/>
              </a:rPr>
              <a:t>PDN: own the ramp-up—at the right price</a:t>
            </a:r>
            <a:endParaRPr sz="1400" b="0" i="0" u="none" strike="noStrike" cap="none">
              <a:solidFill>
                <a:srgbClr val="000000"/>
              </a:solidFill>
              <a:latin typeface="Arial"/>
              <a:ea typeface="Arial"/>
              <a:cs typeface="Arial"/>
              <a:sym typeface="Arial"/>
            </a:endParaRPr>
          </a:p>
        </p:txBody>
      </p:sp>
      <p:sp>
        <p:nvSpPr>
          <p:cNvPr id="938" name="Google Shape;938;p12"/>
          <p:cNvSpPr txBox="1"/>
          <p:nvPr/>
        </p:nvSpPr>
        <p:spPr>
          <a:xfrm>
            <a:off x="548640" y="1097280"/>
            <a:ext cx="8001000" cy="44805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400"/>
              <a:buFont typeface="Arial"/>
              <a:buNone/>
            </a:pPr>
            <a:r>
              <a:rPr lang="en-US" sz="1400" b="0" i="0" u="none" strike="noStrike" cap="none">
                <a:solidFill>
                  <a:srgbClr val="666A6C"/>
                </a:solidFill>
                <a:latin typeface="Arial"/>
                <a:ea typeface="Arial"/>
                <a:cs typeface="Arial"/>
                <a:sym typeface="Arial"/>
              </a:rPr>
              <a:t>The long thesis is operating delivery; the margin of safety comes from the entry price.</a:t>
            </a:r>
            <a:endParaRPr sz="1400" b="0" i="0" u="none" strike="noStrike" cap="none">
              <a:solidFill>
                <a:srgbClr val="000000"/>
              </a:solidFill>
              <a:latin typeface="Arial"/>
              <a:ea typeface="Arial"/>
              <a:cs typeface="Arial"/>
              <a:sym typeface="Arial"/>
            </a:endParaRPr>
          </a:p>
        </p:txBody>
      </p:sp>
      <p:cxnSp>
        <p:nvCxnSpPr>
          <p:cNvPr id="939" name="Google Shape;939;p12"/>
          <p:cNvCxnSpPr/>
          <p:nvPr/>
        </p:nvCxnSpPr>
        <p:spPr>
          <a:xfrm>
            <a:off x="548640" y="5989320"/>
            <a:ext cx="8046720" cy="0"/>
          </a:xfrm>
          <a:prstGeom prst="straightConnector1">
            <a:avLst/>
          </a:prstGeom>
          <a:noFill/>
          <a:ln w="9525" cap="flat" cmpd="sng">
            <a:solidFill>
              <a:srgbClr val="D9DCD8"/>
            </a:solidFill>
            <a:prstDash val="solid"/>
            <a:round/>
            <a:headEnd type="none" w="sm" len="sm"/>
            <a:tailEnd type="none" w="sm" len="sm"/>
          </a:ln>
          <a:effectLst>
            <a:outerShdw blurRad="40000" dist="20000" dir="5400000" rotWithShape="0">
              <a:srgbClr val="000000">
                <a:alpha val="38039"/>
              </a:srgbClr>
            </a:outerShdw>
          </a:effectLst>
        </p:spPr>
      </p:cxnSp>
      <p:pic>
        <p:nvPicPr>
          <p:cNvPr id="940" name="Google Shape;940;p12" descr="fordham_logo.png"/>
          <p:cNvPicPr preferRelativeResize="0"/>
          <p:nvPr/>
        </p:nvPicPr>
        <p:blipFill rotWithShape="1">
          <a:blip r:embed="rId3">
            <a:alphaModFix/>
          </a:blip>
          <a:srcRect/>
          <a:stretch/>
        </p:blipFill>
        <p:spPr>
          <a:xfrm>
            <a:off x="146304" y="6236208"/>
            <a:ext cx="347472" cy="429768"/>
          </a:xfrm>
          <a:prstGeom prst="rect">
            <a:avLst/>
          </a:prstGeom>
          <a:noFill/>
          <a:ln>
            <a:noFill/>
          </a:ln>
        </p:spPr>
      </p:pic>
      <p:sp>
        <p:nvSpPr>
          <p:cNvPr id="941" name="Google Shape;941;p12"/>
          <p:cNvSpPr/>
          <p:nvPr/>
        </p:nvSpPr>
        <p:spPr>
          <a:xfrm>
            <a:off x="548640" y="1700784"/>
            <a:ext cx="3904487" cy="886968"/>
          </a:xfrm>
          <a:prstGeom prst="roundRect">
            <a:avLst>
              <a:gd name="adj" fmla="val 12000"/>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42" name="Google Shape;942;p12"/>
          <p:cNvSpPr txBox="1"/>
          <p:nvPr/>
        </p:nvSpPr>
        <p:spPr>
          <a:xfrm>
            <a:off x="722376" y="1847088"/>
            <a:ext cx="356616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00"/>
              <a:buFont typeface="Arial"/>
              <a:buNone/>
            </a:pPr>
            <a:r>
              <a:rPr lang="en-US" sz="1000" b="1" i="0" u="none" strike="noStrike" cap="none">
                <a:solidFill>
                  <a:srgbClr val="736324"/>
                </a:solidFill>
                <a:latin typeface="Arial"/>
                <a:ea typeface="Arial"/>
                <a:cs typeface="Arial"/>
                <a:sym typeface="Arial"/>
              </a:rPr>
              <a:t>LHM PRODUCTION • 100% MINE BASIS</a:t>
            </a:r>
            <a:endParaRPr sz="1400" b="0" i="0" u="none" strike="noStrike" cap="none">
              <a:solidFill>
                <a:srgbClr val="000000"/>
              </a:solidFill>
              <a:latin typeface="Arial"/>
              <a:ea typeface="Arial"/>
              <a:cs typeface="Arial"/>
              <a:sym typeface="Arial"/>
            </a:endParaRPr>
          </a:p>
        </p:txBody>
      </p:sp>
      <p:sp>
        <p:nvSpPr>
          <p:cNvPr id="943" name="Google Shape;943;p12"/>
          <p:cNvSpPr txBox="1"/>
          <p:nvPr/>
        </p:nvSpPr>
        <p:spPr>
          <a:xfrm>
            <a:off x="722376" y="2103120"/>
            <a:ext cx="3566160" cy="33832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300"/>
              <a:buFont typeface="Arial"/>
              <a:buNone/>
            </a:pPr>
            <a:r>
              <a:rPr lang="en-US" sz="2300" b="1" i="0" u="none" strike="noStrike" cap="none">
                <a:solidFill>
                  <a:srgbClr val="22282D"/>
                </a:solidFill>
                <a:latin typeface="Arial"/>
                <a:ea typeface="Arial"/>
                <a:cs typeface="Arial"/>
                <a:sym typeface="Arial"/>
              </a:rPr>
              <a:t>4.82 → 5.1–5.6 Mlb</a:t>
            </a:r>
            <a:endParaRPr sz="1400" b="0" i="0" u="none" strike="noStrike" cap="none">
              <a:solidFill>
                <a:srgbClr val="000000"/>
              </a:solidFill>
              <a:latin typeface="Arial"/>
              <a:ea typeface="Arial"/>
              <a:cs typeface="Arial"/>
              <a:sym typeface="Arial"/>
            </a:endParaRPr>
          </a:p>
        </p:txBody>
      </p:sp>
      <p:sp>
        <p:nvSpPr>
          <p:cNvPr id="944" name="Google Shape;944;p12"/>
          <p:cNvSpPr txBox="1"/>
          <p:nvPr/>
        </p:nvSpPr>
        <p:spPr>
          <a:xfrm>
            <a:off x="4690872" y="1792224"/>
            <a:ext cx="3749039" cy="24688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00"/>
              <a:buFont typeface="Arial"/>
              <a:buNone/>
            </a:pPr>
            <a:r>
              <a:rPr lang="en-US" sz="1300" b="1" i="0" u="none" strike="noStrike" cap="none">
                <a:solidFill>
                  <a:srgbClr val="45644E"/>
                </a:solidFill>
                <a:latin typeface="Arial"/>
                <a:ea typeface="Arial"/>
                <a:cs typeface="Arial"/>
                <a:sym typeface="Arial"/>
              </a:rPr>
              <a:t>FY2026 actual → FY2027 guidance</a:t>
            </a:r>
            <a:endParaRPr sz="1400" b="0" i="0" u="none" strike="noStrike" cap="none">
              <a:solidFill>
                <a:srgbClr val="000000"/>
              </a:solidFill>
              <a:latin typeface="Arial"/>
              <a:ea typeface="Arial"/>
              <a:cs typeface="Arial"/>
              <a:sym typeface="Arial"/>
            </a:endParaRPr>
          </a:p>
        </p:txBody>
      </p:sp>
      <p:sp>
        <p:nvSpPr>
          <p:cNvPr id="945" name="Google Shape;945;p12"/>
          <p:cNvSpPr txBox="1"/>
          <p:nvPr/>
        </p:nvSpPr>
        <p:spPr>
          <a:xfrm>
            <a:off x="4690872" y="2130552"/>
            <a:ext cx="3749039" cy="457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10"/>
              <a:buFont typeface="Arial"/>
              <a:buNone/>
            </a:pPr>
            <a:r>
              <a:rPr lang="en-US" sz="1310" b="0" i="0" u="none" strike="noStrike" cap="none">
                <a:solidFill>
                  <a:srgbClr val="22282D"/>
                </a:solidFill>
                <a:latin typeface="Arial"/>
                <a:ea typeface="Arial"/>
                <a:cs typeface="Arial"/>
                <a:sym typeface="Arial"/>
              </a:rPr>
              <a:t>Require cash conversion. PLS remains</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310"/>
              <a:buFont typeface="Arial"/>
              <a:buNone/>
            </a:pPr>
            <a:r>
              <a:rPr lang="en-US" sz="1310" b="0" i="0" u="none" strike="noStrike" cap="none">
                <a:solidFill>
                  <a:srgbClr val="22282D"/>
                </a:solidFill>
                <a:latin typeface="Arial"/>
                <a:ea typeface="Arial"/>
                <a:cs typeface="Arial"/>
                <a:sym typeface="Arial"/>
              </a:rPr>
              <a:t>longer-dated optionality, not near-term earnings.</a:t>
            </a:r>
            <a:endParaRPr sz="1400" b="0" i="0" u="none" strike="noStrike" cap="none">
              <a:solidFill>
                <a:srgbClr val="000000"/>
              </a:solidFill>
              <a:latin typeface="Arial"/>
              <a:ea typeface="Arial"/>
              <a:cs typeface="Arial"/>
              <a:sym typeface="Arial"/>
            </a:endParaRPr>
          </a:p>
        </p:txBody>
      </p:sp>
      <p:sp>
        <p:nvSpPr>
          <p:cNvPr id="946" name="Google Shape;946;p12"/>
          <p:cNvSpPr/>
          <p:nvPr/>
        </p:nvSpPr>
        <p:spPr>
          <a:xfrm>
            <a:off x="548640" y="2834640"/>
            <a:ext cx="4937760" cy="402336"/>
          </a:xfrm>
          <a:prstGeom prst="rect">
            <a:avLst/>
          </a:prstGeom>
          <a:solidFill>
            <a:srgbClr val="22282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47" name="Google Shape;947;p12"/>
          <p:cNvSpPr txBox="1"/>
          <p:nvPr/>
        </p:nvSpPr>
        <p:spPr>
          <a:xfrm>
            <a:off x="658368" y="2944368"/>
            <a:ext cx="1773936" cy="20116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30"/>
              <a:buFont typeface="Arial"/>
              <a:buNone/>
            </a:pPr>
            <a:r>
              <a:rPr lang="en-US" sz="1030" b="1" i="0" u="none" strike="noStrike" cap="none">
                <a:solidFill>
                  <a:srgbClr val="FFFFFF"/>
                </a:solidFill>
                <a:latin typeface="Arial"/>
                <a:ea typeface="Arial"/>
                <a:cs typeface="Arial"/>
                <a:sym typeface="Arial"/>
              </a:rPr>
              <a:t>12-MONTH CHECKPOINT</a:t>
            </a:r>
            <a:endParaRPr sz="1400" b="0" i="0" u="none" strike="noStrike" cap="none">
              <a:solidFill>
                <a:srgbClr val="000000"/>
              </a:solidFill>
              <a:latin typeface="Arial"/>
              <a:ea typeface="Arial"/>
              <a:cs typeface="Arial"/>
              <a:sym typeface="Arial"/>
            </a:endParaRPr>
          </a:p>
        </p:txBody>
      </p:sp>
      <p:sp>
        <p:nvSpPr>
          <p:cNvPr id="948" name="Google Shape;948;p12"/>
          <p:cNvSpPr txBox="1"/>
          <p:nvPr/>
        </p:nvSpPr>
        <p:spPr>
          <a:xfrm>
            <a:off x="2651760" y="2944368"/>
            <a:ext cx="1252728" cy="20116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30"/>
              <a:buFont typeface="Arial"/>
              <a:buNone/>
            </a:pPr>
            <a:r>
              <a:rPr lang="en-US" sz="1030" b="1" i="0" u="none" strike="noStrike" cap="none">
                <a:solidFill>
                  <a:srgbClr val="FFFFFF"/>
                </a:solidFill>
                <a:latin typeface="Arial"/>
                <a:ea typeface="Arial"/>
                <a:cs typeface="Arial"/>
                <a:sym typeface="Arial"/>
              </a:rPr>
              <a:t>Reference</a:t>
            </a:r>
            <a:endParaRPr sz="1400" b="0" i="0" u="none" strike="noStrike" cap="none">
              <a:solidFill>
                <a:srgbClr val="000000"/>
              </a:solidFill>
              <a:latin typeface="Arial"/>
              <a:ea typeface="Arial"/>
              <a:cs typeface="Arial"/>
              <a:sym typeface="Arial"/>
            </a:endParaRPr>
          </a:p>
        </p:txBody>
      </p:sp>
      <p:sp>
        <p:nvSpPr>
          <p:cNvPr id="949" name="Google Shape;949;p12"/>
          <p:cNvSpPr txBox="1"/>
          <p:nvPr/>
        </p:nvSpPr>
        <p:spPr>
          <a:xfrm>
            <a:off x="4123944" y="2944368"/>
            <a:ext cx="1252728" cy="20116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30"/>
              <a:buFont typeface="Arial"/>
              <a:buNone/>
            </a:pPr>
            <a:r>
              <a:rPr lang="en-US" sz="1030" b="1" i="0" u="none" strike="noStrike" cap="none">
                <a:solidFill>
                  <a:srgbClr val="FFFFFF"/>
                </a:solidFill>
                <a:latin typeface="Arial"/>
                <a:ea typeface="Arial"/>
                <a:cs typeface="Arial"/>
                <a:sym typeface="Arial"/>
              </a:rPr>
              <a:t>Entry trigger</a:t>
            </a:r>
            <a:endParaRPr sz="1400" b="0" i="0" u="none" strike="noStrike" cap="none">
              <a:solidFill>
                <a:srgbClr val="000000"/>
              </a:solidFill>
              <a:latin typeface="Arial"/>
              <a:ea typeface="Arial"/>
              <a:cs typeface="Arial"/>
              <a:sym typeface="Arial"/>
            </a:endParaRPr>
          </a:p>
        </p:txBody>
      </p:sp>
      <p:sp>
        <p:nvSpPr>
          <p:cNvPr id="950" name="Google Shape;950;p12"/>
          <p:cNvSpPr/>
          <p:nvPr/>
        </p:nvSpPr>
        <p:spPr>
          <a:xfrm>
            <a:off x="548640" y="3236976"/>
            <a:ext cx="4937760" cy="356616"/>
          </a:xfrm>
          <a:prstGeom prst="rect">
            <a:avLst/>
          </a:prstGeom>
          <a:solidFill>
            <a:srgbClr val="F7F7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51" name="Google Shape;951;p12"/>
          <p:cNvSpPr txBox="1"/>
          <p:nvPr/>
        </p:nvSpPr>
        <p:spPr>
          <a:xfrm>
            <a:off x="658368" y="3314700"/>
            <a:ext cx="1773936"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0" i="0" u="none" strike="noStrike" cap="none">
                <a:solidFill>
                  <a:srgbClr val="22282D"/>
                </a:solidFill>
                <a:latin typeface="Arial"/>
                <a:ea typeface="Arial"/>
                <a:cs typeface="Arial"/>
                <a:sym typeface="Arial"/>
              </a:rPr>
              <a:t>Price</a:t>
            </a:r>
            <a:endParaRPr sz="1400" b="0" i="0" u="none" strike="noStrike" cap="none">
              <a:solidFill>
                <a:srgbClr val="000000"/>
              </a:solidFill>
              <a:latin typeface="Arial"/>
              <a:ea typeface="Arial"/>
              <a:cs typeface="Arial"/>
              <a:sym typeface="Arial"/>
            </a:endParaRPr>
          </a:p>
        </p:txBody>
      </p:sp>
      <p:sp>
        <p:nvSpPr>
          <p:cNvPr id="952" name="Google Shape;952;p12"/>
          <p:cNvSpPr txBox="1"/>
          <p:nvPr/>
        </p:nvSpPr>
        <p:spPr>
          <a:xfrm>
            <a:off x="2651760" y="3314700"/>
            <a:ext cx="1252728"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22282D"/>
                </a:solidFill>
                <a:latin typeface="Arial"/>
                <a:ea typeface="Arial"/>
                <a:cs typeface="Arial"/>
                <a:sym typeface="Arial"/>
              </a:rPr>
              <a:t>A$9.55</a:t>
            </a:r>
            <a:endParaRPr sz="1400" b="0" i="0" u="none" strike="noStrike" cap="none">
              <a:solidFill>
                <a:srgbClr val="000000"/>
              </a:solidFill>
              <a:latin typeface="Arial"/>
              <a:ea typeface="Arial"/>
              <a:cs typeface="Arial"/>
              <a:sym typeface="Arial"/>
            </a:endParaRPr>
          </a:p>
        </p:txBody>
      </p:sp>
      <p:sp>
        <p:nvSpPr>
          <p:cNvPr id="953" name="Google Shape;953;p12"/>
          <p:cNvSpPr txBox="1"/>
          <p:nvPr/>
        </p:nvSpPr>
        <p:spPr>
          <a:xfrm>
            <a:off x="4123944" y="3314700"/>
            <a:ext cx="1252728"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45644E"/>
                </a:solidFill>
                <a:latin typeface="Arial"/>
                <a:ea typeface="Arial"/>
                <a:cs typeface="Arial"/>
                <a:sym typeface="Arial"/>
              </a:rPr>
              <a:t>A$8.59</a:t>
            </a:r>
            <a:endParaRPr sz="1400" b="0" i="0" u="none" strike="noStrike" cap="none">
              <a:solidFill>
                <a:srgbClr val="000000"/>
              </a:solidFill>
              <a:latin typeface="Arial"/>
              <a:ea typeface="Arial"/>
              <a:cs typeface="Arial"/>
              <a:sym typeface="Arial"/>
            </a:endParaRPr>
          </a:p>
        </p:txBody>
      </p:sp>
      <p:sp>
        <p:nvSpPr>
          <p:cNvPr id="954" name="Google Shape;954;p12"/>
          <p:cNvSpPr/>
          <p:nvPr/>
        </p:nvSpPr>
        <p:spPr>
          <a:xfrm>
            <a:off x="548640" y="3593592"/>
            <a:ext cx="4937760" cy="356616"/>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55" name="Google Shape;955;p12"/>
          <p:cNvSpPr txBox="1"/>
          <p:nvPr/>
        </p:nvSpPr>
        <p:spPr>
          <a:xfrm>
            <a:off x="658368" y="3671316"/>
            <a:ext cx="1773936"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0" i="0" u="none" strike="noStrike" cap="none">
                <a:solidFill>
                  <a:srgbClr val="22282D"/>
                </a:solidFill>
                <a:latin typeface="Arial"/>
                <a:ea typeface="Arial"/>
                <a:cs typeface="Arial"/>
                <a:sym typeface="Arial"/>
              </a:rPr>
              <a:t>Team target</a:t>
            </a:r>
            <a:endParaRPr sz="1400" b="0" i="0" u="none" strike="noStrike" cap="none">
              <a:solidFill>
                <a:srgbClr val="000000"/>
              </a:solidFill>
              <a:latin typeface="Arial"/>
              <a:ea typeface="Arial"/>
              <a:cs typeface="Arial"/>
              <a:sym typeface="Arial"/>
            </a:endParaRPr>
          </a:p>
        </p:txBody>
      </p:sp>
      <p:sp>
        <p:nvSpPr>
          <p:cNvPr id="956" name="Google Shape;956;p12"/>
          <p:cNvSpPr txBox="1"/>
          <p:nvPr/>
        </p:nvSpPr>
        <p:spPr>
          <a:xfrm>
            <a:off x="2651760" y="3671316"/>
            <a:ext cx="1252728"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22282D"/>
                </a:solidFill>
                <a:latin typeface="Arial"/>
                <a:ea typeface="Arial"/>
                <a:cs typeface="Arial"/>
                <a:sym typeface="Arial"/>
              </a:rPr>
              <a:t>A$10.31</a:t>
            </a:r>
            <a:endParaRPr sz="1400" b="0" i="0" u="none" strike="noStrike" cap="none">
              <a:solidFill>
                <a:srgbClr val="000000"/>
              </a:solidFill>
              <a:latin typeface="Arial"/>
              <a:ea typeface="Arial"/>
              <a:cs typeface="Arial"/>
              <a:sym typeface="Arial"/>
            </a:endParaRPr>
          </a:p>
        </p:txBody>
      </p:sp>
      <p:sp>
        <p:nvSpPr>
          <p:cNvPr id="957" name="Google Shape;957;p12"/>
          <p:cNvSpPr txBox="1"/>
          <p:nvPr/>
        </p:nvSpPr>
        <p:spPr>
          <a:xfrm>
            <a:off x="4123944" y="3671316"/>
            <a:ext cx="1252728"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45644E"/>
                </a:solidFill>
                <a:latin typeface="Arial"/>
                <a:ea typeface="Arial"/>
                <a:cs typeface="Arial"/>
                <a:sym typeface="Arial"/>
              </a:rPr>
              <a:t>A$10.31</a:t>
            </a:r>
            <a:endParaRPr sz="1400" b="0" i="0" u="none" strike="noStrike" cap="none">
              <a:solidFill>
                <a:srgbClr val="000000"/>
              </a:solidFill>
              <a:latin typeface="Arial"/>
              <a:ea typeface="Arial"/>
              <a:cs typeface="Arial"/>
              <a:sym typeface="Arial"/>
            </a:endParaRPr>
          </a:p>
        </p:txBody>
      </p:sp>
      <p:sp>
        <p:nvSpPr>
          <p:cNvPr id="958" name="Google Shape;958;p12"/>
          <p:cNvSpPr/>
          <p:nvPr/>
        </p:nvSpPr>
        <p:spPr>
          <a:xfrm>
            <a:off x="548640" y="3950208"/>
            <a:ext cx="4937760" cy="356616"/>
          </a:xfrm>
          <a:prstGeom prst="rect">
            <a:avLst/>
          </a:prstGeom>
          <a:solidFill>
            <a:srgbClr val="F7F7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59" name="Google Shape;959;p12"/>
          <p:cNvSpPr txBox="1"/>
          <p:nvPr/>
        </p:nvSpPr>
        <p:spPr>
          <a:xfrm>
            <a:off x="658368" y="4027932"/>
            <a:ext cx="1773936"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0" i="0" u="none" strike="noStrike" cap="none">
                <a:solidFill>
                  <a:srgbClr val="22282D"/>
                </a:solidFill>
                <a:latin typeface="Arial"/>
                <a:ea typeface="Arial"/>
                <a:cs typeface="Arial"/>
                <a:sym typeface="Arial"/>
              </a:rPr>
              <a:t>Upside to target</a:t>
            </a:r>
            <a:endParaRPr sz="1400" b="0" i="0" u="none" strike="noStrike" cap="none">
              <a:solidFill>
                <a:srgbClr val="000000"/>
              </a:solidFill>
              <a:latin typeface="Arial"/>
              <a:ea typeface="Arial"/>
              <a:cs typeface="Arial"/>
              <a:sym typeface="Arial"/>
            </a:endParaRPr>
          </a:p>
        </p:txBody>
      </p:sp>
      <p:sp>
        <p:nvSpPr>
          <p:cNvPr id="960" name="Google Shape;960;p12"/>
          <p:cNvSpPr txBox="1"/>
          <p:nvPr/>
        </p:nvSpPr>
        <p:spPr>
          <a:xfrm>
            <a:off x="2651760" y="4027932"/>
            <a:ext cx="1252728"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22282D"/>
                </a:solidFill>
                <a:latin typeface="Arial"/>
                <a:ea typeface="Arial"/>
                <a:cs typeface="Arial"/>
                <a:sym typeface="Arial"/>
              </a:rPr>
              <a:t>+8.0%</a:t>
            </a:r>
            <a:endParaRPr sz="1400" b="0" i="0" u="none" strike="noStrike" cap="none">
              <a:solidFill>
                <a:srgbClr val="000000"/>
              </a:solidFill>
              <a:latin typeface="Arial"/>
              <a:ea typeface="Arial"/>
              <a:cs typeface="Arial"/>
              <a:sym typeface="Arial"/>
            </a:endParaRPr>
          </a:p>
        </p:txBody>
      </p:sp>
      <p:sp>
        <p:nvSpPr>
          <p:cNvPr id="961" name="Google Shape;961;p12"/>
          <p:cNvSpPr txBox="1"/>
          <p:nvPr/>
        </p:nvSpPr>
        <p:spPr>
          <a:xfrm>
            <a:off x="4123944" y="4027932"/>
            <a:ext cx="1252728"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45644E"/>
                </a:solidFill>
                <a:latin typeface="Arial"/>
                <a:ea typeface="Arial"/>
                <a:cs typeface="Arial"/>
                <a:sym typeface="Arial"/>
              </a:rPr>
              <a:t>+20.0%</a:t>
            </a:r>
            <a:endParaRPr sz="1400" b="0" i="0" u="none" strike="noStrike" cap="none">
              <a:solidFill>
                <a:srgbClr val="000000"/>
              </a:solidFill>
              <a:latin typeface="Arial"/>
              <a:ea typeface="Arial"/>
              <a:cs typeface="Arial"/>
              <a:sym typeface="Arial"/>
            </a:endParaRPr>
          </a:p>
        </p:txBody>
      </p:sp>
      <p:sp>
        <p:nvSpPr>
          <p:cNvPr id="962" name="Google Shape;962;p12"/>
          <p:cNvSpPr/>
          <p:nvPr/>
        </p:nvSpPr>
        <p:spPr>
          <a:xfrm>
            <a:off x="548640" y="4306824"/>
            <a:ext cx="4937760" cy="356616"/>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63" name="Google Shape;963;p12"/>
          <p:cNvSpPr txBox="1"/>
          <p:nvPr/>
        </p:nvSpPr>
        <p:spPr>
          <a:xfrm>
            <a:off x="658368" y="4384548"/>
            <a:ext cx="1773936"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0" i="0" u="none" strike="noStrike" cap="none">
                <a:solidFill>
                  <a:srgbClr val="22282D"/>
                </a:solidFill>
                <a:latin typeface="Arial"/>
                <a:ea typeface="Arial"/>
                <a:cs typeface="Arial"/>
                <a:sym typeface="Arial"/>
              </a:rPr>
              <a:t>Loss to A$8.12 review</a:t>
            </a:r>
            <a:endParaRPr sz="1400" b="0" i="0" u="none" strike="noStrike" cap="none">
              <a:solidFill>
                <a:srgbClr val="000000"/>
              </a:solidFill>
              <a:latin typeface="Arial"/>
              <a:ea typeface="Arial"/>
              <a:cs typeface="Arial"/>
              <a:sym typeface="Arial"/>
            </a:endParaRPr>
          </a:p>
        </p:txBody>
      </p:sp>
      <p:sp>
        <p:nvSpPr>
          <p:cNvPr id="964" name="Google Shape;964;p12"/>
          <p:cNvSpPr txBox="1"/>
          <p:nvPr/>
        </p:nvSpPr>
        <p:spPr>
          <a:xfrm>
            <a:off x="2651760" y="4384548"/>
            <a:ext cx="1252728"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22282D"/>
                </a:solidFill>
                <a:latin typeface="Arial"/>
                <a:ea typeface="Arial"/>
                <a:cs typeface="Arial"/>
                <a:sym typeface="Arial"/>
              </a:rPr>
              <a:t>−15.0%</a:t>
            </a:r>
            <a:endParaRPr sz="1400" b="0" i="0" u="none" strike="noStrike" cap="none">
              <a:solidFill>
                <a:srgbClr val="000000"/>
              </a:solidFill>
              <a:latin typeface="Arial"/>
              <a:ea typeface="Arial"/>
              <a:cs typeface="Arial"/>
              <a:sym typeface="Arial"/>
            </a:endParaRPr>
          </a:p>
        </p:txBody>
      </p:sp>
      <p:sp>
        <p:nvSpPr>
          <p:cNvPr id="965" name="Google Shape;965;p12"/>
          <p:cNvSpPr txBox="1"/>
          <p:nvPr/>
        </p:nvSpPr>
        <p:spPr>
          <a:xfrm>
            <a:off x="4123944" y="4384548"/>
            <a:ext cx="1252728"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45644E"/>
                </a:solidFill>
                <a:latin typeface="Arial"/>
                <a:ea typeface="Arial"/>
                <a:cs typeface="Arial"/>
                <a:sym typeface="Arial"/>
              </a:rPr>
              <a:t>−5.5%</a:t>
            </a:r>
            <a:endParaRPr sz="1400" b="0" i="0" u="none" strike="noStrike" cap="none">
              <a:solidFill>
                <a:srgbClr val="000000"/>
              </a:solidFill>
              <a:latin typeface="Arial"/>
              <a:ea typeface="Arial"/>
              <a:cs typeface="Arial"/>
              <a:sym typeface="Arial"/>
            </a:endParaRPr>
          </a:p>
        </p:txBody>
      </p:sp>
      <p:sp>
        <p:nvSpPr>
          <p:cNvPr id="966" name="Google Shape;966;p12"/>
          <p:cNvSpPr/>
          <p:nvPr/>
        </p:nvSpPr>
        <p:spPr>
          <a:xfrm>
            <a:off x="548640" y="4663440"/>
            <a:ext cx="4937760" cy="356616"/>
          </a:xfrm>
          <a:prstGeom prst="rect">
            <a:avLst/>
          </a:prstGeom>
          <a:solidFill>
            <a:srgbClr val="F7F7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67" name="Google Shape;967;p12"/>
          <p:cNvSpPr txBox="1"/>
          <p:nvPr/>
        </p:nvSpPr>
        <p:spPr>
          <a:xfrm>
            <a:off x="658368" y="4741164"/>
            <a:ext cx="1773936"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0" i="0" u="none" strike="noStrike" cap="none">
                <a:solidFill>
                  <a:srgbClr val="22282D"/>
                </a:solidFill>
                <a:latin typeface="Arial"/>
                <a:ea typeface="Arial"/>
                <a:cs typeface="Arial"/>
                <a:sym typeface="Arial"/>
              </a:rPr>
              <a:t>Reward / review loss</a:t>
            </a:r>
            <a:endParaRPr sz="1400" b="0" i="0" u="none" strike="noStrike" cap="none">
              <a:solidFill>
                <a:srgbClr val="000000"/>
              </a:solidFill>
              <a:latin typeface="Arial"/>
              <a:ea typeface="Arial"/>
              <a:cs typeface="Arial"/>
              <a:sym typeface="Arial"/>
            </a:endParaRPr>
          </a:p>
        </p:txBody>
      </p:sp>
      <p:sp>
        <p:nvSpPr>
          <p:cNvPr id="968" name="Google Shape;968;p12"/>
          <p:cNvSpPr txBox="1"/>
          <p:nvPr/>
        </p:nvSpPr>
        <p:spPr>
          <a:xfrm>
            <a:off x="2651760" y="4741164"/>
            <a:ext cx="1252728"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22282D"/>
                </a:solidFill>
                <a:latin typeface="Arial"/>
                <a:ea typeface="Arial"/>
                <a:cs typeface="Arial"/>
                <a:sym typeface="Arial"/>
              </a:rPr>
              <a:t>0.5×</a:t>
            </a:r>
            <a:endParaRPr sz="1400" b="0" i="0" u="none" strike="noStrike" cap="none">
              <a:solidFill>
                <a:srgbClr val="000000"/>
              </a:solidFill>
              <a:latin typeface="Arial"/>
              <a:ea typeface="Arial"/>
              <a:cs typeface="Arial"/>
              <a:sym typeface="Arial"/>
            </a:endParaRPr>
          </a:p>
        </p:txBody>
      </p:sp>
      <p:sp>
        <p:nvSpPr>
          <p:cNvPr id="969" name="Google Shape;969;p12"/>
          <p:cNvSpPr txBox="1"/>
          <p:nvPr/>
        </p:nvSpPr>
        <p:spPr>
          <a:xfrm>
            <a:off x="4123944" y="4741164"/>
            <a:ext cx="1252728"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45644E"/>
                </a:solidFill>
                <a:latin typeface="Arial"/>
                <a:ea typeface="Arial"/>
                <a:cs typeface="Arial"/>
                <a:sym typeface="Arial"/>
              </a:rPr>
              <a:t>3.7×</a:t>
            </a:r>
            <a:endParaRPr sz="1400" b="0" i="0" u="none" strike="noStrike" cap="none">
              <a:solidFill>
                <a:srgbClr val="000000"/>
              </a:solidFill>
              <a:latin typeface="Arial"/>
              <a:ea typeface="Arial"/>
              <a:cs typeface="Arial"/>
              <a:sym typeface="Arial"/>
            </a:endParaRPr>
          </a:p>
        </p:txBody>
      </p:sp>
      <p:cxnSp>
        <p:nvCxnSpPr>
          <p:cNvPr id="970" name="Google Shape;970;p12"/>
          <p:cNvCxnSpPr/>
          <p:nvPr/>
        </p:nvCxnSpPr>
        <p:spPr>
          <a:xfrm>
            <a:off x="548640" y="5020056"/>
            <a:ext cx="4937760" cy="0"/>
          </a:xfrm>
          <a:prstGeom prst="straightConnector1">
            <a:avLst/>
          </a:prstGeom>
          <a:noFill/>
          <a:ln w="12700" cap="flat" cmpd="sng">
            <a:solidFill>
              <a:srgbClr val="D9DCD8"/>
            </a:solidFill>
            <a:prstDash val="solid"/>
            <a:round/>
            <a:headEnd type="none" w="sm" len="sm"/>
            <a:tailEnd type="none" w="sm" len="sm"/>
          </a:ln>
          <a:effectLst>
            <a:outerShdw blurRad="40000" dist="20000" dir="5400000" rotWithShape="0">
              <a:srgbClr val="000000">
                <a:alpha val="38039"/>
              </a:srgbClr>
            </a:outerShdw>
          </a:effectLst>
        </p:spPr>
      </p:cxnSp>
      <p:sp>
        <p:nvSpPr>
          <p:cNvPr id="971" name="Google Shape;971;p12"/>
          <p:cNvSpPr/>
          <p:nvPr/>
        </p:nvSpPr>
        <p:spPr>
          <a:xfrm>
            <a:off x="5687568" y="2834640"/>
            <a:ext cx="2907792" cy="2185416"/>
          </a:xfrm>
          <a:prstGeom prst="roundRect">
            <a:avLst>
              <a:gd name="adj" fmla="val 12000"/>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2" name="Google Shape;972;p12"/>
          <p:cNvSpPr txBox="1"/>
          <p:nvPr/>
        </p:nvSpPr>
        <p:spPr>
          <a:xfrm>
            <a:off x="5861304" y="3017520"/>
            <a:ext cx="2542032"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40"/>
              <a:buFont typeface="Arial"/>
              <a:buNone/>
            </a:pPr>
            <a:r>
              <a:rPr lang="en-US" sz="1040" b="1" i="0" u="none" strike="noStrike" cap="none">
                <a:solidFill>
                  <a:srgbClr val="736324"/>
                </a:solidFill>
                <a:latin typeface="Arial"/>
                <a:ea typeface="Arial"/>
                <a:cs typeface="Arial"/>
                <a:sym typeface="Arial"/>
              </a:rPr>
              <a:t>DISCIPLINED EXECUTION</a:t>
            </a:r>
            <a:endParaRPr sz="1400" b="0" i="0" u="none" strike="noStrike" cap="none">
              <a:solidFill>
                <a:srgbClr val="000000"/>
              </a:solidFill>
              <a:latin typeface="Arial"/>
              <a:ea typeface="Arial"/>
              <a:cs typeface="Arial"/>
              <a:sym typeface="Arial"/>
            </a:endParaRPr>
          </a:p>
        </p:txBody>
      </p:sp>
      <p:sp>
        <p:nvSpPr>
          <p:cNvPr id="973" name="Google Shape;973;p12"/>
          <p:cNvSpPr txBox="1"/>
          <p:nvPr/>
        </p:nvSpPr>
        <p:spPr>
          <a:xfrm>
            <a:off x="5861304" y="3328416"/>
            <a:ext cx="2542032" cy="38404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600"/>
              <a:buFont typeface="Arial"/>
              <a:buNone/>
            </a:pPr>
            <a:r>
              <a:rPr lang="en-US" sz="2600" b="1" i="0" u="none" strike="noStrike" cap="none">
                <a:solidFill>
                  <a:srgbClr val="22282D"/>
                </a:solidFill>
                <a:latin typeface="Arial"/>
                <a:ea typeface="Arial"/>
                <a:cs typeface="Arial"/>
                <a:sym typeface="Arial"/>
              </a:rPr>
              <a:t>≤ A$8.59</a:t>
            </a:r>
            <a:endParaRPr sz="1400" b="0" i="0" u="none" strike="noStrike" cap="none">
              <a:solidFill>
                <a:srgbClr val="000000"/>
              </a:solidFill>
              <a:latin typeface="Arial"/>
              <a:ea typeface="Arial"/>
              <a:cs typeface="Arial"/>
              <a:sym typeface="Arial"/>
            </a:endParaRPr>
          </a:p>
        </p:txBody>
      </p:sp>
      <p:sp>
        <p:nvSpPr>
          <p:cNvPr id="974" name="Google Shape;974;p12"/>
          <p:cNvSpPr txBox="1"/>
          <p:nvPr/>
        </p:nvSpPr>
        <p:spPr>
          <a:xfrm>
            <a:off x="5861304" y="3840480"/>
            <a:ext cx="2523744" cy="61264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50"/>
              <a:buFont typeface="Arial"/>
              <a:buNone/>
            </a:pPr>
            <a:r>
              <a:rPr lang="en-US" sz="1250" b="0" i="0" u="none" strike="noStrike" cap="none">
                <a:solidFill>
                  <a:srgbClr val="22282D"/>
                </a:solidFill>
                <a:latin typeface="Arial"/>
                <a:ea typeface="Arial"/>
                <a:cs typeface="Arial"/>
                <a:sym typeface="Arial"/>
              </a:rPr>
              <a:t>Or support a target ≥ A$11.46</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50"/>
              <a:buFont typeface="Arial"/>
              <a:buNone/>
            </a:pPr>
            <a:r>
              <a:rPr lang="en-US" sz="1250" b="0" i="0" u="none" strike="noStrike" cap="none">
                <a:solidFill>
                  <a:srgbClr val="22282D"/>
                </a:solidFill>
                <a:latin typeface="Arial"/>
                <a:ea typeface="Arial"/>
                <a:cs typeface="Arial"/>
                <a:sym typeface="Arial"/>
              </a:rPr>
              <a:t>at A$9.55 with new evidence.</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50"/>
              <a:buFont typeface="Arial"/>
              <a:buNone/>
            </a:pPr>
            <a:r>
              <a:rPr lang="en-US" sz="1250" b="0" i="0" u="none" strike="noStrike" cap="none">
                <a:solidFill>
                  <a:srgbClr val="22282D"/>
                </a:solidFill>
                <a:latin typeface="Arial"/>
                <a:ea typeface="Arial"/>
                <a:cs typeface="Arial"/>
                <a:sym typeface="Arial"/>
              </a:rPr>
              <a:t>Do not raise a target to pass a gate.</a:t>
            </a:r>
            <a:endParaRPr sz="1400" b="0" i="0" u="none" strike="noStrike" cap="none">
              <a:solidFill>
                <a:srgbClr val="000000"/>
              </a:solidFill>
              <a:latin typeface="Arial"/>
              <a:ea typeface="Arial"/>
              <a:cs typeface="Arial"/>
              <a:sym typeface="Arial"/>
            </a:endParaRPr>
          </a:p>
        </p:txBody>
      </p:sp>
      <p:sp>
        <p:nvSpPr>
          <p:cNvPr id="975" name="Google Shape;975;p12"/>
          <p:cNvSpPr txBox="1"/>
          <p:nvPr/>
        </p:nvSpPr>
        <p:spPr>
          <a:xfrm>
            <a:off x="5861304" y="4645152"/>
            <a:ext cx="2542032"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40"/>
              <a:buFont typeface="Arial"/>
              <a:buNone/>
            </a:pPr>
            <a:r>
              <a:rPr lang="en-US" sz="1040" b="1" i="0" u="none" strike="noStrike" cap="none">
                <a:solidFill>
                  <a:srgbClr val="736324"/>
                </a:solidFill>
                <a:latin typeface="Arial"/>
                <a:ea typeface="Arial"/>
                <a:cs typeface="Arial"/>
                <a:sym typeface="Arial"/>
              </a:rPr>
              <a:t>Maximum proposed weight: 1.60% NAV</a:t>
            </a:r>
            <a:endParaRPr sz="1400" b="0" i="0" u="none" strike="noStrike" cap="none">
              <a:solidFill>
                <a:srgbClr val="000000"/>
              </a:solidFill>
              <a:latin typeface="Arial"/>
              <a:ea typeface="Arial"/>
              <a:cs typeface="Arial"/>
              <a:sym typeface="Arial"/>
            </a:endParaRPr>
          </a:p>
        </p:txBody>
      </p:sp>
      <p:sp>
        <p:nvSpPr>
          <p:cNvPr id="976" name="Google Shape;976;p12"/>
          <p:cNvSpPr/>
          <p:nvPr/>
        </p:nvSpPr>
        <p:spPr>
          <a:xfrm>
            <a:off x="548640" y="5266944"/>
            <a:ext cx="8046720" cy="521207"/>
          </a:xfrm>
          <a:prstGeom prst="roundRect">
            <a:avLst>
              <a:gd name="adj" fmla="val 12000"/>
            </a:avLst>
          </a:prstGeom>
          <a:solidFill>
            <a:srgbClr val="EDF3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77" name="Google Shape;977;p12"/>
          <p:cNvSpPr txBox="1"/>
          <p:nvPr/>
        </p:nvSpPr>
        <p:spPr>
          <a:xfrm>
            <a:off x="731520" y="5376672"/>
            <a:ext cx="7662672" cy="26517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410"/>
              <a:buFont typeface="Arial"/>
              <a:buNone/>
            </a:pPr>
            <a:r>
              <a:rPr lang="en-US" sz="1410" b="1" i="0" u="none" strike="noStrike" cap="none">
                <a:solidFill>
                  <a:srgbClr val="45644E"/>
                </a:solidFill>
                <a:latin typeface="Arial"/>
                <a:ea typeface="Arial"/>
                <a:cs typeface="Arial"/>
                <a:sym typeface="Arial"/>
              </a:rPr>
              <a:t>Reassess at A$8.12 or a guidance cut; a cheaper price is not a reason to average down.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25"/>
          <p:cNvSpPr txBox="1"/>
          <p:nvPr/>
        </p:nvSpPr>
        <p:spPr>
          <a:xfrm>
            <a:off x="548640" y="512064"/>
            <a:ext cx="8092440" cy="37234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420"/>
              <a:buFont typeface="Arial"/>
              <a:buNone/>
            </a:pPr>
            <a:r>
              <a:rPr lang="en-US" sz="2420" b="1" i="0" u="none" strike="noStrike" cap="none">
                <a:solidFill>
                  <a:srgbClr val="0C0C0C"/>
                </a:solidFill>
                <a:latin typeface="Arial"/>
                <a:ea typeface="Arial"/>
                <a:cs typeface="Arial"/>
                <a:sym typeface="Arial"/>
              </a:rPr>
              <a:t>UUUU: prove mispricing—not just dilution</a:t>
            </a:r>
            <a:endParaRPr sz="1400" b="0" i="0" u="none" strike="noStrike" cap="none">
              <a:solidFill>
                <a:srgbClr val="000000"/>
              </a:solidFill>
              <a:latin typeface="Arial"/>
              <a:ea typeface="Arial"/>
              <a:cs typeface="Arial"/>
              <a:sym typeface="Arial"/>
            </a:endParaRPr>
          </a:p>
        </p:txBody>
      </p:sp>
      <p:sp>
        <p:nvSpPr>
          <p:cNvPr id="984" name="Google Shape;984;p25"/>
          <p:cNvSpPr txBox="1"/>
          <p:nvPr/>
        </p:nvSpPr>
        <p:spPr>
          <a:xfrm>
            <a:off x="548640" y="1097280"/>
            <a:ext cx="8001000" cy="44805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400"/>
              <a:buFont typeface="Arial"/>
              <a:buNone/>
            </a:pPr>
            <a:r>
              <a:rPr lang="en-US" sz="1400" b="0" i="0" u="none" strike="noStrike" cap="none">
                <a:solidFill>
                  <a:srgbClr val="666A6C"/>
                </a:solidFill>
                <a:latin typeface="Arial"/>
                <a:ea typeface="Arial"/>
                <a:cs typeface="Arial"/>
                <a:sym typeface="Arial"/>
              </a:rPr>
              <a:t>Retain the event-driven short thesis, but do not initiate on the current payoff alone.</a:t>
            </a:r>
            <a:endParaRPr sz="1400" b="0" i="0" u="none" strike="noStrike" cap="none">
              <a:solidFill>
                <a:srgbClr val="000000"/>
              </a:solidFill>
              <a:latin typeface="Arial"/>
              <a:ea typeface="Arial"/>
              <a:cs typeface="Arial"/>
              <a:sym typeface="Arial"/>
            </a:endParaRPr>
          </a:p>
        </p:txBody>
      </p:sp>
      <p:cxnSp>
        <p:nvCxnSpPr>
          <p:cNvPr id="985" name="Google Shape;985;p25"/>
          <p:cNvCxnSpPr/>
          <p:nvPr/>
        </p:nvCxnSpPr>
        <p:spPr>
          <a:xfrm>
            <a:off x="548640" y="5989320"/>
            <a:ext cx="8046720" cy="0"/>
          </a:xfrm>
          <a:prstGeom prst="straightConnector1">
            <a:avLst/>
          </a:prstGeom>
          <a:noFill/>
          <a:ln w="9525" cap="flat" cmpd="sng">
            <a:solidFill>
              <a:srgbClr val="D9DCD8"/>
            </a:solidFill>
            <a:prstDash val="solid"/>
            <a:round/>
            <a:headEnd type="none" w="sm" len="sm"/>
            <a:tailEnd type="none" w="sm" len="sm"/>
          </a:ln>
          <a:effectLst>
            <a:outerShdw blurRad="40000" dist="20000" dir="5400000" rotWithShape="0">
              <a:srgbClr val="000000">
                <a:alpha val="38039"/>
              </a:srgbClr>
            </a:outerShdw>
          </a:effectLst>
        </p:spPr>
      </p:cxnSp>
      <p:pic>
        <p:nvPicPr>
          <p:cNvPr id="986" name="Google Shape;986;p25" descr="fordham_logo.png"/>
          <p:cNvPicPr preferRelativeResize="0"/>
          <p:nvPr/>
        </p:nvPicPr>
        <p:blipFill rotWithShape="1">
          <a:blip r:embed="rId3">
            <a:alphaModFix/>
          </a:blip>
          <a:srcRect/>
          <a:stretch/>
        </p:blipFill>
        <p:spPr>
          <a:xfrm>
            <a:off x="146304" y="6236208"/>
            <a:ext cx="347472" cy="429768"/>
          </a:xfrm>
          <a:prstGeom prst="rect">
            <a:avLst/>
          </a:prstGeom>
          <a:noFill/>
          <a:ln>
            <a:noFill/>
          </a:ln>
        </p:spPr>
      </p:pic>
      <p:sp>
        <p:nvSpPr>
          <p:cNvPr id="987" name="Google Shape;987;p25"/>
          <p:cNvSpPr/>
          <p:nvPr/>
        </p:nvSpPr>
        <p:spPr>
          <a:xfrm>
            <a:off x="548640" y="1700784"/>
            <a:ext cx="2523744" cy="896112"/>
          </a:xfrm>
          <a:prstGeom prst="roundRect">
            <a:avLst>
              <a:gd name="adj" fmla="val 12000"/>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88" name="Google Shape;988;p25"/>
          <p:cNvSpPr txBox="1"/>
          <p:nvPr/>
        </p:nvSpPr>
        <p:spPr>
          <a:xfrm>
            <a:off x="694944" y="1856231"/>
            <a:ext cx="2231136"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989"/>
              <a:buFont typeface="Arial"/>
              <a:buNone/>
            </a:pPr>
            <a:r>
              <a:rPr lang="en-US" sz="990" b="1" i="0" u="none" strike="noStrike" cap="none">
                <a:solidFill>
                  <a:srgbClr val="736324"/>
                </a:solidFill>
                <a:latin typeface="Arial"/>
                <a:ea typeface="Arial"/>
                <a:cs typeface="Arial"/>
                <a:sym typeface="Arial"/>
              </a:rPr>
              <a:t>REFERENCE PRICE</a:t>
            </a:r>
            <a:endParaRPr sz="1400" b="0" i="0" u="none" strike="noStrike" cap="none">
              <a:solidFill>
                <a:srgbClr val="000000"/>
              </a:solidFill>
              <a:latin typeface="Arial"/>
              <a:ea typeface="Arial"/>
              <a:cs typeface="Arial"/>
              <a:sym typeface="Arial"/>
            </a:endParaRPr>
          </a:p>
        </p:txBody>
      </p:sp>
      <p:sp>
        <p:nvSpPr>
          <p:cNvPr id="989" name="Google Shape;989;p25"/>
          <p:cNvSpPr txBox="1"/>
          <p:nvPr/>
        </p:nvSpPr>
        <p:spPr>
          <a:xfrm>
            <a:off x="694944" y="2130552"/>
            <a:ext cx="2240280" cy="31089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200"/>
              <a:buFont typeface="Arial"/>
              <a:buNone/>
            </a:pPr>
            <a:r>
              <a:rPr lang="en-US" sz="2200" b="1" i="0" u="none" strike="noStrike" cap="none">
                <a:solidFill>
                  <a:srgbClr val="22282D"/>
                </a:solidFill>
                <a:latin typeface="Arial"/>
                <a:ea typeface="Arial"/>
                <a:cs typeface="Arial"/>
                <a:sym typeface="Arial"/>
              </a:rPr>
              <a:t>US$11.35</a:t>
            </a:r>
            <a:endParaRPr sz="1400" b="0" i="0" u="none" strike="noStrike" cap="none">
              <a:solidFill>
                <a:srgbClr val="000000"/>
              </a:solidFill>
              <a:latin typeface="Arial"/>
              <a:ea typeface="Arial"/>
              <a:cs typeface="Arial"/>
              <a:sym typeface="Arial"/>
            </a:endParaRPr>
          </a:p>
        </p:txBody>
      </p:sp>
      <p:sp>
        <p:nvSpPr>
          <p:cNvPr id="990" name="Google Shape;990;p25"/>
          <p:cNvSpPr/>
          <p:nvPr/>
        </p:nvSpPr>
        <p:spPr>
          <a:xfrm>
            <a:off x="3310128" y="1700784"/>
            <a:ext cx="2523744" cy="896112"/>
          </a:xfrm>
          <a:prstGeom prst="roundRect">
            <a:avLst>
              <a:gd name="adj" fmla="val 12000"/>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91" name="Google Shape;991;p25"/>
          <p:cNvSpPr txBox="1"/>
          <p:nvPr/>
        </p:nvSpPr>
        <p:spPr>
          <a:xfrm>
            <a:off x="3456432" y="1856231"/>
            <a:ext cx="2231136"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989"/>
              <a:buFont typeface="Arial"/>
              <a:buNone/>
            </a:pPr>
            <a:r>
              <a:rPr lang="en-US" sz="990" b="1" i="0" u="none" strike="noStrike" cap="none">
                <a:solidFill>
                  <a:srgbClr val="736324"/>
                </a:solidFill>
                <a:latin typeface="Arial"/>
                <a:ea typeface="Arial"/>
                <a:cs typeface="Arial"/>
                <a:sym typeface="Arial"/>
              </a:rPr>
              <a:t>DOWNSIDE SCENARIO</a:t>
            </a:r>
            <a:endParaRPr sz="1400" b="0" i="0" u="none" strike="noStrike" cap="none">
              <a:solidFill>
                <a:srgbClr val="000000"/>
              </a:solidFill>
              <a:latin typeface="Arial"/>
              <a:ea typeface="Arial"/>
              <a:cs typeface="Arial"/>
              <a:sym typeface="Arial"/>
            </a:endParaRPr>
          </a:p>
        </p:txBody>
      </p:sp>
      <p:sp>
        <p:nvSpPr>
          <p:cNvPr id="992" name="Google Shape;992;p25"/>
          <p:cNvSpPr txBox="1"/>
          <p:nvPr/>
        </p:nvSpPr>
        <p:spPr>
          <a:xfrm>
            <a:off x="3456432" y="2130552"/>
            <a:ext cx="2240280" cy="31089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200"/>
              <a:buFont typeface="Arial"/>
              <a:buNone/>
            </a:pPr>
            <a:r>
              <a:rPr lang="en-US" sz="2200" b="1" i="0" u="none" strike="noStrike" cap="none">
                <a:solidFill>
                  <a:srgbClr val="22282D"/>
                </a:solidFill>
                <a:latin typeface="Arial"/>
                <a:ea typeface="Arial"/>
                <a:cs typeface="Arial"/>
                <a:sym typeface="Arial"/>
              </a:rPr>
              <a:t>US$9.00–9.65</a:t>
            </a:r>
            <a:endParaRPr sz="1400" b="0" i="0" u="none" strike="noStrike" cap="none">
              <a:solidFill>
                <a:srgbClr val="000000"/>
              </a:solidFill>
              <a:latin typeface="Arial"/>
              <a:ea typeface="Arial"/>
              <a:cs typeface="Arial"/>
              <a:sym typeface="Arial"/>
            </a:endParaRPr>
          </a:p>
        </p:txBody>
      </p:sp>
      <p:sp>
        <p:nvSpPr>
          <p:cNvPr id="993" name="Google Shape;993;p25"/>
          <p:cNvSpPr/>
          <p:nvPr/>
        </p:nvSpPr>
        <p:spPr>
          <a:xfrm>
            <a:off x="6071616" y="1700784"/>
            <a:ext cx="2523744" cy="896112"/>
          </a:xfrm>
          <a:prstGeom prst="roundRect">
            <a:avLst>
              <a:gd name="adj" fmla="val 12000"/>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94" name="Google Shape;994;p25"/>
          <p:cNvSpPr txBox="1"/>
          <p:nvPr/>
        </p:nvSpPr>
        <p:spPr>
          <a:xfrm>
            <a:off x="6217920" y="1856231"/>
            <a:ext cx="2231136"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989"/>
              <a:buFont typeface="Arial"/>
              <a:buNone/>
            </a:pPr>
            <a:r>
              <a:rPr lang="en-US" sz="990" b="1" i="0" u="none" strike="noStrike" cap="none">
                <a:solidFill>
                  <a:srgbClr val="736324"/>
                </a:solidFill>
                <a:latin typeface="Arial"/>
                <a:ea typeface="Arial"/>
                <a:cs typeface="Arial"/>
                <a:sym typeface="Arial"/>
              </a:rPr>
              <a:t>RISK-REVIEW LEVEL</a:t>
            </a:r>
            <a:endParaRPr sz="1400" b="0" i="0" u="none" strike="noStrike" cap="none">
              <a:solidFill>
                <a:srgbClr val="000000"/>
              </a:solidFill>
              <a:latin typeface="Arial"/>
              <a:ea typeface="Arial"/>
              <a:cs typeface="Arial"/>
              <a:sym typeface="Arial"/>
            </a:endParaRPr>
          </a:p>
        </p:txBody>
      </p:sp>
      <p:sp>
        <p:nvSpPr>
          <p:cNvPr id="995" name="Google Shape;995;p25"/>
          <p:cNvSpPr txBox="1"/>
          <p:nvPr/>
        </p:nvSpPr>
        <p:spPr>
          <a:xfrm>
            <a:off x="6217920" y="2130552"/>
            <a:ext cx="2240280" cy="31089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200"/>
              <a:buFont typeface="Arial"/>
              <a:buNone/>
            </a:pPr>
            <a:r>
              <a:rPr lang="en-US" sz="2200" b="1" i="0" u="none" strike="noStrike" cap="none">
                <a:solidFill>
                  <a:srgbClr val="22282D"/>
                </a:solidFill>
                <a:latin typeface="Arial"/>
                <a:ea typeface="Arial"/>
                <a:cs typeface="Arial"/>
                <a:sym typeface="Arial"/>
              </a:rPr>
              <a:t>US$16.12</a:t>
            </a:r>
            <a:endParaRPr sz="1400" b="0" i="0" u="none" strike="noStrike" cap="none">
              <a:solidFill>
                <a:srgbClr val="000000"/>
              </a:solidFill>
              <a:latin typeface="Arial"/>
              <a:ea typeface="Arial"/>
              <a:cs typeface="Arial"/>
              <a:sym typeface="Arial"/>
            </a:endParaRPr>
          </a:p>
        </p:txBody>
      </p:sp>
      <p:sp>
        <p:nvSpPr>
          <p:cNvPr id="996" name="Google Shape;996;p25"/>
          <p:cNvSpPr txBox="1"/>
          <p:nvPr/>
        </p:nvSpPr>
        <p:spPr>
          <a:xfrm>
            <a:off x="548640" y="2843784"/>
            <a:ext cx="3904487" cy="19202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00"/>
              <a:buFont typeface="Arial"/>
              <a:buNone/>
            </a:pPr>
            <a:r>
              <a:rPr lang="en-US" sz="1000" b="1" i="0" u="none" strike="noStrike" cap="none">
                <a:solidFill>
                  <a:srgbClr val="666A6C"/>
                </a:solidFill>
                <a:latin typeface="Arial"/>
                <a:ea typeface="Arial"/>
                <a:cs typeface="Arial"/>
                <a:sym typeface="Arial"/>
              </a:rPr>
              <a:t>GROSS PAYOFF ON INITIAL SHORT NOTIONAL</a:t>
            </a:r>
            <a:endParaRPr sz="1400" b="0" i="0" u="none" strike="noStrike" cap="none">
              <a:solidFill>
                <a:srgbClr val="000000"/>
              </a:solidFill>
              <a:latin typeface="Arial"/>
              <a:ea typeface="Arial"/>
              <a:cs typeface="Arial"/>
              <a:sym typeface="Arial"/>
            </a:endParaRPr>
          </a:p>
        </p:txBody>
      </p:sp>
      <p:sp>
        <p:nvSpPr>
          <p:cNvPr id="997" name="Google Shape;997;p25"/>
          <p:cNvSpPr txBox="1"/>
          <p:nvPr/>
        </p:nvSpPr>
        <p:spPr>
          <a:xfrm>
            <a:off x="548640" y="3227832"/>
            <a:ext cx="347472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00"/>
              <a:buFont typeface="Arial"/>
              <a:buNone/>
            </a:pPr>
            <a:r>
              <a:rPr lang="en-US" sz="1300" b="0" i="0" u="none" strike="noStrike" cap="none">
                <a:solidFill>
                  <a:srgbClr val="22282D"/>
                </a:solidFill>
                <a:latin typeface="Arial"/>
                <a:ea typeface="Arial"/>
                <a:cs typeface="Arial"/>
                <a:sym typeface="Arial"/>
              </a:rPr>
              <a:t>Gain if target is reached</a:t>
            </a:r>
            <a:endParaRPr sz="1400" b="0" i="0" u="none" strike="noStrike" cap="none">
              <a:solidFill>
                <a:srgbClr val="000000"/>
              </a:solidFill>
              <a:latin typeface="Arial"/>
              <a:ea typeface="Arial"/>
              <a:cs typeface="Arial"/>
              <a:sym typeface="Arial"/>
            </a:endParaRPr>
          </a:p>
        </p:txBody>
      </p:sp>
      <p:sp>
        <p:nvSpPr>
          <p:cNvPr id="998" name="Google Shape;998;p25"/>
          <p:cNvSpPr/>
          <p:nvPr/>
        </p:nvSpPr>
        <p:spPr>
          <a:xfrm>
            <a:off x="548640" y="3547872"/>
            <a:ext cx="1644290" cy="210312"/>
          </a:xfrm>
          <a:prstGeom prst="rect">
            <a:avLst/>
          </a:prstGeom>
          <a:solidFill>
            <a:srgbClr val="A9BEA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999" name="Google Shape;999;p25"/>
          <p:cNvSpPr/>
          <p:nvPr/>
        </p:nvSpPr>
        <p:spPr>
          <a:xfrm>
            <a:off x="548640" y="3547872"/>
            <a:ext cx="1189486" cy="210312"/>
          </a:xfrm>
          <a:prstGeom prst="rect">
            <a:avLst/>
          </a:prstGeom>
          <a:solidFill>
            <a:srgbClr val="45644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0" name="Google Shape;1000;p25"/>
          <p:cNvSpPr txBox="1"/>
          <p:nvPr/>
        </p:nvSpPr>
        <p:spPr>
          <a:xfrm>
            <a:off x="2395728" y="3511296"/>
            <a:ext cx="1920240" cy="25603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50"/>
              <a:buFont typeface="Arial"/>
              <a:buNone/>
            </a:pPr>
            <a:r>
              <a:rPr lang="en-US" sz="1350" b="1" i="0" u="none" strike="noStrike" cap="none">
                <a:solidFill>
                  <a:srgbClr val="45644E"/>
                </a:solidFill>
                <a:latin typeface="Arial"/>
                <a:ea typeface="Arial"/>
                <a:cs typeface="Arial"/>
                <a:sym typeface="Arial"/>
              </a:rPr>
              <a:t>+15.0% to +20.7%</a:t>
            </a:r>
            <a:endParaRPr sz="1400" b="0" i="0" u="none" strike="noStrike" cap="none">
              <a:solidFill>
                <a:srgbClr val="000000"/>
              </a:solidFill>
              <a:latin typeface="Arial"/>
              <a:ea typeface="Arial"/>
              <a:cs typeface="Arial"/>
              <a:sym typeface="Arial"/>
            </a:endParaRPr>
          </a:p>
        </p:txBody>
      </p:sp>
      <p:sp>
        <p:nvSpPr>
          <p:cNvPr id="1001" name="Google Shape;1001;p25"/>
          <p:cNvSpPr txBox="1"/>
          <p:nvPr/>
        </p:nvSpPr>
        <p:spPr>
          <a:xfrm>
            <a:off x="548640" y="3950208"/>
            <a:ext cx="352044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00"/>
              <a:buFont typeface="Arial"/>
              <a:buNone/>
            </a:pPr>
            <a:r>
              <a:rPr lang="en-US" sz="1300" b="0" i="0" u="none" strike="noStrike" cap="none">
                <a:solidFill>
                  <a:srgbClr val="22282D"/>
                </a:solidFill>
                <a:latin typeface="Arial"/>
                <a:ea typeface="Arial"/>
                <a:cs typeface="Arial"/>
                <a:sym typeface="Arial"/>
              </a:rPr>
              <a:t>Loss to US$16.12 review</a:t>
            </a:r>
            <a:endParaRPr sz="1400" b="0" i="0" u="none" strike="noStrike" cap="none">
              <a:solidFill>
                <a:srgbClr val="000000"/>
              </a:solidFill>
              <a:latin typeface="Arial"/>
              <a:ea typeface="Arial"/>
              <a:cs typeface="Arial"/>
              <a:sym typeface="Arial"/>
            </a:endParaRPr>
          </a:p>
        </p:txBody>
      </p:sp>
      <p:sp>
        <p:nvSpPr>
          <p:cNvPr id="1002" name="Google Shape;1002;p25"/>
          <p:cNvSpPr/>
          <p:nvPr/>
        </p:nvSpPr>
        <p:spPr>
          <a:xfrm>
            <a:off x="548640" y="4270248"/>
            <a:ext cx="3337560" cy="210312"/>
          </a:xfrm>
          <a:prstGeom prst="rect">
            <a:avLst/>
          </a:prstGeom>
          <a:solidFill>
            <a:srgbClr val="8900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3" name="Google Shape;1003;p25"/>
          <p:cNvSpPr txBox="1"/>
          <p:nvPr/>
        </p:nvSpPr>
        <p:spPr>
          <a:xfrm>
            <a:off x="4023360" y="4242816"/>
            <a:ext cx="640080" cy="25603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20"/>
              <a:buFont typeface="Arial"/>
              <a:buNone/>
            </a:pPr>
            <a:r>
              <a:rPr lang="en-US" sz="1320" b="1" i="0" u="none" strike="noStrike" cap="none">
                <a:solidFill>
                  <a:srgbClr val="89002A"/>
                </a:solidFill>
                <a:latin typeface="Arial"/>
                <a:ea typeface="Arial"/>
                <a:cs typeface="Arial"/>
                <a:sym typeface="Arial"/>
              </a:rPr>
              <a:t>−42.0%</a:t>
            </a:r>
            <a:endParaRPr sz="1400" b="0" i="0" u="none" strike="noStrike" cap="none">
              <a:solidFill>
                <a:srgbClr val="000000"/>
              </a:solidFill>
              <a:latin typeface="Arial"/>
              <a:ea typeface="Arial"/>
              <a:cs typeface="Arial"/>
              <a:sym typeface="Arial"/>
            </a:endParaRPr>
          </a:p>
        </p:txBody>
      </p:sp>
      <p:sp>
        <p:nvSpPr>
          <p:cNvPr id="1004" name="Google Shape;1004;p25"/>
          <p:cNvSpPr txBox="1"/>
          <p:nvPr/>
        </p:nvSpPr>
        <p:spPr>
          <a:xfrm>
            <a:off x="548640" y="4654296"/>
            <a:ext cx="1920240" cy="38404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400"/>
              <a:buFont typeface="Arial"/>
              <a:buNone/>
            </a:pPr>
            <a:r>
              <a:rPr lang="en-US" sz="2400" b="1" i="0" u="none" strike="noStrike" cap="none">
                <a:solidFill>
                  <a:srgbClr val="89002A"/>
                </a:solidFill>
                <a:latin typeface="Arial"/>
                <a:ea typeface="Arial"/>
                <a:cs typeface="Arial"/>
                <a:sym typeface="Arial"/>
              </a:rPr>
              <a:t>0.36–0.49×</a:t>
            </a:r>
            <a:endParaRPr sz="1400" b="0" i="0" u="none" strike="noStrike" cap="none">
              <a:solidFill>
                <a:srgbClr val="000000"/>
              </a:solidFill>
              <a:latin typeface="Arial"/>
              <a:ea typeface="Arial"/>
              <a:cs typeface="Arial"/>
              <a:sym typeface="Arial"/>
            </a:endParaRPr>
          </a:p>
        </p:txBody>
      </p:sp>
      <p:sp>
        <p:nvSpPr>
          <p:cNvPr id="1005" name="Google Shape;1005;p25"/>
          <p:cNvSpPr txBox="1"/>
          <p:nvPr/>
        </p:nvSpPr>
        <p:spPr>
          <a:xfrm>
            <a:off x="2523744" y="4681728"/>
            <a:ext cx="2176272" cy="34747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80"/>
              <a:buFont typeface="Arial"/>
              <a:buNone/>
            </a:pPr>
            <a:r>
              <a:rPr lang="en-US" sz="1080" b="0" i="0" u="none" strike="noStrike" cap="none">
                <a:solidFill>
                  <a:srgbClr val="666A6C"/>
                </a:solidFill>
                <a:latin typeface="Arial"/>
                <a:ea typeface="Arial"/>
                <a:cs typeface="Arial"/>
                <a:sym typeface="Arial"/>
              </a:rPr>
              <a:t>gross reward /</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080"/>
              <a:buFont typeface="Arial"/>
              <a:buNone/>
            </a:pPr>
            <a:r>
              <a:rPr lang="en-US" sz="1080" b="0" i="0" u="none" strike="noStrike" cap="none">
                <a:solidFill>
                  <a:srgbClr val="666A6C"/>
                </a:solidFill>
                <a:latin typeface="Arial"/>
                <a:ea typeface="Arial"/>
                <a:cs typeface="Arial"/>
                <a:sym typeface="Arial"/>
              </a:rPr>
              <a:t>loss to review level</a:t>
            </a:r>
            <a:endParaRPr sz="1400" b="0" i="0" u="none" strike="noStrike" cap="none">
              <a:solidFill>
                <a:srgbClr val="000000"/>
              </a:solidFill>
              <a:latin typeface="Arial"/>
              <a:ea typeface="Arial"/>
              <a:cs typeface="Arial"/>
              <a:sym typeface="Arial"/>
            </a:endParaRPr>
          </a:p>
        </p:txBody>
      </p:sp>
      <p:sp>
        <p:nvSpPr>
          <p:cNvPr id="1006" name="Google Shape;1006;p25"/>
          <p:cNvSpPr/>
          <p:nvPr/>
        </p:nvSpPr>
        <p:spPr>
          <a:xfrm>
            <a:off x="5001768" y="2834640"/>
            <a:ext cx="3593592" cy="2276856"/>
          </a:xfrm>
          <a:prstGeom prst="roundRect">
            <a:avLst>
              <a:gd name="adj" fmla="val 12000"/>
            </a:avLst>
          </a:prstGeom>
          <a:solidFill>
            <a:srgbClr val="F7F7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7" name="Google Shape;1007;p25"/>
          <p:cNvSpPr txBox="1"/>
          <p:nvPr/>
        </p:nvSpPr>
        <p:spPr>
          <a:xfrm>
            <a:off x="5175504" y="2999232"/>
            <a:ext cx="3236976"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18"/>
              <a:buFont typeface="Arial"/>
              <a:buNone/>
            </a:pPr>
            <a:r>
              <a:rPr lang="en-US" sz="1019" b="1" i="0" u="none" strike="noStrike" cap="none">
                <a:solidFill>
                  <a:srgbClr val="736324"/>
                </a:solidFill>
                <a:latin typeface="Arial"/>
                <a:ea typeface="Arial"/>
                <a:cs typeface="Arial"/>
                <a:sym typeface="Arial"/>
              </a:rPr>
              <a:t>THREE CONDITIONS BEFORE ENTRY</a:t>
            </a:r>
            <a:endParaRPr sz="1400" b="0" i="0" u="none" strike="noStrike" cap="none">
              <a:solidFill>
                <a:srgbClr val="000000"/>
              </a:solidFill>
              <a:latin typeface="Arial"/>
              <a:ea typeface="Arial"/>
              <a:cs typeface="Arial"/>
              <a:sym typeface="Arial"/>
            </a:endParaRPr>
          </a:p>
        </p:txBody>
      </p:sp>
      <p:sp>
        <p:nvSpPr>
          <p:cNvPr id="1008" name="Google Shape;1008;p25"/>
          <p:cNvSpPr/>
          <p:nvPr/>
        </p:nvSpPr>
        <p:spPr>
          <a:xfrm>
            <a:off x="5175504" y="3355848"/>
            <a:ext cx="228600" cy="228600"/>
          </a:xfrm>
          <a:prstGeom prst="roundRect">
            <a:avLst>
              <a:gd name="adj" fmla="val 12000"/>
            </a:avLst>
          </a:prstGeom>
          <a:solidFill>
            <a:srgbClr val="8900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9" name="Google Shape;1009;p25"/>
          <p:cNvSpPr txBox="1"/>
          <p:nvPr/>
        </p:nvSpPr>
        <p:spPr>
          <a:xfrm>
            <a:off x="5175504" y="3379622"/>
            <a:ext cx="228600" cy="16459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Clr>
                <a:srgbClr val="000000"/>
              </a:buClr>
              <a:buSzPts val="1000"/>
              <a:buFont typeface="Arial"/>
              <a:buNone/>
            </a:pPr>
            <a:r>
              <a:rPr lang="en-US" sz="1000" b="1" i="0" u="none" strike="noStrike" cap="none">
                <a:solidFill>
                  <a:srgbClr val="FFFFFF"/>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010" name="Google Shape;1010;p25"/>
          <p:cNvSpPr txBox="1"/>
          <p:nvPr/>
        </p:nvSpPr>
        <p:spPr>
          <a:xfrm>
            <a:off x="5532120" y="3346704"/>
            <a:ext cx="2852928" cy="44805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80"/>
              <a:buFont typeface="Arial"/>
              <a:buNone/>
            </a:pPr>
            <a:r>
              <a:rPr lang="en-US" sz="1280" b="0" i="0" u="none" strike="noStrike" cap="none">
                <a:solidFill>
                  <a:srgbClr val="22282D"/>
                </a:solidFill>
                <a:latin typeface="Arial"/>
                <a:ea typeface="Arial"/>
                <a:cs typeface="Arial"/>
                <a:sym typeface="Arial"/>
              </a:rPr>
              <a:t>Pro-forma value loss after acquired</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80"/>
              <a:buFont typeface="Arial"/>
              <a:buNone/>
            </a:pPr>
            <a:r>
              <a:rPr lang="en-US" sz="1280" b="0" i="0" u="none" strike="noStrike" cap="none">
                <a:solidFill>
                  <a:srgbClr val="22282D"/>
                </a:solidFill>
                <a:latin typeface="Arial"/>
                <a:ea typeface="Arial"/>
                <a:cs typeface="Arial"/>
                <a:sym typeface="Arial"/>
              </a:rPr>
              <a:t>cash flows and transaction funding.</a:t>
            </a:r>
            <a:endParaRPr sz="1400" b="0" i="0" u="none" strike="noStrike" cap="none">
              <a:solidFill>
                <a:srgbClr val="000000"/>
              </a:solidFill>
              <a:latin typeface="Arial"/>
              <a:ea typeface="Arial"/>
              <a:cs typeface="Arial"/>
              <a:sym typeface="Arial"/>
            </a:endParaRPr>
          </a:p>
        </p:txBody>
      </p:sp>
      <p:sp>
        <p:nvSpPr>
          <p:cNvPr id="1011" name="Google Shape;1011;p25"/>
          <p:cNvSpPr/>
          <p:nvPr/>
        </p:nvSpPr>
        <p:spPr>
          <a:xfrm>
            <a:off x="5175504" y="3931920"/>
            <a:ext cx="228600" cy="228600"/>
          </a:xfrm>
          <a:prstGeom prst="roundRect">
            <a:avLst>
              <a:gd name="adj" fmla="val 12000"/>
            </a:avLst>
          </a:prstGeom>
          <a:solidFill>
            <a:srgbClr val="8900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12" name="Google Shape;1012;p25"/>
          <p:cNvSpPr txBox="1"/>
          <p:nvPr/>
        </p:nvSpPr>
        <p:spPr>
          <a:xfrm>
            <a:off x="5175504" y="3955694"/>
            <a:ext cx="228600" cy="16459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Clr>
                <a:srgbClr val="000000"/>
              </a:buClr>
              <a:buSzPts val="1000"/>
              <a:buFont typeface="Arial"/>
              <a:buNone/>
            </a:pPr>
            <a:r>
              <a:rPr lang="en-US" sz="1000" b="1" i="0" u="none" strike="noStrike" cap="none">
                <a:solidFill>
                  <a:srgbClr val="FFFFFF"/>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013" name="Google Shape;1013;p25"/>
          <p:cNvSpPr txBox="1"/>
          <p:nvPr/>
        </p:nvSpPr>
        <p:spPr>
          <a:xfrm>
            <a:off x="5532120" y="3922776"/>
            <a:ext cx="2852928" cy="44805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80"/>
              <a:buFont typeface="Arial"/>
              <a:buNone/>
            </a:pPr>
            <a:r>
              <a:rPr lang="en-US" sz="1280" b="0" i="0" u="none" strike="noStrike" cap="none">
                <a:solidFill>
                  <a:srgbClr val="22282D"/>
                </a:solidFill>
                <a:latin typeface="Arial"/>
                <a:ea typeface="Arial"/>
                <a:cs typeface="Arial"/>
                <a:sym typeface="Arial"/>
              </a:rPr>
              <a:t>Fresh borrow; squeeze review; &lt;6</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80"/>
              <a:buFont typeface="Arial"/>
              <a:buNone/>
            </a:pPr>
            <a:r>
              <a:rPr lang="en-US" sz="1280" b="0" i="0" u="none" strike="noStrike" cap="none">
                <a:solidFill>
                  <a:srgbClr val="22282D"/>
                </a:solidFill>
                <a:latin typeface="Arial"/>
                <a:ea typeface="Arial"/>
                <a:cs typeface="Arial"/>
                <a:sym typeface="Arial"/>
              </a:rPr>
              <a:t>days to cover on two readings.</a:t>
            </a:r>
            <a:endParaRPr sz="1400" b="0" i="0" u="none" strike="noStrike" cap="none">
              <a:solidFill>
                <a:srgbClr val="000000"/>
              </a:solidFill>
              <a:latin typeface="Arial"/>
              <a:ea typeface="Arial"/>
              <a:cs typeface="Arial"/>
              <a:sym typeface="Arial"/>
            </a:endParaRPr>
          </a:p>
        </p:txBody>
      </p:sp>
      <p:sp>
        <p:nvSpPr>
          <p:cNvPr id="1014" name="Google Shape;1014;p25"/>
          <p:cNvSpPr/>
          <p:nvPr/>
        </p:nvSpPr>
        <p:spPr>
          <a:xfrm>
            <a:off x="5175504" y="4498848"/>
            <a:ext cx="228600" cy="228600"/>
          </a:xfrm>
          <a:prstGeom prst="roundRect">
            <a:avLst>
              <a:gd name="adj" fmla="val 12000"/>
            </a:avLst>
          </a:prstGeom>
          <a:solidFill>
            <a:srgbClr val="8900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15" name="Google Shape;1015;p25"/>
          <p:cNvSpPr txBox="1"/>
          <p:nvPr/>
        </p:nvSpPr>
        <p:spPr>
          <a:xfrm>
            <a:off x="5175504" y="4522622"/>
            <a:ext cx="228600" cy="16459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Clr>
                <a:srgbClr val="000000"/>
              </a:buClr>
              <a:buSzPts val="1000"/>
              <a:buFont typeface="Arial"/>
              <a:buNone/>
            </a:pPr>
            <a:r>
              <a:rPr lang="en-US" sz="1000" b="1" i="0" u="none" strike="noStrike" cap="none">
                <a:solidFill>
                  <a:srgbClr val="FFFFFF"/>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016" name="Google Shape;1016;p25"/>
          <p:cNvSpPr txBox="1"/>
          <p:nvPr/>
        </p:nvSpPr>
        <p:spPr>
          <a:xfrm>
            <a:off x="5532120" y="4489704"/>
            <a:ext cx="2852928" cy="44805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80"/>
              <a:buFont typeface="Arial"/>
              <a:buNone/>
            </a:pPr>
            <a:r>
              <a:rPr lang="en-US" sz="1280" b="0" i="0" u="none" strike="noStrike" cap="none">
                <a:solidFill>
                  <a:srgbClr val="22282D"/>
                </a:solidFill>
                <a:latin typeface="Arial"/>
                <a:ea typeface="Arial"/>
                <a:cs typeface="Arial"/>
                <a:sym typeface="Arial"/>
              </a:rPr>
              <a:t>Rebuilt target and risk plan—</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80"/>
              <a:buFont typeface="Arial"/>
              <a:buNone/>
            </a:pPr>
            <a:r>
              <a:rPr lang="en-US" sz="1280" b="0" i="0" u="none" strike="noStrike" cap="none">
                <a:solidFill>
                  <a:srgbClr val="22282D"/>
                </a:solidFill>
                <a:latin typeface="Arial"/>
                <a:ea typeface="Arial"/>
                <a:cs typeface="Arial"/>
                <a:sym typeface="Arial"/>
              </a:rPr>
              <a:t>a low factor score is insufficient.</a:t>
            </a:r>
            <a:endParaRPr sz="1400" b="0" i="0" u="none" strike="noStrike" cap="none">
              <a:solidFill>
                <a:srgbClr val="000000"/>
              </a:solidFill>
              <a:latin typeface="Arial"/>
              <a:ea typeface="Arial"/>
              <a:cs typeface="Arial"/>
              <a:sym typeface="Arial"/>
            </a:endParaRPr>
          </a:p>
        </p:txBody>
      </p:sp>
      <p:sp>
        <p:nvSpPr>
          <p:cNvPr id="1017" name="Google Shape;1017;p25"/>
          <p:cNvSpPr/>
          <p:nvPr/>
        </p:nvSpPr>
        <p:spPr>
          <a:xfrm>
            <a:off x="548640" y="5312664"/>
            <a:ext cx="8046720" cy="475488"/>
          </a:xfrm>
          <a:prstGeom prst="roundRect">
            <a:avLst>
              <a:gd name="adj" fmla="val 12000"/>
            </a:avLst>
          </a:prstGeom>
          <a:solidFill>
            <a:srgbClr val="F8EC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18" name="Google Shape;1018;p25"/>
          <p:cNvSpPr txBox="1"/>
          <p:nvPr/>
        </p:nvSpPr>
        <p:spPr>
          <a:xfrm>
            <a:off x="731520" y="5431536"/>
            <a:ext cx="7690104"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90"/>
              <a:buFont typeface="Arial"/>
              <a:buNone/>
            </a:pPr>
            <a:r>
              <a:rPr lang="en-US" sz="1390" b="1" i="0" u="none" strike="noStrike" cap="none">
                <a:solidFill>
                  <a:srgbClr val="89002A"/>
                </a:solidFill>
                <a:latin typeface="Arial"/>
                <a:ea typeface="Arial"/>
                <a:cs typeface="Arial"/>
                <a:sym typeface="Arial"/>
              </a:rPr>
              <a:t>Dissent: acquired cash flow and rare-earth upside can offset issuance and hurt the short.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p66"/>
          <p:cNvSpPr txBox="1"/>
          <p:nvPr/>
        </p:nvSpPr>
        <p:spPr>
          <a:xfrm>
            <a:off x="548640" y="512064"/>
            <a:ext cx="8092440" cy="37234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420"/>
              <a:buFont typeface="Arial"/>
              <a:buNone/>
            </a:pPr>
            <a:r>
              <a:rPr lang="en-US" sz="2420" b="1" i="0" u="none" strike="noStrike" cap="none">
                <a:solidFill>
                  <a:srgbClr val="0C0C0C"/>
                </a:solidFill>
                <a:latin typeface="Arial"/>
                <a:ea typeface="Arial"/>
                <a:cs typeface="Arial"/>
                <a:sym typeface="Arial"/>
              </a:rPr>
              <a:t>The watchlist must earn its next allocation</a:t>
            </a:r>
            <a:endParaRPr sz="1400" b="0" i="0" u="none" strike="noStrike" cap="none">
              <a:solidFill>
                <a:srgbClr val="000000"/>
              </a:solidFill>
              <a:latin typeface="Arial"/>
              <a:ea typeface="Arial"/>
              <a:cs typeface="Arial"/>
              <a:sym typeface="Arial"/>
            </a:endParaRPr>
          </a:p>
        </p:txBody>
      </p:sp>
      <p:sp>
        <p:nvSpPr>
          <p:cNvPr id="1025" name="Google Shape;1025;p66"/>
          <p:cNvSpPr txBox="1"/>
          <p:nvPr/>
        </p:nvSpPr>
        <p:spPr>
          <a:xfrm>
            <a:off x="548640" y="1097280"/>
            <a:ext cx="8001000" cy="44805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400"/>
              <a:buFont typeface="Arial"/>
              <a:buNone/>
            </a:pPr>
            <a:r>
              <a:rPr lang="en-US" sz="1400" b="0" i="0" u="none" strike="noStrike" cap="none">
                <a:solidFill>
                  <a:srgbClr val="666A6C"/>
                </a:solidFill>
                <a:latin typeface="Arial"/>
                <a:ea typeface="Arial"/>
                <a:cs typeface="Arial"/>
                <a:sym typeface="Arial"/>
              </a:rPr>
              <a:t>Keep every other name unfunded until its specific promotion condition is met.</a:t>
            </a:r>
            <a:endParaRPr sz="1400" b="0" i="0" u="none" strike="noStrike" cap="none">
              <a:solidFill>
                <a:srgbClr val="000000"/>
              </a:solidFill>
              <a:latin typeface="Arial"/>
              <a:ea typeface="Arial"/>
              <a:cs typeface="Arial"/>
              <a:sym typeface="Arial"/>
            </a:endParaRPr>
          </a:p>
        </p:txBody>
      </p:sp>
      <p:cxnSp>
        <p:nvCxnSpPr>
          <p:cNvPr id="1026" name="Google Shape;1026;p66"/>
          <p:cNvCxnSpPr/>
          <p:nvPr/>
        </p:nvCxnSpPr>
        <p:spPr>
          <a:xfrm>
            <a:off x="548640" y="5989320"/>
            <a:ext cx="8046720" cy="0"/>
          </a:xfrm>
          <a:prstGeom prst="straightConnector1">
            <a:avLst/>
          </a:prstGeom>
          <a:noFill/>
          <a:ln w="9525" cap="flat" cmpd="sng">
            <a:solidFill>
              <a:srgbClr val="D9DCD8"/>
            </a:solidFill>
            <a:prstDash val="solid"/>
            <a:round/>
            <a:headEnd type="none" w="sm" len="sm"/>
            <a:tailEnd type="none" w="sm" len="sm"/>
          </a:ln>
          <a:effectLst>
            <a:outerShdw blurRad="40000" dist="20000" dir="5400000" rotWithShape="0">
              <a:srgbClr val="000000">
                <a:alpha val="38039"/>
              </a:srgbClr>
            </a:outerShdw>
          </a:effectLst>
        </p:spPr>
      </p:cxnSp>
      <p:pic>
        <p:nvPicPr>
          <p:cNvPr id="1027" name="Google Shape;1027;p66" descr="fordham_logo.png"/>
          <p:cNvPicPr preferRelativeResize="0"/>
          <p:nvPr/>
        </p:nvPicPr>
        <p:blipFill rotWithShape="1">
          <a:blip r:embed="rId3">
            <a:alphaModFix/>
          </a:blip>
          <a:srcRect/>
          <a:stretch/>
        </p:blipFill>
        <p:spPr>
          <a:xfrm>
            <a:off x="146304" y="6236208"/>
            <a:ext cx="347472" cy="429768"/>
          </a:xfrm>
          <a:prstGeom prst="rect">
            <a:avLst/>
          </a:prstGeom>
          <a:noFill/>
          <a:ln>
            <a:noFill/>
          </a:ln>
        </p:spPr>
      </p:pic>
      <p:sp>
        <p:nvSpPr>
          <p:cNvPr id="1028" name="Google Shape;1028;p66"/>
          <p:cNvSpPr/>
          <p:nvPr/>
        </p:nvSpPr>
        <p:spPr>
          <a:xfrm>
            <a:off x="548640" y="1719072"/>
            <a:ext cx="8046720" cy="393192"/>
          </a:xfrm>
          <a:prstGeom prst="rect">
            <a:avLst/>
          </a:prstGeom>
          <a:solidFill>
            <a:srgbClr val="22282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29" name="Google Shape;1029;p66"/>
          <p:cNvSpPr txBox="1"/>
          <p:nvPr/>
        </p:nvSpPr>
        <p:spPr>
          <a:xfrm>
            <a:off x="658368" y="1828800"/>
            <a:ext cx="713232"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18"/>
              <a:buFont typeface="Arial"/>
              <a:buNone/>
            </a:pPr>
            <a:r>
              <a:rPr lang="en-US" sz="1019" b="1" i="0" u="none" strike="noStrike" cap="none">
                <a:solidFill>
                  <a:srgbClr val="FFFFFF"/>
                </a:solidFill>
                <a:latin typeface="Arial"/>
                <a:ea typeface="Arial"/>
                <a:cs typeface="Arial"/>
                <a:sym typeface="Arial"/>
              </a:rPr>
              <a:t>NAME</a:t>
            </a:r>
            <a:endParaRPr sz="1400" b="0" i="0" u="none" strike="noStrike" cap="none">
              <a:solidFill>
                <a:srgbClr val="000000"/>
              </a:solidFill>
              <a:latin typeface="Arial"/>
              <a:ea typeface="Arial"/>
              <a:cs typeface="Arial"/>
              <a:sym typeface="Arial"/>
            </a:endParaRPr>
          </a:p>
        </p:txBody>
      </p:sp>
      <p:sp>
        <p:nvSpPr>
          <p:cNvPr id="1030" name="Google Shape;1030;p66"/>
          <p:cNvSpPr txBox="1"/>
          <p:nvPr/>
        </p:nvSpPr>
        <p:spPr>
          <a:xfrm>
            <a:off x="1591056" y="1828800"/>
            <a:ext cx="2212848"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18"/>
              <a:buFont typeface="Arial"/>
              <a:buNone/>
            </a:pPr>
            <a:r>
              <a:rPr lang="en-US" sz="1019" b="1" i="0" u="none" strike="noStrike" cap="none">
                <a:solidFill>
                  <a:srgbClr val="FFFFFF"/>
                </a:solidFill>
                <a:latin typeface="Arial"/>
                <a:ea typeface="Arial"/>
                <a:cs typeface="Arial"/>
                <a:sym typeface="Arial"/>
              </a:rPr>
              <a:t>WHY RETAIN IT</a:t>
            </a:r>
            <a:endParaRPr sz="1400" b="0" i="0" u="none" strike="noStrike" cap="none">
              <a:solidFill>
                <a:srgbClr val="000000"/>
              </a:solidFill>
              <a:latin typeface="Arial"/>
              <a:ea typeface="Arial"/>
              <a:cs typeface="Arial"/>
              <a:sym typeface="Arial"/>
            </a:endParaRPr>
          </a:p>
        </p:txBody>
      </p:sp>
      <p:sp>
        <p:nvSpPr>
          <p:cNvPr id="1031" name="Google Shape;1031;p66"/>
          <p:cNvSpPr txBox="1"/>
          <p:nvPr/>
        </p:nvSpPr>
        <p:spPr>
          <a:xfrm>
            <a:off x="4023360" y="1828800"/>
            <a:ext cx="4462272"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018"/>
              <a:buFont typeface="Arial"/>
              <a:buNone/>
            </a:pPr>
            <a:r>
              <a:rPr lang="en-US" sz="1019" b="1" i="0" u="none" strike="noStrike" cap="none">
                <a:solidFill>
                  <a:srgbClr val="FFFFFF"/>
                </a:solidFill>
                <a:latin typeface="Arial"/>
                <a:ea typeface="Arial"/>
                <a:cs typeface="Arial"/>
                <a:sym typeface="Arial"/>
              </a:rPr>
              <a:t>WHAT EARNS A FRESH DECISION</a:t>
            </a:r>
            <a:endParaRPr sz="1400" b="0" i="0" u="none" strike="noStrike" cap="none">
              <a:solidFill>
                <a:srgbClr val="000000"/>
              </a:solidFill>
              <a:latin typeface="Arial"/>
              <a:ea typeface="Arial"/>
              <a:cs typeface="Arial"/>
              <a:sym typeface="Arial"/>
            </a:endParaRPr>
          </a:p>
        </p:txBody>
      </p:sp>
      <p:sp>
        <p:nvSpPr>
          <p:cNvPr id="1032" name="Google Shape;1032;p66"/>
          <p:cNvSpPr/>
          <p:nvPr/>
        </p:nvSpPr>
        <p:spPr>
          <a:xfrm>
            <a:off x="548640" y="2112264"/>
            <a:ext cx="8046720" cy="484632"/>
          </a:xfrm>
          <a:prstGeom prst="rect">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3" name="Google Shape;1033;p66"/>
          <p:cNvSpPr txBox="1"/>
          <p:nvPr/>
        </p:nvSpPr>
        <p:spPr>
          <a:xfrm>
            <a:off x="658368" y="2171700"/>
            <a:ext cx="71323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00"/>
              <a:buFont typeface="Arial"/>
              <a:buNone/>
            </a:pPr>
            <a:r>
              <a:rPr lang="en-US" sz="1300" b="1" i="0" u="none" strike="noStrike" cap="none">
                <a:solidFill>
                  <a:srgbClr val="736324"/>
                </a:solidFill>
                <a:latin typeface="Arial"/>
                <a:ea typeface="Arial"/>
                <a:cs typeface="Arial"/>
                <a:sym typeface="Arial"/>
              </a:rPr>
              <a:t>BWXT</a:t>
            </a:r>
            <a:endParaRPr sz="1400" b="0" i="0" u="none" strike="noStrike" cap="none">
              <a:solidFill>
                <a:srgbClr val="000000"/>
              </a:solidFill>
              <a:latin typeface="Arial"/>
              <a:ea typeface="Arial"/>
              <a:cs typeface="Arial"/>
              <a:sym typeface="Arial"/>
            </a:endParaRPr>
          </a:p>
        </p:txBody>
      </p:sp>
      <p:sp>
        <p:nvSpPr>
          <p:cNvPr id="1034" name="Google Shape;1034;p66"/>
          <p:cNvSpPr txBox="1"/>
          <p:nvPr/>
        </p:nvSpPr>
        <p:spPr>
          <a:xfrm>
            <a:off x="1591056" y="2171700"/>
            <a:ext cx="2212848"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First alternative to revisit</a:t>
            </a:r>
            <a:endParaRPr sz="1400" b="0" i="0" u="none" strike="noStrike" cap="none">
              <a:solidFill>
                <a:srgbClr val="000000"/>
              </a:solidFill>
              <a:latin typeface="Arial"/>
              <a:ea typeface="Arial"/>
              <a:cs typeface="Arial"/>
              <a:sym typeface="Arial"/>
            </a:endParaRPr>
          </a:p>
        </p:txBody>
      </p:sp>
      <p:sp>
        <p:nvSpPr>
          <p:cNvPr id="1035" name="Google Shape;1035;p66"/>
          <p:cNvSpPr txBox="1"/>
          <p:nvPr/>
        </p:nvSpPr>
        <p:spPr>
          <a:xfrm>
            <a:off x="4023360" y="2171700"/>
            <a:ext cx="446227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≈US$133 entry, or revised value with ≥20% upside;</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validate backlog conversion and the risk plan.</a:t>
            </a:r>
            <a:endParaRPr sz="1400" b="0" i="0" u="none" strike="noStrike" cap="none">
              <a:solidFill>
                <a:srgbClr val="000000"/>
              </a:solidFill>
              <a:latin typeface="Arial"/>
              <a:ea typeface="Arial"/>
              <a:cs typeface="Arial"/>
              <a:sym typeface="Arial"/>
            </a:endParaRPr>
          </a:p>
        </p:txBody>
      </p:sp>
      <p:sp>
        <p:nvSpPr>
          <p:cNvPr id="1036" name="Google Shape;1036;p66"/>
          <p:cNvSpPr/>
          <p:nvPr/>
        </p:nvSpPr>
        <p:spPr>
          <a:xfrm>
            <a:off x="548640" y="2596896"/>
            <a:ext cx="8046720" cy="484632"/>
          </a:xfrm>
          <a:prstGeom prst="rect">
            <a:avLst/>
          </a:prstGeom>
          <a:solidFill>
            <a:srgbClr val="F7F7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7" name="Google Shape;1037;p66"/>
          <p:cNvSpPr txBox="1"/>
          <p:nvPr/>
        </p:nvSpPr>
        <p:spPr>
          <a:xfrm>
            <a:off x="658368" y="2656332"/>
            <a:ext cx="71323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00"/>
              <a:buFont typeface="Arial"/>
              <a:buNone/>
            </a:pPr>
            <a:r>
              <a:rPr lang="en-US" sz="1300" b="1" i="0" u="none" strike="noStrike" cap="none">
                <a:solidFill>
                  <a:srgbClr val="736324"/>
                </a:solidFill>
                <a:latin typeface="Arial"/>
                <a:ea typeface="Arial"/>
                <a:cs typeface="Arial"/>
                <a:sym typeface="Arial"/>
              </a:rPr>
              <a:t>DNN</a:t>
            </a:r>
            <a:endParaRPr sz="1400" b="0" i="0" u="none" strike="noStrike" cap="none">
              <a:solidFill>
                <a:srgbClr val="000000"/>
              </a:solidFill>
              <a:latin typeface="Arial"/>
              <a:ea typeface="Arial"/>
              <a:cs typeface="Arial"/>
              <a:sym typeface="Arial"/>
            </a:endParaRPr>
          </a:p>
        </p:txBody>
      </p:sp>
      <p:sp>
        <p:nvSpPr>
          <p:cNvPr id="1038" name="Google Shape;1038;p66"/>
          <p:cNvSpPr txBox="1"/>
          <p:nvPr/>
        </p:nvSpPr>
        <p:spPr>
          <a:xfrm>
            <a:off x="1591056" y="2656332"/>
            <a:ext cx="2212848"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Construction de-risking</a:t>
            </a:r>
            <a:endParaRPr sz="1400" b="0" i="0" u="none" strike="noStrike" cap="none">
              <a:solidFill>
                <a:srgbClr val="000000"/>
              </a:solidFill>
              <a:latin typeface="Arial"/>
              <a:ea typeface="Arial"/>
              <a:cs typeface="Arial"/>
              <a:sym typeface="Arial"/>
            </a:endParaRPr>
          </a:p>
        </p:txBody>
      </p:sp>
      <p:sp>
        <p:nvSpPr>
          <p:cNvPr id="1039" name="Google Shape;1039;p66"/>
          <p:cNvSpPr txBox="1"/>
          <p:nvPr/>
        </p:nvSpPr>
        <p:spPr>
          <a:xfrm>
            <a:off x="4023360" y="2656332"/>
            <a:ext cx="446227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≥30% upside; project funding covers budget</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plus the deck’s 20% cushion.</a:t>
            </a:r>
            <a:endParaRPr sz="1400" b="0" i="0" u="none" strike="noStrike" cap="none">
              <a:solidFill>
                <a:srgbClr val="000000"/>
              </a:solidFill>
              <a:latin typeface="Arial"/>
              <a:ea typeface="Arial"/>
              <a:cs typeface="Arial"/>
              <a:sym typeface="Arial"/>
            </a:endParaRPr>
          </a:p>
        </p:txBody>
      </p:sp>
      <p:sp>
        <p:nvSpPr>
          <p:cNvPr id="1040" name="Google Shape;1040;p66"/>
          <p:cNvSpPr/>
          <p:nvPr/>
        </p:nvSpPr>
        <p:spPr>
          <a:xfrm>
            <a:off x="548640" y="3081528"/>
            <a:ext cx="8046720" cy="484632"/>
          </a:xfrm>
          <a:prstGeom prst="rect">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41" name="Google Shape;1041;p66"/>
          <p:cNvSpPr txBox="1"/>
          <p:nvPr/>
        </p:nvSpPr>
        <p:spPr>
          <a:xfrm>
            <a:off x="658368" y="3140964"/>
            <a:ext cx="71323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00"/>
              <a:buFont typeface="Arial"/>
              <a:buNone/>
            </a:pPr>
            <a:r>
              <a:rPr lang="en-US" sz="1300" b="1" i="0" u="none" strike="noStrike" cap="none">
                <a:solidFill>
                  <a:srgbClr val="736324"/>
                </a:solidFill>
                <a:latin typeface="Arial"/>
                <a:ea typeface="Arial"/>
                <a:cs typeface="Arial"/>
                <a:sym typeface="Arial"/>
              </a:rPr>
              <a:t>KAP</a:t>
            </a:r>
            <a:endParaRPr sz="1400" b="0" i="0" u="none" strike="noStrike" cap="none">
              <a:solidFill>
                <a:srgbClr val="000000"/>
              </a:solidFill>
              <a:latin typeface="Arial"/>
              <a:ea typeface="Arial"/>
              <a:cs typeface="Arial"/>
              <a:sym typeface="Arial"/>
            </a:endParaRPr>
          </a:p>
        </p:txBody>
      </p:sp>
      <p:sp>
        <p:nvSpPr>
          <p:cNvPr id="1042" name="Google Shape;1042;p66"/>
          <p:cNvSpPr txBox="1"/>
          <p:nvPr/>
        </p:nvSpPr>
        <p:spPr>
          <a:xfrm>
            <a:off x="1591056" y="3140964"/>
            <a:ext cx="2212848"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Operating case, access risk</a:t>
            </a:r>
            <a:endParaRPr sz="1400" b="0" i="0" u="none" strike="noStrike" cap="none">
              <a:solidFill>
                <a:srgbClr val="000000"/>
              </a:solidFill>
              <a:latin typeface="Arial"/>
              <a:ea typeface="Arial"/>
              <a:cs typeface="Arial"/>
              <a:sym typeface="Arial"/>
            </a:endParaRPr>
          </a:p>
        </p:txBody>
      </p:sp>
      <p:sp>
        <p:nvSpPr>
          <p:cNvPr id="1043" name="Google Shape;1043;p66"/>
          <p:cNvSpPr txBox="1"/>
          <p:nvPr/>
        </p:nvSpPr>
        <p:spPr>
          <a:xfrm>
            <a:off x="4023360" y="3140964"/>
            <a:ext cx="446227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≥30% cash-flow-value upside; verify custody,</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settlement and the ability to receive cash.</a:t>
            </a:r>
            <a:endParaRPr sz="1400" b="0" i="0" u="none" strike="noStrike" cap="none">
              <a:solidFill>
                <a:srgbClr val="000000"/>
              </a:solidFill>
              <a:latin typeface="Arial"/>
              <a:ea typeface="Arial"/>
              <a:cs typeface="Arial"/>
              <a:sym typeface="Arial"/>
            </a:endParaRPr>
          </a:p>
        </p:txBody>
      </p:sp>
      <p:sp>
        <p:nvSpPr>
          <p:cNvPr id="1044" name="Google Shape;1044;p66"/>
          <p:cNvSpPr/>
          <p:nvPr/>
        </p:nvSpPr>
        <p:spPr>
          <a:xfrm>
            <a:off x="548640" y="3566160"/>
            <a:ext cx="8046720" cy="484632"/>
          </a:xfrm>
          <a:prstGeom prst="rect">
            <a:avLst/>
          </a:prstGeom>
          <a:solidFill>
            <a:srgbClr val="F7F7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45" name="Google Shape;1045;p66"/>
          <p:cNvSpPr txBox="1"/>
          <p:nvPr/>
        </p:nvSpPr>
        <p:spPr>
          <a:xfrm>
            <a:off x="658368" y="3625596"/>
            <a:ext cx="71323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00"/>
              <a:buFont typeface="Arial"/>
              <a:buNone/>
            </a:pPr>
            <a:r>
              <a:rPr lang="en-US" sz="1300" b="1" i="0" u="none" strike="noStrike" cap="none">
                <a:solidFill>
                  <a:srgbClr val="736324"/>
                </a:solidFill>
                <a:latin typeface="Arial"/>
                <a:ea typeface="Arial"/>
                <a:cs typeface="Arial"/>
                <a:sym typeface="Arial"/>
              </a:rPr>
              <a:t>CCJ</a:t>
            </a:r>
            <a:endParaRPr sz="1400" b="0" i="0" u="none" strike="noStrike" cap="none">
              <a:solidFill>
                <a:srgbClr val="000000"/>
              </a:solidFill>
              <a:latin typeface="Arial"/>
              <a:ea typeface="Arial"/>
              <a:cs typeface="Arial"/>
              <a:sym typeface="Arial"/>
            </a:endParaRPr>
          </a:p>
        </p:txBody>
      </p:sp>
      <p:sp>
        <p:nvSpPr>
          <p:cNvPr id="1046" name="Google Shape;1046;p66"/>
          <p:cNvSpPr txBox="1"/>
          <p:nvPr/>
        </p:nvSpPr>
        <p:spPr>
          <a:xfrm>
            <a:off x="1591056" y="3625596"/>
            <a:ext cx="2212848"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Established benchmark</a:t>
            </a:r>
            <a:endParaRPr sz="1400" b="0" i="0" u="none" strike="noStrike" cap="none">
              <a:solidFill>
                <a:srgbClr val="000000"/>
              </a:solidFill>
              <a:latin typeface="Arial"/>
              <a:ea typeface="Arial"/>
              <a:cs typeface="Arial"/>
              <a:sym typeface="Arial"/>
            </a:endParaRPr>
          </a:p>
        </p:txBody>
      </p:sp>
      <p:sp>
        <p:nvSpPr>
          <p:cNvPr id="1047" name="Google Shape;1047;p66"/>
          <p:cNvSpPr txBox="1"/>
          <p:nvPr/>
        </p:nvSpPr>
        <p:spPr>
          <a:xfrm>
            <a:off x="4023360" y="3625596"/>
            <a:ext cx="446227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Reconciled sum-of-the-parts valuation</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shows ≥20% upside at the decision price.</a:t>
            </a:r>
            <a:endParaRPr sz="1400" b="0" i="0" u="none" strike="noStrike" cap="none">
              <a:solidFill>
                <a:srgbClr val="000000"/>
              </a:solidFill>
              <a:latin typeface="Arial"/>
              <a:ea typeface="Arial"/>
              <a:cs typeface="Arial"/>
              <a:sym typeface="Arial"/>
            </a:endParaRPr>
          </a:p>
        </p:txBody>
      </p:sp>
      <p:sp>
        <p:nvSpPr>
          <p:cNvPr id="1048" name="Google Shape;1048;p66"/>
          <p:cNvSpPr/>
          <p:nvPr/>
        </p:nvSpPr>
        <p:spPr>
          <a:xfrm>
            <a:off x="548640" y="4050791"/>
            <a:ext cx="8046720" cy="484632"/>
          </a:xfrm>
          <a:prstGeom prst="rect">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49" name="Google Shape;1049;p66"/>
          <p:cNvSpPr txBox="1"/>
          <p:nvPr/>
        </p:nvSpPr>
        <p:spPr>
          <a:xfrm>
            <a:off x="658368" y="4110228"/>
            <a:ext cx="71323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00"/>
              <a:buFont typeface="Arial"/>
              <a:buNone/>
            </a:pPr>
            <a:r>
              <a:rPr lang="en-US" sz="1300" b="1" i="0" u="none" strike="noStrike" cap="none">
                <a:solidFill>
                  <a:srgbClr val="736324"/>
                </a:solidFill>
                <a:latin typeface="Arial"/>
                <a:ea typeface="Arial"/>
                <a:cs typeface="Arial"/>
                <a:sym typeface="Arial"/>
              </a:rPr>
              <a:t>NXE</a:t>
            </a:r>
            <a:endParaRPr sz="1400" b="0" i="0" u="none" strike="noStrike" cap="none">
              <a:solidFill>
                <a:srgbClr val="000000"/>
              </a:solidFill>
              <a:latin typeface="Arial"/>
              <a:ea typeface="Arial"/>
              <a:cs typeface="Arial"/>
              <a:sym typeface="Arial"/>
            </a:endParaRPr>
          </a:p>
        </p:txBody>
      </p:sp>
      <p:sp>
        <p:nvSpPr>
          <p:cNvPr id="1050" name="Google Shape;1050;p66"/>
          <p:cNvSpPr txBox="1"/>
          <p:nvPr/>
        </p:nvSpPr>
        <p:spPr>
          <a:xfrm>
            <a:off x="1591056" y="4110228"/>
            <a:ext cx="2212848"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Longer-dated development</a:t>
            </a:r>
            <a:endParaRPr sz="1400" b="0" i="0" u="none" strike="noStrike" cap="none">
              <a:solidFill>
                <a:srgbClr val="000000"/>
              </a:solidFill>
              <a:latin typeface="Arial"/>
              <a:ea typeface="Arial"/>
              <a:cs typeface="Arial"/>
              <a:sym typeface="Arial"/>
            </a:endParaRPr>
          </a:p>
        </p:txBody>
      </p:sp>
      <p:sp>
        <p:nvSpPr>
          <p:cNvPr id="1051" name="Google Shape;1051;p66"/>
          <p:cNvSpPr txBox="1"/>
          <p:nvPr/>
        </p:nvSpPr>
        <p:spPr>
          <a:xfrm>
            <a:off x="4023360" y="4110228"/>
            <a:ext cx="446227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Revisit timing and funding against the mandate;</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do not force a position to fill the sleeve.</a:t>
            </a:r>
            <a:endParaRPr sz="1400" b="0" i="0" u="none" strike="noStrike" cap="none">
              <a:solidFill>
                <a:srgbClr val="000000"/>
              </a:solidFill>
              <a:latin typeface="Arial"/>
              <a:ea typeface="Arial"/>
              <a:cs typeface="Arial"/>
              <a:sym typeface="Arial"/>
            </a:endParaRPr>
          </a:p>
        </p:txBody>
      </p:sp>
      <p:sp>
        <p:nvSpPr>
          <p:cNvPr id="1052" name="Google Shape;1052;p66"/>
          <p:cNvSpPr/>
          <p:nvPr/>
        </p:nvSpPr>
        <p:spPr>
          <a:xfrm>
            <a:off x="548640" y="4535424"/>
            <a:ext cx="8046720" cy="484632"/>
          </a:xfrm>
          <a:prstGeom prst="rect">
            <a:avLst/>
          </a:prstGeom>
          <a:solidFill>
            <a:srgbClr val="F7F7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3" name="Google Shape;1053;p66"/>
          <p:cNvSpPr txBox="1"/>
          <p:nvPr/>
        </p:nvSpPr>
        <p:spPr>
          <a:xfrm>
            <a:off x="658368" y="4594860"/>
            <a:ext cx="71323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300"/>
              <a:buFont typeface="Arial"/>
              <a:buNone/>
            </a:pPr>
            <a:r>
              <a:rPr lang="en-US" sz="1300" b="1" i="0" u="none" strike="noStrike" cap="none">
                <a:solidFill>
                  <a:srgbClr val="736324"/>
                </a:solidFill>
                <a:latin typeface="Arial"/>
                <a:ea typeface="Arial"/>
                <a:cs typeface="Arial"/>
                <a:sym typeface="Arial"/>
              </a:rPr>
              <a:t>SPUT</a:t>
            </a:r>
            <a:endParaRPr sz="1400" b="0" i="0" u="none" strike="noStrike" cap="none">
              <a:solidFill>
                <a:srgbClr val="000000"/>
              </a:solidFill>
              <a:latin typeface="Arial"/>
              <a:ea typeface="Arial"/>
              <a:cs typeface="Arial"/>
              <a:sym typeface="Arial"/>
            </a:endParaRPr>
          </a:p>
        </p:txBody>
      </p:sp>
      <p:sp>
        <p:nvSpPr>
          <p:cNvPr id="1054" name="Google Shape;1054;p66"/>
          <p:cNvSpPr txBox="1"/>
          <p:nvPr/>
        </p:nvSpPr>
        <p:spPr>
          <a:xfrm>
            <a:off x="1591056" y="4594860"/>
            <a:ext cx="2212848"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Direct uranium alternative</a:t>
            </a:r>
            <a:endParaRPr sz="1400" b="0" i="0" u="none" strike="noStrike" cap="none">
              <a:solidFill>
                <a:srgbClr val="000000"/>
              </a:solidFill>
              <a:latin typeface="Arial"/>
              <a:ea typeface="Arial"/>
              <a:cs typeface="Arial"/>
              <a:sym typeface="Arial"/>
            </a:endParaRPr>
          </a:p>
        </p:txBody>
      </p:sp>
      <p:sp>
        <p:nvSpPr>
          <p:cNvPr id="1055" name="Google Shape;1055;p66"/>
          <p:cNvSpPr txBox="1"/>
          <p:nvPr/>
        </p:nvSpPr>
        <p:spPr>
          <a:xfrm>
            <a:off x="4023360" y="4594860"/>
            <a:ext cx="4462272"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Establish a need for physical exposure and</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00"/>
              <a:buFont typeface="Arial"/>
              <a:buNone/>
            </a:pPr>
            <a:r>
              <a:rPr lang="en-US" sz="1200" b="0" i="0" u="none" strike="noStrike" cap="none">
                <a:solidFill>
                  <a:srgbClr val="22282D"/>
                </a:solidFill>
                <a:latin typeface="Arial"/>
                <a:ea typeface="Arial"/>
                <a:cs typeface="Arial"/>
                <a:sym typeface="Arial"/>
              </a:rPr>
              <a:t>assess the NAV discount; avoid unintended overlap.</a:t>
            </a:r>
            <a:endParaRPr sz="1400" b="0" i="0" u="none" strike="noStrike" cap="none">
              <a:solidFill>
                <a:srgbClr val="000000"/>
              </a:solidFill>
              <a:latin typeface="Arial"/>
              <a:ea typeface="Arial"/>
              <a:cs typeface="Arial"/>
              <a:sym typeface="Arial"/>
            </a:endParaRPr>
          </a:p>
        </p:txBody>
      </p:sp>
      <p:sp>
        <p:nvSpPr>
          <p:cNvPr id="1056" name="Google Shape;1056;p66"/>
          <p:cNvSpPr/>
          <p:nvPr/>
        </p:nvSpPr>
        <p:spPr>
          <a:xfrm>
            <a:off x="548640" y="5138928"/>
            <a:ext cx="8046720" cy="658368"/>
          </a:xfrm>
          <a:prstGeom prst="roundRect">
            <a:avLst>
              <a:gd name="adj" fmla="val 12000"/>
            </a:avLst>
          </a:prstGeom>
          <a:solidFill>
            <a:srgbClr val="F7F7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7" name="Google Shape;1057;p66"/>
          <p:cNvSpPr txBox="1"/>
          <p:nvPr/>
        </p:nvSpPr>
        <p:spPr>
          <a:xfrm>
            <a:off x="731520" y="5276088"/>
            <a:ext cx="7671816" cy="36576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60"/>
              <a:buFont typeface="Arial"/>
              <a:buNone/>
            </a:pPr>
            <a:r>
              <a:rPr lang="en-US" sz="1260" b="0" i="0" u="none" strike="noStrike" cap="none">
                <a:solidFill>
                  <a:srgbClr val="666A6C"/>
                </a:solidFill>
                <a:latin typeface="Arial"/>
                <a:ea typeface="Arial"/>
                <a:cs typeface="Arial"/>
                <a:sym typeface="Arial"/>
              </a:rPr>
              <a:t>UEC / LEU / SMR: lower-priority monitoring. CEG / OKLO: research-only until</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260"/>
              <a:buFont typeface="Arial"/>
              <a:buNone/>
            </a:pPr>
            <a:r>
              <a:rPr lang="en-US" sz="1260" b="0" i="0" u="none" strike="noStrike" cap="none">
                <a:solidFill>
                  <a:srgbClr val="666A6C"/>
                </a:solidFill>
                <a:latin typeface="Arial"/>
                <a:ea typeface="Arial"/>
                <a:cs typeface="Arial"/>
                <a:sym typeface="Arial"/>
              </a:rPr>
              <a:t>the source mandate’s eligibility tests are evidenced. No automatic substitute trades.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p67"/>
          <p:cNvSpPr txBox="1"/>
          <p:nvPr/>
        </p:nvSpPr>
        <p:spPr>
          <a:xfrm>
            <a:off x="548640" y="512064"/>
            <a:ext cx="8092440" cy="37234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2420"/>
              <a:buFont typeface="Arial"/>
              <a:buNone/>
            </a:pPr>
            <a:r>
              <a:rPr lang="en-US" sz="2420" b="1" i="0" u="none" strike="noStrike" cap="none">
                <a:solidFill>
                  <a:srgbClr val="22282D"/>
                </a:solidFill>
                <a:latin typeface="Arial"/>
                <a:ea typeface="Arial"/>
                <a:cs typeface="Arial"/>
                <a:sym typeface="Arial"/>
              </a:rPr>
              <a:t>Long-Short, if the gates clear: PDN and UUUU</a:t>
            </a:r>
            <a:endParaRPr sz="1400" b="0" i="0" u="none" strike="noStrike" cap="none">
              <a:solidFill>
                <a:srgbClr val="000000"/>
              </a:solidFill>
              <a:latin typeface="Arial"/>
              <a:ea typeface="Arial"/>
              <a:cs typeface="Arial"/>
              <a:sym typeface="Arial"/>
            </a:endParaRPr>
          </a:p>
        </p:txBody>
      </p:sp>
      <p:sp>
        <p:nvSpPr>
          <p:cNvPr id="1064" name="Google Shape;1064;p67"/>
          <p:cNvSpPr txBox="1"/>
          <p:nvPr/>
        </p:nvSpPr>
        <p:spPr>
          <a:xfrm>
            <a:off x="548640" y="1097280"/>
            <a:ext cx="8001000" cy="44805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400"/>
              <a:buFont typeface="Arial"/>
              <a:buNone/>
            </a:pPr>
            <a:r>
              <a:rPr lang="en-US" sz="1400" b="0" i="0" u="none" strike="noStrike" cap="none">
                <a:solidFill>
                  <a:srgbClr val="666A6C"/>
                </a:solidFill>
                <a:latin typeface="Arial"/>
                <a:ea typeface="Arial"/>
                <a:cs typeface="Arial"/>
                <a:sym typeface="Arial"/>
              </a:rPr>
              <a:t>Release capital when new evidence changes the economics—not merely the narrative.</a:t>
            </a:r>
            <a:endParaRPr sz="1400" b="0" i="0" u="none" strike="noStrike" cap="none">
              <a:solidFill>
                <a:srgbClr val="000000"/>
              </a:solidFill>
              <a:latin typeface="Arial"/>
              <a:ea typeface="Arial"/>
              <a:cs typeface="Arial"/>
              <a:sym typeface="Arial"/>
            </a:endParaRPr>
          </a:p>
        </p:txBody>
      </p:sp>
      <p:cxnSp>
        <p:nvCxnSpPr>
          <p:cNvPr id="1065" name="Google Shape;1065;p67"/>
          <p:cNvCxnSpPr/>
          <p:nvPr/>
        </p:nvCxnSpPr>
        <p:spPr>
          <a:xfrm>
            <a:off x="548640" y="5989320"/>
            <a:ext cx="8046720" cy="0"/>
          </a:xfrm>
          <a:prstGeom prst="straightConnector1">
            <a:avLst/>
          </a:prstGeom>
          <a:noFill/>
          <a:ln w="9525" cap="flat" cmpd="sng">
            <a:solidFill>
              <a:srgbClr val="D9DCD8"/>
            </a:solidFill>
            <a:prstDash val="solid"/>
            <a:round/>
            <a:headEnd type="none" w="sm" len="sm"/>
            <a:tailEnd type="none" w="sm" len="sm"/>
          </a:ln>
          <a:effectLst>
            <a:outerShdw blurRad="40000" dist="20000" dir="5400000" rotWithShape="0">
              <a:srgbClr val="000000">
                <a:alpha val="38039"/>
              </a:srgbClr>
            </a:outerShdw>
          </a:effectLst>
        </p:spPr>
      </p:cxnSp>
      <p:pic>
        <p:nvPicPr>
          <p:cNvPr id="1066" name="Google Shape;1066;p67" descr="fordham_logo.png"/>
          <p:cNvPicPr preferRelativeResize="0"/>
          <p:nvPr/>
        </p:nvPicPr>
        <p:blipFill rotWithShape="1">
          <a:blip r:embed="rId3">
            <a:alphaModFix/>
          </a:blip>
          <a:srcRect/>
          <a:stretch/>
        </p:blipFill>
        <p:spPr>
          <a:xfrm>
            <a:off x="146304" y="6236208"/>
            <a:ext cx="347472" cy="429768"/>
          </a:xfrm>
          <a:prstGeom prst="rect">
            <a:avLst/>
          </a:prstGeom>
          <a:noFill/>
          <a:ln>
            <a:noFill/>
          </a:ln>
        </p:spPr>
      </p:pic>
      <p:sp>
        <p:nvSpPr>
          <p:cNvPr id="1067" name="Google Shape;1067;p67"/>
          <p:cNvSpPr/>
          <p:nvPr/>
        </p:nvSpPr>
        <p:spPr>
          <a:xfrm>
            <a:off x="548640" y="1700784"/>
            <a:ext cx="3913632" cy="640080"/>
          </a:xfrm>
          <a:prstGeom prst="roundRect">
            <a:avLst>
              <a:gd name="adj" fmla="val 12000"/>
            </a:avLst>
          </a:prstGeom>
          <a:solidFill>
            <a:srgbClr val="EDF3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68" name="Google Shape;1068;p67"/>
          <p:cNvSpPr txBox="1"/>
          <p:nvPr/>
        </p:nvSpPr>
        <p:spPr>
          <a:xfrm>
            <a:off x="731520" y="1883664"/>
            <a:ext cx="3557016" cy="2286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500"/>
              <a:buFont typeface="Arial"/>
              <a:buNone/>
            </a:pPr>
            <a:r>
              <a:rPr lang="en-US" sz="1500" b="1" i="0" u="none" strike="noStrike" cap="none">
                <a:solidFill>
                  <a:srgbClr val="45644E"/>
                </a:solidFill>
                <a:latin typeface="Arial"/>
                <a:ea typeface="Arial"/>
                <a:cs typeface="Arial"/>
                <a:sym typeface="Arial"/>
              </a:rPr>
              <a:t>LONG PDN  |  ENTRY NOT YET MET</a:t>
            </a:r>
            <a:endParaRPr sz="1400" b="0" i="0" u="none" strike="noStrike" cap="none">
              <a:solidFill>
                <a:srgbClr val="000000"/>
              </a:solidFill>
              <a:latin typeface="Arial"/>
              <a:ea typeface="Arial"/>
              <a:cs typeface="Arial"/>
              <a:sym typeface="Arial"/>
            </a:endParaRPr>
          </a:p>
        </p:txBody>
      </p:sp>
      <p:sp>
        <p:nvSpPr>
          <p:cNvPr id="1069" name="Google Shape;1069;p67"/>
          <p:cNvSpPr/>
          <p:nvPr/>
        </p:nvSpPr>
        <p:spPr>
          <a:xfrm>
            <a:off x="4645152" y="1700784"/>
            <a:ext cx="3950208" cy="640080"/>
          </a:xfrm>
          <a:prstGeom prst="roundRect">
            <a:avLst>
              <a:gd name="adj" fmla="val 12000"/>
            </a:avLst>
          </a:prstGeom>
          <a:solidFill>
            <a:srgbClr val="F8EC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70" name="Google Shape;1070;p67"/>
          <p:cNvSpPr txBox="1"/>
          <p:nvPr/>
        </p:nvSpPr>
        <p:spPr>
          <a:xfrm>
            <a:off x="4818888" y="1883664"/>
            <a:ext cx="3602736" cy="2286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450"/>
              <a:buFont typeface="Arial"/>
              <a:buNone/>
            </a:pPr>
            <a:r>
              <a:rPr lang="en-US" sz="1450" b="1" i="0" u="none" strike="noStrike" cap="none">
                <a:solidFill>
                  <a:srgbClr val="89002A"/>
                </a:solidFill>
                <a:latin typeface="Arial"/>
                <a:ea typeface="Arial"/>
                <a:cs typeface="Arial"/>
                <a:sym typeface="Arial"/>
              </a:rPr>
              <a:t>SHORT UUUU  |  VERIFY VALUE LOSS</a:t>
            </a:r>
            <a:endParaRPr sz="1400" b="0" i="0" u="none" strike="noStrike" cap="none">
              <a:solidFill>
                <a:srgbClr val="000000"/>
              </a:solidFill>
              <a:latin typeface="Arial"/>
              <a:ea typeface="Arial"/>
              <a:cs typeface="Arial"/>
              <a:sym typeface="Arial"/>
            </a:endParaRPr>
          </a:p>
        </p:txBody>
      </p:sp>
      <p:sp>
        <p:nvSpPr>
          <p:cNvPr id="1071" name="Google Shape;1071;p67"/>
          <p:cNvSpPr/>
          <p:nvPr/>
        </p:nvSpPr>
        <p:spPr>
          <a:xfrm>
            <a:off x="548640" y="2651760"/>
            <a:ext cx="8046720" cy="393192"/>
          </a:xfrm>
          <a:prstGeom prst="rect">
            <a:avLst/>
          </a:prstGeom>
          <a:solidFill>
            <a:srgbClr val="22282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72" name="Google Shape;1072;p67"/>
          <p:cNvSpPr txBox="1"/>
          <p:nvPr/>
        </p:nvSpPr>
        <p:spPr>
          <a:xfrm>
            <a:off x="640080" y="2756916"/>
            <a:ext cx="658368"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980"/>
              <a:buFont typeface="Arial"/>
              <a:buNone/>
            </a:pPr>
            <a:r>
              <a:rPr lang="en-US" sz="980" b="1" i="0" u="none" strike="noStrike" cap="none">
                <a:solidFill>
                  <a:srgbClr val="FFFFFF"/>
                </a:solidFill>
                <a:latin typeface="Arial"/>
                <a:ea typeface="Arial"/>
                <a:cs typeface="Arial"/>
                <a:sym typeface="Arial"/>
              </a:rPr>
              <a:t>CALL</a:t>
            </a:r>
            <a:endParaRPr sz="1400" b="0" i="0" u="none" strike="noStrike" cap="none">
              <a:solidFill>
                <a:srgbClr val="000000"/>
              </a:solidFill>
              <a:latin typeface="Arial"/>
              <a:ea typeface="Arial"/>
              <a:cs typeface="Arial"/>
              <a:sym typeface="Arial"/>
            </a:endParaRPr>
          </a:p>
        </p:txBody>
      </p:sp>
      <p:sp>
        <p:nvSpPr>
          <p:cNvPr id="1073" name="Google Shape;1073;p67"/>
          <p:cNvSpPr txBox="1"/>
          <p:nvPr/>
        </p:nvSpPr>
        <p:spPr>
          <a:xfrm>
            <a:off x="1481328" y="2756916"/>
            <a:ext cx="2734056"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980"/>
              <a:buFont typeface="Arial"/>
              <a:buNone/>
            </a:pPr>
            <a:r>
              <a:rPr lang="en-US" sz="980" b="1" i="0" u="none" strike="noStrike" cap="none">
                <a:solidFill>
                  <a:srgbClr val="FFFFFF"/>
                </a:solidFill>
                <a:latin typeface="Arial"/>
                <a:ea typeface="Arial"/>
                <a:cs typeface="Arial"/>
                <a:sym typeface="Arial"/>
              </a:rPr>
              <a:t>EVIDENCE REQUIRED</a:t>
            </a:r>
            <a:endParaRPr sz="1400" b="0" i="0" u="none" strike="noStrike" cap="none">
              <a:solidFill>
                <a:srgbClr val="000000"/>
              </a:solidFill>
              <a:latin typeface="Arial"/>
              <a:ea typeface="Arial"/>
              <a:cs typeface="Arial"/>
              <a:sym typeface="Arial"/>
            </a:endParaRPr>
          </a:p>
        </p:txBody>
      </p:sp>
      <p:sp>
        <p:nvSpPr>
          <p:cNvPr id="1074" name="Google Shape;1074;p67"/>
          <p:cNvSpPr txBox="1"/>
          <p:nvPr/>
        </p:nvSpPr>
        <p:spPr>
          <a:xfrm>
            <a:off x="4398264" y="2756916"/>
            <a:ext cx="1911095"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980"/>
              <a:buFont typeface="Arial"/>
              <a:buNone/>
            </a:pPr>
            <a:r>
              <a:rPr lang="en-US" sz="980" b="1" i="0" u="none" strike="noStrike" cap="none">
                <a:solidFill>
                  <a:srgbClr val="FFFFFF"/>
                </a:solidFill>
                <a:latin typeface="Arial"/>
                <a:ea typeface="Arial"/>
                <a:cs typeface="Arial"/>
                <a:sym typeface="Arial"/>
              </a:rPr>
              <a:t>ACTION IF PASSED</a:t>
            </a:r>
            <a:endParaRPr sz="1400" b="0" i="0" u="none" strike="noStrike" cap="none">
              <a:solidFill>
                <a:srgbClr val="000000"/>
              </a:solidFill>
              <a:latin typeface="Arial"/>
              <a:ea typeface="Arial"/>
              <a:cs typeface="Arial"/>
              <a:sym typeface="Arial"/>
            </a:endParaRPr>
          </a:p>
        </p:txBody>
      </p:sp>
      <p:sp>
        <p:nvSpPr>
          <p:cNvPr id="1075" name="Google Shape;1075;p67"/>
          <p:cNvSpPr txBox="1"/>
          <p:nvPr/>
        </p:nvSpPr>
        <p:spPr>
          <a:xfrm>
            <a:off x="6492240" y="2756916"/>
            <a:ext cx="2011679"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980"/>
              <a:buFont typeface="Arial"/>
              <a:buNone/>
            </a:pPr>
            <a:r>
              <a:rPr lang="en-US" sz="980" b="1" i="0" u="none" strike="noStrike" cap="none">
                <a:solidFill>
                  <a:srgbClr val="FFFFFF"/>
                </a:solidFill>
                <a:latin typeface="Arial"/>
                <a:ea typeface="Arial"/>
                <a:cs typeface="Arial"/>
                <a:sym typeface="Arial"/>
              </a:rPr>
              <a:t>WHAT STOPS IT</a:t>
            </a:r>
            <a:endParaRPr sz="1400" b="0" i="0" u="none" strike="noStrike" cap="none">
              <a:solidFill>
                <a:srgbClr val="000000"/>
              </a:solidFill>
              <a:latin typeface="Arial"/>
              <a:ea typeface="Arial"/>
              <a:cs typeface="Arial"/>
              <a:sym typeface="Arial"/>
            </a:endParaRPr>
          </a:p>
        </p:txBody>
      </p:sp>
      <p:sp>
        <p:nvSpPr>
          <p:cNvPr id="1076" name="Google Shape;1076;p67"/>
          <p:cNvSpPr/>
          <p:nvPr/>
        </p:nvSpPr>
        <p:spPr>
          <a:xfrm>
            <a:off x="548640" y="3044952"/>
            <a:ext cx="8046720" cy="722376"/>
          </a:xfrm>
          <a:prstGeom prst="rect">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77" name="Google Shape;1077;p67"/>
          <p:cNvSpPr txBox="1"/>
          <p:nvPr/>
        </p:nvSpPr>
        <p:spPr>
          <a:xfrm>
            <a:off x="640080" y="3163824"/>
            <a:ext cx="658368"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736324"/>
                </a:solidFill>
                <a:latin typeface="Arial"/>
                <a:ea typeface="Arial"/>
                <a:cs typeface="Arial"/>
                <a:sym typeface="Arial"/>
              </a:rPr>
              <a:t>PDN</a:t>
            </a:r>
            <a:endParaRPr sz="1400" b="0" i="0" u="none" strike="noStrike" cap="none">
              <a:solidFill>
                <a:srgbClr val="000000"/>
              </a:solidFill>
              <a:latin typeface="Arial"/>
              <a:ea typeface="Arial"/>
              <a:cs typeface="Arial"/>
              <a:sym typeface="Arial"/>
            </a:endParaRPr>
          </a:p>
        </p:txBody>
      </p:sp>
      <p:sp>
        <p:nvSpPr>
          <p:cNvPr id="1078" name="Google Shape;1078;p67"/>
          <p:cNvSpPr txBox="1"/>
          <p:nvPr/>
        </p:nvSpPr>
        <p:spPr>
          <a:xfrm>
            <a:off x="1481328" y="3163824"/>
            <a:ext cx="2734056"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Output / cash hold;</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≤A$8.59 entry or</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≥20% revised upside.</a:t>
            </a:r>
            <a:endParaRPr sz="1400" b="0" i="0" u="none" strike="noStrike" cap="none">
              <a:solidFill>
                <a:srgbClr val="000000"/>
              </a:solidFill>
              <a:latin typeface="Arial"/>
              <a:ea typeface="Arial"/>
              <a:cs typeface="Arial"/>
              <a:sym typeface="Arial"/>
            </a:endParaRPr>
          </a:p>
        </p:txBody>
      </p:sp>
      <p:sp>
        <p:nvSpPr>
          <p:cNvPr id="1079" name="Google Shape;1079;p67"/>
          <p:cNvSpPr txBox="1"/>
          <p:nvPr/>
        </p:nvSpPr>
        <p:spPr>
          <a:xfrm>
            <a:off x="4398264" y="3163824"/>
            <a:ext cx="1911095"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Stage within the</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1.60% NAV cap;</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12-month checkpoint.</a:t>
            </a:r>
            <a:endParaRPr sz="1400" b="0" i="0" u="none" strike="noStrike" cap="none">
              <a:solidFill>
                <a:srgbClr val="000000"/>
              </a:solidFill>
              <a:latin typeface="Arial"/>
              <a:ea typeface="Arial"/>
              <a:cs typeface="Arial"/>
              <a:sym typeface="Arial"/>
            </a:endParaRPr>
          </a:p>
        </p:txBody>
      </p:sp>
      <p:sp>
        <p:nvSpPr>
          <p:cNvPr id="1080" name="Google Shape;1080;p67"/>
          <p:cNvSpPr txBox="1"/>
          <p:nvPr/>
        </p:nvSpPr>
        <p:spPr>
          <a:xfrm>
            <a:off x="6492240" y="3163824"/>
            <a:ext cx="2011679"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Guidance cut, weaker</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cash conversion or</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worse funding needs.</a:t>
            </a:r>
            <a:endParaRPr sz="1400" b="0" i="0" u="none" strike="noStrike" cap="none">
              <a:solidFill>
                <a:srgbClr val="000000"/>
              </a:solidFill>
              <a:latin typeface="Arial"/>
              <a:ea typeface="Arial"/>
              <a:cs typeface="Arial"/>
              <a:sym typeface="Arial"/>
            </a:endParaRPr>
          </a:p>
        </p:txBody>
      </p:sp>
      <p:sp>
        <p:nvSpPr>
          <p:cNvPr id="1081" name="Google Shape;1081;p67"/>
          <p:cNvSpPr/>
          <p:nvPr/>
        </p:nvSpPr>
        <p:spPr>
          <a:xfrm>
            <a:off x="548640" y="3767328"/>
            <a:ext cx="8046720" cy="722376"/>
          </a:xfrm>
          <a:prstGeom prst="rect">
            <a:avLst/>
          </a:prstGeom>
          <a:solidFill>
            <a:srgbClr val="F7F7F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82" name="Google Shape;1082;p67"/>
          <p:cNvSpPr txBox="1"/>
          <p:nvPr/>
        </p:nvSpPr>
        <p:spPr>
          <a:xfrm>
            <a:off x="640080" y="3886200"/>
            <a:ext cx="658368"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736324"/>
                </a:solidFill>
                <a:latin typeface="Arial"/>
                <a:ea typeface="Arial"/>
                <a:cs typeface="Arial"/>
                <a:sym typeface="Arial"/>
              </a:rPr>
              <a:t>UUUU</a:t>
            </a:r>
            <a:endParaRPr sz="1400" b="0" i="0" u="none" strike="noStrike" cap="none">
              <a:solidFill>
                <a:srgbClr val="000000"/>
              </a:solidFill>
              <a:latin typeface="Arial"/>
              <a:ea typeface="Arial"/>
              <a:cs typeface="Arial"/>
              <a:sym typeface="Arial"/>
            </a:endParaRPr>
          </a:p>
        </p:txBody>
      </p:sp>
      <p:sp>
        <p:nvSpPr>
          <p:cNvPr id="1083" name="Google Shape;1083;p67"/>
          <p:cNvSpPr txBox="1"/>
          <p:nvPr/>
        </p:nvSpPr>
        <p:spPr>
          <a:xfrm>
            <a:off x="1481328" y="3886200"/>
            <a:ext cx="2734056"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Pro-forma downside;</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new terms / funding;</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borrow and squeeze pass.</a:t>
            </a:r>
            <a:endParaRPr sz="1400" b="0" i="0" u="none" strike="noStrike" cap="none">
              <a:solidFill>
                <a:srgbClr val="000000"/>
              </a:solidFill>
              <a:latin typeface="Arial"/>
              <a:ea typeface="Arial"/>
              <a:cs typeface="Arial"/>
              <a:sym typeface="Arial"/>
            </a:endParaRPr>
          </a:p>
        </p:txBody>
      </p:sp>
      <p:sp>
        <p:nvSpPr>
          <p:cNvPr id="1084" name="Google Shape;1084;p67"/>
          <p:cNvSpPr txBox="1"/>
          <p:nvPr/>
        </p:nvSpPr>
        <p:spPr>
          <a:xfrm>
            <a:off x="4398264" y="3886200"/>
            <a:ext cx="1911095"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Tactical short within</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~1.00% NAV ceiling;</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reprice the risk plan.</a:t>
            </a:r>
            <a:endParaRPr sz="1400" b="0" i="0" u="none" strike="noStrike" cap="none">
              <a:solidFill>
                <a:srgbClr val="000000"/>
              </a:solidFill>
              <a:latin typeface="Arial"/>
              <a:ea typeface="Arial"/>
              <a:cs typeface="Arial"/>
              <a:sym typeface="Arial"/>
            </a:endParaRPr>
          </a:p>
        </p:txBody>
      </p:sp>
      <p:sp>
        <p:nvSpPr>
          <p:cNvPr id="1085" name="Google Shape;1085;p67"/>
          <p:cNvSpPr txBox="1"/>
          <p:nvPr/>
        </p:nvSpPr>
        <p:spPr>
          <a:xfrm>
            <a:off x="6492240" y="3886200"/>
            <a:ext cx="2011679"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Accretion, better terms,</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borrow failure or</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unacceptable squeeze risk.</a:t>
            </a:r>
            <a:endParaRPr sz="1400" b="0" i="0" u="none" strike="noStrike" cap="none">
              <a:solidFill>
                <a:srgbClr val="000000"/>
              </a:solidFill>
              <a:latin typeface="Arial"/>
              <a:ea typeface="Arial"/>
              <a:cs typeface="Arial"/>
              <a:sym typeface="Arial"/>
            </a:endParaRPr>
          </a:p>
        </p:txBody>
      </p:sp>
      <p:sp>
        <p:nvSpPr>
          <p:cNvPr id="1086" name="Google Shape;1086;p67"/>
          <p:cNvSpPr/>
          <p:nvPr/>
        </p:nvSpPr>
        <p:spPr>
          <a:xfrm>
            <a:off x="548640" y="4489704"/>
            <a:ext cx="8046720" cy="722376"/>
          </a:xfrm>
          <a:prstGeom prst="rect">
            <a:avLst/>
          </a:prstGeom>
          <a:solidFill>
            <a:srgbClr val="F4F1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87" name="Google Shape;1087;p67"/>
          <p:cNvSpPr txBox="1"/>
          <p:nvPr/>
        </p:nvSpPr>
        <p:spPr>
          <a:xfrm>
            <a:off x="640080" y="4608576"/>
            <a:ext cx="658368"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210"/>
              <a:buFont typeface="Arial"/>
              <a:buNone/>
            </a:pPr>
            <a:r>
              <a:rPr lang="en-US" sz="1210" b="1" i="0" u="none" strike="noStrike" cap="none">
                <a:solidFill>
                  <a:srgbClr val="736324"/>
                </a:solidFill>
                <a:latin typeface="Arial"/>
                <a:ea typeface="Arial"/>
                <a:cs typeface="Arial"/>
                <a:sym typeface="Arial"/>
              </a:rPr>
              <a:t>OTHERS</a:t>
            </a:r>
            <a:endParaRPr sz="1400" b="0" i="0" u="none" strike="noStrike" cap="none">
              <a:solidFill>
                <a:srgbClr val="000000"/>
              </a:solidFill>
              <a:latin typeface="Arial"/>
              <a:ea typeface="Arial"/>
              <a:cs typeface="Arial"/>
              <a:sym typeface="Arial"/>
            </a:endParaRPr>
          </a:p>
        </p:txBody>
      </p:sp>
      <p:sp>
        <p:nvSpPr>
          <p:cNvPr id="1088" name="Google Shape;1088;p67"/>
          <p:cNvSpPr txBox="1"/>
          <p:nvPr/>
        </p:nvSpPr>
        <p:spPr>
          <a:xfrm>
            <a:off x="1481328" y="4608576"/>
            <a:ext cx="2734056"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BWXT valuation refresh;</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DNN / KAP milestones;</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all remaining gates.</a:t>
            </a:r>
            <a:endParaRPr sz="1400" b="0" i="0" u="none" strike="noStrike" cap="none">
              <a:solidFill>
                <a:srgbClr val="000000"/>
              </a:solidFill>
              <a:latin typeface="Arial"/>
              <a:ea typeface="Arial"/>
              <a:cs typeface="Arial"/>
              <a:sym typeface="Arial"/>
            </a:endParaRPr>
          </a:p>
        </p:txBody>
      </p:sp>
      <p:sp>
        <p:nvSpPr>
          <p:cNvPr id="1089" name="Google Shape;1089;p67"/>
          <p:cNvSpPr txBox="1"/>
          <p:nvPr/>
        </p:nvSpPr>
        <p:spPr>
          <a:xfrm>
            <a:off x="4398264" y="4608576"/>
            <a:ext cx="1911095"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Re-rank, then obtain</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separate approval.</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No forced substitutes.</a:t>
            </a:r>
            <a:endParaRPr sz="1400" b="0" i="0" u="none" strike="noStrike" cap="none">
              <a:solidFill>
                <a:srgbClr val="000000"/>
              </a:solidFill>
              <a:latin typeface="Arial"/>
              <a:ea typeface="Arial"/>
              <a:cs typeface="Arial"/>
              <a:sym typeface="Arial"/>
            </a:endParaRPr>
          </a:p>
        </p:txBody>
      </p:sp>
      <p:sp>
        <p:nvSpPr>
          <p:cNvPr id="1090" name="Google Shape;1090;p67"/>
          <p:cNvSpPr txBox="1"/>
          <p:nvPr/>
        </p:nvSpPr>
        <p:spPr>
          <a:xfrm>
            <a:off x="6492240" y="4608576"/>
            <a:ext cx="2011679" cy="51206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Failed valuation,</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funding, access or</a:t>
            </a:r>
            <a:endParaRPr sz="1400" b="0" i="0" u="none" strike="noStrike" cap="none">
              <a:solidFill>
                <a:srgbClr val="000000"/>
              </a:solidFill>
              <a:latin typeface="Arial"/>
              <a:ea typeface="Arial"/>
              <a:cs typeface="Arial"/>
              <a:sym typeface="Arial"/>
            </a:endParaRPr>
          </a:p>
          <a:p>
            <a:pPr marL="0" marR="0" lvl="0" indent="0" algn="l" rtl="0">
              <a:lnSpc>
                <a:spcPct val="108000"/>
              </a:lnSpc>
              <a:spcBef>
                <a:spcPts val="0"/>
              </a:spcBef>
              <a:spcAft>
                <a:spcPts val="0"/>
              </a:spcAft>
              <a:buClr>
                <a:srgbClr val="000000"/>
              </a:buClr>
              <a:buSzPts val="1170"/>
              <a:buFont typeface="Arial"/>
              <a:buNone/>
            </a:pPr>
            <a:r>
              <a:rPr lang="en-US" sz="1170" b="0" i="0" u="none" strike="noStrike" cap="none">
                <a:solidFill>
                  <a:srgbClr val="22282D"/>
                </a:solidFill>
                <a:latin typeface="Arial"/>
                <a:ea typeface="Arial"/>
                <a:cs typeface="Arial"/>
                <a:sym typeface="Arial"/>
              </a:rPr>
              <a:t>eligibility tests.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94"/>
        <p:cNvGrpSpPr/>
        <p:nvPr/>
      </p:nvGrpSpPr>
      <p:grpSpPr>
        <a:xfrm>
          <a:off x="0" y="0"/>
          <a:ext cx="0" cy="0"/>
          <a:chOff x="0" y="0"/>
          <a:chExt cx="0" cy="0"/>
        </a:xfrm>
      </p:grpSpPr>
      <p:sp>
        <p:nvSpPr>
          <p:cNvPr id="1095" name="Google Shape;1095;p27"/>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Events to watch</a:t>
            </a:r>
            <a:endParaRPr sz="2400" b="0" i="0" u="none" strike="noStrike" cap="none">
              <a:solidFill>
                <a:schemeClr val="dk1"/>
              </a:solidFill>
              <a:latin typeface="Calibri"/>
              <a:ea typeface="Calibri"/>
              <a:cs typeface="Calibri"/>
              <a:sym typeface="Calibri"/>
            </a:endParaRPr>
          </a:p>
        </p:txBody>
      </p:sp>
      <p:graphicFrame>
        <p:nvGraphicFramePr>
          <p:cNvPr id="1096" name="Google Shape;1096;p27"/>
          <p:cNvGraphicFramePr/>
          <p:nvPr/>
        </p:nvGraphicFramePr>
        <p:xfrm>
          <a:off x="546099" y="1143000"/>
          <a:ext cx="3000000" cy="3000000"/>
        </p:xfrm>
        <a:graphic>
          <a:graphicData uri="http://schemas.openxmlformats.org/drawingml/2006/table">
            <a:tbl>
              <a:tblPr>
                <a:noFill/>
                <a:tableStyleId>{67C04448-9542-46E3-BF30-04DBAA183EC1}</a:tableStyleId>
              </a:tblPr>
              <a:tblGrid>
                <a:gridCol w="1568025">
                  <a:extLst>
                    <a:ext uri="{9D8B030D-6E8A-4147-A177-3AD203B41FA5}">
                      <a16:colId xmlns:a16="http://schemas.microsoft.com/office/drawing/2014/main" val="20000"/>
                    </a:ext>
                  </a:extLst>
                </a:gridCol>
                <a:gridCol w="3080075">
                  <a:extLst>
                    <a:ext uri="{9D8B030D-6E8A-4147-A177-3AD203B41FA5}">
                      <a16:colId xmlns:a16="http://schemas.microsoft.com/office/drawing/2014/main" val="20001"/>
                    </a:ext>
                  </a:extLst>
                </a:gridCol>
                <a:gridCol w="3248050">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555555"/>
                          </a:solidFill>
                          <a:latin typeface="Arial"/>
                          <a:ea typeface="Arial"/>
                          <a:cs typeface="Arial"/>
                          <a:sym typeface="Arial"/>
                        </a:rPr>
                        <a:t>Date</a:t>
                      </a:r>
                      <a:endParaRPr sz="1400" u="none" strike="noStrike" cap="none"/>
                    </a:p>
                  </a:txBody>
                  <a:tcPr marL="45725" marR="91450" marT="54875" marB="54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555555"/>
                          </a:solidFill>
                          <a:latin typeface="Arial"/>
                          <a:ea typeface="Arial"/>
                          <a:cs typeface="Arial"/>
                          <a:sym typeface="Arial"/>
                        </a:rPr>
                        <a:t>Event</a:t>
                      </a:r>
                      <a:endParaRPr sz="1400" u="none" strike="noStrike" cap="none"/>
                    </a:p>
                  </a:txBody>
                  <a:tcPr marL="45725" marR="91450" marT="54875" marB="54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555555"/>
                          </a:solidFill>
                          <a:latin typeface="Arial"/>
                          <a:ea typeface="Arial"/>
                          <a:cs typeface="Arial"/>
                          <a:sym typeface="Arial"/>
                        </a:rPr>
                        <a:t>What it could change</a:t>
                      </a:r>
                      <a:endParaRPr sz="1400" u="none" strike="noStrike" cap="none"/>
                    </a:p>
                  </a:txBody>
                  <a:tcPr marL="45725" marR="91450" marT="54875" marB="5487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555555"/>
                      </a:solidFill>
                      <a:prstDash val="solid"/>
                      <a:round/>
                      <a:headEnd type="none" w="sm" len="sm"/>
                      <a:tailEnd type="none" w="sm" len="sm"/>
                    </a:lnB>
                  </a:tcPr>
                </a:tc>
                <a:extLst>
                  <a:ext uri="{0D108BD9-81ED-4DB2-BD59-A6C34878D82A}">
                    <a16:rowId xmlns:a16="http://schemas.microsoft.com/office/drawing/2014/main" val="10000"/>
                  </a:ext>
                </a:extLst>
              </a:tr>
              <a:tr h="594350">
                <a:tc>
                  <a:txBody>
                    <a:bodyPr/>
                    <a:lstStyle/>
                    <a:p>
                      <a:pPr marL="0" marR="0" lvl="0" indent="0" algn="l" rtl="0">
                        <a:lnSpc>
                          <a:spcPct val="100000"/>
                        </a:lnSpc>
                        <a:spcBef>
                          <a:spcPts val="0"/>
                        </a:spcBef>
                        <a:spcAft>
                          <a:spcPts val="0"/>
                        </a:spcAft>
                        <a:buClr>
                          <a:srgbClr val="A23B2A"/>
                        </a:buClr>
                        <a:buSzPts val="1600"/>
                        <a:buFont typeface="Arial"/>
                        <a:buNone/>
                      </a:pPr>
                      <a:r>
                        <a:rPr lang="en-US" sz="1600" b="1" i="0" u="none" strike="noStrike" cap="none">
                          <a:solidFill>
                            <a:srgbClr val="222222"/>
                          </a:solidFill>
                          <a:latin typeface="Arial"/>
                          <a:ea typeface="Arial"/>
                          <a:cs typeface="Arial"/>
                          <a:sym typeface="Arial"/>
                        </a:rPr>
                        <a:t>Sep 29</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600" b="0" i="0" u="none" strike="noStrike" cap="none">
                          <a:solidFill>
                            <a:srgbClr val="222222"/>
                          </a:solidFill>
                          <a:latin typeface="Arial"/>
                          <a:ea typeface="Arial"/>
                          <a:cs typeface="Arial"/>
                          <a:sym typeface="Arial"/>
                        </a:rPr>
                        <a:t>BWXT Investor Day</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600" b="0" i="0" u="none" strike="noStrike" cap="none">
                          <a:solidFill>
                            <a:srgbClr val="222222"/>
                          </a:solidFill>
                          <a:latin typeface="Arial"/>
                          <a:ea typeface="Arial"/>
                          <a:cs typeface="Arial"/>
                          <a:sym typeface="Arial"/>
                        </a:rPr>
                        <a:t>BWXT target; entry ~$133</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555555"/>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1"/>
                  </a:ext>
                </a:extLst>
              </a:tr>
              <a:tr h="594350">
                <a:tc>
                  <a:txBody>
                    <a:bodyPr/>
                    <a:lstStyle/>
                    <a:p>
                      <a:pPr marL="0" marR="0" lvl="0" indent="0" algn="l" rtl="0">
                        <a:lnSpc>
                          <a:spcPct val="100000"/>
                        </a:lnSpc>
                        <a:spcBef>
                          <a:spcPts val="0"/>
                        </a:spcBef>
                        <a:spcAft>
                          <a:spcPts val="0"/>
                        </a:spcAft>
                        <a:buClr>
                          <a:srgbClr val="A23B2A"/>
                        </a:buClr>
                        <a:buSzPts val="1600"/>
                        <a:buFont typeface="Arial"/>
                        <a:buNone/>
                      </a:pPr>
                      <a:r>
                        <a:rPr lang="en-US" sz="1600" b="1" i="0" u="none" strike="noStrike" cap="none">
                          <a:solidFill>
                            <a:srgbClr val="222222"/>
                          </a:solidFill>
                          <a:latin typeface="Arial"/>
                          <a:ea typeface="Arial"/>
                          <a:cs typeface="Arial"/>
                          <a:sym typeface="Arial"/>
                        </a:rPr>
                        <a:t>Oct 6–7</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600" b="0" i="0" u="none" strike="noStrike" cap="none">
                          <a:solidFill>
                            <a:srgbClr val="222222"/>
                          </a:solidFill>
                          <a:latin typeface="Arial"/>
                          <a:ea typeface="Arial"/>
                          <a:cs typeface="Arial"/>
                          <a:sym typeface="Arial"/>
                        </a:rPr>
                        <a:t>Kazatomprom mine tour</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600" b="0" i="0" u="none" strike="noStrike" cap="none">
                          <a:solidFill>
                            <a:srgbClr val="222222"/>
                          </a:solidFill>
                          <a:latin typeface="Arial"/>
                          <a:ea typeface="Arial"/>
                          <a:cs typeface="Arial"/>
                          <a:sym typeface="Arial"/>
                        </a:rPr>
                        <a:t>Access checks</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2"/>
                  </a:ext>
                </a:extLst>
              </a:tr>
              <a:tr h="594350">
                <a:tc>
                  <a:txBody>
                    <a:bodyPr/>
                    <a:lstStyle/>
                    <a:p>
                      <a:pPr marL="0" marR="0" lvl="0" indent="0" algn="l" rtl="0">
                        <a:lnSpc>
                          <a:spcPct val="100000"/>
                        </a:lnSpc>
                        <a:spcBef>
                          <a:spcPts val="0"/>
                        </a:spcBef>
                        <a:spcAft>
                          <a:spcPts val="0"/>
                        </a:spcAft>
                        <a:buClr>
                          <a:srgbClr val="A23B2A"/>
                        </a:buClr>
                        <a:buSzPts val="1600"/>
                        <a:buFont typeface="Arial"/>
                        <a:buNone/>
                      </a:pPr>
                      <a:r>
                        <a:rPr lang="en-US" sz="1600" b="1" i="0" u="none" strike="noStrike" cap="none">
                          <a:solidFill>
                            <a:srgbClr val="222222"/>
                          </a:solidFill>
                          <a:latin typeface="Arial"/>
                          <a:ea typeface="Arial"/>
                          <a:cs typeface="Arial"/>
                          <a:sym typeface="Arial"/>
                        </a:rPr>
                        <a:t>~Oct 21–22</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600" b="0" i="0" u="none" strike="noStrike" cap="none">
                          <a:solidFill>
                            <a:srgbClr val="222222"/>
                          </a:solidFill>
                          <a:latin typeface="Arial"/>
                          <a:ea typeface="Arial"/>
                          <a:cs typeface="Arial"/>
                          <a:sym typeface="Arial"/>
                        </a:rPr>
                        <a:t>Paladin quarter report</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600" b="0" i="0" u="none" strike="noStrike" cap="none">
                          <a:solidFill>
                            <a:srgbClr val="222222"/>
                          </a:solidFill>
                          <a:latin typeface="Arial"/>
                          <a:ea typeface="Arial"/>
                          <a:cs typeface="Arial"/>
                          <a:sym typeface="Arial"/>
                        </a:rPr>
                        <a:t>Output; price vs. A$8.59</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3"/>
                  </a:ext>
                </a:extLst>
              </a:tr>
              <a:tr h="594350">
                <a:tc>
                  <a:txBody>
                    <a:bodyPr/>
                    <a:lstStyle/>
                    <a:p>
                      <a:pPr marL="0" marR="0" lvl="0" indent="0" algn="l" rtl="0">
                        <a:lnSpc>
                          <a:spcPct val="100000"/>
                        </a:lnSpc>
                        <a:spcBef>
                          <a:spcPts val="0"/>
                        </a:spcBef>
                        <a:spcAft>
                          <a:spcPts val="0"/>
                        </a:spcAft>
                        <a:buClr>
                          <a:srgbClr val="A23B2A"/>
                        </a:buClr>
                        <a:buSzPts val="1600"/>
                        <a:buFont typeface="Arial"/>
                        <a:buNone/>
                      </a:pPr>
                      <a:r>
                        <a:rPr lang="en-US" sz="1600" b="1" i="0" u="none" strike="noStrike" cap="none">
                          <a:solidFill>
                            <a:srgbClr val="222222"/>
                          </a:solidFill>
                          <a:latin typeface="Arial"/>
                          <a:ea typeface="Arial"/>
                          <a:cs typeface="Arial"/>
                          <a:sym typeface="Arial"/>
                        </a:rPr>
                        <a:t>Oct 30</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600" b="0" i="0" u="none" strike="noStrike" cap="none">
                          <a:solidFill>
                            <a:srgbClr val="222222"/>
                          </a:solidFill>
                          <a:latin typeface="Arial"/>
                          <a:ea typeface="Arial"/>
                          <a:cs typeface="Arial"/>
                          <a:sym typeface="Arial"/>
                        </a:rPr>
                        <a:t>Cameco Q3 results</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600" b="0" i="0" u="none" strike="noStrike" cap="none">
                          <a:solidFill>
                            <a:srgbClr val="222222"/>
                          </a:solidFill>
                          <a:latin typeface="Arial"/>
                          <a:ea typeface="Arial"/>
                          <a:cs typeface="Arial"/>
                          <a:sym typeface="Arial"/>
                        </a:rPr>
                        <a:t>Cameco vs. the 20% gate</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4"/>
                  </a:ext>
                </a:extLst>
              </a:tr>
              <a:tr h="594350">
                <a:tc>
                  <a:txBody>
                    <a:bodyPr/>
                    <a:lstStyle/>
                    <a:p>
                      <a:pPr marL="0" marR="0" lvl="0" indent="0" algn="l" rtl="0">
                        <a:lnSpc>
                          <a:spcPct val="100000"/>
                        </a:lnSpc>
                        <a:spcBef>
                          <a:spcPts val="0"/>
                        </a:spcBef>
                        <a:spcAft>
                          <a:spcPts val="0"/>
                        </a:spcAft>
                        <a:buClr>
                          <a:srgbClr val="A23B2A"/>
                        </a:buClr>
                        <a:buSzPts val="1600"/>
                        <a:buFont typeface="Arial"/>
                        <a:buNone/>
                      </a:pPr>
                      <a:r>
                        <a:rPr lang="en-US" sz="1600" b="1" i="0" u="none" strike="noStrike" cap="none">
                          <a:solidFill>
                            <a:srgbClr val="222222"/>
                          </a:solidFill>
                          <a:latin typeface="Arial"/>
                          <a:ea typeface="Arial"/>
                          <a:cs typeface="Arial"/>
                          <a:sym typeface="Arial"/>
                        </a:rPr>
                        <a:t>Early 2027</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600" b="0" i="0" u="none" strike="noStrike" cap="none">
                          <a:solidFill>
                            <a:srgbClr val="222222"/>
                          </a:solidFill>
                          <a:latin typeface="Arial"/>
                          <a:ea typeface="Arial"/>
                          <a:cs typeface="Arial"/>
                          <a:sym typeface="Arial"/>
                        </a:rPr>
                        <a:t>Energy Fuels VAC close</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600" b="0" i="0" u="none" strike="noStrike" cap="none">
                          <a:solidFill>
                            <a:srgbClr val="222222"/>
                          </a:solidFill>
                          <a:latin typeface="Arial"/>
                          <a:ea typeface="Arial"/>
                          <a:cs typeface="Arial"/>
                          <a:sym typeface="Arial"/>
                        </a:rPr>
                        <a:t>Dilution; short trigger</a:t>
                      </a:r>
                      <a:endParaRPr sz="1400" u="none" strike="noStrike" cap="none"/>
                    </a:p>
                  </a:txBody>
                  <a:tcPr marL="45725" marR="91450" marT="54875" marB="548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C9CFD6"/>
                      </a:solidFill>
                      <a:prstDash val="solid"/>
                      <a:round/>
                      <a:headEnd type="none" w="sm" len="sm"/>
                      <a:tailEnd type="none" w="sm" len="sm"/>
                    </a:lnT>
                    <a:lnB w="9525" cap="flat" cmpd="sng">
                      <a:solidFill>
                        <a:srgbClr val="C9CFD6"/>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1097" name="Google Shape;1097;p27"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1098" name="Google Shape;1098;p27"/>
          <p:cNvSpPr txBox="1"/>
          <p:nvPr/>
        </p:nvSpPr>
        <p:spPr>
          <a:xfrm>
            <a:off x="548640" y="4965433"/>
            <a:ext cx="8046720" cy="58473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Our long view on Paladin and short view on Energy Fuels are all situational which means any new information may change our current view  </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p22"/>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Who did what</a:t>
            </a:r>
            <a:endParaRPr sz="2400" b="0" i="0" u="none" strike="noStrike" cap="none">
              <a:solidFill>
                <a:schemeClr val="dk1"/>
              </a:solidFill>
              <a:latin typeface="Calibri"/>
              <a:ea typeface="Calibri"/>
              <a:cs typeface="Calibri"/>
              <a:sym typeface="Calibri"/>
            </a:endParaRPr>
          </a:p>
        </p:txBody>
      </p:sp>
      <p:graphicFrame>
        <p:nvGraphicFramePr>
          <p:cNvPr id="1104" name="Google Shape;1104;p22"/>
          <p:cNvGraphicFramePr/>
          <p:nvPr/>
        </p:nvGraphicFramePr>
        <p:xfrm>
          <a:off x="548640" y="960120"/>
          <a:ext cx="3000000" cy="3000000"/>
        </p:xfrm>
        <a:graphic>
          <a:graphicData uri="http://schemas.openxmlformats.org/drawingml/2006/table">
            <a:tbl>
              <a:tblPr>
                <a:noFill/>
                <a:tableStyleId>{67C04448-9542-46E3-BF30-04DBAA183EC1}</a:tableStyleId>
              </a:tblPr>
              <a:tblGrid>
                <a:gridCol w="1371600">
                  <a:extLst>
                    <a:ext uri="{9D8B030D-6E8A-4147-A177-3AD203B41FA5}">
                      <a16:colId xmlns:a16="http://schemas.microsoft.com/office/drawing/2014/main" val="20000"/>
                    </a:ext>
                  </a:extLst>
                </a:gridCol>
                <a:gridCol w="1280150">
                  <a:extLst>
                    <a:ext uri="{9D8B030D-6E8A-4147-A177-3AD203B41FA5}">
                      <a16:colId xmlns:a16="http://schemas.microsoft.com/office/drawing/2014/main" val="20001"/>
                    </a:ext>
                  </a:extLst>
                </a:gridCol>
                <a:gridCol w="3017525">
                  <a:extLst>
                    <a:ext uri="{9D8B030D-6E8A-4147-A177-3AD203B41FA5}">
                      <a16:colId xmlns:a16="http://schemas.microsoft.com/office/drawing/2014/main" val="20002"/>
                    </a:ext>
                  </a:extLst>
                </a:gridCol>
                <a:gridCol w="2377450">
                  <a:extLst>
                    <a:ext uri="{9D8B030D-6E8A-4147-A177-3AD203B41FA5}">
                      <a16:colId xmlns:a16="http://schemas.microsoft.com/office/drawing/2014/main" val="20003"/>
                    </a:ext>
                  </a:extLst>
                </a:gridCol>
              </a:tblGrid>
              <a:tr h="381000">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FFFFFF"/>
                          </a:solidFill>
                          <a:latin typeface="Arial"/>
                          <a:ea typeface="Arial"/>
                          <a:cs typeface="Arial"/>
                          <a:sym typeface="Arial"/>
                        </a:rPr>
                        <a:t>Who</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FFFFFF"/>
                          </a:solidFill>
                          <a:latin typeface="Arial"/>
                          <a:ea typeface="Arial"/>
                          <a:cs typeface="Arial"/>
                          <a:sym typeface="Arial"/>
                        </a:rPr>
                        <a:t>Role</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FFFFFF"/>
                          </a:solidFill>
                          <a:latin typeface="Arial"/>
                          <a:ea typeface="Arial"/>
                          <a:cs typeface="Arial"/>
                          <a:sym typeface="Arial"/>
                        </a:rPr>
                        <a:t>Sep 25–27</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tc>
                  <a:txBody>
                    <a:bodyPr/>
                    <a:lstStyle/>
                    <a:p>
                      <a:pPr marL="0" marR="0" lvl="0" indent="0" algn="l" rtl="0">
                        <a:lnSpc>
                          <a:spcPct val="100000"/>
                        </a:lnSpc>
                        <a:spcBef>
                          <a:spcPts val="0"/>
                        </a:spcBef>
                        <a:spcAft>
                          <a:spcPts val="0"/>
                        </a:spcAft>
                        <a:buClr>
                          <a:srgbClr val="555555"/>
                        </a:buClr>
                        <a:buSzPts val="1400"/>
                        <a:buFont typeface="Arial"/>
                        <a:buNone/>
                      </a:pPr>
                      <a:r>
                        <a:rPr lang="en-US" sz="1400" b="1" i="0" u="none" strike="noStrike" cap="none">
                          <a:solidFill>
                            <a:srgbClr val="FFFFFF"/>
                          </a:solidFill>
                          <a:latin typeface="Arial"/>
                          <a:ea typeface="Arial"/>
                          <a:cs typeface="Arial"/>
                          <a:sym typeface="Arial"/>
                        </a:rPr>
                        <a:t>Sep 28</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1F3A5F"/>
                    </a:solidFill>
                  </a:tcPr>
                </a:tc>
                <a:extLst>
                  <a:ext uri="{0D108BD9-81ED-4DB2-BD59-A6C34878D82A}">
                    <a16:rowId xmlns:a16="http://schemas.microsoft.com/office/drawing/2014/main" val="10000"/>
                  </a:ext>
                </a:extLst>
              </a:tr>
              <a:tr h="658375">
                <a:tc>
                  <a:txBody>
                    <a:bodyPr/>
                    <a:lstStyle/>
                    <a:p>
                      <a:pPr marL="0" marR="0" lvl="0" indent="0" algn="l" rtl="0">
                        <a:lnSpc>
                          <a:spcPct val="100000"/>
                        </a:lnSpc>
                        <a:spcBef>
                          <a:spcPts val="0"/>
                        </a:spcBef>
                        <a:spcAft>
                          <a:spcPts val="0"/>
                        </a:spcAft>
                        <a:buClr>
                          <a:srgbClr val="A23B2A"/>
                        </a:buClr>
                        <a:buSzPts val="1600"/>
                        <a:buFont typeface="Arial"/>
                        <a:buNone/>
                      </a:pPr>
                      <a:r>
                        <a:rPr lang="en-US" sz="1200" b="1" i="0" u="none" strike="noStrike" cap="none">
                          <a:solidFill>
                            <a:srgbClr val="222222"/>
                          </a:solidFill>
                          <a:latin typeface="Arial"/>
                          <a:ea typeface="Arial"/>
                          <a:cs typeface="Arial"/>
                          <a:sym typeface="Arial"/>
                        </a:rPr>
                        <a:t>Ben Beauchamp</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Criteria</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Wrote the five weighted factors every mandate uses</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Recorded his criteria presentation; nothing else needed</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58375">
                <a:tc>
                  <a:txBody>
                    <a:bodyPr/>
                    <a:lstStyle/>
                    <a:p>
                      <a:pPr marL="0" marR="0" lvl="0" indent="0" algn="l" rtl="0">
                        <a:lnSpc>
                          <a:spcPct val="100000"/>
                        </a:lnSpc>
                        <a:spcBef>
                          <a:spcPts val="0"/>
                        </a:spcBef>
                        <a:spcAft>
                          <a:spcPts val="0"/>
                        </a:spcAft>
                        <a:buClr>
                          <a:srgbClr val="A23B2A"/>
                        </a:buClr>
                        <a:buSzPts val="1600"/>
                        <a:buFont typeface="Arial"/>
                        <a:buNone/>
                      </a:pPr>
                      <a:r>
                        <a:rPr lang="en-US" sz="1200" b="1" i="0" u="none" strike="noStrike" cap="none">
                          <a:solidFill>
                            <a:srgbClr val="222222"/>
                          </a:solidFill>
                          <a:latin typeface="Arial"/>
                          <a:ea typeface="Arial"/>
                          <a:cs typeface="Arial"/>
                          <a:sym typeface="Arial"/>
                        </a:rPr>
                        <a:t>Xiaowen Chen</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Long chair</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Council outline; Long memo and slides; signed off Sep 27</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Confirmed the scores and KAP price; rebuilt the Long slides; wrote the conclusion</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extLst>
                  <a:ext uri="{0D108BD9-81ED-4DB2-BD59-A6C34878D82A}">
                    <a16:rowId xmlns:a16="http://schemas.microsoft.com/office/drawing/2014/main" val="10002"/>
                  </a:ext>
                </a:extLst>
              </a:tr>
              <a:tr h="658375">
                <a:tc>
                  <a:txBody>
                    <a:bodyPr/>
                    <a:lstStyle/>
                    <a:p>
                      <a:pPr marL="0" marR="0" lvl="0" indent="0" algn="l" rtl="0">
                        <a:lnSpc>
                          <a:spcPct val="100000"/>
                        </a:lnSpc>
                        <a:spcBef>
                          <a:spcPts val="0"/>
                        </a:spcBef>
                        <a:spcAft>
                          <a:spcPts val="0"/>
                        </a:spcAft>
                        <a:buClr>
                          <a:srgbClr val="A23B2A"/>
                        </a:buClr>
                        <a:buSzPts val="1600"/>
                        <a:buFont typeface="Arial"/>
                        <a:buNone/>
                      </a:pPr>
                      <a:r>
                        <a:rPr lang="en-US" sz="1200" b="1" i="0" u="none" strike="noStrike" cap="none">
                          <a:solidFill>
                            <a:srgbClr val="222222"/>
                          </a:solidFill>
                          <a:latin typeface="Arial"/>
                          <a:ea typeface="Arial"/>
                          <a:cs typeface="Arial"/>
                          <a:sym typeface="Arial"/>
                        </a:rPr>
                        <a:t>Michael Kiernan</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Team lead; Alt. chair to Sep 28</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Set up Claude, Drive, rules and ledger; issued research matrices; reviewed the Short; built Long support; had Claude draft the Alternative and chaired its review</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Ran the feedback plan: answer-first opening, one score per company, Imagination; eligibility rulings; merged the deck</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58375">
                <a:tc>
                  <a:txBody>
                    <a:bodyPr/>
                    <a:lstStyle/>
                    <a:p>
                      <a:pPr marL="0" marR="0" lvl="0" indent="0" algn="l" rtl="0">
                        <a:lnSpc>
                          <a:spcPct val="100000"/>
                        </a:lnSpc>
                        <a:spcBef>
                          <a:spcPts val="0"/>
                        </a:spcBef>
                        <a:spcAft>
                          <a:spcPts val="0"/>
                        </a:spcAft>
                        <a:buClr>
                          <a:srgbClr val="A23B2A"/>
                        </a:buClr>
                        <a:buSzPts val="1600"/>
                        <a:buFont typeface="Arial"/>
                        <a:buNone/>
                      </a:pPr>
                      <a:r>
                        <a:rPr lang="en-US" sz="1200" b="1" i="0" u="none" strike="noStrike" cap="none">
                          <a:solidFill>
                            <a:srgbClr val="222222"/>
                          </a:solidFill>
                          <a:latin typeface="Arial"/>
                          <a:ea typeface="Arial"/>
                          <a:cs typeface="Arial"/>
                          <a:sym typeface="Arial"/>
                        </a:rPr>
                        <a:t>Jared Mount</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Short chair</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Short matrix and Energy Fuels thesis; Short slides; signed off Sep 26</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Aligned Short scores to one score each</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extLst>
                  <a:ext uri="{0D108BD9-81ED-4DB2-BD59-A6C34878D82A}">
                    <a16:rowId xmlns:a16="http://schemas.microsoft.com/office/drawing/2014/main" val="10004"/>
                  </a:ext>
                </a:extLst>
              </a:tr>
              <a:tr h="658375">
                <a:tc>
                  <a:txBody>
                    <a:bodyPr/>
                    <a:lstStyle/>
                    <a:p>
                      <a:pPr marL="0" marR="0" lvl="0" indent="0" algn="l" rtl="0">
                        <a:lnSpc>
                          <a:spcPct val="100000"/>
                        </a:lnSpc>
                        <a:spcBef>
                          <a:spcPts val="0"/>
                        </a:spcBef>
                        <a:spcAft>
                          <a:spcPts val="0"/>
                        </a:spcAft>
                        <a:buClr>
                          <a:srgbClr val="A23B2A"/>
                        </a:buClr>
                        <a:buSzPts val="1600"/>
                        <a:buFont typeface="Arial"/>
                        <a:buNone/>
                      </a:pPr>
                      <a:r>
                        <a:rPr lang="en-US" sz="1200" b="1" i="0" u="none" strike="noStrike" cap="none">
                          <a:solidFill>
                            <a:srgbClr val="222222"/>
                          </a:solidFill>
                          <a:latin typeface="Arial"/>
                          <a:ea typeface="Arial"/>
                          <a:cs typeface="Arial"/>
                          <a:sym typeface="Arial"/>
                        </a:rPr>
                        <a:t>Shawyan Tabari</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Alt. chair from Sep 28</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Built slides from Claude’s draft; no analysis of his own</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Rewrote five slides in his words; checked figures; signed off</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658375">
                <a:tc>
                  <a:txBody>
                    <a:bodyPr/>
                    <a:lstStyle/>
                    <a:p>
                      <a:pPr marL="0" marR="0" lvl="0" indent="0" algn="l" rtl="0">
                        <a:lnSpc>
                          <a:spcPct val="100000"/>
                        </a:lnSpc>
                        <a:spcBef>
                          <a:spcPts val="0"/>
                        </a:spcBef>
                        <a:spcAft>
                          <a:spcPts val="0"/>
                        </a:spcAft>
                        <a:buClr>
                          <a:srgbClr val="A23B2A"/>
                        </a:buClr>
                        <a:buSzPts val="1600"/>
                        <a:buFont typeface="Arial"/>
                        <a:buNone/>
                      </a:pPr>
                      <a:r>
                        <a:rPr lang="en-US" sz="1200" b="1" i="0" u="none" strike="noStrike" cap="none">
                          <a:solidFill>
                            <a:srgbClr val="222222"/>
                          </a:solidFill>
                          <a:latin typeface="Arial"/>
                          <a:ea typeface="Arial"/>
                          <a:cs typeface="Arial"/>
                          <a:sym typeface="Arial"/>
                        </a:rPr>
                        <a:t>David Vargas</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Alt. support from Sep 28</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No contribution recorded</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tc>
                  <a:txBody>
                    <a:bodyPr/>
                    <a:lstStyle/>
                    <a:p>
                      <a:pPr marL="0" marR="0" lvl="0" indent="0" algn="l" rtl="0">
                        <a:lnSpc>
                          <a:spcPct val="100000"/>
                        </a:lnSpc>
                        <a:spcBef>
                          <a:spcPts val="0"/>
                        </a:spcBef>
                        <a:spcAft>
                          <a:spcPts val="0"/>
                        </a:spcAft>
                        <a:buClr>
                          <a:srgbClr val="222222"/>
                        </a:buClr>
                        <a:buSzPts val="1600"/>
                        <a:buFont typeface="Arial"/>
                        <a:buNone/>
                      </a:pPr>
                      <a:r>
                        <a:rPr lang="en-US" sz="1200" b="0" i="0" u="none" strike="noStrike" cap="none">
                          <a:solidFill>
                            <a:srgbClr val="222222"/>
                          </a:solidFill>
                          <a:latin typeface="Arial"/>
                          <a:ea typeface="Arial"/>
                          <a:cs typeface="Arial"/>
                          <a:sym typeface="Arial"/>
                        </a:rPr>
                        <a:t>Agreed a slide split; no edits yet</a:t>
                      </a:r>
                      <a:endParaRPr sz="1400" u="none" strike="noStrike" cap="none"/>
                    </a:p>
                  </a:txBody>
                  <a:tcPr marL="45725" marR="91450" marT="54875" marB="548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4F1E3"/>
                    </a:solidFill>
                  </a:tcPr>
                </a:tc>
                <a:extLst>
                  <a:ext uri="{0D108BD9-81ED-4DB2-BD59-A6C34878D82A}">
                    <a16:rowId xmlns:a16="http://schemas.microsoft.com/office/drawing/2014/main" val="10006"/>
                  </a:ext>
                </a:extLst>
              </a:tr>
            </a:tbl>
          </a:graphicData>
        </a:graphic>
      </p:graphicFrame>
      <p:pic>
        <p:nvPicPr>
          <p:cNvPr id="1105" name="Google Shape;1105;p22" descr="fordham_logo.png"/>
          <p:cNvPicPr preferRelativeResize="0"/>
          <p:nvPr/>
        </p:nvPicPr>
        <p:blipFill rotWithShape="1">
          <a:blip r:embed="rId3">
            <a:alphaModFix/>
          </a:blip>
          <a:srcRect/>
          <a:stretch/>
        </p:blipFill>
        <p:spPr>
          <a:xfrm>
            <a:off x="110642" y="6217920"/>
            <a:ext cx="414223" cy="512064"/>
          </a:xfrm>
          <a:prstGeom prst="rect">
            <a:avLst/>
          </a:prstGeom>
          <a:noFill/>
          <a:ln>
            <a:noFill/>
          </a:ln>
        </p:spPr>
      </p:pic>
      <p:sp>
        <p:nvSpPr>
          <p:cNvPr id="1106" name="Google Shape;1106;p22"/>
          <p:cNvSpPr txBox="1"/>
          <p:nvPr/>
        </p:nvSpPr>
        <p:spPr>
          <a:xfrm>
            <a:off x="548640" y="5669280"/>
            <a:ext cx="8046720" cy="36576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555555"/>
                </a:solidFill>
                <a:latin typeface="Arial"/>
                <a:ea typeface="Arial"/>
                <a:cs typeface="Arial"/>
                <a:sym typeface="Arial"/>
              </a:rPr>
              <a:t>Source: team ledger entries, Sep 25–28. Claude drafted analysis and slides; GPT Sol 6.0 red-teamed the Alternative.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68"/>
          <p:cNvSpPr txBox="1"/>
          <p:nvPr/>
        </p:nvSpPr>
        <p:spPr>
          <a:xfrm>
            <a:off x="548640" y="365760"/>
            <a:ext cx="804672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AI References</a:t>
            </a:r>
            <a:endParaRPr sz="2400" b="0" i="0" u="none" strike="noStrike" cap="none">
              <a:solidFill>
                <a:schemeClr val="dk1"/>
              </a:solidFill>
              <a:latin typeface="Calibri"/>
              <a:ea typeface="Calibri"/>
              <a:cs typeface="Calibri"/>
              <a:sym typeface="Calibri"/>
            </a:endParaRPr>
          </a:p>
        </p:txBody>
      </p:sp>
      <p:sp>
        <p:nvSpPr>
          <p:cNvPr id="1112" name="Google Shape;1112;p68"/>
          <p:cNvSpPr txBox="1"/>
          <p:nvPr/>
        </p:nvSpPr>
        <p:spPr>
          <a:xfrm>
            <a:off x="548640" y="1095153"/>
            <a:ext cx="7946774" cy="411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[1] ChatGPT · supports slide(s): [to confirm] · https://chatgpt.com/share/6ab42c82-b1f0-83ea-b81e-3ca978b314cc</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[2] Claude · supports slide(s): [to confirm] · https://claude.ai/share/e7b5931a-2c4e-45fd-95d4-f6a71016d9e8</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[3] Claude · supports slide(s): [to confirm] · https://claude.ai/share/c6c846b0-94e3-4c6e-9fea-aaf9f8252213</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[4] Claude · supports slide(s): [to confirm] · https://claude.ai/share/225c607d-3e34-4705-bb09-b88ec4934610</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[5] Claude · supports slide(s): [to confirm] · https://claude.ai/share/788c0cd3-ae15-4174-96d3-72e9b933bb30</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[6] Claude · supports slide(s): [to confirm] · https://claude.ai/share/c26bdfef-f1e2-4532-a0b4-65246ec9b834</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[7] Claude · supports slide(s): [to confirm] · https://claude.ai/share/ef316ff9-2f9e-427e-b913-d3e19fd54617</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9709</Words>
  <Application>Microsoft Office PowerPoint</Application>
  <PresentationFormat>On-screen Show (4:3)</PresentationFormat>
  <Paragraphs>1385</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Chen, Xavier</cp:lastModifiedBy>
  <cp:revision>1</cp:revision>
  <dcterms:created xsi:type="dcterms:W3CDTF">2026-09-26T15:50:13Z</dcterms:created>
  <dcterms:modified xsi:type="dcterms:W3CDTF">2026-09-30T00:47:40Z</dcterms:modified>
</cp:coreProperties>
</file>