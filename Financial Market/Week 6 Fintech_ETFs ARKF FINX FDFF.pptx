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charts/chart6.xml" ContentType="application/vnd.openxmlformats-officedocument.drawingml.chart+xml"/>
  <Override PartName="/ppt/notesSlides/notesSlide17.xml" ContentType="application/vnd.openxmlformats-officedocument.presentationml.notesSlide+xml"/>
  <Override PartName="/ppt/charts/chart7.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0.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2.xml" ContentType="application/vnd.openxmlformats-officedocument.drawingml.chart+xml"/>
  <Override PartName="/ppt/notesSlides/notesSlide31.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32.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7.xml" ContentType="application/vnd.openxmlformats-officedocument.drawingml.chart+xml"/>
  <Override PartName="/ppt/notesSlides/notesSlide35.xml" ContentType="application/vnd.openxmlformats-officedocument.presentationml.notesSlide+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86" r:id="rId2"/>
    <p:sldId id="287" r:id="rId3"/>
    <p:sldId id="289" r:id="rId4"/>
    <p:sldId id="301" r:id="rId5"/>
    <p:sldId id="288" r:id="rId6"/>
    <p:sldId id="280" r:id="rId7"/>
    <p:sldId id="266" r:id="rId8"/>
    <p:sldId id="26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7" r:id="rId25"/>
    <p:sldId id="328" r:id="rId26"/>
    <p:sldId id="270" r:id="rId27"/>
    <p:sldId id="271" r:id="rId28"/>
    <p:sldId id="272" r:id="rId29"/>
    <p:sldId id="273" r:id="rId30"/>
    <p:sldId id="298" r:id="rId31"/>
    <p:sldId id="299" r:id="rId32"/>
    <p:sldId id="300" r:id="rId33"/>
    <p:sldId id="329" r:id="rId34"/>
    <p:sldId id="330" r:id="rId35"/>
    <p:sldId id="331" r:id="rId36"/>
    <p:sldId id="332" r:id="rId37"/>
    <p:sldId id="306" r:id="rId38"/>
    <p:sldId id="333" r:id="rId39"/>
    <p:sldId id="334" r:id="rId40"/>
    <p:sldId id="297"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D80"/>
    <a:srgbClr val="16805D"/>
    <a:srgbClr val="ACF1DA"/>
    <a:srgbClr val="35628B"/>
    <a:srgbClr val="89AFD2"/>
    <a:srgbClr val="39798D"/>
    <a:srgbClr val="0A02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AA7D36-3A61-4D21-B8B5-15A534484278}" v="271" dt="2026-10-02T04:58:46.488"/>
    <p1510:client id="{387D05C2-711D-0B75-E907-6E6FFD49C8B8}" v="180" dt="2026-10-02T23:55:55.794"/>
    <p1510:client id="{42E39267-DB0F-C7A7-FB75-E6B743739ACC}" v="112" dt="2026-10-03T17:12:27.866"/>
    <p1510:client id="{4D999D05-FBCA-DD6A-0DA3-62BFF9843781}" v="2" dt="2026-10-03T16:18:52.386"/>
    <p1510:client id="{F13579DE-FF20-D02A-C79B-192170754651}" v="108" dt="2026-10-03T21:28:03.1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88"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rma, Parag" userId="S::pv30@fordham.edu::a90f778b-4c43-4e7e-82a7-c8a302442bbb" providerId="AD" clId="Web-{387D05C2-711D-0B75-E907-6E6FFD49C8B8}"/>
    <pc:docChg chg="modSld">
      <pc:chgData name="Verma, Parag" userId="S::pv30@fordham.edu::a90f778b-4c43-4e7e-82a7-c8a302442bbb" providerId="AD" clId="Web-{387D05C2-711D-0B75-E907-6E6FFD49C8B8}" dt="2026-10-02T23:55:54.044" v="173" actId="20577"/>
      <pc:docMkLst>
        <pc:docMk/>
      </pc:docMkLst>
      <pc:sldChg chg="modSp">
        <pc:chgData name="Verma, Parag" userId="S::pv30@fordham.edu::a90f778b-4c43-4e7e-82a7-c8a302442bbb" providerId="AD" clId="Web-{387D05C2-711D-0B75-E907-6E6FFD49C8B8}" dt="2026-10-02T23:54:47.852" v="160" actId="20577"/>
        <pc:sldMkLst>
          <pc:docMk/>
          <pc:sldMk cId="1194016498" sldId="266"/>
        </pc:sldMkLst>
        <pc:spChg chg="mod">
          <ac:chgData name="Verma, Parag" userId="S::pv30@fordham.edu::a90f778b-4c43-4e7e-82a7-c8a302442bbb" providerId="AD" clId="Web-{387D05C2-711D-0B75-E907-6E6FFD49C8B8}" dt="2026-10-02T23:54:47.852" v="160" actId="20577"/>
          <ac:spMkLst>
            <pc:docMk/>
            <pc:sldMk cId="1194016498" sldId="266"/>
            <ac:spMk id="2" creationId="{96377586-6103-4AA1-8BE2-8DE63BDC9FF8}"/>
          </ac:spMkLst>
        </pc:spChg>
      </pc:sldChg>
      <pc:sldChg chg="addSp delSp modSp">
        <pc:chgData name="Verma, Parag" userId="S::pv30@fordham.edu::a90f778b-4c43-4e7e-82a7-c8a302442bbb" providerId="AD" clId="Web-{387D05C2-711D-0B75-E907-6E6FFD49C8B8}" dt="2026-10-02T23:47:41.433" v="130" actId="1076"/>
        <pc:sldMkLst>
          <pc:docMk/>
          <pc:sldMk cId="40626511" sldId="271"/>
        </pc:sldMkLst>
        <pc:spChg chg="mod">
          <ac:chgData name="Verma, Parag" userId="S::pv30@fordham.edu::a90f778b-4c43-4e7e-82a7-c8a302442bbb" providerId="AD" clId="Web-{387D05C2-711D-0B75-E907-6E6FFD49C8B8}" dt="2026-10-02T23:24:56.211" v="95" actId="20577"/>
          <ac:spMkLst>
            <pc:docMk/>
            <pc:sldMk cId="40626511" sldId="271"/>
            <ac:spMk id="5" creationId="{1C732C00-B586-455F-8813-A119FCA4923C}"/>
          </ac:spMkLst>
        </pc:spChg>
        <pc:spChg chg="mod">
          <ac:chgData name="Verma, Parag" userId="S::pv30@fordham.edu::a90f778b-4c43-4e7e-82a7-c8a302442bbb" providerId="AD" clId="Web-{387D05C2-711D-0B75-E907-6E6FFD49C8B8}" dt="2026-10-02T23:47:32.151" v="129" actId="1076"/>
          <ac:spMkLst>
            <pc:docMk/>
            <pc:sldMk cId="40626511" sldId="271"/>
            <ac:spMk id="11" creationId="{C6CEC590-BAE0-4F13-82FE-B4033D4972C3}"/>
          </ac:spMkLst>
        </pc:spChg>
        <pc:spChg chg="mod">
          <ac:chgData name="Verma, Parag" userId="S::pv30@fordham.edu::a90f778b-4c43-4e7e-82a7-c8a302442bbb" providerId="AD" clId="Web-{387D05C2-711D-0B75-E907-6E6FFD49C8B8}" dt="2026-10-02T23:47:28.557" v="128" actId="1076"/>
          <ac:spMkLst>
            <pc:docMk/>
            <pc:sldMk cId="40626511" sldId="271"/>
            <ac:spMk id="12" creationId="{F33D2285-04F9-4D00-9146-E08A1F9A5748}"/>
          </ac:spMkLst>
        </pc:spChg>
        <pc:spChg chg="mod">
          <ac:chgData name="Verma, Parag" userId="S::pv30@fordham.edu::a90f778b-4c43-4e7e-82a7-c8a302442bbb" providerId="AD" clId="Web-{387D05C2-711D-0B75-E907-6E6FFD49C8B8}" dt="2026-10-02T23:47:41.433" v="130" actId="1076"/>
          <ac:spMkLst>
            <pc:docMk/>
            <pc:sldMk cId="40626511" sldId="271"/>
            <ac:spMk id="13" creationId="{4AC6CEA5-5077-4DA3-A852-0F45C6455EBD}"/>
          </ac:spMkLst>
        </pc:spChg>
        <pc:spChg chg="mod">
          <ac:chgData name="Verma, Parag" userId="S::pv30@fordham.edu::a90f778b-4c43-4e7e-82a7-c8a302442bbb" providerId="AD" clId="Web-{387D05C2-711D-0B75-E907-6E6FFD49C8B8}" dt="2026-10-02T23:47:17.244" v="126" actId="1076"/>
          <ac:spMkLst>
            <pc:docMk/>
            <pc:sldMk cId="40626511" sldId="271"/>
            <ac:spMk id="14" creationId="{01F0184D-30A3-4C96-80A4-645758741889}"/>
          </ac:spMkLst>
        </pc:spChg>
        <pc:spChg chg="add del mod">
          <ac:chgData name="Verma, Parag" userId="S::pv30@fordham.edu::a90f778b-4c43-4e7e-82a7-c8a302442bbb" providerId="AD" clId="Web-{387D05C2-711D-0B75-E907-6E6FFD49C8B8}" dt="2026-10-02T23:45:11.860" v="103"/>
          <ac:spMkLst>
            <pc:docMk/>
            <pc:sldMk cId="40626511" sldId="271"/>
            <ac:spMk id="17" creationId="{EE57116E-C9D8-D91F-4BD2-A478B086DBCB}"/>
          </ac:spMkLst>
        </pc:spChg>
        <pc:spChg chg="add del mod">
          <ac:chgData name="Verma, Parag" userId="S::pv30@fordham.edu::a90f778b-4c43-4e7e-82a7-c8a302442bbb" providerId="AD" clId="Web-{387D05C2-711D-0B75-E907-6E6FFD49C8B8}" dt="2026-10-02T23:46:05.880" v="115"/>
          <ac:spMkLst>
            <pc:docMk/>
            <pc:sldMk cId="40626511" sldId="271"/>
            <ac:spMk id="19" creationId="{01E02C90-06FB-CAEF-809A-3C2BFDCA709C}"/>
          </ac:spMkLst>
        </pc:spChg>
        <pc:spChg chg="add del">
          <ac:chgData name="Verma, Parag" userId="S::pv30@fordham.edu::a90f778b-4c43-4e7e-82a7-c8a302442bbb" providerId="AD" clId="Web-{387D05C2-711D-0B75-E907-6E6FFD49C8B8}" dt="2026-10-02T23:46:23.178" v="117"/>
          <ac:spMkLst>
            <pc:docMk/>
            <pc:sldMk cId="40626511" sldId="271"/>
            <ac:spMk id="22" creationId="{C12F7327-8BBE-8016-8CB2-7C6868724BAE}"/>
          </ac:spMkLst>
        </pc:spChg>
        <pc:spChg chg="add del mod">
          <ac:chgData name="Verma, Parag" userId="S::pv30@fordham.edu::a90f778b-4c43-4e7e-82a7-c8a302442bbb" providerId="AD" clId="Web-{387D05C2-711D-0B75-E907-6E6FFD49C8B8}" dt="2026-10-02T23:46:41.304" v="120"/>
          <ac:spMkLst>
            <pc:docMk/>
            <pc:sldMk cId="40626511" sldId="271"/>
            <ac:spMk id="23" creationId="{3EFBE71B-179C-269F-5ED0-695F725F9F7C}"/>
          </ac:spMkLst>
        </pc:spChg>
      </pc:sldChg>
      <pc:sldChg chg="addSp delSp modSp">
        <pc:chgData name="Verma, Parag" userId="S::pv30@fordham.edu::a90f778b-4c43-4e7e-82a7-c8a302442bbb" providerId="AD" clId="Web-{387D05C2-711D-0B75-E907-6E6FFD49C8B8}" dt="2026-10-02T23:09:34.271" v="72" actId="1076"/>
        <pc:sldMkLst>
          <pc:docMk/>
          <pc:sldMk cId="1774253636" sldId="272"/>
        </pc:sldMkLst>
        <pc:spChg chg="del mod">
          <ac:chgData name="Verma, Parag" userId="S::pv30@fordham.edu::a90f778b-4c43-4e7e-82a7-c8a302442bbb" providerId="AD" clId="Web-{387D05C2-711D-0B75-E907-6E6FFD49C8B8}" dt="2026-10-02T23:00:05.653" v="49"/>
          <ac:spMkLst>
            <pc:docMk/>
            <pc:sldMk cId="1774253636" sldId="272"/>
            <ac:spMk id="5" creationId="{5F313EA3-5003-4FA5-826A-4F02BE7D0C59}"/>
          </ac:spMkLst>
        </pc:spChg>
        <pc:spChg chg="mod">
          <ac:chgData name="Verma, Parag" userId="S::pv30@fordham.edu::a90f778b-4c43-4e7e-82a7-c8a302442bbb" providerId="AD" clId="Web-{387D05C2-711D-0B75-E907-6E6FFD49C8B8}" dt="2026-10-02T23:09:27.911" v="71" actId="1076"/>
          <ac:spMkLst>
            <pc:docMk/>
            <pc:sldMk cId="1774253636" sldId="272"/>
            <ac:spMk id="7" creationId="{B4166094-FDC3-4906-B490-9CDBC2B1CDCD}"/>
          </ac:spMkLst>
        </pc:spChg>
        <pc:spChg chg="mod">
          <ac:chgData name="Verma, Parag" userId="S::pv30@fordham.edu::a90f778b-4c43-4e7e-82a7-c8a302442bbb" providerId="AD" clId="Web-{387D05C2-711D-0B75-E907-6E6FFD49C8B8}" dt="2026-10-02T23:09:05.254" v="67" actId="20577"/>
          <ac:spMkLst>
            <pc:docMk/>
            <pc:sldMk cId="1774253636" sldId="272"/>
            <ac:spMk id="8" creationId="{D1995BF3-23A9-4D4D-BF81-6B71EEE589BA}"/>
          </ac:spMkLst>
        </pc:spChg>
        <pc:spChg chg="mod">
          <ac:chgData name="Verma, Parag" userId="S::pv30@fordham.edu::a90f778b-4c43-4e7e-82a7-c8a302442bbb" providerId="AD" clId="Web-{387D05C2-711D-0B75-E907-6E6FFD49C8B8}" dt="2026-10-02T23:09:34.271" v="72" actId="1076"/>
          <ac:spMkLst>
            <pc:docMk/>
            <pc:sldMk cId="1774253636" sldId="272"/>
            <ac:spMk id="9" creationId="{D8592BC9-17C1-466E-A1CD-348B3834CFD3}"/>
          </ac:spMkLst>
        </pc:spChg>
        <pc:spChg chg="mod">
          <ac:chgData name="Verma, Parag" userId="S::pv30@fordham.edu::a90f778b-4c43-4e7e-82a7-c8a302442bbb" providerId="AD" clId="Web-{387D05C2-711D-0B75-E907-6E6FFD49C8B8}" dt="2026-10-02T23:09:11.504" v="68" actId="20577"/>
          <ac:spMkLst>
            <pc:docMk/>
            <pc:sldMk cId="1774253636" sldId="272"/>
            <ac:spMk id="10" creationId="{3D8144EE-593D-4042-B0BD-266AE34C56EC}"/>
          </ac:spMkLst>
        </pc:spChg>
        <pc:spChg chg="del mod">
          <ac:chgData name="Verma, Parag" userId="S::pv30@fordham.edu::a90f778b-4c43-4e7e-82a7-c8a302442bbb" providerId="AD" clId="Web-{387D05C2-711D-0B75-E907-6E6FFD49C8B8}" dt="2026-10-02T23:00:08.419" v="50"/>
          <ac:spMkLst>
            <pc:docMk/>
            <pc:sldMk cId="1774253636" sldId="272"/>
            <ac:spMk id="11" creationId="{A4FEC221-019A-4AC4-B1DA-CEB52A075E5B}"/>
          </ac:spMkLst>
        </pc:spChg>
        <pc:spChg chg="del mod">
          <ac:chgData name="Verma, Parag" userId="S::pv30@fordham.edu::a90f778b-4c43-4e7e-82a7-c8a302442bbb" providerId="AD" clId="Web-{387D05C2-711D-0B75-E907-6E6FFD49C8B8}" dt="2026-10-02T22:54:59.880" v="18"/>
          <ac:spMkLst>
            <pc:docMk/>
            <pc:sldMk cId="1774253636" sldId="272"/>
            <ac:spMk id="12" creationId="{BEA49092-BCD7-4B61-A774-98A67AFC770C}"/>
          </ac:spMkLst>
        </pc:spChg>
        <pc:graphicFrameChg chg="del mod">
          <ac:chgData name="Verma, Parag" userId="S::pv30@fordham.edu::a90f778b-4c43-4e7e-82a7-c8a302442bbb" providerId="AD" clId="Web-{387D05C2-711D-0B75-E907-6E6FFD49C8B8}" dt="2026-10-02T23:00:03.481" v="48"/>
          <ac:graphicFrameMkLst>
            <pc:docMk/>
            <pc:sldMk cId="1774253636" sldId="272"/>
            <ac:graphicFrameMk id="19" creationId="{00000000-0000-0000-0000-000000000000}"/>
          </ac:graphicFrameMkLst>
        </pc:graphicFrameChg>
        <pc:picChg chg="add mod">
          <ac:chgData name="Verma, Parag" userId="S::pv30@fordham.edu::a90f778b-4c43-4e7e-82a7-c8a302442bbb" providerId="AD" clId="Web-{387D05C2-711D-0B75-E907-6E6FFD49C8B8}" dt="2026-10-02T23:08:36.970" v="63" actId="1076"/>
          <ac:picMkLst>
            <pc:docMk/>
            <pc:sldMk cId="1774253636" sldId="272"/>
            <ac:picMk id="17" creationId="{8EFBA533-9059-F37D-3855-9B8658DE64BF}"/>
          </ac:picMkLst>
        </pc:picChg>
      </pc:sldChg>
      <pc:sldChg chg="modSp">
        <pc:chgData name="Verma, Parag" userId="S::pv30@fordham.edu::a90f778b-4c43-4e7e-82a7-c8a302442bbb" providerId="AD" clId="Web-{387D05C2-711D-0B75-E907-6E6FFD49C8B8}" dt="2026-10-02T23:14:03.978" v="93" actId="20577"/>
        <pc:sldMkLst>
          <pc:docMk/>
          <pc:sldMk cId="1955631933" sldId="273"/>
        </pc:sldMkLst>
        <pc:spChg chg="mod">
          <ac:chgData name="Verma, Parag" userId="S::pv30@fordham.edu::a90f778b-4c43-4e7e-82a7-c8a302442bbb" providerId="AD" clId="Web-{387D05C2-711D-0B75-E907-6E6FFD49C8B8}" dt="2026-10-02T23:14:03.978" v="93" actId="20577"/>
          <ac:spMkLst>
            <pc:docMk/>
            <pc:sldMk cId="1955631933" sldId="273"/>
            <ac:spMk id="3" creationId="{BB9A6096-BF44-45F5-8EFF-13B9E4F7D1B6}"/>
          </ac:spMkLst>
        </pc:spChg>
        <pc:spChg chg="mod">
          <ac:chgData name="Verma, Parag" userId="S::pv30@fordham.edu::a90f778b-4c43-4e7e-82a7-c8a302442bbb" providerId="AD" clId="Web-{387D05C2-711D-0B75-E907-6E6FFD49C8B8}" dt="2026-10-02T23:10:09.430" v="76" actId="1076"/>
          <ac:spMkLst>
            <pc:docMk/>
            <pc:sldMk cId="1955631933" sldId="273"/>
            <ac:spMk id="6" creationId="{15A71195-B00C-4961-9EA2-A986B5017EFC}"/>
          </ac:spMkLst>
        </pc:spChg>
        <pc:spChg chg="mod">
          <ac:chgData name="Verma, Parag" userId="S::pv30@fordham.edu::a90f778b-4c43-4e7e-82a7-c8a302442bbb" providerId="AD" clId="Web-{387D05C2-711D-0B75-E907-6E6FFD49C8B8}" dt="2026-10-02T23:10:12.540" v="77" actId="1076"/>
          <ac:spMkLst>
            <pc:docMk/>
            <pc:sldMk cId="1955631933" sldId="273"/>
            <ac:spMk id="7" creationId="{E8FF52BA-2881-4467-AEE3-9372878B4D04}"/>
          </ac:spMkLst>
        </pc:spChg>
        <pc:spChg chg="mod">
          <ac:chgData name="Verma, Parag" userId="S::pv30@fordham.edu::a90f778b-4c43-4e7e-82a7-c8a302442bbb" providerId="AD" clId="Web-{387D05C2-711D-0B75-E907-6E6FFD49C8B8}" dt="2026-10-02T23:10:05.758" v="75" actId="1076"/>
          <ac:spMkLst>
            <pc:docMk/>
            <pc:sldMk cId="1955631933" sldId="273"/>
            <ac:spMk id="8" creationId="{33B81286-31C7-44A4-96EF-8A2F1EA03919}"/>
          </ac:spMkLst>
        </pc:spChg>
      </pc:sldChg>
      <pc:sldChg chg="addSp modSp">
        <pc:chgData name="Verma, Parag" userId="S::pv30@fordham.edu::a90f778b-4c43-4e7e-82a7-c8a302442bbb" providerId="AD" clId="Web-{387D05C2-711D-0B75-E907-6E6FFD49C8B8}" dt="2026-10-02T23:54:40.320" v="159" actId="20577"/>
        <pc:sldMkLst>
          <pc:docMk/>
          <pc:sldMk cId="432212336" sldId="280"/>
        </pc:sldMkLst>
        <pc:spChg chg="add mod">
          <ac:chgData name="Verma, Parag" userId="S::pv30@fordham.edu::a90f778b-4c43-4e7e-82a7-c8a302442bbb" providerId="AD" clId="Web-{387D05C2-711D-0B75-E907-6E6FFD49C8B8}" dt="2026-10-02T23:54:40.320" v="159" actId="20577"/>
          <ac:spMkLst>
            <pc:docMk/>
            <pc:sldMk cId="432212336" sldId="280"/>
            <ac:spMk id="3" creationId="{B1A58739-8483-C4B7-B48D-2BF3C0B651E7}"/>
          </ac:spMkLst>
        </pc:spChg>
        <pc:spChg chg="mod">
          <ac:chgData name="Verma, Parag" userId="S::pv30@fordham.edu::a90f778b-4c43-4e7e-82a7-c8a302442bbb" providerId="AD" clId="Web-{387D05C2-711D-0B75-E907-6E6FFD49C8B8}" dt="2026-10-02T23:50:47.070" v="135" actId="1076"/>
          <ac:spMkLst>
            <pc:docMk/>
            <pc:sldMk cId="432212336" sldId="280"/>
            <ac:spMk id="10" creationId="{52292D35-E070-44C8-A88B-1694C239EC04}"/>
          </ac:spMkLst>
        </pc:spChg>
      </pc:sldChg>
      <pc:sldChg chg="modSp">
        <pc:chgData name="Verma, Parag" userId="S::pv30@fordham.edu::a90f778b-4c43-4e7e-82a7-c8a302442bbb" providerId="AD" clId="Web-{387D05C2-711D-0B75-E907-6E6FFD49C8B8}" dt="2026-10-02T23:54:03.630" v="155" actId="20577"/>
        <pc:sldMkLst>
          <pc:docMk/>
          <pc:sldMk cId="2046339209" sldId="287"/>
        </pc:sldMkLst>
        <pc:spChg chg="mod">
          <ac:chgData name="Verma, Parag" userId="S::pv30@fordham.edu::a90f778b-4c43-4e7e-82a7-c8a302442bbb" providerId="AD" clId="Web-{387D05C2-711D-0B75-E907-6E6FFD49C8B8}" dt="2026-10-02T23:54:03.630" v="155" actId="20577"/>
          <ac:spMkLst>
            <pc:docMk/>
            <pc:sldMk cId="2046339209" sldId="287"/>
            <ac:spMk id="14" creationId="{B40FE8F5-D9EA-D4EE-3082-B2FFB2E24B1C}"/>
          </ac:spMkLst>
        </pc:spChg>
      </pc:sldChg>
      <pc:sldChg chg="modSp">
        <pc:chgData name="Verma, Parag" userId="S::pv30@fordham.edu::a90f778b-4c43-4e7e-82a7-c8a302442bbb" providerId="AD" clId="Web-{387D05C2-711D-0B75-E907-6E6FFD49C8B8}" dt="2026-10-02T23:54:31.835" v="158" actId="20577"/>
        <pc:sldMkLst>
          <pc:docMk/>
          <pc:sldMk cId="3940758756" sldId="288"/>
        </pc:sldMkLst>
        <pc:spChg chg="mod">
          <ac:chgData name="Verma, Parag" userId="S::pv30@fordham.edu::a90f778b-4c43-4e7e-82a7-c8a302442bbb" providerId="AD" clId="Web-{387D05C2-711D-0B75-E907-6E6FFD49C8B8}" dt="2026-10-02T23:54:31.835" v="158" actId="20577"/>
          <ac:spMkLst>
            <pc:docMk/>
            <pc:sldMk cId="3940758756" sldId="288"/>
            <ac:spMk id="14" creationId="{58FAA925-0747-9F8C-E35D-3B0A6074C90E}"/>
          </ac:spMkLst>
        </pc:spChg>
      </pc:sldChg>
      <pc:sldChg chg="modSp">
        <pc:chgData name="Verma, Parag" userId="S::pv30@fordham.edu::a90f778b-4c43-4e7e-82a7-c8a302442bbb" providerId="AD" clId="Web-{387D05C2-711D-0B75-E907-6E6FFD49C8B8}" dt="2026-10-02T23:54:12.631" v="156" actId="20577"/>
        <pc:sldMkLst>
          <pc:docMk/>
          <pc:sldMk cId="1860113769" sldId="289"/>
        </pc:sldMkLst>
        <pc:spChg chg="mod">
          <ac:chgData name="Verma, Parag" userId="S::pv30@fordham.edu::a90f778b-4c43-4e7e-82a7-c8a302442bbb" providerId="AD" clId="Web-{387D05C2-711D-0B75-E907-6E6FFD49C8B8}" dt="2026-10-02T23:54:12.631" v="156" actId="20577"/>
          <ac:spMkLst>
            <pc:docMk/>
            <pc:sldMk cId="1860113769" sldId="289"/>
            <ac:spMk id="14" creationId="{2110FC9F-7C56-C6F8-1399-7ED956DCD667}"/>
          </ac:spMkLst>
        </pc:spChg>
      </pc:sldChg>
      <pc:sldChg chg="modSp">
        <pc:chgData name="Verma, Parag" userId="S::pv30@fordham.edu::a90f778b-4c43-4e7e-82a7-c8a302442bbb" providerId="AD" clId="Web-{387D05C2-711D-0B75-E907-6E6FFD49C8B8}" dt="2026-10-02T23:54:22.756" v="157" actId="20577"/>
        <pc:sldMkLst>
          <pc:docMk/>
          <pc:sldMk cId="3958331573" sldId="301"/>
        </pc:sldMkLst>
        <pc:spChg chg="mod">
          <ac:chgData name="Verma, Parag" userId="S::pv30@fordham.edu::a90f778b-4c43-4e7e-82a7-c8a302442bbb" providerId="AD" clId="Web-{387D05C2-711D-0B75-E907-6E6FFD49C8B8}" dt="2026-10-02T23:54:22.756" v="157" actId="20577"/>
          <ac:spMkLst>
            <pc:docMk/>
            <pc:sldMk cId="3958331573" sldId="301"/>
            <ac:spMk id="14" creationId="{58F09231-934C-7ECB-5B3A-FFD1E0C99C7E}"/>
          </ac:spMkLst>
        </pc:spChg>
      </pc:sldChg>
      <pc:sldChg chg="delSp">
        <pc:chgData name="Verma, Parag" userId="S::pv30@fordham.edu::a90f778b-4c43-4e7e-82a7-c8a302442bbb" providerId="AD" clId="Web-{387D05C2-711D-0B75-E907-6E6FFD49C8B8}" dt="2026-10-02T23:52:05.763" v="145"/>
        <pc:sldMkLst>
          <pc:docMk/>
          <pc:sldMk cId="0" sldId="304"/>
        </pc:sldMkLst>
        <pc:spChg chg="del">
          <ac:chgData name="Verma, Parag" userId="S::pv30@fordham.edu::a90f778b-4c43-4e7e-82a7-c8a302442bbb" providerId="AD" clId="Web-{387D05C2-711D-0B75-E907-6E6FFD49C8B8}" dt="2026-10-02T23:52:05.763" v="145"/>
          <ac:spMkLst>
            <pc:docMk/>
            <pc:sldMk cId="0" sldId="304"/>
            <ac:spMk id="8" creationId="{8B8C69FD-01FB-3514-AFCD-D2B2A7979CCC}"/>
          </ac:spMkLst>
        </pc:spChg>
      </pc:sldChg>
      <pc:sldChg chg="modSp">
        <pc:chgData name="Verma, Parag" userId="S::pv30@fordham.edu::a90f778b-4c43-4e7e-82a7-c8a302442bbb" providerId="AD" clId="Web-{387D05C2-711D-0B75-E907-6E6FFD49C8B8}" dt="2026-10-02T23:55:25.073" v="168" actId="1076"/>
        <pc:sldMkLst>
          <pc:docMk/>
          <pc:sldMk cId="4255857324" sldId="308"/>
        </pc:sldMkLst>
        <pc:spChg chg="mod">
          <ac:chgData name="Verma, Parag" userId="S::pv30@fordham.edu::a90f778b-4c43-4e7e-82a7-c8a302442bbb" providerId="AD" clId="Web-{387D05C2-711D-0B75-E907-6E6FFD49C8B8}" dt="2026-10-02T23:55:25.073" v="168" actId="1076"/>
          <ac:spMkLst>
            <pc:docMk/>
            <pc:sldMk cId="4255857324" sldId="308"/>
            <ac:spMk id="4" creationId="{00000000-0000-0000-0000-000000000000}"/>
          </ac:spMkLst>
        </pc:spChg>
      </pc:sldChg>
      <pc:sldChg chg="modSp">
        <pc:chgData name="Verma, Parag" userId="S::pv30@fordham.edu::a90f778b-4c43-4e7e-82a7-c8a302442bbb" providerId="AD" clId="Web-{387D05C2-711D-0B75-E907-6E6FFD49C8B8}" dt="2026-10-02T23:53:54.067" v="154" actId="20577"/>
        <pc:sldMkLst>
          <pc:docMk/>
          <pc:sldMk cId="778940881" sldId="309"/>
        </pc:sldMkLst>
        <pc:spChg chg="mod">
          <ac:chgData name="Verma, Parag" userId="S::pv30@fordham.edu::a90f778b-4c43-4e7e-82a7-c8a302442bbb" providerId="AD" clId="Web-{387D05C2-711D-0B75-E907-6E6FFD49C8B8}" dt="2026-10-02T23:53:54.067" v="154" actId="20577"/>
          <ac:spMkLst>
            <pc:docMk/>
            <pc:sldMk cId="778940881" sldId="309"/>
            <ac:spMk id="4" creationId="{00000000-0000-0000-0000-000000000000}"/>
          </ac:spMkLst>
        </pc:spChg>
      </pc:sldChg>
      <pc:sldChg chg="modSp">
        <pc:chgData name="Verma, Parag" userId="S::pv30@fordham.edu::a90f778b-4c43-4e7e-82a7-c8a302442bbb" providerId="AD" clId="Web-{387D05C2-711D-0B75-E907-6E6FFD49C8B8}" dt="2026-10-02T23:55:43.558" v="171" actId="14100"/>
        <pc:sldMkLst>
          <pc:docMk/>
          <pc:sldMk cId="405041005" sldId="310"/>
        </pc:sldMkLst>
        <pc:spChg chg="mod">
          <ac:chgData name="Verma, Parag" userId="S::pv30@fordham.edu::a90f778b-4c43-4e7e-82a7-c8a302442bbb" providerId="AD" clId="Web-{387D05C2-711D-0B75-E907-6E6FFD49C8B8}" dt="2026-10-02T23:55:43.558" v="171" actId="14100"/>
          <ac:spMkLst>
            <pc:docMk/>
            <pc:sldMk cId="405041005" sldId="310"/>
            <ac:spMk id="4" creationId="{00000000-0000-0000-0000-000000000000}"/>
          </ac:spMkLst>
        </pc:spChg>
      </pc:sldChg>
      <pc:sldChg chg="modSp">
        <pc:chgData name="Verma, Parag" userId="S::pv30@fordham.edu::a90f778b-4c43-4e7e-82a7-c8a302442bbb" providerId="AD" clId="Web-{387D05C2-711D-0B75-E907-6E6FFD49C8B8}" dt="2026-10-02T23:55:54.044" v="173" actId="20577"/>
        <pc:sldMkLst>
          <pc:docMk/>
          <pc:sldMk cId="0" sldId="311"/>
        </pc:sldMkLst>
        <pc:spChg chg="mod">
          <ac:chgData name="Verma, Parag" userId="S::pv30@fordham.edu::a90f778b-4c43-4e7e-82a7-c8a302442bbb" providerId="AD" clId="Web-{387D05C2-711D-0B75-E907-6E6FFD49C8B8}" dt="2026-10-02T23:55:54.044" v="173" actId="20577"/>
          <ac:spMkLst>
            <pc:docMk/>
            <pc:sldMk cId="0" sldId="311"/>
            <ac:spMk id="4" creationId="{00000000-0000-0000-0000-000000000000}"/>
          </ac:spMkLst>
        </pc:spChg>
      </pc:sldChg>
      <pc:sldChg chg="delSp">
        <pc:chgData name="Verma, Parag" userId="S::pv30@fordham.edu::a90f778b-4c43-4e7e-82a7-c8a302442bbb" providerId="AD" clId="Web-{387D05C2-711D-0B75-E907-6E6FFD49C8B8}" dt="2026-10-02T23:52:00.231" v="144"/>
        <pc:sldMkLst>
          <pc:docMk/>
          <pc:sldMk cId="0" sldId="325"/>
        </pc:sldMkLst>
        <pc:spChg chg="del">
          <ac:chgData name="Verma, Parag" userId="S::pv30@fordham.edu::a90f778b-4c43-4e7e-82a7-c8a302442bbb" providerId="AD" clId="Web-{387D05C2-711D-0B75-E907-6E6FFD49C8B8}" dt="2026-10-02T23:52:00.231" v="144"/>
          <ac:spMkLst>
            <pc:docMk/>
            <pc:sldMk cId="0" sldId="325"/>
            <ac:spMk id="14" creationId="{41EAA0A8-9F80-7CB0-658D-C40267264136}"/>
          </ac:spMkLst>
        </pc:spChg>
      </pc:sldChg>
    </pc:docChg>
  </pc:docChgLst>
  <pc:docChgLst>
    <pc:chgData name="Mount, Jared" userId="S::jmount2@fordham.edu::c610cf62-ae7e-41d7-b94d-d302367ee0e6" providerId="AD" clId="Web-{4D999D05-FBCA-DD6A-0DA3-62BFF9843781}"/>
    <pc:docChg chg="addSld delSld">
      <pc:chgData name="Mount, Jared" userId="S::jmount2@fordham.edu::c610cf62-ae7e-41d7-b94d-d302367ee0e6" providerId="AD" clId="Web-{4D999D05-FBCA-DD6A-0DA3-62BFF9843781}" dt="2026-10-03T16:18:52.386" v="5"/>
      <pc:docMkLst>
        <pc:docMk/>
      </pc:docMkLst>
      <pc:sldChg chg="del">
        <pc:chgData name="Mount, Jared" userId="S::jmount2@fordham.edu::c610cf62-ae7e-41d7-b94d-d302367ee0e6" providerId="AD" clId="Web-{4D999D05-FBCA-DD6A-0DA3-62BFF9843781}" dt="2026-10-03T16:18:52.386" v="4"/>
        <pc:sldMkLst>
          <pc:docMk/>
          <pc:sldMk cId="254527358" sldId="268"/>
        </pc:sldMkLst>
      </pc:sldChg>
      <pc:sldChg chg="del">
        <pc:chgData name="Mount, Jared" userId="S::jmount2@fordham.edu::c610cf62-ae7e-41d7-b94d-d302367ee0e6" providerId="AD" clId="Web-{4D999D05-FBCA-DD6A-0DA3-62BFF9843781}" dt="2026-10-03T16:18:52.386" v="3"/>
        <pc:sldMkLst>
          <pc:docMk/>
          <pc:sldMk cId="1826715464" sldId="269"/>
        </pc:sldMkLst>
      </pc:sldChg>
      <pc:sldChg chg="add">
        <pc:chgData name="Mount, Jared" userId="S::jmount2@fordham.edu::c610cf62-ae7e-41d7-b94d-d302367ee0e6" providerId="AD" clId="Web-{4D999D05-FBCA-DD6A-0DA3-62BFF9843781}" dt="2026-10-03T16:18:44.370" v="0"/>
        <pc:sldMkLst>
          <pc:docMk/>
          <pc:sldMk cId="1701240089" sldId="327"/>
        </pc:sldMkLst>
      </pc:sldChg>
      <pc:sldChg chg="add">
        <pc:chgData name="Mount, Jared" userId="S::jmount2@fordham.edu::c610cf62-ae7e-41d7-b94d-d302367ee0e6" providerId="AD" clId="Web-{4D999D05-FBCA-DD6A-0DA3-62BFF9843781}" dt="2026-10-03T16:18:44.464" v="1"/>
        <pc:sldMkLst>
          <pc:docMk/>
          <pc:sldMk cId="2561576787" sldId="328"/>
        </pc:sldMkLst>
      </pc:sldChg>
      <pc:sldChg chg="add del">
        <pc:chgData name="Mount, Jared" userId="S::jmount2@fordham.edu::c610cf62-ae7e-41d7-b94d-d302367ee0e6" providerId="AD" clId="Web-{4D999D05-FBCA-DD6A-0DA3-62BFF9843781}" dt="2026-10-03T16:18:52.386" v="5"/>
        <pc:sldMkLst>
          <pc:docMk/>
          <pc:sldMk cId="2563178216" sldId="329"/>
        </pc:sldMkLst>
      </pc:sldChg>
    </pc:docChg>
  </pc:docChgLst>
  <pc:docChgLst>
    <pc:chgData name="Kelemis, Theofilos" userId="S::tk141@fordham.edu::8a8b674f-64b2-4b1a-acb7-a9adc99552ae" providerId="AD" clId="Web-{42E39267-DB0F-C7A7-FB75-E6B743739ACC}"/>
    <pc:docChg chg="addSld delSld">
      <pc:chgData name="Kelemis, Theofilos" userId="S::tk141@fordham.edu::8a8b674f-64b2-4b1a-acb7-a9adc99552ae" providerId="AD" clId="Web-{42E39267-DB0F-C7A7-FB75-E6B743739ACC}" dt="2026-10-03T17:12:27.866" v="37"/>
      <pc:docMkLst>
        <pc:docMk/>
      </pc:docMkLst>
      <pc:sldChg chg="add del">
        <pc:chgData name="Kelemis, Theofilos" userId="S::tk141@fordham.edu::8a8b674f-64b2-4b1a-acb7-a9adc99552ae" providerId="AD" clId="Web-{42E39267-DB0F-C7A7-FB75-E6B743739ACC}" dt="2026-10-03T17:12:27.866" v="37"/>
        <pc:sldMkLst>
          <pc:docMk/>
          <pc:sldMk cId="717363319" sldId="279"/>
        </pc:sldMkLst>
      </pc:sldChg>
      <pc:sldChg chg="del">
        <pc:chgData name="Kelemis, Theofilos" userId="S::tk141@fordham.edu::8a8b674f-64b2-4b1a-acb7-a9adc99552ae" providerId="AD" clId="Web-{42E39267-DB0F-C7A7-FB75-E6B743739ACC}" dt="2026-10-03T17:08:06.719" v="25"/>
        <pc:sldMkLst>
          <pc:docMk/>
          <pc:sldMk cId="77255574" sldId="291"/>
        </pc:sldMkLst>
      </pc:sldChg>
      <pc:sldChg chg="del">
        <pc:chgData name="Kelemis, Theofilos" userId="S::tk141@fordham.edu::8a8b674f-64b2-4b1a-acb7-a9adc99552ae" providerId="AD" clId="Web-{42E39267-DB0F-C7A7-FB75-E6B743739ACC}" dt="2026-10-03T17:07:24.466" v="23"/>
        <pc:sldMkLst>
          <pc:docMk/>
          <pc:sldMk cId="0" sldId="302"/>
        </pc:sldMkLst>
      </pc:sldChg>
      <pc:sldChg chg="del">
        <pc:chgData name="Kelemis, Theofilos" userId="S::tk141@fordham.edu::8a8b674f-64b2-4b1a-acb7-a9adc99552ae" providerId="AD" clId="Web-{42E39267-DB0F-C7A7-FB75-E6B743739ACC}" dt="2026-10-03T17:07:21.435" v="22"/>
        <pc:sldMkLst>
          <pc:docMk/>
          <pc:sldMk cId="0" sldId="303"/>
        </pc:sldMkLst>
      </pc:sldChg>
      <pc:sldChg chg="del">
        <pc:chgData name="Kelemis, Theofilos" userId="S::tk141@fordham.edu::8a8b674f-64b2-4b1a-acb7-a9adc99552ae" providerId="AD" clId="Web-{42E39267-DB0F-C7A7-FB75-E6B743739ACC}" dt="2026-10-03T17:07:26.044" v="24"/>
        <pc:sldMkLst>
          <pc:docMk/>
          <pc:sldMk cId="0" sldId="304"/>
        </pc:sldMkLst>
      </pc:sldChg>
      <pc:sldChg chg="del">
        <pc:chgData name="Kelemis, Theofilos" userId="S::tk141@fordham.edu::8a8b674f-64b2-4b1a-acb7-a9adc99552ae" providerId="AD" clId="Web-{42E39267-DB0F-C7A7-FB75-E6B743739ACC}" dt="2026-10-03T17:07:18.137" v="21"/>
        <pc:sldMkLst>
          <pc:docMk/>
          <pc:sldMk cId="0" sldId="305"/>
        </pc:sldMkLst>
      </pc:sldChg>
      <pc:sldChg chg="add del">
        <pc:chgData name="Kelemis, Theofilos" userId="S::tk141@fordham.edu::8a8b674f-64b2-4b1a-acb7-a9adc99552ae" providerId="AD" clId="Web-{42E39267-DB0F-C7A7-FB75-E6B743739ACC}" dt="2026-10-03T17:06:56.386" v="18"/>
        <pc:sldMkLst>
          <pc:docMk/>
          <pc:sldMk cId="0" sldId="306"/>
        </pc:sldMkLst>
      </pc:sldChg>
      <pc:sldChg chg="add del">
        <pc:chgData name="Kelemis, Theofilos" userId="S::tk141@fordham.edu::8a8b674f-64b2-4b1a-acb7-a9adc99552ae" providerId="AD" clId="Web-{42E39267-DB0F-C7A7-FB75-E6B743739ACC}" dt="2026-10-03T17:10:42.232" v="36"/>
        <pc:sldMkLst>
          <pc:docMk/>
          <pc:sldMk cId="0" sldId="324"/>
        </pc:sldMkLst>
      </pc:sldChg>
      <pc:sldChg chg="add del">
        <pc:chgData name="Kelemis, Theofilos" userId="S::tk141@fordham.edu::8a8b674f-64b2-4b1a-acb7-a9adc99552ae" providerId="AD" clId="Web-{42E39267-DB0F-C7A7-FB75-E6B743739ACC}" dt="2026-10-03T17:10:42.232" v="35"/>
        <pc:sldMkLst>
          <pc:docMk/>
          <pc:sldMk cId="0" sldId="325"/>
        </pc:sldMkLst>
      </pc:sldChg>
      <pc:sldChg chg="add del">
        <pc:chgData name="Kelemis, Theofilos" userId="S::tk141@fordham.edu::8a8b674f-64b2-4b1a-acb7-a9adc99552ae" providerId="AD" clId="Web-{42E39267-DB0F-C7A7-FB75-E6B743739ACC}" dt="2026-10-03T17:10:42.216" v="34"/>
        <pc:sldMkLst>
          <pc:docMk/>
          <pc:sldMk cId="0" sldId="326"/>
        </pc:sldMkLst>
      </pc:sldChg>
      <pc:sldChg chg="add">
        <pc:chgData name="Kelemis, Theofilos" userId="S::tk141@fordham.edu::8a8b674f-64b2-4b1a-acb7-a9adc99552ae" providerId="AD" clId="Web-{42E39267-DB0F-C7A7-FB75-E6B743739ACC}" dt="2026-10-03T17:06:56.104" v="14"/>
        <pc:sldMkLst>
          <pc:docMk/>
          <pc:sldMk cId="502547285" sldId="329"/>
        </pc:sldMkLst>
      </pc:sldChg>
      <pc:sldChg chg="add del">
        <pc:chgData name="Kelemis, Theofilos" userId="S::tk141@fordham.edu::8a8b674f-64b2-4b1a-acb7-a9adc99552ae" providerId="AD" clId="Web-{42E39267-DB0F-C7A7-FB75-E6B743739ACC}" dt="2026-10-03T17:06:31.665" v="13"/>
        <pc:sldMkLst>
          <pc:docMk/>
          <pc:sldMk cId="3350903376" sldId="329"/>
        </pc:sldMkLst>
      </pc:sldChg>
      <pc:sldChg chg="add del">
        <pc:chgData name="Kelemis, Theofilos" userId="S::tk141@fordham.edu::8a8b674f-64b2-4b1a-acb7-a9adc99552ae" providerId="AD" clId="Web-{42E39267-DB0F-C7A7-FB75-E6B743739ACC}" dt="2026-10-03T17:06:31.665" v="12"/>
        <pc:sldMkLst>
          <pc:docMk/>
          <pc:sldMk cId="1472247123" sldId="330"/>
        </pc:sldMkLst>
      </pc:sldChg>
      <pc:sldChg chg="add">
        <pc:chgData name="Kelemis, Theofilos" userId="S::tk141@fordham.edu::8a8b674f-64b2-4b1a-acb7-a9adc99552ae" providerId="AD" clId="Web-{42E39267-DB0F-C7A7-FB75-E6B743739ACC}" dt="2026-10-03T17:06:56.167" v="15"/>
        <pc:sldMkLst>
          <pc:docMk/>
          <pc:sldMk cId="3908770995" sldId="330"/>
        </pc:sldMkLst>
      </pc:sldChg>
      <pc:sldChg chg="add del">
        <pc:chgData name="Kelemis, Theofilos" userId="S::tk141@fordham.edu::8a8b674f-64b2-4b1a-acb7-a9adc99552ae" providerId="AD" clId="Web-{42E39267-DB0F-C7A7-FB75-E6B743739ACC}" dt="2026-10-03T17:06:31.665" v="11"/>
        <pc:sldMkLst>
          <pc:docMk/>
          <pc:sldMk cId="935139292" sldId="331"/>
        </pc:sldMkLst>
      </pc:sldChg>
      <pc:sldChg chg="add">
        <pc:chgData name="Kelemis, Theofilos" userId="S::tk141@fordham.edu::8a8b674f-64b2-4b1a-acb7-a9adc99552ae" providerId="AD" clId="Web-{42E39267-DB0F-C7A7-FB75-E6B743739ACC}" dt="2026-10-03T17:06:56.276" v="16"/>
        <pc:sldMkLst>
          <pc:docMk/>
          <pc:sldMk cId="1743261794" sldId="331"/>
        </pc:sldMkLst>
      </pc:sldChg>
      <pc:sldChg chg="add">
        <pc:chgData name="Kelemis, Theofilos" userId="S::tk141@fordham.edu::8a8b674f-64b2-4b1a-acb7-a9adc99552ae" providerId="AD" clId="Web-{42E39267-DB0F-C7A7-FB75-E6B743739ACC}" dt="2026-10-03T17:06:56.323" v="17"/>
        <pc:sldMkLst>
          <pc:docMk/>
          <pc:sldMk cId="1957404434" sldId="332"/>
        </pc:sldMkLst>
      </pc:sldChg>
      <pc:sldChg chg="add del">
        <pc:chgData name="Kelemis, Theofilos" userId="S::tk141@fordham.edu::8a8b674f-64b2-4b1a-acb7-a9adc99552ae" providerId="AD" clId="Web-{42E39267-DB0F-C7A7-FB75-E6B743739ACC}" dt="2026-10-03T17:06:31.665" v="10"/>
        <pc:sldMkLst>
          <pc:docMk/>
          <pc:sldMk cId="2269528652" sldId="332"/>
        </pc:sldMkLst>
      </pc:sldChg>
      <pc:sldChg chg="add del">
        <pc:chgData name="Kelemis, Theofilos" userId="S::tk141@fordham.edu::8a8b674f-64b2-4b1a-acb7-a9adc99552ae" providerId="AD" clId="Web-{42E39267-DB0F-C7A7-FB75-E6B743739ACC}" dt="2026-10-03T17:06:31.649" v="8"/>
        <pc:sldMkLst>
          <pc:docMk/>
          <pc:sldMk cId="1955720264" sldId="333"/>
        </pc:sldMkLst>
      </pc:sldChg>
      <pc:sldChg chg="add">
        <pc:chgData name="Kelemis, Theofilos" userId="S::tk141@fordham.edu::8a8b674f-64b2-4b1a-acb7-a9adc99552ae" providerId="AD" clId="Web-{42E39267-DB0F-C7A7-FB75-E6B743739ACC}" dt="2026-10-03T17:06:56.417" v="19"/>
        <pc:sldMkLst>
          <pc:docMk/>
          <pc:sldMk cId="2790478093" sldId="333"/>
        </pc:sldMkLst>
      </pc:sldChg>
      <pc:sldChg chg="add">
        <pc:chgData name="Kelemis, Theofilos" userId="S::tk141@fordham.edu::8a8b674f-64b2-4b1a-acb7-a9adc99552ae" providerId="AD" clId="Web-{42E39267-DB0F-C7A7-FB75-E6B743739ACC}" dt="2026-10-03T17:06:56.495" v="20"/>
        <pc:sldMkLst>
          <pc:docMk/>
          <pc:sldMk cId="1863551084" sldId="334"/>
        </pc:sldMkLst>
      </pc:sldChg>
      <pc:sldChg chg="add del">
        <pc:chgData name="Kelemis, Theofilos" userId="S::tk141@fordham.edu::8a8b674f-64b2-4b1a-acb7-a9adc99552ae" providerId="AD" clId="Web-{42E39267-DB0F-C7A7-FB75-E6B743739ACC}" dt="2026-10-03T17:06:31.649" v="7"/>
        <pc:sldMkLst>
          <pc:docMk/>
          <pc:sldMk cId="2170001156" sldId="334"/>
        </pc:sldMkLst>
      </pc:sldChg>
    </pc:docChg>
  </pc:docChgLst>
  <pc:docChgLst>
    <pc:chgData name="Moshiashvili, Samuel" userId="S::sm406@fordham.edu::7bc5bd7a-61bd-4906-9ff0-9a9f506c09bb" providerId="AD" clId="Web-{F13579DE-FF20-D02A-C79B-192170754651}"/>
    <pc:docChg chg="modSld">
      <pc:chgData name="Moshiashvili, Samuel" userId="S::sm406@fordham.edu::7bc5bd7a-61bd-4906-9ff0-9a9f506c09bb" providerId="AD" clId="Web-{F13579DE-FF20-D02A-C79B-192170754651}" dt="2026-10-03T21:28:01.146" v="47" actId="20577"/>
      <pc:docMkLst>
        <pc:docMk/>
      </pc:docMkLst>
      <pc:sldChg chg="addSp delSp modSp">
        <pc:chgData name="Moshiashvili, Samuel" userId="S::sm406@fordham.edu::7bc5bd7a-61bd-4906-9ff0-9a9f506c09bb" providerId="AD" clId="Web-{F13579DE-FF20-D02A-C79B-192170754651}" dt="2026-10-03T21:28:01.146" v="47" actId="20577"/>
        <pc:sldMkLst>
          <pc:docMk/>
          <pc:sldMk cId="4165151657" sldId="297"/>
        </pc:sldMkLst>
        <pc:spChg chg="mod">
          <ac:chgData name="Moshiashvili, Samuel" userId="S::sm406@fordham.edu::7bc5bd7a-61bd-4906-9ff0-9a9f506c09bb" providerId="AD" clId="Web-{F13579DE-FF20-D02A-C79B-192170754651}" dt="2026-10-03T21:28:01.146" v="47" actId="20577"/>
          <ac:spMkLst>
            <pc:docMk/>
            <pc:sldMk cId="4165151657" sldId="297"/>
            <ac:spMk id="5" creationId="{360275AD-A2D4-481C-0981-9AD63B2B55D4}"/>
          </ac:spMkLst>
        </pc:spChg>
        <pc:spChg chg="add del mod">
          <ac:chgData name="Moshiashvili, Samuel" userId="S::sm406@fordham.edu::7bc5bd7a-61bd-4906-9ff0-9a9f506c09bb" providerId="AD" clId="Web-{F13579DE-FF20-D02A-C79B-192170754651}" dt="2026-10-03T21:26:45.956" v="12"/>
          <ac:spMkLst>
            <pc:docMk/>
            <pc:sldMk cId="4165151657" sldId="297"/>
            <ac:spMk id="6" creationId="{F83C5B83-4700-BA4C-E72A-58FE4E540D73}"/>
          </ac:spMkLst>
        </pc:spChg>
        <pc:graphicFrameChg chg="add del mod">
          <ac:chgData name="Moshiashvili, Samuel" userId="S::sm406@fordham.edu::7bc5bd7a-61bd-4906-9ff0-9a9f506c09bb" providerId="AD" clId="Web-{F13579DE-FF20-D02A-C79B-192170754651}" dt="2026-10-03T21:26:45.956" v="13"/>
          <ac:graphicFrameMkLst>
            <pc:docMk/>
            <pc:sldMk cId="4165151657" sldId="297"/>
            <ac:graphicFrameMk id="4" creationId="{12891495-BD61-5C42-9DC8-B659FAC975AA}"/>
          </ac:graphicFrameMkLst>
        </pc:graphicFrameChg>
      </pc:sldChg>
      <pc:sldChg chg="modSp">
        <pc:chgData name="Moshiashvili, Samuel" userId="S::sm406@fordham.edu::7bc5bd7a-61bd-4906-9ff0-9a9f506c09bb" providerId="AD" clId="Web-{F13579DE-FF20-D02A-C79B-192170754651}" dt="2026-10-03T19:53:58.630" v="1"/>
        <pc:sldMkLst>
          <pc:docMk/>
          <pc:sldMk cId="0" sldId="311"/>
        </pc:sldMkLst>
        <pc:graphicFrameChg chg="mod modGraphic">
          <ac:chgData name="Moshiashvili, Samuel" userId="S::sm406@fordham.edu::7bc5bd7a-61bd-4906-9ff0-9a9f506c09bb" providerId="AD" clId="Web-{F13579DE-FF20-D02A-C79B-192170754651}" dt="2026-10-03T19:53:58.630" v="1"/>
          <ac:graphicFrameMkLst>
            <pc:docMk/>
            <pc:sldMk cId="0" sldId="311"/>
            <ac:graphicFrameMk id="9" creationId="{00000000-0000-0000-0000-000000000000}"/>
          </ac:graphicFrameMkLst>
        </pc:graphicFrameChg>
      </pc:sldChg>
    </pc:docChg>
  </pc:docChgLst>
  <pc:docChgLst>
    <pc:chgData name="Chen, Xavier" userId="S::xc57@fordham.edu::48705a5c-4672-4d50-82cb-35a89b43419a" providerId="AD" clId="Web-{33AA7D36-3A61-4D21-B8B5-15A534484278}"/>
    <pc:docChg chg="delSld modSld sldOrd">
      <pc:chgData name="Chen, Xavier" userId="S::xc57@fordham.edu::48705a5c-4672-4d50-82cb-35a89b43419a" providerId="AD" clId="Web-{33AA7D36-3A61-4D21-B8B5-15A534484278}" dt="2026-10-02T04:58:46.488" v="205"/>
      <pc:docMkLst>
        <pc:docMk/>
      </pc:docMkLst>
      <pc:sldChg chg="del">
        <pc:chgData name="Chen, Xavier" userId="S::xc57@fordham.edu::48705a5c-4672-4d50-82cb-35a89b43419a" providerId="AD" clId="Web-{33AA7D36-3A61-4D21-B8B5-15A534484278}" dt="2026-10-02T04:52:17.341" v="144"/>
        <pc:sldMkLst>
          <pc:docMk/>
          <pc:sldMk cId="1221688980" sldId="278"/>
        </pc:sldMkLst>
      </pc:sldChg>
      <pc:sldChg chg="modSp">
        <pc:chgData name="Chen, Xavier" userId="S::xc57@fordham.edu::48705a5c-4672-4d50-82cb-35a89b43419a" providerId="AD" clId="Web-{33AA7D36-3A61-4D21-B8B5-15A534484278}" dt="2026-10-02T04:45:51.700" v="95"/>
        <pc:sldMkLst>
          <pc:docMk/>
          <pc:sldMk cId="77255574" sldId="291"/>
        </pc:sldMkLst>
        <pc:spChg chg="mod">
          <ac:chgData name="Chen, Xavier" userId="S::xc57@fordham.edu::48705a5c-4672-4d50-82cb-35a89b43419a" providerId="AD" clId="Web-{33AA7D36-3A61-4D21-B8B5-15A534484278}" dt="2026-10-02T04:45:51.700" v="95"/>
          <ac:spMkLst>
            <pc:docMk/>
            <pc:sldMk cId="77255574" sldId="291"/>
            <ac:spMk id="2" creationId="{1888AE79-7141-4D8E-A482-FB4402831EAD}"/>
          </ac:spMkLst>
        </pc:spChg>
        <pc:graphicFrameChg chg="mod modGraphic">
          <ac:chgData name="Chen, Xavier" userId="S::xc57@fordham.edu::48705a5c-4672-4d50-82cb-35a89b43419a" providerId="AD" clId="Web-{33AA7D36-3A61-4D21-B8B5-15A534484278}" dt="2026-10-02T04:45:49.043" v="94"/>
          <ac:graphicFrameMkLst>
            <pc:docMk/>
            <pc:sldMk cId="77255574" sldId="291"/>
            <ac:graphicFrameMk id="9" creationId="{00000000-0000-0000-0000-000000000000}"/>
          </ac:graphicFrameMkLst>
        </pc:graphicFrameChg>
      </pc:sldChg>
      <pc:sldChg chg="del">
        <pc:chgData name="Chen, Xavier" userId="S::xc57@fordham.edu::48705a5c-4672-4d50-82cb-35a89b43419a" providerId="AD" clId="Web-{33AA7D36-3A61-4D21-B8B5-15A534484278}" dt="2026-10-02T04:46:53.938" v="125"/>
        <pc:sldMkLst>
          <pc:docMk/>
          <pc:sldMk cId="915818926" sldId="293"/>
        </pc:sldMkLst>
      </pc:sldChg>
      <pc:sldChg chg="del ord">
        <pc:chgData name="Chen, Xavier" userId="S::xc57@fordham.edu::48705a5c-4672-4d50-82cb-35a89b43419a" providerId="AD" clId="Web-{33AA7D36-3A61-4D21-B8B5-15A534484278}" dt="2026-10-02T04:48:40.334" v="129"/>
        <pc:sldMkLst>
          <pc:docMk/>
          <pc:sldMk cId="2394633505" sldId="294"/>
        </pc:sldMkLst>
      </pc:sldChg>
      <pc:sldChg chg="del">
        <pc:chgData name="Chen, Xavier" userId="S::xc57@fordham.edu::48705a5c-4672-4d50-82cb-35a89b43419a" providerId="AD" clId="Web-{33AA7D36-3A61-4D21-B8B5-15A534484278}" dt="2026-10-02T04:58:26.737" v="203"/>
        <pc:sldMkLst>
          <pc:docMk/>
          <pc:sldMk cId="1632892942" sldId="295"/>
        </pc:sldMkLst>
      </pc:sldChg>
      <pc:sldChg chg="modSp del">
        <pc:chgData name="Chen, Xavier" userId="S::xc57@fordham.edu::48705a5c-4672-4d50-82cb-35a89b43419a" providerId="AD" clId="Web-{33AA7D36-3A61-4D21-B8B5-15A534484278}" dt="2026-10-02T04:58:46.488" v="205"/>
        <pc:sldMkLst>
          <pc:docMk/>
          <pc:sldMk cId="1505099884" sldId="296"/>
        </pc:sldMkLst>
        <pc:spChg chg="mod">
          <ac:chgData name="Chen, Xavier" userId="S::xc57@fordham.edu::48705a5c-4672-4d50-82cb-35a89b43419a" providerId="AD" clId="Web-{33AA7D36-3A61-4D21-B8B5-15A534484278}" dt="2026-10-02T04:58:35.441" v="204" actId="20577"/>
          <ac:spMkLst>
            <pc:docMk/>
            <pc:sldMk cId="1505099884" sldId="296"/>
            <ac:spMk id="14" creationId="{58F09231-934C-7ECB-5B3A-FFD1E0C99C7E}"/>
          </ac:spMkLst>
        </pc:spChg>
      </pc:sldChg>
      <pc:sldChg chg="modSp ord">
        <pc:chgData name="Chen, Xavier" userId="S::xc57@fordham.edu::48705a5c-4672-4d50-82cb-35a89b43419a" providerId="AD" clId="Web-{33AA7D36-3A61-4D21-B8B5-15A534484278}" dt="2026-10-02T04:50:42.386" v="133"/>
        <pc:sldMkLst>
          <pc:docMk/>
          <pc:sldMk cId="0" sldId="302"/>
        </pc:sldMkLst>
        <pc:spChg chg="mod">
          <ac:chgData name="Chen, Xavier" userId="S::xc57@fordham.edu::48705a5c-4672-4d50-82cb-35a89b43419a" providerId="AD" clId="Web-{33AA7D36-3A61-4D21-B8B5-15A534484278}" dt="2026-10-02T04:44:55.757" v="3"/>
          <ac:spMkLst>
            <pc:docMk/>
            <pc:sldMk cId="0" sldId="302"/>
            <ac:spMk id="3" creationId="{00000000-0000-0000-0000-000000000000}"/>
          </ac:spMkLst>
        </pc:spChg>
        <pc:graphicFrameChg chg="mod modGraphic">
          <ac:chgData name="Chen, Xavier" userId="S::xc57@fordham.edu::48705a5c-4672-4d50-82cb-35a89b43419a" providerId="AD" clId="Web-{33AA7D36-3A61-4D21-B8B5-15A534484278}" dt="2026-10-02T04:46:17.248" v="124"/>
          <ac:graphicFrameMkLst>
            <pc:docMk/>
            <pc:sldMk cId="0" sldId="302"/>
            <ac:graphicFrameMk id="4" creationId="{00000000-0000-0000-0000-000000000000}"/>
          </ac:graphicFrameMkLst>
        </pc:graphicFrameChg>
      </pc:sldChg>
      <pc:sldChg chg="modSp">
        <pc:chgData name="Chen, Xavier" userId="S::xc57@fordham.edu::48705a5c-4672-4d50-82cb-35a89b43419a" providerId="AD" clId="Web-{33AA7D36-3A61-4D21-B8B5-15A534484278}" dt="2026-10-02T04:44:45.866" v="1"/>
        <pc:sldMkLst>
          <pc:docMk/>
          <pc:sldMk cId="0" sldId="303"/>
        </pc:sldMkLst>
        <pc:spChg chg="mod">
          <ac:chgData name="Chen, Xavier" userId="S::xc57@fordham.edu::48705a5c-4672-4d50-82cb-35a89b43419a" providerId="AD" clId="Web-{33AA7D36-3A61-4D21-B8B5-15A534484278}" dt="2026-10-02T04:44:45.866" v="1"/>
          <ac:spMkLst>
            <pc:docMk/>
            <pc:sldMk cId="0" sldId="303"/>
            <ac:spMk id="3" creationId="{00000000-0000-0000-0000-000000000000}"/>
          </ac:spMkLst>
        </pc:spChg>
      </pc:sldChg>
      <pc:sldChg chg="addSp modSp">
        <pc:chgData name="Chen, Xavier" userId="S::xc57@fordham.edu::48705a5c-4672-4d50-82cb-35a89b43419a" providerId="AD" clId="Web-{33AA7D36-3A61-4D21-B8B5-15A534484278}" dt="2026-10-02T04:55:28.798" v="173" actId="14100"/>
        <pc:sldMkLst>
          <pc:docMk/>
          <pc:sldMk cId="0" sldId="304"/>
        </pc:sldMkLst>
        <pc:spChg chg="add mod">
          <ac:chgData name="Chen, Xavier" userId="S::xc57@fordham.edu::48705a5c-4672-4d50-82cb-35a89b43419a" providerId="AD" clId="Web-{33AA7D36-3A61-4D21-B8B5-15A534484278}" dt="2026-10-02T04:55:28.798" v="173" actId="14100"/>
          <ac:spMkLst>
            <pc:docMk/>
            <pc:sldMk cId="0" sldId="304"/>
            <ac:spMk id="8" creationId="{8B8C69FD-01FB-3514-AFCD-D2B2A7979CCC}"/>
          </ac:spMkLst>
        </pc:spChg>
      </pc:sldChg>
      <pc:sldChg chg="ord">
        <pc:chgData name="Chen, Xavier" userId="S::xc57@fordham.edu::48705a5c-4672-4d50-82cb-35a89b43419a" providerId="AD" clId="Web-{33AA7D36-3A61-4D21-B8B5-15A534484278}" dt="2026-10-02T04:50:16.650" v="131"/>
        <pc:sldMkLst>
          <pc:docMk/>
          <pc:sldMk cId="0" sldId="305"/>
        </pc:sldMkLst>
      </pc:sldChg>
      <pc:sldChg chg="modSp">
        <pc:chgData name="Chen, Xavier" userId="S::xc57@fordham.edu::48705a5c-4672-4d50-82cb-35a89b43419a" providerId="AD" clId="Web-{33AA7D36-3A61-4D21-B8B5-15A534484278}" dt="2026-10-02T04:44:00.736" v="0" actId="1076"/>
        <pc:sldMkLst>
          <pc:docMk/>
          <pc:sldMk cId="0" sldId="320"/>
        </pc:sldMkLst>
        <pc:spChg chg="mod">
          <ac:chgData name="Chen, Xavier" userId="S::xc57@fordham.edu::48705a5c-4672-4d50-82cb-35a89b43419a" providerId="AD" clId="Web-{33AA7D36-3A61-4D21-B8B5-15A534484278}" dt="2026-10-02T04:44:00.736" v="0" actId="1076"/>
          <ac:spMkLst>
            <pc:docMk/>
            <pc:sldMk cId="0" sldId="320"/>
            <ac:spMk id="10" creationId="{00000000-0000-0000-0000-000000000000}"/>
          </ac:spMkLst>
        </pc:spChg>
      </pc:sldChg>
      <pc:sldChg chg="del">
        <pc:chgData name="Chen, Xavier" userId="S::xc57@fordham.edu::48705a5c-4672-4d50-82cb-35a89b43419a" providerId="AD" clId="Web-{33AA7D36-3A61-4D21-B8B5-15A534484278}" dt="2026-10-02T04:52:14.497" v="143"/>
        <pc:sldMkLst>
          <pc:docMk/>
          <pc:sldMk cId="0" sldId="323"/>
        </pc:sldMkLst>
      </pc:sldChg>
      <pc:sldChg chg="addSp modSp">
        <pc:chgData name="Chen, Xavier" userId="S::xc57@fordham.edu::48705a5c-4672-4d50-82cb-35a89b43419a" providerId="AD" clId="Web-{33AA7D36-3A61-4D21-B8B5-15A534484278}" dt="2026-10-02T04:58:17.550" v="202" actId="20577"/>
        <pc:sldMkLst>
          <pc:docMk/>
          <pc:sldMk cId="0" sldId="325"/>
        </pc:sldMkLst>
        <pc:spChg chg="mod">
          <ac:chgData name="Chen, Xavier" userId="S::xc57@fordham.edu::48705a5c-4672-4d50-82cb-35a89b43419a" providerId="AD" clId="Web-{33AA7D36-3A61-4D21-B8B5-15A534484278}" dt="2026-10-02T04:55:42.735" v="175" actId="1076"/>
          <ac:spMkLst>
            <pc:docMk/>
            <pc:sldMk cId="0" sldId="325"/>
            <ac:spMk id="12" creationId="{00000000-0000-0000-0000-000000000000}"/>
          </ac:spMkLst>
        </pc:spChg>
        <pc:spChg chg="add mod">
          <ac:chgData name="Chen, Xavier" userId="S::xc57@fordham.edu::48705a5c-4672-4d50-82cb-35a89b43419a" providerId="AD" clId="Web-{33AA7D36-3A61-4D21-B8B5-15A534484278}" dt="2026-10-02T04:58:17.550" v="202" actId="20577"/>
          <ac:spMkLst>
            <pc:docMk/>
            <pc:sldMk cId="0" sldId="325"/>
            <ac:spMk id="14" creationId="{41EAA0A8-9F80-7CB0-658D-C40267264136}"/>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Beat %</c:v>
                </c:pt>
              </c:strCache>
            </c:strRef>
          </c:tx>
          <c:spPr>
            <a:solidFill>
              <a:srgbClr val="315C77"/>
            </a:solidFill>
          </c:spPr>
          <c:invertIfNegative val="1"/>
          <c:dPt>
            <c:idx val="0"/>
            <c:invertIfNegative val="1"/>
            <c:bubble3D val="0"/>
            <c:extLst>
              <c:ext xmlns:c16="http://schemas.microsoft.com/office/drawing/2014/chart" uri="{C3380CC4-5D6E-409C-BE32-E72D297353CC}">
                <c16:uniqueId val="{00000001-B741-9840-87D9-60A3E036344F}"/>
              </c:ext>
            </c:extLst>
          </c:dPt>
          <c:dPt>
            <c:idx val="1"/>
            <c:invertIfNegative val="1"/>
            <c:bubble3D val="0"/>
            <c:spPr>
              <a:solidFill>
                <a:srgbClr val="E87B35"/>
              </a:solidFill>
            </c:spPr>
            <c:extLst>
              <c:ext xmlns:c16="http://schemas.microsoft.com/office/drawing/2014/chart" uri="{C3380CC4-5D6E-409C-BE32-E72D297353CC}">
                <c16:uniqueId val="{00000003-B741-9840-87D9-60A3E036344F}"/>
              </c:ext>
            </c:extLst>
          </c:dPt>
          <c:dPt>
            <c:idx val="2"/>
            <c:invertIfNegative val="1"/>
            <c:bubble3D val="0"/>
            <c:spPr>
              <a:solidFill>
                <a:srgbClr val="E87B35"/>
              </a:solidFill>
            </c:spPr>
            <c:extLst>
              <c:ext xmlns:c16="http://schemas.microsoft.com/office/drawing/2014/chart" uri="{C3380CC4-5D6E-409C-BE32-E72D297353CC}">
                <c16:uniqueId val="{00000005-B741-9840-87D9-60A3E036344F}"/>
              </c:ext>
            </c:extLst>
          </c:dPt>
          <c:dLbls>
            <c:numFmt formatCode="0&quot;%&quot;" sourceLinked="0"/>
            <c:spPr>
              <a:noFill/>
              <a:ln>
                <a:noFill/>
              </a:ln>
              <a:effectLst/>
            </c:spPr>
            <c:txPr>
              <a:bodyPr/>
              <a:lstStyle/>
              <a:p>
                <a:pPr>
                  <a:defRPr sz="12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S&amp;P 500 Q2'26</c:v>
                </c:pt>
                <c:pt idx="1">
                  <c:v>Fintech Q2'26</c:v>
                </c:pt>
                <c:pt idx="2">
                  <c:v>Fintech 3 qtrs</c:v>
                </c:pt>
              </c:strCache>
            </c:strRef>
          </c:cat>
          <c:val>
            <c:numRef>
              <c:f>Sheet1!$B$2:$B$4</c:f>
              <c:numCache>
                <c:formatCode>General</c:formatCode>
                <c:ptCount val="3"/>
                <c:pt idx="0">
                  <c:v>86</c:v>
                </c:pt>
                <c:pt idx="1">
                  <c:v>80</c:v>
                </c:pt>
                <c:pt idx="2">
                  <c:v>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B741-9840-87D9-60A3E036344F}"/>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D7E0E7"/>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200"/>
            </a:pPr>
            <a:endParaRPr lang="en-US"/>
          </a:p>
        </c:txPr>
        <c:crossAx val="-2068027336"/>
        <c:crosses val="autoZero"/>
        <c:crossBetween val="between"/>
      </c:valAx>
    </c:plotArea>
    <c:plotVisOnly val="1"/>
    <c:dispBlanksAs val="gap"/>
    <c:showDLblsOverMax val="1"/>
  </c:chart>
  <c:txPr>
    <a:bodyPr/>
    <a:lstStyle/>
    <a:p>
      <a:pPr>
        <a:defRPr sz="1200">
          <a:solidFill>
            <a:srgbClr val="192F4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Surprise %</c:v>
                </c:pt>
              </c:strCache>
            </c:strRef>
          </c:tx>
          <c:spPr>
            <a:solidFill>
              <a:srgbClr val="315C77"/>
            </a:solidFill>
          </c:spPr>
          <c:invertIfNegative val="1"/>
          <c:dPt>
            <c:idx val="0"/>
            <c:invertIfNegative val="1"/>
            <c:bubble3D val="0"/>
            <c:spPr>
              <a:solidFill>
                <a:srgbClr val="5C6E7D"/>
              </a:solidFill>
            </c:spPr>
            <c:extLst>
              <c:ext xmlns:c16="http://schemas.microsoft.com/office/drawing/2014/chart" uri="{C3380CC4-5D6E-409C-BE32-E72D297353CC}">
                <c16:uniqueId val="{00000001-F301-674C-9EC3-09A2BED1C74D}"/>
              </c:ext>
            </c:extLst>
          </c:dPt>
          <c:dPt>
            <c:idx val="1"/>
            <c:invertIfNegative val="1"/>
            <c:bubble3D val="0"/>
            <c:extLst>
              <c:ext xmlns:c16="http://schemas.microsoft.com/office/drawing/2014/chart" uri="{C3380CC4-5D6E-409C-BE32-E72D297353CC}">
                <c16:uniqueId val="{00000003-F301-674C-9EC3-09A2BED1C74D}"/>
              </c:ext>
            </c:extLst>
          </c:dPt>
          <c:dPt>
            <c:idx val="2"/>
            <c:invertIfNegative val="1"/>
            <c:bubble3D val="0"/>
            <c:extLst>
              <c:ext xmlns:c16="http://schemas.microsoft.com/office/drawing/2014/chart" uri="{C3380CC4-5D6E-409C-BE32-E72D297353CC}">
                <c16:uniqueId val="{00000005-F301-674C-9EC3-09A2BED1C74D}"/>
              </c:ext>
            </c:extLst>
          </c:dPt>
          <c:dPt>
            <c:idx val="3"/>
            <c:invertIfNegative val="1"/>
            <c:bubble3D val="0"/>
            <c:spPr>
              <a:solidFill>
                <a:srgbClr val="E87B35"/>
              </a:solidFill>
            </c:spPr>
            <c:extLst>
              <c:ext xmlns:c16="http://schemas.microsoft.com/office/drawing/2014/chart" uri="{C3380CC4-5D6E-409C-BE32-E72D297353CC}">
                <c16:uniqueId val="{00000007-F301-674C-9EC3-09A2BED1C74D}"/>
              </c:ext>
            </c:extLst>
          </c:dPt>
          <c:dPt>
            <c:idx val="4"/>
            <c:invertIfNegative val="1"/>
            <c:bubble3D val="0"/>
            <c:spPr>
              <a:solidFill>
                <a:srgbClr val="E87B35"/>
              </a:solidFill>
            </c:spPr>
            <c:extLst>
              <c:ext xmlns:c16="http://schemas.microsoft.com/office/drawing/2014/chart" uri="{C3380CC4-5D6E-409C-BE32-E72D297353CC}">
                <c16:uniqueId val="{00000009-F301-674C-9EC3-09A2BED1C74D}"/>
              </c:ext>
            </c:extLst>
          </c:dPt>
          <c:dLbls>
            <c:numFmt formatCode="0.0&quot;%&quot;" sourceLinked="0"/>
            <c:spPr>
              <a:noFill/>
              <a:ln>
                <a:noFill/>
              </a:ln>
              <a:effectLst/>
            </c:spPr>
            <c:txPr>
              <a:bodyPr/>
              <a:lstStyle/>
              <a:p>
                <a:pPr>
                  <a:defRPr sz="12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S&amp;P 5-yr</c:v>
                </c:pt>
                <c:pt idx="1">
                  <c:v>Shopify</c:v>
                </c:pt>
                <c:pt idx="2">
                  <c:v>PayPal</c:v>
                </c:pt>
                <c:pt idx="3">
                  <c:v>Block</c:v>
                </c:pt>
                <c:pt idx="4">
                  <c:v>Robinhood</c:v>
                </c:pt>
              </c:strCache>
            </c:strRef>
          </c:cat>
          <c:val>
            <c:numRef>
              <c:f>Sheet1!$B$2:$B$6</c:f>
              <c:numCache>
                <c:formatCode>General</c:formatCode>
                <c:ptCount val="5"/>
                <c:pt idx="0">
                  <c:v>7</c:v>
                </c:pt>
                <c:pt idx="1">
                  <c:v>7.7</c:v>
                </c:pt>
                <c:pt idx="2">
                  <c:v>7.8</c:v>
                </c:pt>
                <c:pt idx="3">
                  <c:v>18.600000000000001</c:v>
                </c:pt>
                <c:pt idx="4">
                  <c:v>44.2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F301-674C-9EC3-09A2BED1C74D}"/>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D7E0E7"/>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50"/>
          <c:min val="0"/>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200"/>
            </a:pPr>
            <a:endParaRPr lang="en-US"/>
          </a:p>
        </c:txPr>
        <c:crossAx val="-2068027336"/>
        <c:crosses val="autoZero"/>
        <c:crossBetween val="between"/>
      </c:valAx>
    </c:plotArea>
    <c:plotVisOnly val="1"/>
    <c:dispBlanksAs val="gap"/>
    <c:showDLblsOverMax val="1"/>
  </c:chart>
  <c:txPr>
    <a:bodyPr/>
    <a:lstStyle/>
    <a:p>
      <a:pPr>
        <a:defRPr sz="1200">
          <a:solidFill>
            <a:srgbClr val="192F4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Move %</c:v>
                </c:pt>
              </c:strCache>
            </c:strRef>
          </c:tx>
          <c:spPr>
            <a:solidFill>
              <a:srgbClr val="315C77"/>
            </a:solidFill>
          </c:spPr>
          <c:invertIfNegative val="1"/>
          <c:dPt>
            <c:idx val="0"/>
            <c:invertIfNegative val="1"/>
            <c:bubble3D val="0"/>
            <c:extLst>
              <c:ext xmlns:c16="http://schemas.microsoft.com/office/drawing/2014/chart" uri="{C3380CC4-5D6E-409C-BE32-E72D297353CC}">
                <c16:uniqueId val="{00000001-E482-FD4D-BE79-E2779DF7C57E}"/>
              </c:ext>
            </c:extLst>
          </c:dPt>
          <c:dPt>
            <c:idx val="1"/>
            <c:invertIfNegative val="1"/>
            <c:bubble3D val="0"/>
            <c:extLst>
              <c:ext xmlns:c16="http://schemas.microsoft.com/office/drawing/2014/chart" uri="{C3380CC4-5D6E-409C-BE32-E72D297353CC}">
                <c16:uniqueId val="{00000003-E482-FD4D-BE79-E2779DF7C57E}"/>
              </c:ext>
            </c:extLst>
          </c:dPt>
          <c:dPt>
            <c:idx val="2"/>
            <c:invertIfNegative val="1"/>
            <c:bubble3D val="0"/>
            <c:spPr>
              <a:solidFill>
                <a:srgbClr val="E87B35"/>
              </a:solidFill>
            </c:spPr>
            <c:extLst>
              <c:ext xmlns:c16="http://schemas.microsoft.com/office/drawing/2014/chart" uri="{C3380CC4-5D6E-409C-BE32-E72D297353CC}">
                <c16:uniqueId val="{00000005-E482-FD4D-BE79-E2779DF7C57E}"/>
              </c:ext>
            </c:extLst>
          </c:dPt>
          <c:dPt>
            <c:idx val="3"/>
            <c:invertIfNegative val="1"/>
            <c:bubble3D val="0"/>
            <c:spPr>
              <a:solidFill>
                <a:srgbClr val="E87B35"/>
              </a:solidFill>
            </c:spPr>
            <c:extLst>
              <c:ext xmlns:c16="http://schemas.microsoft.com/office/drawing/2014/chart" uri="{C3380CC4-5D6E-409C-BE32-E72D297353CC}">
                <c16:uniqueId val="{00000007-E482-FD4D-BE79-E2779DF7C57E}"/>
              </c:ext>
            </c:extLst>
          </c:dPt>
          <c:dPt>
            <c:idx val="4"/>
            <c:invertIfNegative val="1"/>
            <c:bubble3D val="0"/>
            <c:spPr>
              <a:solidFill>
                <a:srgbClr val="E87B35"/>
              </a:solidFill>
            </c:spPr>
            <c:extLst>
              <c:ext xmlns:c16="http://schemas.microsoft.com/office/drawing/2014/chart" uri="{C3380CC4-5D6E-409C-BE32-E72D297353CC}">
                <c16:uniqueId val="{00000009-E482-FD4D-BE79-E2779DF7C57E}"/>
              </c:ext>
            </c:extLst>
          </c:dPt>
          <c:dLbls>
            <c:numFmt formatCode="0.0&quot;%&quot;" sourceLinked="0"/>
            <c:spPr>
              <a:noFill/>
              <a:ln>
                <a:noFill/>
              </a:ln>
              <a:effectLst/>
            </c:spPr>
            <c:txPr>
              <a:bodyPr/>
              <a:lstStyle/>
              <a:p>
                <a:pPr>
                  <a:defRPr sz="12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Shopify</c:v>
                </c:pt>
                <c:pt idx="1">
                  <c:v>PayPal</c:v>
                </c:pt>
                <c:pt idx="2">
                  <c:v>Block</c:v>
                </c:pt>
                <c:pt idx="3">
                  <c:v>Robinhood</c:v>
                </c:pt>
                <c:pt idx="4">
                  <c:v>Coinbase</c:v>
                </c:pt>
              </c:strCache>
            </c:strRef>
          </c:cat>
          <c:val>
            <c:numRef>
              <c:f>Sheet1!$B$2:$B$6</c:f>
              <c:numCache>
                <c:formatCode>General</c:formatCode>
                <c:ptCount val="5"/>
                <c:pt idx="0">
                  <c:v>17</c:v>
                </c:pt>
                <c:pt idx="1">
                  <c:v>4</c:v>
                </c:pt>
                <c:pt idx="2">
                  <c:v>-6.2</c:v>
                </c:pt>
                <c:pt idx="3">
                  <c:v>-3.6</c:v>
                </c:pt>
                <c:pt idx="4">
                  <c:v>-10.6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E482-FD4D-BE79-E2779DF7C57E}"/>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D7E0E7"/>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20"/>
          <c:min val="-15"/>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200"/>
            </a:pPr>
            <a:endParaRPr lang="en-US"/>
          </a:p>
        </c:txPr>
        <c:crossAx val="-2068027336"/>
        <c:crosses val="autoZero"/>
        <c:crossBetween val="between"/>
      </c:valAx>
    </c:plotArea>
    <c:plotVisOnly val="1"/>
    <c:dispBlanksAs val="gap"/>
    <c:showDLblsOverMax val="1"/>
  </c:chart>
  <c:txPr>
    <a:bodyPr/>
    <a:lstStyle/>
    <a:p>
      <a:pPr>
        <a:defRPr sz="1200">
          <a:solidFill>
            <a:srgbClr val="192F40"/>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Amortization</c:v>
                </c:pt>
              </c:strCache>
            </c:strRef>
          </c:tx>
          <c:spPr>
            <a:solidFill>
              <a:srgbClr val="315C77"/>
            </a:solidFill>
          </c:spPr>
          <c:invertIfNegative val="1"/>
          <c:dPt>
            <c:idx val="0"/>
            <c:invertIfNegative val="1"/>
            <c:bubble3D val="0"/>
            <c:extLst>
              <c:ext xmlns:c16="http://schemas.microsoft.com/office/drawing/2014/chart" uri="{C3380CC4-5D6E-409C-BE32-E72D297353CC}">
                <c16:uniqueId val="{00000001-80D3-49F2-97AD-C2360CD28B29}"/>
              </c:ext>
            </c:extLst>
          </c:dPt>
          <c:dPt>
            <c:idx val="1"/>
            <c:invertIfNegative val="1"/>
            <c:bubble3D val="0"/>
            <c:spPr>
              <a:solidFill>
                <a:srgbClr val="E87B35"/>
              </a:solidFill>
            </c:spPr>
            <c:extLst>
              <c:ext xmlns:c16="http://schemas.microsoft.com/office/drawing/2014/chart" uri="{C3380CC4-5D6E-409C-BE32-E72D297353CC}">
                <c16:uniqueId val="{00000003-80D3-49F2-97AD-C2360CD28B29}"/>
              </c:ext>
            </c:extLst>
          </c:dPt>
          <c:dLbls>
            <c:numFmt formatCode="&quot;$&quot;0.0&quot;M&quot;" sourceLinked="0"/>
            <c:spPr>
              <a:noFill/>
              <a:ln>
                <a:noFill/>
              </a:ln>
              <a:effectLst/>
            </c:spPr>
            <c:txPr>
              <a:bodyPr/>
              <a:lstStyle/>
              <a:p>
                <a:pPr>
                  <a:defRPr sz="14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3-year life</c:v>
                </c:pt>
                <c:pt idx="1">
                  <c:v>5-year life</c:v>
                </c:pt>
              </c:strCache>
            </c:strRef>
          </c:cat>
          <c:val>
            <c:numRef>
              <c:f>Sheet1!$B$2:$B$3</c:f>
              <c:numCache>
                <c:formatCode>General</c:formatCode>
                <c:ptCount val="2"/>
                <c:pt idx="0">
                  <c:v>33.299999999999997</c:v>
                </c:pt>
                <c:pt idx="1">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80D3-49F2-97AD-C2360CD28B29}"/>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D7E0E7"/>
            </a:solidFill>
          </a:ln>
        </c:spPr>
        <c:txPr>
          <a:bodyPr/>
          <a:lstStyle/>
          <a:p>
            <a:pPr>
              <a:defRPr sz="1400"/>
            </a:pPr>
            <a:endParaRPr lang="en-US"/>
          </a:p>
        </c:txPr>
        <c:crossAx val="-2113994440"/>
        <c:crosses val="autoZero"/>
        <c:auto val="1"/>
        <c:lblAlgn val="ctr"/>
        <c:lblOffset val="100"/>
        <c:noMultiLvlLbl val="0"/>
      </c:catAx>
      <c:valAx>
        <c:axId val="-2113994440"/>
        <c:scaling>
          <c:orientation val="minMax"/>
          <c:max val="40"/>
          <c:min val="0"/>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400"/>
            </a:pPr>
            <a:endParaRPr lang="en-US"/>
          </a:p>
        </c:txPr>
        <c:crossAx val="-2068027336"/>
        <c:crosses val="autoZero"/>
        <c:crossBetween val="between"/>
      </c:valAx>
    </c:plotArea>
    <c:plotVisOnly val="1"/>
    <c:dispBlanksAs val="gap"/>
    <c:showDLblsOverMax val="1"/>
  </c:chart>
  <c:txPr>
    <a:bodyPr/>
    <a:lstStyle/>
    <a:p>
      <a:pPr>
        <a:defRPr sz="1400">
          <a:solidFill>
            <a:srgbClr val="192F40"/>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PayPal (9.8x fwd)</c:v>
                </c:pt>
              </c:strCache>
            </c:strRef>
          </c:tx>
          <c:spPr>
            <a:ln w="31750">
              <a:solidFill>
                <a:srgbClr val="315C77"/>
              </a:solidFill>
            </a:ln>
          </c:spPr>
          <c:marker>
            <c:symbol val="none"/>
          </c:marker>
          <c:cat>
            <c:strRef>
              <c:f>Sheet1!$A$2:$A$4</c:f>
              <c:strCache>
                <c:ptCount val="3"/>
                <c:pt idx="0">
                  <c:v>Q4 2025</c:v>
                </c:pt>
                <c:pt idx="1">
                  <c:v>Q1 2026</c:v>
                </c:pt>
                <c:pt idx="2">
                  <c:v>Q2 2026</c:v>
                </c:pt>
              </c:strCache>
            </c:strRef>
          </c:cat>
          <c:val>
            <c:numRef>
              <c:f>Sheet1!$B$2:$B$4</c:f>
              <c:numCache>
                <c:formatCode>General</c:formatCode>
                <c:ptCount val="3"/>
                <c:pt idx="0">
                  <c:v>1.23</c:v>
                </c:pt>
                <c:pt idx="1">
                  <c:v>1.21</c:v>
                </c:pt>
                <c:pt idx="2">
                  <c:v>1.38</c:v>
                </c:pt>
              </c:numCache>
            </c:numRef>
          </c:val>
          <c:smooth val="0"/>
          <c:extLst>
            <c:ext xmlns:c16="http://schemas.microsoft.com/office/drawing/2014/chart" uri="{C3380CC4-5D6E-409C-BE32-E72D297353CC}">
              <c16:uniqueId val="{00000000-3907-4B1F-BD84-A13193AC35D3}"/>
            </c:ext>
          </c:extLst>
        </c:ser>
        <c:ser>
          <c:idx val="1"/>
          <c:order val="1"/>
          <c:tx>
            <c:strRef>
              <c:f>Sheet1!$C$1</c:f>
              <c:strCache>
                <c:ptCount val="1"/>
                <c:pt idx="0">
                  <c:v>Robinhood (51.7x)</c:v>
                </c:pt>
              </c:strCache>
            </c:strRef>
          </c:tx>
          <c:spPr>
            <a:ln w="31750">
              <a:solidFill>
                <a:srgbClr val="E87B35"/>
              </a:solidFill>
            </a:ln>
          </c:spPr>
          <c:marker>
            <c:symbol val="none"/>
          </c:marker>
          <c:cat>
            <c:strRef>
              <c:f>Sheet1!$A$2:$A$4</c:f>
              <c:strCache>
                <c:ptCount val="3"/>
                <c:pt idx="0">
                  <c:v>Q4 2025</c:v>
                </c:pt>
                <c:pt idx="1">
                  <c:v>Q1 2026</c:v>
                </c:pt>
                <c:pt idx="2">
                  <c:v>Q2 2026</c:v>
                </c:pt>
              </c:strCache>
            </c:strRef>
          </c:cat>
          <c:val>
            <c:numRef>
              <c:f>Sheet1!$C$2:$C$4</c:f>
              <c:numCache>
                <c:formatCode>General</c:formatCode>
                <c:ptCount val="3"/>
                <c:pt idx="0">
                  <c:v>0.66</c:v>
                </c:pt>
                <c:pt idx="1">
                  <c:v>0.38</c:v>
                </c:pt>
                <c:pt idx="2">
                  <c:v>0.62</c:v>
                </c:pt>
              </c:numCache>
            </c:numRef>
          </c:val>
          <c:smooth val="0"/>
          <c:extLst>
            <c:ext xmlns:c16="http://schemas.microsoft.com/office/drawing/2014/chart" uri="{C3380CC4-5D6E-409C-BE32-E72D297353CC}">
              <c16:uniqueId val="{00000001-3907-4B1F-BD84-A13193AC35D3}"/>
            </c:ext>
          </c:extLst>
        </c:ser>
        <c:ser>
          <c:idx val="2"/>
          <c:order val="2"/>
          <c:tx>
            <c:strRef>
              <c:f>Sheet1!$D$1</c:f>
              <c:strCache>
                <c:ptCount val="1"/>
                <c:pt idx="0">
                  <c:v>Block (18.0x)</c:v>
                </c:pt>
              </c:strCache>
            </c:strRef>
          </c:tx>
          <c:spPr>
            <a:ln w="31750">
              <a:solidFill>
                <a:srgbClr val="142D44"/>
              </a:solidFill>
            </a:ln>
          </c:spPr>
          <c:marker>
            <c:symbol val="none"/>
          </c:marker>
          <c:cat>
            <c:strRef>
              <c:f>Sheet1!$A$2:$A$4</c:f>
              <c:strCache>
                <c:ptCount val="3"/>
                <c:pt idx="0">
                  <c:v>Q4 2025</c:v>
                </c:pt>
                <c:pt idx="1">
                  <c:v>Q1 2026</c:v>
                </c:pt>
                <c:pt idx="2">
                  <c:v>Q2 2026</c:v>
                </c:pt>
              </c:strCache>
            </c:strRef>
          </c:cat>
          <c:val>
            <c:numRef>
              <c:f>Sheet1!$D$2:$D$4</c:f>
              <c:numCache>
                <c:formatCode>General</c:formatCode>
                <c:ptCount val="3"/>
                <c:pt idx="0">
                  <c:v>0.65</c:v>
                </c:pt>
                <c:pt idx="1">
                  <c:v>-0.52</c:v>
                </c:pt>
                <c:pt idx="2">
                  <c:v>1.02</c:v>
                </c:pt>
              </c:numCache>
            </c:numRef>
          </c:val>
          <c:smooth val="0"/>
          <c:extLst>
            <c:ext xmlns:c16="http://schemas.microsoft.com/office/drawing/2014/chart" uri="{C3380CC4-5D6E-409C-BE32-E72D297353CC}">
              <c16:uniqueId val="{00000002-3907-4B1F-BD84-A13193AC35D3}"/>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D7E0E7"/>
            </a:solidFill>
          </a:ln>
        </c:spPr>
        <c:txPr>
          <a:bodyPr/>
          <a:lstStyle/>
          <a:p>
            <a:pPr>
              <a:defRPr sz="1200"/>
            </a:pPr>
            <a:endParaRPr lang="en-US"/>
          </a:p>
        </c:txPr>
        <c:crossAx val="2140495176"/>
        <c:crosses val="autoZero"/>
        <c:auto val="1"/>
        <c:lblAlgn val="ctr"/>
        <c:lblOffset val="100"/>
        <c:noMultiLvlLbl val="0"/>
      </c:catAx>
      <c:valAx>
        <c:axId val="2140495176"/>
        <c:scaling>
          <c:orientation val="minMax"/>
          <c:max val="1.6"/>
          <c:min val="-1"/>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200"/>
            </a:pPr>
            <a:endParaRPr lang="en-US"/>
          </a:p>
        </c:txPr>
        <c:crossAx val="2118791784"/>
        <c:crosses val="autoZero"/>
        <c:crossBetween val="between"/>
      </c:valAx>
    </c:plotArea>
    <c:legend>
      <c:legendPos val="b"/>
      <c:overlay val="0"/>
      <c:txPr>
        <a:bodyPr/>
        <a:lstStyle/>
        <a:p>
          <a:pPr>
            <a:defRPr sz="1200"/>
          </a:pPr>
          <a:endParaRPr lang="en-US"/>
        </a:p>
      </c:txPr>
    </c:legend>
    <c:plotVisOnly val="1"/>
    <c:dispBlanksAs val="gap"/>
    <c:showDLblsOverMax val="0"/>
  </c:chart>
  <c:txPr>
    <a:bodyPr/>
    <a:lstStyle/>
    <a:p>
      <a:pPr>
        <a:defRPr sz="1200">
          <a:solidFill>
            <a:srgbClr val="192F40"/>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Revenue</c:v>
                </c:pt>
              </c:strCache>
            </c:strRef>
          </c:tx>
          <c:spPr>
            <a:solidFill>
              <a:srgbClr val="315C77"/>
            </a:solidFill>
          </c:spPr>
          <c:invertIfNegative val="1"/>
          <c:dLbls>
            <c:numFmt formatCode="0.0" sourceLinked="0"/>
            <c:spPr>
              <a:noFill/>
              <a:ln>
                <a:noFill/>
              </a:ln>
              <a:effectLst/>
            </c:spPr>
            <c:txPr>
              <a:bodyPr/>
              <a:lstStyle/>
              <a:p>
                <a:pPr>
                  <a:defRPr sz="12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Shopify</c:v>
                </c:pt>
                <c:pt idx="1">
                  <c:v>PayPal</c:v>
                </c:pt>
                <c:pt idx="2">
                  <c:v>Block</c:v>
                </c:pt>
                <c:pt idx="3">
                  <c:v>Robinhood</c:v>
                </c:pt>
              </c:strCache>
            </c:strRef>
          </c:cat>
          <c:val>
            <c:numRef>
              <c:f>Sheet1!$B$2:$B$5</c:f>
              <c:numCache>
                <c:formatCode>General</c:formatCode>
                <c:ptCount val="4"/>
                <c:pt idx="0">
                  <c:v>5.5</c:v>
                </c:pt>
                <c:pt idx="1">
                  <c:v>2.5</c:v>
                </c:pt>
                <c:pt idx="2">
                  <c:v>2.2000000000000002</c:v>
                </c:pt>
                <c:pt idx="3">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C15-4170-A91E-9886E47F5342}"/>
            </c:ext>
          </c:extLst>
        </c:ser>
        <c:ser>
          <c:idx val="1"/>
          <c:order val="1"/>
          <c:tx>
            <c:strRef>
              <c:f>Sheet1!$C$1</c:f>
              <c:strCache>
                <c:ptCount val="1"/>
                <c:pt idx="0">
                  <c:v>EPS</c:v>
                </c:pt>
              </c:strCache>
            </c:strRef>
          </c:tx>
          <c:spPr>
            <a:solidFill>
              <a:srgbClr val="E87B35"/>
            </a:solidFill>
          </c:spPr>
          <c:invertIfNegative val="1"/>
          <c:dLbls>
            <c:numFmt formatCode="0.0" sourceLinked="0"/>
            <c:spPr>
              <a:noFill/>
              <a:ln>
                <a:noFill/>
              </a:ln>
              <a:effectLst/>
            </c:spPr>
            <c:txPr>
              <a:bodyPr/>
              <a:lstStyle/>
              <a:p>
                <a:pPr>
                  <a:defRPr sz="12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Shopify</c:v>
                </c:pt>
                <c:pt idx="1">
                  <c:v>PayPal</c:v>
                </c:pt>
                <c:pt idx="2">
                  <c:v>Block</c:v>
                </c:pt>
                <c:pt idx="3">
                  <c:v>Robinhood</c:v>
                </c:pt>
              </c:strCache>
            </c:strRef>
          </c:cat>
          <c:val>
            <c:numRef>
              <c:f>Sheet1!$C$2:$C$5</c:f>
              <c:numCache>
                <c:formatCode>General</c:formatCode>
                <c:ptCount val="4"/>
                <c:pt idx="0">
                  <c:v>7.7</c:v>
                </c:pt>
                <c:pt idx="1">
                  <c:v>7.8</c:v>
                </c:pt>
                <c:pt idx="2">
                  <c:v>18.600000000000001</c:v>
                </c:pt>
                <c:pt idx="3">
                  <c:v>44.2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C15-4170-A91E-9886E47F5342}"/>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D7E0E7"/>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50"/>
          <c:min val="0"/>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200"/>
            </a:pPr>
            <a:endParaRPr lang="en-US"/>
          </a:p>
        </c:txPr>
        <c:crossAx val="-2068027336"/>
        <c:crosses val="autoZero"/>
        <c:crossBetween val="between"/>
      </c:valAx>
    </c:plotArea>
    <c:legend>
      <c:legendPos val="b"/>
      <c:overlay val="0"/>
      <c:txPr>
        <a:bodyPr/>
        <a:lstStyle/>
        <a:p>
          <a:pPr>
            <a:defRPr sz="1200"/>
          </a:pPr>
          <a:endParaRPr lang="en-US"/>
        </a:p>
      </c:txPr>
    </c:legend>
    <c:plotVisOnly val="1"/>
    <c:dispBlanksAs val="gap"/>
    <c:showDLblsOverMax val="1"/>
  </c:chart>
  <c:txPr>
    <a:bodyPr/>
    <a:lstStyle/>
    <a:p>
      <a:pPr>
        <a:defRPr sz="1200">
          <a:solidFill>
            <a:srgbClr val="192F40"/>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FY2026E</c:v>
                </c:pt>
              </c:strCache>
            </c:strRef>
          </c:tx>
          <c:spPr>
            <a:solidFill>
              <a:srgbClr val="315C77"/>
            </a:solidFill>
          </c:spPr>
          <c:invertIfNegative val="1"/>
          <c:dLbls>
            <c:numFmt formatCode="0.0&quot;x&quot;" sourceLinked="0"/>
            <c:spPr>
              <a:noFill/>
              <a:ln>
                <a:noFill/>
              </a:ln>
              <a:effectLst/>
            </c:spPr>
            <c:txPr>
              <a:bodyPr/>
              <a:lstStyle/>
              <a:p>
                <a:pPr>
                  <a:defRPr sz="12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S&amp;P 500</c:v>
                </c:pt>
                <c:pt idx="1">
                  <c:v>PayPal</c:v>
                </c:pt>
                <c:pt idx="2">
                  <c:v>Block</c:v>
                </c:pt>
                <c:pt idx="3">
                  <c:v>Robinhood</c:v>
                </c:pt>
              </c:strCache>
            </c:strRef>
          </c:cat>
          <c:val>
            <c:numRef>
              <c:f>Sheet1!$B$2:$B$5</c:f>
              <c:numCache>
                <c:formatCode>General</c:formatCode>
                <c:ptCount val="4"/>
                <c:pt idx="0">
                  <c:v>19.2</c:v>
                </c:pt>
                <c:pt idx="1">
                  <c:v>9.8000000000000007</c:v>
                </c:pt>
                <c:pt idx="2">
                  <c:v>18</c:v>
                </c:pt>
                <c:pt idx="3">
                  <c:v>51.7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FC8-44B7-9311-4CD5608BD9EB}"/>
            </c:ext>
          </c:extLst>
        </c:ser>
        <c:ser>
          <c:idx val="1"/>
          <c:order val="1"/>
          <c:tx>
            <c:strRef>
              <c:f>Sheet1!$C$1</c:f>
              <c:strCache>
                <c:ptCount val="1"/>
                <c:pt idx="0">
                  <c:v>FY2027E</c:v>
                </c:pt>
              </c:strCache>
            </c:strRef>
          </c:tx>
          <c:spPr>
            <a:solidFill>
              <a:srgbClr val="E87B35"/>
            </a:solidFill>
          </c:spPr>
          <c:invertIfNegative val="1"/>
          <c:dLbls>
            <c:numFmt formatCode="0.0&quot;x&quot;" sourceLinked="0"/>
            <c:spPr>
              <a:noFill/>
              <a:ln>
                <a:noFill/>
              </a:ln>
              <a:effectLst/>
            </c:spPr>
            <c:txPr>
              <a:bodyPr/>
              <a:lstStyle/>
              <a:p>
                <a:pPr>
                  <a:defRPr sz="12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S&amp;P 500</c:v>
                </c:pt>
                <c:pt idx="1">
                  <c:v>PayPal</c:v>
                </c:pt>
                <c:pt idx="2">
                  <c:v>Block</c:v>
                </c:pt>
                <c:pt idx="3">
                  <c:v>Robinhood</c:v>
                </c:pt>
              </c:strCache>
            </c:strRef>
          </c:cat>
          <c:val>
            <c:numRef>
              <c:f>Sheet1!$C$2:$C$5</c:f>
              <c:numCache>
                <c:formatCode>General</c:formatCode>
                <c:ptCount val="4"/>
                <c:pt idx="0">
                  <c:v>19.2</c:v>
                </c:pt>
                <c:pt idx="1">
                  <c:v>9.1999999999999993</c:v>
                </c:pt>
                <c:pt idx="2">
                  <c:v>13.9</c:v>
                </c:pt>
                <c:pt idx="3">
                  <c:v>38.200000000000003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FC8-44B7-9311-4CD5608BD9EB}"/>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D7E0E7"/>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60"/>
          <c:min val="0"/>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200"/>
            </a:pPr>
            <a:endParaRPr lang="en-US"/>
          </a:p>
        </c:txPr>
        <c:crossAx val="-2068027336"/>
        <c:crosses val="autoZero"/>
        <c:crossBetween val="between"/>
      </c:valAx>
    </c:plotArea>
    <c:legend>
      <c:legendPos val="b"/>
      <c:overlay val="0"/>
      <c:txPr>
        <a:bodyPr/>
        <a:lstStyle/>
        <a:p>
          <a:pPr>
            <a:defRPr sz="1200"/>
          </a:pPr>
          <a:endParaRPr lang="en-US"/>
        </a:p>
      </c:txPr>
    </c:legend>
    <c:plotVisOnly val="1"/>
    <c:dispBlanksAs val="gap"/>
    <c:showDLblsOverMax val="1"/>
  </c:chart>
  <c:txPr>
    <a:bodyPr/>
    <a:lstStyle/>
    <a:p>
      <a:pPr>
        <a:defRPr sz="1200">
          <a:solidFill>
            <a:srgbClr val="192F40"/>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Blackout %</c:v>
                </c:pt>
              </c:strCache>
            </c:strRef>
          </c:tx>
          <c:spPr>
            <a:solidFill>
              <a:srgbClr val="315C77"/>
            </a:solidFill>
          </c:spPr>
          <c:invertIfNegative val="1"/>
          <c:dPt>
            <c:idx val="0"/>
            <c:invertIfNegative val="1"/>
            <c:bubble3D val="0"/>
            <c:extLst>
              <c:ext xmlns:c16="http://schemas.microsoft.com/office/drawing/2014/chart" uri="{C3380CC4-5D6E-409C-BE32-E72D297353CC}">
                <c16:uniqueId val="{00000001-9334-4918-869A-353C917D0756}"/>
              </c:ext>
            </c:extLst>
          </c:dPt>
          <c:dPt>
            <c:idx val="1"/>
            <c:invertIfNegative val="1"/>
            <c:bubble3D val="0"/>
            <c:spPr>
              <a:solidFill>
                <a:srgbClr val="E87B35"/>
              </a:solidFill>
            </c:spPr>
            <c:extLst>
              <c:ext xmlns:c16="http://schemas.microsoft.com/office/drawing/2014/chart" uri="{C3380CC4-5D6E-409C-BE32-E72D297353CC}">
                <c16:uniqueId val="{00000003-9334-4918-869A-353C917D0756}"/>
              </c:ext>
            </c:extLst>
          </c:dPt>
          <c:dLbls>
            <c:numFmt formatCode="0&quot;%&quot;" sourceLinked="0"/>
            <c:spPr>
              <a:noFill/>
              <a:ln>
                <a:noFill/>
              </a:ln>
              <a:effectLst/>
            </c:spPr>
            <c:txPr>
              <a:bodyPr/>
              <a:lstStyle/>
              <a:p>
                <a:pPr>
                  <a:defRPr sz="12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Sep 18</c:v>
                </c:pt>
                <c:pt idx="1">
                  <c:v>Sep 30</c:v>
                </c:pt>
              </c:strCache>
            </c:strRef>
          </c:cat>
          <c:val>
            <c:numRef>
              <c:f>Sheet1!$B$2:$B$3</c:f>
              <c:numCache>
                <c:formatCode>General</c:formatCode>
                <c:ptCount val="2"/>
                <c:pt idx="0">
                  <c:v>10</c:v>
                </c:pt>
                <c:pt idx="1">
                  <c:v>61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9334-4918-869A-353C917D0756}"/>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D7E0E7"/>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80"/>
          <c:min val="0"/>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200"/>
            </a:pPr>
            <a:endParaRPr lang="en-US"/>
          </a:p>
        </c:txPr>
        <c:crossAx val="-2068027336"/>
        <c:crosses val="autoZero"/>
        <c:crossBetween val="between"/>
      </c:valAx>
    </c:plotArea>
    <c:plotVisOnly val="1"/>
    <c:dispBlanksAs val="gap"/>
    <c:showDLblsOverMax val="1"/>
  </c:chart>
  <c:txPr>
    <a:bodyPr/>
    <a:lstStyle/>
    <a:p>
      <a:pPr>
        <a:defRPr sz="1200">
          <a:solidFill>
            <a:srgbClr val="192F40"/>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Sep %</c:v>
                </c:pt>
              </c:strCache>
            </c:strRef>
          </c:tx>
          <c:spPr>
            <a:solidFill>
              <a:srgbClr val="315C77"/>
            </a:solidFill>
          </c:spPr>
          <c:invertIfNegative val="1"/>
          <c:dPt>
            <c:idx val="0"/>
            <c:invertIfNegative val="1"/>
            <c:bubble3D val="0"/>
            <c:spPr>
              <a:solidFill>
                <a:srgbClr val="E87B35"/>
              </a:solidFill>
            </c:spPr>
            <c:extLst>
              <c:ext xmlns:c16="http://schemas.microsoft.com/office/drawing/2014/chart" uri="{C3380CC4-5D6E-409C-BE32-E72D297353CC}">
                <c16:uniqueId val="{00000001-DA50-434C-B05A-1F09998DE9FF}"/>
              </c:ext>
            </c:extLst>
          </c:dPt>
          <c:dPt>
            <c:idx val="1"/>
            <c:invertIfNegative val="1"/>
            <c:bubble3D val="0"/>
            <c:extLst>
              <c:ext xmlns:c16="http://schemas.microsoft.com/office/drawing/2014/chart" uri="{C3380CC4-5D6E-409C-BE32-E72D297353CC}">
                <c16:uniqueId val="{00000003-DA50-434C-B05A-1F09998DE9FF}"/>
              </c:ext>
            </c:extLst>
          </c:dPt>
          <c:dPt>
            <c:idx val="2"/>
            <c:invertIfNegative val="1"/>
            <c:bubble3D val="0"/>
            <c:spPr>
              <a:solidFill>
                <a:srgbClr val="142D44"/>
              </a:solidFill>
            </c:spPr>
            <c:extLst>
              <c:ext xmlns:c16="http://schemas.microsoft.com/office/drawing/2014/chart" uri="{C3380CC4-5D6E-409C-BE32-E72D297353CC}">
                <c16:uniqueId val="{00000005-DA50-434C-B05A-1F09998DE9FF}"/>
              </c:ext>
            </c:extLst>
          </c:dPt>
          <c:dLbls>
            <c:numFmt formatCode="0.0&quot;%&quot;" sourceLinked="0"/>
            <c:spPr>
              <a:noFill/>
              <a:ln>
                <a:noFill/>
              </a:ln>
              <a:effectLst/>
            </c:spPr>
            <c:txPr>
              <a:bodyPr/>
              <a:lstStyle/>
              <a:p>
                <a:pPr>
                  <a:defRPr sz="1200" b="1">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ARKF</c:v>
                </c:pt>
                <c:pt idx="1">
                  <c:v>FINX</c:v>
                </c:pt>
                <c:pt idx="2">
                  <c:v>FDFF</c:v>
                </c:pt>
              </c:strCache>
            </c:strRef>
          </c:cat>
          <c:val>
            <c:numRef>
              <c:f>Sheet1!$B$2:$B$4</c:f>
              <c:numCache>
                <c:formatCode>General</c:formatCode>
                <c:ptCount val="3"/>
                <c:pt idx="0">
                  <c:v>-1.2</c:v>
                </c:pt>
                <c:pt idx="1">
                  <c:v>-10.5</c:v>
                </c:pt>
                <c:pt idx="2">
                  <c:v>-10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A50-434C-B05A-1F09998DE9FF}"/>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D7E0E7"/>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2"/>
          <c:min val="-14"/>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200"/>
            </a:pPr>
            <a:endParaRPr lang="en-US"/>
          </a:p>
        </c:txPr>
        <c:crossAx val="-2068027336"/>
        <c:crosses val="autoZero"/>
        <c:crossBetween val="between"/>
      </c:valAx>
    </c:plotArea>
    <c:plotVisOnly val="1"/>
    <c:dispBlanksAs val="gap"/>
    <c:showDLblsOverMax val="1"/>
  </c:chart>
  <c:txPr>
    <a:bodyPr/>
    <a:lstStyle/>
    <a:p>
      <a:pPr>
        <a:defRPr sz="1200">
          <a:solidFill>
            <a:srgbClr val="192F40"/>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Contango</c:v>
                </c:pt>
              </c:strCache>
            </c:strRef>
          </c:tx>
          <c:spPr>
            <a:ln w="31750">
              <a:solidFill>
                <a:srgbClr val="E87B35"/>
              </a:solidFill>
            </a:ln>
          </c:spPr>
          <c:marker>
            <c:symbol val="none"/>
          </c:marker>
          <c:cat>
            <c:strRef>
              <c:f>Sheet1!$A$2:$A$6</c:f>
              <c:strCache>
                <c:ptCount val="5"/>
                <c:pt idx="0">
                  <c:v>M1</c:v>
                </c:pt>
                <c:pt idx="1">
                  <c:v>M3</c:v>
                </c:pt>
                <c:pt idx="2">
                  <c:v>M6</c:v>
                </c:pt>
                <c:pt idx="3">
                  <c:v>M9</c:v>
                </c:pt>
                <c:pt idx="4">
                  <c:v>M12</c:v>
                </c:pt>
              </c:strCache>
            </c:strRef>
          </c:cat>
          <c:val>
            <c:numRef>
              <c:f>Sheet1!$B$2:$B$6</c:f>
              <c:numCache>
                <c:formatCode>General</c:formatCode>
                <c:ptCount val="5"/>
                <c:pt idx="0">
                  <c:v>70</c:v>
                </c:pt>
                <c:pt idx="1">
                  <c:v>71</c:v>
                </c:pt>
                <c:pt idx="2">
                  <c:v>72.5</c:v>
                </c:pt>
                <c:pt idx="3">
                  <c:v>74</c:v>
                </c:pt>
                <c:pt idx="4">
                  <c:v>75.5</c:v>
                </c:pt>
              </c:numCache>
            </c:numRef>
          </c:val>
          <c:smooth val="0"/>
          <c:extLst>
            <c:ext xmlns:c16="http://schemas.microsoft.com/office/drawing/2014/chart" uri="{C3380CC4-5D6E-409C-BE32-E72D297353CC}">
              <c16:uniqueId val="{00000000-C147-46D6-8A25-839C728A20B1}"/>
            </c:ext>
          </c:extLst>
        </c:ser>
        <c:ser>
          <c:idx val="1"/>
          <c:order val="1"/>
          <c:tx>
            <c:strRef>
              <c:f>Sheet1!$C$1</c:f>
              <c:strCache>
                <c:ptCount val="1"/>
                <c:pt idx="0">
                  <c:v>Backwardation</c:v>
                </c:pt>
              </c:strCache>
            </c:strRef>
          </c:tx>
          <c:spPr>
            <a:ln w="31750">
              <a:solidFill>
                <a:srgbClr val="315C77"/>
              </a:solidFill>
            </a:ln>
          </c:spPr>
          <c:marker>
            <c:symbol val="none"/>
          </c:marker>
          <c:cat>
            <c:strRef>
              <c:f>Sheet1!$A$2:$A$6</c:f>
              <c:strCache>
                <c:ptCount val="5"/>
                <c:pt idx="0">
                  <c:v>M1</c:v>
                </c:pt>
                <c:pt idx="1">
                  <c:v>M3</c:v>
                </c:pt>
                <c:pt idx="2">
                  <c:v>M6</c:v>
                </c:pt>
                <c:pt idx="3">
                  <c:v>M9</c:v>
                </c:pt>
                <c:pt idx="4">
                  <c:v>M12</c:v>
                </c:pt>
              </c:strCache>
            </c:strRef>
          </c:cat>
          <c:val>
            <c:numRef>
              <c:f>Sheet1!$C$2:$C$6</c:f>
              <c:numCache>
                <c:formatCode>General</c:formatCode>
                <c:ptCount val="5"/>
                <c:pt idx="0">
                  <c:v>75.5</c:v>
                </c:pt>
                <c:pt idx="1">
                  <c:v>74</c:v>
                </c:pt>
                <c:pt idx="2">
                  <c:v>72.5</c:v>
                </c:pt>
                <c:pt idx="3">
                  <c:v>71</c:v>
                </c:pt>
                <c:pt idx="4">
                  <c:v>70</c:v>
                </c:pt>
              </c:numCache>
            </c:numRef>
          </c:val>
          <c:smooth val="0"/>
          <c:extLst>
            <c:ext xmlns:c16="http://schemas.microsoft.com/office/drawing/2014/chart" uri="{C3380CC4-5D6E-409C-BE32-E72D297353CC}">
              <c16:uniqueId val="{00000001-C147-46D6-8A25-839C728A20B1}"/>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D7E0E7"/>
            </a:solidFill>
          </a:ln>
        </c:spPr>
        <c:txPr>
          <a:bodyPr/>
          <a:lstStyle/>
          <a:p>
            <a:pPr>
              <a:defRPr sz="1200"/>
            </a:pPr>
            <a:endParaRPr lang="en-US"/>
          </a:p>
        </c:txPr>
        <c:crossAx val="2140495176"/>
        <c:crosses val="autoZero"/>
        <c:auto val="1"/>
        <c:lblAlgn val="ctr"/>
        <c:lblOffset val="100"/>
        <c:noMultiLvlLbl val="0"/>
      </c:catAx>
      <c:valAx>
        <c:axId val="2140495176"/>
        <c:scaling>
          <c:orientation val="minMax"/>
          <c:max val="78"/>
          <c:min val="66"/>
        </c:scaling>
        <c:delete val="0"/>
        <c:axPos val="l"/>
        <c:majorGridlines>
          <c:spPr>
            <a:ln>
              <a:solidFill>
                <a:srgbClr val="D7E0E7"/>
              </a:solidFill>
            </a:ln>
          </c:spPr>
        </c:majorGridlines>
        <c:numFmt formatCode="General" sourceLinked="1"/>
        <c:majorTickMark val="out"/>
        <c:minorTickMark val="none"/>
        <c:tickLblPos val="nextTo"/>
        <c:spPr>
          <a:ln>
            <a:noFill/>
          </a:ln>
        </c:spPr>
        <c:txPr>
          <a:bodyPr/>
          <a:lstStyle/>
          <a:p>
            <a:pPr>
              <a:defRPr sz="1200"/>
            </a:pPr>
            <a:endParaRPr lang="en-US"/>
          </a:p>
        </c:txPr>
        <c:crossAx val="2118791784"/>
        <c:crosses val="autoZero"/>
        <c:crossBetween val="between"/>
      </c:valAx>
    </c:plotArea>
    <c:legend>
      <c:legendPos val="b"/>
      <c:overlay val="0"/>
      <c:txPr>
        <a:bodyPr/>
        <a:lstStyle/>
        <a:p>
          <a:pPr>
            <a:defRPr sz="1200"/>
          </a:pPr>
          <a:endParaRPr lang="en-US"/>
        </a:p>
      </c:txPr>
    </c:legend>
    <c:plotVisOnly val="1"/>
    <c:dispBlanksAs val="gap"/>
    <c:showDLblsOverMax val="0"/>
  </c:chart>
  <c:txPr>
    <a:bodyPr/>
    <a:lstStyle/>
    <a:p>
      <a:pPr>
        <a:defRPr sz="1200">
          <a:solidFill>
            <a:srgbClr val="192F40"/>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Portfolio weight (%)</c:v>
          </c:tx>
          <c:spPr>
            <a:solidFill>
              <a:srgbClr val="007D80"/>
            </a:solidFill>
          </c:spPr>
          <c:invertIfNegative val="1"/>
          <c:dLbls>
            <c:spPr>
              <a:noFill/>
              <a:ln>
                <a:noFill/>
              </a:ln>
              <a:effectLst/>
            </c:spPr>
            <c:txPr>
              <a:bodyPr anchorCtr="1"/>
              <a:lstStyle/>
              <a:p>
                <a:pPr>
                  <a:defRPr sz="1500" b="1">
                    <a:solidFill>
                      <a:srgbClr val="142B3B"/>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Coinbase</c:v>
                </c:pt>
                <c:pt idx="1">
                  <c:v>ARK Bitcoin ETF</c:v>
                </c:pt>
                <c:pt idx="2">
                  <c:v>Block</c:v>
                </c:pt>
                <c:pt idx="3">
                  <c:v>Robinhood</c:v>
                </c:pt>
                <c:pt idx="4">
                  <c:v>Shopify</c:v>
                </c:pt>
              </c:strCache>
            </c:strRef>
          </c:cat>
          <c:val>
            <c:numRef>
              <c:f>'Chart Data'!$B$2:$B$6</c:f>
              <c:numCache>
                <c:formatCode>0.0"%"</c:formatCode>
                <c:ptCount val="5"/>
                <c:pt idx="0">
                  <c:v>5.3</c:v>
                </c:pt>
                <c:pt idx="1">
                  <c:v>5.8</c:v>
                </c:pt>
                <c:pt idx="2">
                  <c:v>6.2</c:v>
                </c:pt>
                <c:pt idx="3">
                  <c:v>6.4</c:v>
                </c:pt>
                <c:pt idx="4">
                  <c:v>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2BA-4CF1-8AF4-D46E60BD03C4}"/>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500">
                <a:solidFill>
                  <a:srgbClr val="142B3B"/>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2"/>
          <c:min val="0"/>
        </c:scaling>
        <c:delete val="0"/>
        <c:axPos val="b"/>
        <c:numFmt formatCode="0.0&quot;%&quot;" sourceLinked="1"/>
        <c:majorTickMark val="none"/>
        <c:minorTickMark val="none"/>
        <c:tickLblPos val="none"/>
        <c:spPr>
          <a:ln w="0">
            <a:noFill/>
          </a:ln>
        </c:spPr>
        <c:txPr>
          <a:bodyPr anchorCtr="1"/>
          <a:lstStyle/>
          <a:p>
            <a:pPr>
              <a:defRPr sz="1350">
                <a:solidFill>
                  <a:srgbClr val="142B3B"/>
                </a:solidFill>
                <a:latin typeface="Arial"/>
                <a:ea typeface="Arial"/>
                <a:cs typeface="Arial"/>
              </a:defRPr>
            </a:pPr>
            <a:endParaRPr lang="en-US"/>
          </a:p>
        </c:txPr>
        <c:crossAx val="48650112"/>
        <c:crosses val="autoZero"/>
        <c:crossBetween val="between"/>
      </c:valAx>
      <c:spPr>
        <a:noFill/>
        <a:ln w="0">
          <a:noFill/>
        </a:ln>
      </c:spPr>
    </c:plotArea>
    <c:plotVisOnly val="1"/>
    <c:dispBlanksAs val="zero"/>
    <c:showDLblsOverMax val="1"/>
  </c:chart>
  <c:spPr>
    <a:noFill/>
    <a:ln w="0">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doughnutChart>
        <c:varyColors val="1"/>
        <c:ser>
          <c:idx val="0"/>
          <c:order val="0"/>
          <c:tx>
            <c:v>Asset allocation</c:v>
          </c:tx>
          <c:dPt>
            <c:idx val="0"/>
            <c:bubble3D val="0"/>
            <c:spPr>
              <a:solidFill>
                <a:srgbClr val="007D80"/>
              </a:solidFill>
            </c:spPr>
            <c:extLst>
              <c:ext xmlns:c16="http://schemas.microsoft.com/office/drawing/2014/chart" uri="{C3380CC4-5D6E-409C-BE32-E72D297353CC}">
                <c16:uniqueId val="{00000001-090E-44F8-9CBE-80668EE5CBBB}"/>
              </c:ext>
            </c:extLst>
          </c:dPt>
          <c:dPt>
            <c:idx val="1"/>
            <c:bubble3D val="0"/>
            <c:spPr>
              <a:solidFill>
                <a:srgbClr val="A25C19"/>
              </a:solidFill>
            </c:spPr>
            <c:extLst>
              <c:ext xmlns:c16="http://schemas.microsoft.com/office/drawing/2014/chart" uri="{C3380CC4-5D6E-409C-BE32-E72D297353CC}">
                <c16:uniqueId val="{00000003-090E-44F8-9CBE-80668EE5CBBB}"/>
              </c:ext>
            </c:extLst>
          </c:dPt>
          <c:dPt>
            <c:idx val="2"/>
            <c:bubble3D val="0"/>
            <c:spPr>
              <a:solidFill>
                <a:srgbClr val="DDE7E8"/>
              </a:solidFill>
            </c:spPr>
            <c:extLst>
              <c:ext xmlns:c16="http://schemas.microsoft.com/office/drawing/2014/chart" uri="{C3380CC4-5D6E-409C-BE32-E72D297353CC}">
                <c16:uniqueId val="{00000005-090E-44F8-9CBE-80668EE5CBBB}"/>
              </c:ext>
            </c:extLst>
          </c:dPt>
          <c:cat>
            <c:strRef>
              <c:f>'Chart Data'!$A$2:$A$4</c:f>
              <c:strCache>
                <c:ptCount val="3"/>
                <c:pt idx="0">
                  <c:v>U.S. equities 71.27%</c:v>
                </c:pt>
                <c:pt idx="1">
                  <c:v>International equities 28.03%</c:v>
                </c:pt>
                <c:pt idx="2">
                  <c:v>Cash / other 0.70%</c:v>
                </c:pt>
              </c:strCache>
            </c:strRef>
          </c:cat>
          <c:val>
            <c:numRef>
              <c:f>'Chart Data'!$B$2:$B$4</c:f>
              <c:numCache>
                <c:formatCode>General</c:formatCode>
                <c:ptCount val="3"/>
                <c:pt idx="0">
                  <c:v>71.27</c:v>
                </c:pt>
                <c:pt idx="1">
                  <c:v>28.03</c:v>
                </c:pt>
                <c:pt idx="2">
                  <c:v>0.7</c:v>
                </c:pt>
              </c:numCache>
            </c:numRef>
          </c:val>
          <c:extLst>
            <c:ext xmlns:c16="http://schemas.microsoft.com/office/drawing/2014/chart" uri="{C3380CC4-5D6E-409C-BE32-E72D297353CC}">
              <c16:uniqueId val="{00000006-090E-44F8-9CBE-80668EE5CBBB}"/>
            </c:ext>
          </c:extLst>
        </c:ser>
        <c:dLbls>
          <c:showLegendKey val="0"/>
          <c:showVal val="0"/>
          <c:showCatName val="0"/>
          <c:showSerName val="0"/>
          <c:showPercent val="0"/>
          <c:showBubbleSize val="0"/>
          <c:showLeaderLines val="0"/>
        </c:dLbls>
        <c:firstSliceAng val="270"/>
        <c:holeSize val="63"/>
      </c:doughnutChart>
    </c:plotArea>
    <c:legend>
      <c:legendPos val="b"/>
      <c:overlay val="0"/>
      <c:txPr>
        <a:bodyPr anchorCtr="1"/>
        <a:lstStyle/>
        <a:p>
          <a:pPr>
            <a:defRPr sz="1275">
              <a:solidFill>
                <a:schemeClr val="tx1">
                  <a:lumMod val="95000"/>
                  <a:lumOff val="5000"/>
                </a:schemeClr>
              </a:solidFill>
              <a:latin typeface="Arial"/>
              <a:ea typeface="Arial"/>
              <a:cs typeface="Arial"/>
            </a:defRPr>
          </a:pPr>
          <a:endParaRPr lang="en-US"/>
        </a:p>
      </c:txPr>
    </c:legend>
    <c:plotVisOnly val="1"/>
    <c:dispBlanksAs val="zero"/>
    <c:showDLblsOverMax val="1"/>
  </c:chart>
  <c:spPr>
    <a:noFill/>
    <a:ln w="0">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Portfolio weight</c:v>
          </c:tx>
          <c:spPr>
            <a:solidFill>
              <a:srgbClr val="A25C19"/>
            </a:solidFill>
          </c:spPr>
          <c:invertIfNegative val="1"/>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FinecoBank</c:v>
                </c:pt>
                <c:pt idx="1">
                  <c:v>Bankinter</c:v>
                </c:pt>
                <c:pt idx="2">
                  <c:v>BlackRock</c:v>
                </c:pt>
                <c:pt idx="3">
                  <c:v>Capital One</c:v>
                </c:pt>
                <c:pt idx="4">
                  <c:v>DBS Group</c:v>
                </c:pt>
              </c:strCache>
            </c:strRef>
          </c:cat>
          <c:val>
            <c:numRef>
              <c:f>'Chart Data'!$B$2:$B$6</c:f>
              <c:numCache>
                <c:formatCode>0.00%</c:formatCode>
                <c:ptCount val="5"/>
                <c:pt idx="0">
                  <c:v>4.6600000000000003E-2</c:v>
                </c:pt>
                <c:pt idx="1">
                  <c:v>4.8800000000000003E-2</c:v>
                </c:pt>
                <c:pt idx="2">
                  <c:v>5.5399999999999998E-2</c:v>
                </c:pt>
                <c:pt idx="3">
                  <c:v>5.8200000000000002E-2</c:v>
                </c:pt>
                <c:pt idx="4">
                  <c:v>0.06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F6E-4E08-A528-4E52790BF8EE}"/>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low"/>
        <c:spPr>
          <a:ln w="0">
            <a:noFill/>
          </a:ln>
        </c:spPr>
        <c:crossAx val="48672768"/>
        <c:crosses val="autoZero"/>
        <c:auto val="1"/>
        <c:lblAlgn val="ctr"/>
        <c:lblOffset val="100"/>
        <c:noMultiLvlLbl val="1"/>
      </c:catAx>
      <c:valAx>
        <c:axId val="48672768"/>
        <c:scaling>
          <c:orientation val="minMax"/>
          <c:max val="7.2999999999999995E-2"/>
          <c:min val="0"/>
        </c:scaling>
        <c:delete val="0"/>
        <c:axPos val="b"/>
        <c:numFmt formatCode="0.00%" sourceLinked="1"/>
        <c:majorTickMark val="none"/>
        <c:minorTickMark val="none"/>
        <c:tickLblPos val="none"/>
        <c:spPr>
          <a:ln w="0">
            <a:noFill/>
          </a:ln>
        </c:spPr>
        <c:crossAx val="48650112"/>
        <c:crosses val="autoZero"/>
        <c:crossBetween val="between"/>
      </c:valAx>
      <c:spPr>
        <a:noFill/>
        <a:ln w="0">
          <a:noFill/>
        </a:ln>
      </c:spPr>
    </c:plotArea>
    <c:plotVisOnly val="1"/>
    <c:dispBlanksAs val="zero"/>
    <c:showDLblsOverMax val="1"/>
  </c:chart>
  <c:spPr>
    <a:noFill/>
    <a:ln w="0">
      <a:noFill/>
    </a:ln>
  </c:spPr>
  <c:txPr>
    <a:bodyPr/>
    <a:lstStyle/>
    <a:p>
      <a:pPr>
        <a:defRPr sz="1800">
          <a:solidFill>
            <a:schemeClr val="tx1">
              <a:lumMod val="95000"/>
              <a:lumOff val="5000"/>
            </a:schemeClr>
          </a:solidFill>
          <a:latin typeface="Arial" panose="020B0604020202020204" pitchFamily="34" charset="0"/>
          <a:cs typeface="Arial" panose="020B0604020202020204" pitchFamily="34"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46926484883833963"/>
          <c:y val="5.1825677267373381E-2"/>
          <c:w val="0.45666107708758635"/>
          <c:h val="0.89634864546525328"/>
        </c:manualLayout>
      </c:layout>
      <c:barChart>
        <c:barDir val="bar"/>
        <c:grouping val="clustered"/>
        <c:varyColors val="0"/>
        <c:ser>
          <c:idx val="0"/>
          <c:order val="0"/>
          <c:tx>
            <c:v>Portfolio weight</c:v>
          </c:tx>
          <c:spPr>
            <a:solidFill>
              <a:srgbClr val="007D80"/>
            </a:solidFill>
          </c:spPr>
          <c:invertIfNegative val="1"/>
          <c:dPt>
            <c:idx val="0"/>
            <c:invertIfNegative val="0"/>
            <c:bubble3D val="0"/>
            <c:spPr>
              <a:solidFill>
                <a:srgbClr val="B9C7CB"/>
              </a:solidFill>
            </c:spPr>
            <c:extLst>
              <c:ext xmlns:c16="http://schemas.microsoft.com/office/drawing/2014/chart" uri="{C3380CC4-5D6E-409C-BE32-E72D297353CC}">
                <c16:uniqueId val="{00000001-5BCE-4749-BEEE-303BB88B2270}"/>
              </c:ext>
            </c:extLst>
          </c:dPt>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Other assets</c:v>
                </c:pt>
                <c:pt idx="1">
                  <c:v>Asset managers</c:v>
                </c:pt>
                <c:pt idx="2">
                  <c:v>Exchanges</c:v>
                </c:pt>
                <c:pt idx="3">
                  <c:v>Banks</c:v>
                </c:pt>
                <c:pt idx="4">
                  <c:v>Payments</c:v>
                </c:pt>
              </c:strCache>
            </c:strRef>
          </c:cat>
          <c:val>
            <c:numRef>
              <c:f>'Chart Data'!$B$2:$B$6</c:f>
              <c:numCache>
                <c:formatCode>0.00%</c:formatCode>
                <c:ptCount val="5"/>
                <c:pt idx="0">
                  <c:v>0.36780000000000002</c:v>
                </c:pt>
                <c:pt idx="1">
                  <c:v>9.1700000000000004E-2</c:v>
                </c:pt>
                <c:pt idx="2">
                  <c:v>9.8299999999999998E-2</c:v>
                </c:pt>
                <c:pt idx="3">
                  <c:v>0.17380000000000001</c:v>
                </c:pt>
                <c:pt idx="4">
                  <c:v>0.26840000000000003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BCE-4749-BEEE-303BB88B2270}"/>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low"/>
        <c:spPr>
          <a:ln w="0">
            <a:noFill/>
          </a:ln>
        </c:spPr>
        <c:crossAx val="48672768"/>
        <c:crosses val="autoZero"/>
        <c:auto val="1"/>
        <c:lblAlgn val="ctr"/>
        <c:lblOffset val="100"/>
        <c:noMultiLvlLbl val="1"/>
      </c:catAx>
      <c:valAx>
        <c:axId val="48672768"/>
        <c:scaling>
          <c:orientation val="minMax"/>
          <c:max val="0.44"/>
          <c:min val="0"/>
        </c:scaling>
        <c:delete val="0"/>
        <c:axPos val="b"/>
        <c:numFmt formatCode="0.00%" sourceLinked="1"/>
        <c:majorTickMark val="none"/>
        <c:minorTickMark val="none"/>
        <c:tickLblPos val="none"/>
        <c:spPr>
          <a:ln w="0">
            <a:noFill/>
          </a:ln>
        </c:spPr>
        <c:crossAx val="48650112"/>
        <c:crosses val="autoZero"/>
        <c:crossBetween val="between"/>
      </c:valAx>
      <c:spPr>
        <a:noFill/>
        <a:ln w="0">
          <a:noFill/>
        </a:ln>
      </c:spPr>
    </c:plotArea>
    <c:plotVisOnly val="1"/>
    <c:dispBlanksAs val="zero"/>
    <c:showDLblsOverMax val="1"/>
  </c:chart>
  <c:spPr>
    <a:noFill/>
    <a:ln w="0">
      <a:noFill/>
    </a:ln>
  </c:spPr>
  <c:txPr>
    <a:bodyPr/>
    <a:lstStyle/>
    <a:p>
      <a:pPr>
        <a:defRPr sz="1800">
          <a:solidFill>
            <a:schemeClr val="tx1">
              <a:lumMod val="95000"/>
              <a:lumOff val="5000"/>
            </a:schemeClr>
          </a:solidFill>
          <a:latin typeface="Arial" panose="020B0604020202020204" pitchFamily="34" charset="0"/>
          <a:cs typeface="Arial" panose="020B0604020202020204" pitchFamily="34" charset="0"/>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2569096773351093"/>
          <c:y val="4.5905067531710475E-2"/>
          <c:w val="0.83782478682701977"/>
          <c:h val="0.7321920704828444"/>
        </c:manualLayout>
      </c:layout>
      <c:barChart>
        <c:barDir val="col"/>
        <c:grouping val="clustered"/>
        <c:varyColors val="0"/>
        <c:ser>
          <c:idx val="0"/>
          <c:order val="0"/>
          <c:tx>
            <c:v>12-month total return</c:v>
          </c:tx>
          <c:spPr>
            <a:solidFill>
              <a:srgbClr val="007D80"/>
            </a:solidFill>
          </c:spPr>
          <c:invertIfNegative val="0"/>
          <c:dPt>
            <c:idx val="0"/>
            <c:invertIfNegative val="0"/>
            <c:bubble3D val="0"/>
            <c:spPr>
              <a:solidFill>
                <a:srgbClr val="B34242"/>
              </a:solidFill>
            </c:spPr>
            <c:extLst>
              <c:ext xmlns:c16="http://schemas.microsoft.com/office/drawing/2014/chart" uri="{C3380CC4-5D6E-409C-BE32-E72D297353CC}">
                <c16:uniqueId val="{00000001-01ED-4620-80D6-73F995A51BFF}"/>
              </c:ext>
            </c:extLst>
          </c:dPt>
          <c:dPt>
            <c:idx val="1"/>
            <c:invertIfNegative val="0"/>
            <c:bubble3D val="0"/>
            <c:extLst>
              <c:ext xmlns:c16="http://schemas.microsoft.com/office/drawing/2014/chart" uri="{C3380CC4-5D6E-409C-BE32-E72D297353CC}">
                <c16:uniqueId val="{00000003-01ED-4620-80D6-73F995A51BFF}"/>
              </c:ext>
            </c:extLst>
          </c:dPt>
          <c:dLbls>
            <c:dLbl>
              <c:idx val="0"/>
              <c:layout>
                <c:manualLayout>
                  <c:x val="4.9751243781094526E-3"/>
                  <c:y val="0.3496514509112934"/>
                </c:manualLayout>
              </c:layout>
              <c:numFmt formatCode="0%" sourceLinked="0"/>
              <c:spPr>
                <a:noFill/>
                <a:ln>
                  <a:noFill/>
                </a:ln>
                <a:effectLst/>
              </c:spPr>
              <c:txPr>
                <a:bodyPr/>
                <a:lstStyle/>
                <a:p>
                  <a:pPr>
                    <a:defRPr sz="1800"/>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5180762852404642"/>
                      <c:h val="0.19892773892773893"/>
                    </c:manualLayout>
                  </c15:layout>
                </c:ext>
                <c:ext xmlns:c16="http://schemas.microsoft.com/office/drawing/2014/chart" uri="{C3380CC4-5D6E-409C-BE32-E72D297353CC}">
                  <c16:uniqueId val="{00000001-01ED-4620-80D6-73F995A51BFF}"/>
                </c:ext>
              </c:extLst>
            </c:dLbl>
            <c:dLbl>
              <c:idx val="1"/>
              <c:numFmt formatCode="0%" sourceLinked="0"/>
              <c:spPr>
                <a:noFill/>
                <a:ln>
                  <a:noFill/>
                </a:ln>
                <a:effectLst/>
              </c:spPr>
              <c:txPr>
                <a:bodyPr/>
                <a:lstStyle/>
                <a:p>
                  <a:pPr>
                    <a:defRPr sz="1800"/>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8275290215588722"/>
                      <c:h val="0.19892773892773893"/>
                    </c:manualLayout>
                  </c15:layout>
                </c:ext>
                <c:ext xmlns:c16="http://schemas.microsoft.com/office/drawing/2014/chart" uri="{C3380CC4-5D6E-409C-BE32-E72D297353CC}">
                  <c16:uniqueId val="{00000003-01ED-4620-80D6-73F995A51BF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FDFF NAV</c:v>
                </c:pt>
                <c:pt idx="1">
                  <c:v>Financials index¹</c:v>
                </c:pt>
              </c:strCache>
            </c:strRef>
          </c:cat>
          <c:val>
            <c:numRef>
              <c:f>'Chart Data'!$B$2:$B$3</c:f>
              <c:numCache>
                <c:formatCode>General</c:formatCode>
                <c:ptCount val="2"/>
                <c:pt idx="0">
                  <c:v>-8.7099999999999997E-2</c:v>
                </c:pt>
                <c:pt idx="1">
                  <c:v>0.17449999999999999</c:v>
                </c:pt>
              </c:numCache>
            </c:numRef>
          </c:val>
          <c:extLst>
            <c:ext xmlns:c16="http://schemas.microsoft.com/office/drawing/2014/chart" uri="{C3380CC4-5D6E-409C-BE32-E72D297353CC}">
              <c16:uniqueId val="{00000004-01ED-4620-80D6-73F995A51BFF}"/>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DE7E8"/>
            </a:solidFill>
          </a:ln>
        </c:spPr>
        <c:txPr>
          <a:bodyPr/>
          <a:lstStyle/>
          <a:p>
            <a:pPr>
              <a:defRPr sz="1800" b="1"/>
            </a:pPr>
            <a:endParaRPr lang="en-US"/>
          </a:p>
        </c:txPr>
        <c:crossAx val="48672768"/>
        <c:crosses val="autoZero"/>
        <c:auto val="1"/>
        <c:lblAlgn val="ctr"/>
        <c:lblOffset val="100"/>
        <c:noMultiLvlLbl val="1"/>
      </c:catAx>
      <c:valAx>
        <c:axId val="48672768"/>
        <c:scaling>
          <c:orientation val="minMax"/>
          <c:max val="0.25"/>
          <c:min val="-0.15"/>
        </c:scaling>
        <c:delete val="0"/>
        <c:axPos val="l"/>
        <c:majorGridlines>
          <c:spPr>
            <a:ln w="9525">
              <a:solidFill>
                <a:srgbClr val="E6ECEE"/>
              </a:solidFill>
            </a:ln>
          </c:spPr>
        </c:majorGridlines>
        <c:numFmt formatCode="General" sourceLinked="1"/>
        <c:majorTickMark val="none"/>
        <c:minorTickMark val="none"/>
        <c:tickLblPos val="nextTo"/>
        <c:spPr>
          <a:ln w="0">
            <a:noFill/>
          </a:ln>
        </c:spPr>
        <c:crossAx val="48650112"/>
        <c:crosses val="autoZero"/>
        <c:crossBetween val="between"/>
        <c:majorUnit val="0.1"/>
      </c:valAx>
      <c:spPr>
        <a:noFill/>
        <a:ln w="0">
          <a:noFill/>
        </a:ln>
      </c:spPr>
    </c:plotArea>
    <c:plotVisOnly val="1"/>
    <c:dispBlanksAs val="zero"/>
    <c:showDLblsOverMax val="1"/>
  </c:chart>
  <c:spPr>
    <a:noFill/>
    <a:ln w="0">
      <a:noFill/>
    </a:ln>
  </c:spPr>
  <c:txPr>
    <a:bodyPr/>
    <a:lstStyle/>
    <a:p>
      <a:pPr>
        <a:defRPr>
          <a:solidFill>
            <a:schemeClr val="tx1">
              <a:lumMod val="95000"/>
              <a:lumOff val="5000"/>
            </a:schemeClr>
          </a:solidFill>
          <a:latin typeface="Arial" panose="020B0604020202020204" pitchFamily="34" charset="0"/>
          <a:cs typeface="Arial" panose="020B0604020202020204" pitchFamily="34"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1453828545404428"/>
          <c:y val="5.128205128205128E-2"/>
          <c:w val="0.85197617421110028"/>
          <c:h val="0.82138355083236969"/>
        </c:manualLayout>
      </c:layout>
      <c:barChart>
        <c:barDir val="col"/>
        <c:grouping val="clustered"/>
        <c:varyColors val="0"/>
        <c:ser>
          <c:idx val="0"/>
          <c:order val="0"/>
          <c:tx>
            <c:v>Relative contribution (basis points)</c:v>
          </c:tx>
          <c:spPr>
            <a:solidFill>
              <a:srgbClr val="B34242"/>
            </a:solidFill>
          </c:spPr>
          <c:invertIfNegative val="0"/>
          <c:dPt>
            <c:idx val="0"/>
            <c:invertIfNegative val="0"/>
            <c:bubble3D val="0"/>
            <c:spPr>
              <a:solidFill>
                <a:srgbClr val="238579"/>
              </a:solidFill>
            </c:spPr>
            <c:extLst>
              <c:ext xmlns:c16="http://schemas.microsoft.com/office/drawing/2014/chart" uri="{C3380CC4-5D6E-409C-BE32-E72D297353CC}">
                <c16:uniqueId val="{00000001-6D7D-45C1-BABF-24876AD63636}"/>
              </c:ext>
            </c:extLst>
          </c:dPt>
          <c:dLbls>
            <c:spPr>
              <a:noFill/>
              <a:ln>
                <a:noFill/>
              </a:ln>
              <a:effectLst/>
            </c:spPr>
            <c:txPr>
              <a:bodyPr/>
              <a:lstStyle/>
              <a:p>
                <a:pPr>
                  <a:defRPr sz="18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DBS</c:v>
                </c:pt>
                <c:pt idx="1">
                  <c:v>Chime</c:v>
                </c:pt>
                <c:pt idx="2">
                  <c:v>Equifax</c:v>
                </c:pt>
                <c:pt idx="3">
                  <c:v>Adyen</c:v>
                </c:pt>
              </c:strCache>
            </c:strRef>
          </c:cat>
          <c:val>
            <c:numRef>
              <c:f>'Chart Data'!$B$2:$B$5</c:f>
              <c:numCache>
                <c:formatCode>\+0;\-0;0</c:formatCode>
                <c:ptCount val="4"/>
                <c:pt idx="0">
                  <c:v>114</c:v>
                </c:pt>
                <c:pt idx="1">
                  <c:v>-198</c:v>
                </c:pt>
                <c:pt idx="2">
                  <c:v>-270</c:v>
                </c:pt>
                <c:pt idx="3">
                  <c:v>-308</c:v>
                </c:pt>
              </c:numCache>
            </c:numRef>
          </c:val>
          <c:extLst>
            <c:ext xmlns:c16="http://schemas.microsoft.com/office/drawing/2014/chart" uri="{C3380CC4-5D6E-409C-BE32-E72D297353CC}">
              <c16:uniqueId val="{00000002-6D7D-45C1-BABF-24876AD63636}"/>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DE7E8"/>
            </a:solidFill>
          </a:ln>
        </c:spPr>
        <c:txPr>
          <a:bodyPr/>
          <a:lstStyle/>
          <a:p>
            <a:pPr>
              <a:defRPr sz="1500" b="1"/>
            </a:pPr>
            <a:endParaRPr lang="en-US"/>
          </a:p>
        </c:txPr>
        <c:crossAx val="48672768"/>
        <c:crosses val="autoZero"/>
        <c:auto val="1"/>
        <c:lblAlgn val="ctr"/>
        <c:lblOffset val="100"/>
        <c:noMultiLvlLbl val="1"/>
      </c:catAx>
      <c:valAx>
        <c:axId val="48672768"/>
        <c:scaling>
          <c:orientation val="minMax"/>
          <c:max val="200"/>
          <c:min val="-400"/>
        </c:scaling>
        <c:delete val="0"/>
        <c:axPos val="l"/>
        <c:majorGridlines>
          <c:spPr>
            <a:ln w="9525">
              <a:solidFill>
                <a:srgbClr val="E6ECEE"/>
              </a:solidFill>
            </a:ln>
          </c:spPr>
        </c:majorGridlines>
        <c:numFmt formatCode="\+0;\-0;0" sourceLinked="1"/>
        <c:majorTickMark val="none"/>
        <c:minorTickMark val="none"/>
        <c:tickLblPos val="nextTo"/>
        <c:spPr>
          <a:ln w="0">
            <a:noFill/>
          </a:ln>
        </c:spPr>
        <c:crossAx val="48650112"/>
        <c:crosses val="autoZero"/>
        <c:crossBetween val="between"/>
        <c:majorUnit val="200"/>
      </c:valAx>
      <c:spPr>
        <a:noFill/>
        <a:ln w="0">
          <a:noFill/>
        </a:ln>
      </c:spPr>
    </c:plotArea>
    <c:plotVisOnly val="1"/>
    <c:dispBlanksAs val="zero"/>
    <c:showDLblsOverMax val="1"/>
  </c:chart>
  <c:spPr>
    <a:noFill/>
    <a:ln w="0">
      <a:noFill/>
    </a:ln>
  </c:spPr>
  <c:txPr>
    <a:bodyPr/>
    <a:lstStyle/>
    <a:p>
      <a:pPr>
        <a:defRPr>
          <a:latin typeface="Arial" panose="020B0604020202020204" pitchFamily="34" charset="0"/>
          <a:cs typeface="Arial" panose="020B0604020202020204" pitchFamily="34" charset="0"/>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ARKF</c:v>
                </c:pt>
              </c:strCache>
            </c:strRef>
          </c:tx>
          <c:spPr>
            <a:solidFill>
              <a:srgbClr val="142B3B"/>
            </a:solidFill>
          </c:spPr>
          <c:invertIfNegative val="1"/>
          <c:cat>
            <c:strRef>
              <c:f>Sheet1!$A$2:$A$6</c:f>
              <c:strCache>
                <c:ptCount val="5"/>
                <c:pt idx="0">
                  <c:v>Block</c:v>
                </c:pt>
                <c:pt idx="1">
                  <c:v>Robinhood</c:v>
                </c:pt>
                <c:pt idx="2">
                  <c:v>Coinbase</c:v>
                </c:pt>
                <c:pt idx="3">
                  <c:v>Circle</c:v>
                </c:pt>
                <c:pt idx="4">
                  <c:v>Toast</c:v>
                </c:pt>
              </c:strCache>
            </c:strRef>
          </c:cat>
          <c:val>
            <c:numRef>
              <c:f>Sheet1!$B$2:$B$6</c:f>
              <c:numCache>
                <c:formatCode>General</c:formatCode>
                <c:ptCount val="5"/>
                <c:pt idx="0">
                  <c:v>6.2E-2</c:v>
                </c:pt>
                <c:pt idx="1">
                  <c:v>6.4000000000000001E-2</c:v>
                </c:pt>
                <c:pt idx="2">
                  <c:v>5.2999999999999999E-2</c:v>
                </c:pt>
                <c:pt idx="3">
                  <c:v>4.2000000000000003E-2</c:v>
                </c:pt>
                <c:pt idx="4">
                  <c:v>4.5999999999999999E-2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F8E-B340-830F-F8C8D39283BD}"/>
            </c:ext>
          </c:extLst>
        </c:ser>
        <c:ser>
          <c:idx val="1"/>
          <c:order val="1"/>
          <c:tx>
            <c:strRef>
              <c:f>Sheet1!$C$1</c:f>
              <c:strCache>
                <c:ptCount val="1"/>
                <c:pt idx="0">
                  <c:v>FINX</c:v>
                </c:pt>
              </c:strCache>
            </c:strRef>
          </c:tx>
          <c:spPr>
            <a:solidFill>
              <a:srgbClr val="2F6FA8"/>
            </a:solidFill>
          </c:spPr>
          <c:invertIfNegative val="1"/>
          <c:cat>
            <c:strRef>
              <c:f>Sheet1!$A$2:$A$6</c:f>
              <c:strCache>
                <c:ptCount val="5"/>
                <c:pt idx="0">
                  <c:v>Block</c:v>
                </c:pt>
                <c:pt idx="1">
                  <c:v>Robinhood</c:v>
                </c:pt>
                <c:pt idx="2">
                  <c:v>Coinbase</c:v>
                </c:pt>
                <c:pt idx="3">
                  <c:v>Circle</c:v>
                </c:pt>
                <c:pt idx="4">
                  <c:v>Toast</c:v>
                </c:pt>
              </c:strCache>
            </c:strRef>
          </c:cat>
          <c:val>
            <c:numRef>
              <c:f>Sheet1!$C$2:$C$6</c:f>
              <c:numCache>
                <c:formatCode>General</c:formatCode>
                <c:ptCount val="5"/>
                <c:pt idx="0">
                  <c:v>6.6699999999999995E-2</c:v>
                </c:pt>
                <c:pt idx="1">
                  <c:v>8.5599999999999996E-2</c:v>
                </c:pt>
                <c:pt idx="2">
                  <c:v>5.5500000000000001E-2</c:v>
                </c:pt>
                <c:pt idx="3">
                  <c:v>3.3099999999999997E-2</c:v>
                </c:pt>
                <c:pt idx="4">
                  <c:v>2.8199999999999999E-2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F8E-B340-830F-F8C8D39283BD}"/>
            </c:ext>
          </c:extLst>
        </c:ser>
        <c:ser>
          <c:idx val="2"/>
          <c:order val="2"/>
          <c:tx>
            <c:strRef>
              <c:f>Sheet1!$D$1</c:f>
              <c:strCache>
                <c:ptCount val="1"/>
                <c:pt idx="0">
                  <c:v>FDFF</c:v>
                </c:pt>
              </c:strCache>
            </c:strRef>
          </c:tx>
          <c:spPr>
            <a:solidFill>
              <a:srgbClr val="9DB4C8"/>
            </a:solidFill>
          </c:spPr>
          <c:invertIfNegative val="1"/>
          <c:cat>
            <c:strRef>
              <c:f>Sheet1!$A$2:$A$6</c:f>
              <c:strCache>
                <c:ptCount val="5"/>
                <c:pt idx="0">
                  <c:v>Block</c:v>
                </c:pt>
                <c:pt idx="1">
                  <c:v>Robinhood</c:v>
                </c:pt>
                <c:pt idx="2">
                  <c:v>Coinbase</c:v>
                </c:pt>
                <c:pt idx="3">
                  <c:v>Circle</c:v>
                </c:pt>
                <c:pt idx="4">
                  <c:v>Toast</c:v>
                </c:pt>
              </c:strCache>
            </c:strRef>
          </c:cat>
          <c:val>
            <c:numRef>
              <c:f>Sheet1!$D$2:$D$6</c:f>
              <c:numCache>
                <c:formatCode>General</c:formatCode>
                <c:ptCount val="5"/>
                <c:pt idx="0">
                  <c:v>4.2099999999999999E-2</c:v>
                </c:pt>
                <c:pt idx="1">
                  <c:v>0</c:v>
                </c:pt>
                <c:pt idx="2">
                  <c:v>0</c:v>
                </c:pt>
                <c:pt idx="3">
                  <c:v>0</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F8E-B340-830F-F8C8D39283BD}"/>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D3D8"/>
            </a:solidFill>
          </a:ln>
        </c:spPr>
        <c:txPr>
          <a:bodyPr rot="0" vert="horz"/>
          <a:lstStyle/>
          <a:p>
            <a:pPr>
              <a:defRPr sz="1300" b="0">
                <a:solidFill>
                  <a:schemeClr val="tx1"/>
                </a:solidFill>
                <a:latin typeface="Arial"/>
              </a:defRPr>
            </a:pPr>
            <a:endParaRPr lang="en-US"/>
          </a:p>
        </c:txPr>
        <c:crossAx val="-2113994440"/>
        <c:crosses val="autoZero"/>
        <c:auto val="1"/>
        <c:lblAlgn val="ctr"/>
        <c:lblOffset val="100"/>
        <c:noMultiLvlLbl val="0"/>
      </c:catAx>
      <c:valAx>
        <c:axId val="-2113994440"/>
        <c:scaling>
          <c:orientation val="minMax"/>
          <c:max val="0.09"/>
          <c:min val="0"/>
        </c:scaling>
        <c:delete val="0"/>
        <c:axPos val="l"/>
        <c:majorGridlines>
          <c:spPr>
            <a:ln w="6350">
              <a:solidFill>
                <a:srgbClr val="E1E7EA"/>
              </a:solidFill>
            </a:ln>
          </c:spPr>
        </c:majorGridlines>
        <c:numFmt formatCode="0%" sourceLinked="0"/>
        <c:majorTickMark val="out"/>
        <c:minorTickMark val="none"/>
        <c:tickLblPos val="nextTo"/>
        <c:spPr>
          <a:ln>
            <a:solidFill>
              <a:srgbClr val="C9D3D8"/>
            </a:solidFill>
          </a:ln>
        </c:spPr>
        <c:txPr>
          <a:bodyPr/>
          <a:lstStyle/>
          <a:p>
            <a:pPr>
              <a:defRPr sz="1400">
                <a:solidFill>
                  <a:schemeClr val="tx1"/>
                </a:solidFill>
                <a:latin typeface="Arial"/>
              </a:defRPr>
            </a:pPr>
            <a:endParaRPr lang="en-US"/>
          </a:p>
        </c:txPr>
        <c:crossAx val="-2068027336"/>
        <c:crosses val="autoZero"/>
        <c:crossBetween val="between"/>
        <c:majorUnit val="0.03"/>
      </c:valAx>
    </c:plotArea>
    <c:legend>
      <c:legendPos val="t"/>
      <c:overlay val="0"/>
      <c:txPr>
        <a:bodyPr/>
        <a:lstStyle/>
        <a:p>
          <a:pPr>
            <a:defRPr sz="1400">
              <a:solidFill>
                <a:srgbClr val="142B3B"/>
              </a:solidFill>
              <a:latin typeface="Arial"/>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600" b="1">
                <a:solidFill>
                  <a:srgbClr val="142B3B"/>
                </a:solidFill>
                <a:latin typeface="Arial"/>
              </a:rPr>
              <a:t>Expense ratio</a:t>
            </a:r>
          </a:p>
        </c:rich>
      </c:tx>
      <c:overlay val="0"/>
    </c:title>
    <c:autoTitleDeleted val="0"/>
    <c:plotArea>
      <c:layout/>
      <c:barChart>
        <c:barDir val="col"/>
        <c:grouping val="clustered"/>
        <c:varyColors val="1"/>
        <c:ser>
          <c:idx val="0"/>
          <c:order val="0"/>
          <c:tx>
            <c:strRef>
              <c:f>Sheet1!$B$1</c:f>
              <c:strCache>
                <c:ptCount val="1"/>
                <c:pt idx="0">
                  <c:v>Expense ratio</c:v>
                </c:pt>
              </c:strCache>
            </c:strRef>
          </c:tx>
          <c:invertIfNegative val="1"/>
          <c:dPt>
            <c:idx val="0"/>
            <c:invertIfNegative val="1"/>
            <c:bubble3D val="0"/>
            <c:spPr>
              <a:solidFill>
                <a:srgbClr val="142B3B"/>
              </a:solidFill>
            </c:spPr>
            <c:extLst>
              <c:ext xmlns:c16="http://schemas.microsoft.com/office/drawing/2014/chart" uri="{C3380CC4-5D6E-409C-BE32-E72D297353CC}">
                <c16:uniqueId val="{00000001-2C63-9C43-9957-F56019186D9A}"/>
              </c:ext>
            </c:extLst>
          </c:dPt>
          <c:dPt>
            <c:idx val="1"/>
            <c:invertIfNegative val="1"/>
            <c:bubble3D val="0"/>
            <c:spPr>
              <a:solidFill>
                <a:srgbClr val="2F6FA8"/>
              </a:solidFill>
            </c:spPr>
            <c:extLst>
              <c:ext xmlns:c16="http://schemas.microsoft.com/office/drawing/2014/chart" uri="{C3380CC4-5D6E-409C-BE32-E72D297353CC}">
                <c16:uniqueId val="{00000003-2C63-9C43-9957-F56019186D9A}"/>
              </c:ext>
            </c:extLst>
          </c:dPt>
          <c:dPt>
            <c:idx val="2"/>
            <c:invertIfNegative val="1"/>
            <c:bubble3D val="0"/>
            <c:spPr>
              <a:solidFill>
                <a:srgbClr val="9DB4C8"/>
              </a:solidFill>
            </c:spPr>
            <c:extLst>
              <c:ext xmlns:c16="http://schemas.microsoft.com/office/drawing/2014/chart" uri="{C3380CC4-5D6E-409C-BE32-E72D297353CC}">
                <c16:uniqueId val="{00000005-2C63-9C43-9957-F56019186D9A}"/>
              </c:ext>
            </c:extLst>
          </c:dPt>
          <c:dLbls>
            <c:numFmt formatCode="0.00%" sourceLinked="0"/>
            <c:spPr>
              <a:noFill/>
              <a:ln>
                <a:noFill/>
              </a:ln>
              <a:effectLst/>
            </c:spPr>
            <c:txPr>
              <a:bodyPr/>
              <a:lstStyle/>
              <a:p>
                <a:pPr>
                  <a:defRPr sz="1400" b="1">
                    <a:solidFill>
                      <a:srgbClr val="142B3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ARKF</c:v>
                </c:pt>
                <c:pt idx="1">
                  <c:v>FINX</c:v>
                </c:pt>
                <c:pt idx="2">
                  <c:v>FDFF</c:v>
                </c:pt>
              </c:strCache>
            </c:strRef>
          </c:cat>
          <c:val>
            <c:numRef>
              <c:f>Sheet1!$B$2:$B$4</c:f>
              <c:numCache>
                <c:formatCode>General</c:formatCode>
                <c:ptCount val="3"/>
                <c:pt idx="0">
                  <c:v>7.4999999999999997E-3</c:v>
                </c:pt>
                <c:pt idx="1">
                  <c:v>6.7999999999999996E-3</c:v>
                </c:pt>
                <c:pt idx="2">
                  <c:v>5.0000000000000001E-3</c:v>
                </c:pt>
              </c:numCache>
            </c:numRef>
          </c:val>
          <c:extLst>
            <c:ext xmlns:c16="http://schemas.microsoft.com/office/drawing/2014/chart" uri="{C3380CC4-5D6E-409C-BE32-E72D297353CC}">
              <c16:uniqueId val="{00000006-2C63-9C43-9957-F56019186D9A}"/>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D3D8"/>
            </a:solidFill>
          </a:ln>
        </c:spPr>
        <c:txPr>
          <a:bodyPr/>
          <a:lstStyle/>
          <a:p>
            <a:pPr>
              <a:defRPr sz="1400" b="1">
                <a:solidFill>
                  <a:srgbClr val="142B3B"/>
                </a:solidFill>
                <a:latin typeface="Arial"/>
              </a:defRPr>
            </a:pPr>
            <a:endParaRPr lang="en-US"/>
          </a:p>
        </c:txPr>
        <c:crossAx val="-2113994440"/>
        <c:crosses val="autoZero"/>
        <c:auto val="1"/>
        <c:lblAlgn val="ctr"/>
        <c:lblOffset val="100"/>
        <c:noMultiLvlLbl val="0"/>
      </c:catAx>
      <c:valAx>
        <c:axId val="-2113994440"/>
        <c:scaling>
          <c:orientation val="minMax"/>
          <c:max val="8.9999999999999993E-3"/>
          <c:min val="0"/>
        </c:scaling>
        <c:delete val="1"/>
        <c:axPos val="l"/>
        <c:numFmt formatCode="0.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600" b="1">
                <a:solidFill>
                  <a:srgbClr val="142B3B"/>
                </a:solidFill>
                <a:latin typeface="Arial"/>
              </a:rPr>
              <a:t>Avg daily volume (shares)</a:t>
            </a:r>
          </a:p>
        </c:rich>
      </c:tx>
      <c:overlay val="0"/>
    </c:title>
    <c:autoTitleDeleted val="0"/>
    <c:plotArea>
      <c:layout/>
      <c:barChart>
        <c:barDir val="col"/>
        <c:grouping val="clustered"/>
        <c:varyColors val="1"/>
        <c:ser>
          <c:idx val="0"/>
          <c:order val="0"/>
          <c:tx>
            <c:strRef>
              <c:f>Sheet1!$B$1</c:f>
              <c:strCache>
                <c:ptCount val="1"/>
                <c:pt idx="0">
                  <c:v>Avg daily volume (shares)</c:v>
                </c:pt>
              </c:strCache>
            </c:strRef>
          </c:tx>
          <c:invertIfNegative val="1"/>
          <c:dPt>
            <c:idx val="0"/>
            <c:invertIfNegative val="1"/>
            <c:bubble3D val="0"/>
            <c:spPr>
              <a:solidFill>
                <a:srgbClr val="142B3B"/>
              </a:solidFill>
            </c:spPr>
            <c:extLst>
              <c:ext xmlns:c16="http://schemas.microsoft.com/office/drawing/2014/chart" uri="{C3380CC4-5D6E-409C-BE32-E72D297353CC}">
                <c16:uniqueId val="{00000001-B87A-8549-BA43-C0032B3BFA83}"/>
              </c:ext>
            </c:extLst>
          </c:dPt>
          <c:dPt>
            <c:idx val="1"/>
            <c:invertIfNegative val="1"/>
            <c:bubble3D val="0"/>
            <c:spPr>
              <a:solidFill>
                <a:srgbClr val="2F6FA8"/>
              </a:solidFill>
            </c:spPr>
            <c:extLst>
              <c:ext xmlns:c16="http://schemas.microsoft.com/office/drawing/2014/chart" uri="{C3380CC4-5D6E-409C-BE32-E72D297353CC}">
                <c16:uniqueId val="{00000003-B87A-8549-BA43-C0032B3BFA83}"/>
              </c:ext>
            </c:extLst>
          </c:dPt>
          <c:dPt>
            <c:idx val="2"/>
            <c:invertIfNegative val="1"/>
            <c:bubble3D val="0"/>
            <c:spPr>
              <a:solidFill>
                <a:srgbClr val="9DB4C8"/>
              </a:solidFill>
            </c:spPr>
            <c:extLst>
              <c:ext xmlns:c16="http://schemas.microsoft.com/office/drawing/2014/chart" uri="{C3380CC4-5D6E-409C-BE32-E72D297353CC}">
                <c16:uniqueId val="{00000005-B87A-8549-BA43-C0032B3BFA83}"/>
              </c:ext>
            </c:extLst>
          </c:dPt>
          <c:dLbls>
            <c:numFmt formatCode="#,##0" sourceLinked="0"/>
            <c:spPr>
              <a:noFill/>
              <a:ln>
                <a:noFill/>
              </a:ln>
              <a:effectLst/>
            </c:spPr>
            <c:txPr>
              <a:bodyPr/>
              <a:lstStyle/>
              <a:p>
                <a:pPr>
                  <a:defRPr sz="1400" b="1">
                    <a:solidFill>
                      <a:srgbClr val="142B3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ARKF</c:v>
                </c:pt>
                <c:pt idx="1">
                  <c:v>FINX</c:v>
                </c:pt>
                <c:pt idx="2">
                  <c:v>FDFF</c:v>
                </c:pt>
              </c:strCache>
            </c:strRef>
          </c:cat>
          <c:val>
            <c:numRef>
              <c:f>Sheet1!$B$2:$B$4</c:f>
              <c:numCache>
                <c:formatCode>General</c:formatCode>
                <c:ptCount val="3"/>
                <c:pt idx="0">
                  <c:v>128310</c:v>
                </c:pt>
                <c:pt idx="1">
                  <c:v>63530</c:v>
                </c:pt>
                <c:pt idx="2">
                  <c:v>4250</c:v>
                </c:pt>
              </c:numCache>
            </c:numRef>
          </c:val>
          <c:extLst>
            <c:ext xmlns:c16="http://schemas.microsoft.com/office/drawing/2014/chart" uri="{C3380CC4-5D6E-409C-BE32-E72D297353CC}">
              <c16:uniqueId val="{00000006-B87A-8549-BA43-C0032B3BFA83}"/>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D3D8"/>
            </a:solidFill>
          </a:ln>
        </c:spPr>
        <c:txPr>
          <a:bodyPr/>
          <a:lstStyle/>
          <a:p>
            <a:pPr>
              <a:defRPr sz="1400" b="1">
                <a:solidFill>
                  <a:srgbClr val="142B3B"/>
                </a:solidFill>
                <a:latin typeface="Arial"/>
              </a:defRPr>
            </a:pPr>
            <a:endParaRPr lang="en-US"/>
          </a:p>
        </c:txPr>
        <c:crossAx val="-2113994440"/>
        <c:crosses val="autoZero"/>
        <c:auto val="1"/>
        <c:lblAlgn val="ctr"/>
        <c:lblOffset val="100"/>
        <c:noMultiLvlLbl val="0"/>
      </c:catAx>
      <c:valAx>
        <c:axId val="-2113994440"/>
        <c:scaling>
          <c:orientation val="minMax"/>
          <c:max val="155000"/>
          <c:min val="0"/>
        </c:scaling>
        <c:delete val="1"/>
        <c:axPos val="l"/>
        <c:numFmt formatCode="#,##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600" b="1">
                <a:solidFill>
                  <a:srgbClr val="142B3B"/>
                </a:solidFill>
                <a:latin typeface="Arial"/>
              </a:rPr>
              <a:t>Volatility (std. dev.)</a:t>
            </a:r>
          </a:p>
        </c:rich>
      </c:tx>
      <c:overlay val="0"/>
    </c:title>
    <c:autoTitleDeleted val="0"/>
    <c:plotArea>
      <c:layout/>
      <c:barChart>
        <c:barDir val="col"/>
        <c:grouping val="clustered"/>
        <c:varyColors val="1"/>
        <c:ser>
          <c:idx val="0"/>
          <c:order val="0"/>
          <c:tx>
            <c:strRef>
              <c:f>Sheet1!$B$1</c:f>
              <c:strCache>
                <c:ptCount val="1"/>
                <c:pt idx="0">
                  <c:v>Volatility (std. dev.)</c:v>
                </c:pt>
              </c:strCache>
            </c:strRef>
          </c:tx>
          <c:invertIfNegative val="1"/>
          <c:dPt>
            <c:idx val="0"/>
            <c:invertIfNegative val="1"/>
            <c:bubble3D val="0"/>
            <c:spPr>
              <a:solidFill>
                <a:srgbClr val="142B3B"/>
              </a:solidFill>
            </c:spPr>
            <c:extLst>
              <c:ext xmlns:c16="http://schemas.microsoft.com/office/drawing/2014/chart" uri="{C3380CC4-5D6E-409C-BE32-E72D297353CC}">
                <c16:uniqueId val="{00000001-48A0-DC49-9951-72FB7029B5D0}"/>
              </c:ext>
            </c:extLst>
          </c:dPt>
          <c:dPt>
            <c:idx val="1"/>
            <c:invertIfNegative val="1"/>
            <c:bubble3D val="0"/>
            <c:spPr>
              <a:solidFill>
                <a:srgbClr val="2F6FA8"/>
              </a:solidFill>
            </c:spPr>
            <c:extLst>
              <c:ext xmlns:c16="http://schemas.microsoft.com/office/drawing/2014/chart" uri="{C3380CC4-5D6E-409C-BE32-E72D297353CC}">
                <c16:uniqueId val="{00000003-48A0-DC49-9951-72FB7029B5D0}"/>
              </c:ext>
            </c:extLst>
          </c:dPt>
          <c:dPt>
            <c:idx val="2"/>
            <c:invertIfNegative val="1"/>
            <c:bubble3D val="0"/>
            <c:spPr>
              <a:solidFill>
                <a:srgbClr val="9DB4C8"/>
              </a:solidFill>
            </c:spPr>
            <c:extLst>
              <c:ext xmlns:c16="http://schemas.microsoft.com/office/drawing/2014/chart" uri="{C3380CC4-5D6E-409C-BE32-E72D297353CC}">
                <c16:uniqueId val="{00000005-48A0-DC49-9951-72FB7029B5D0}"/>
              </c:ext>
            </c:extLst>
          </c:dPt>
          <c:dLbls>
            <c:numFmt formatCode="0.00%" sourceLinked="0"/>
            <c:spPr>
              <a:noFill/>
              <a:ln>
                <a:noFill/>
              </a:ln>
              <a:effectLst/>
            </c:spPr>
            <c:txPr>
              <a:bodyPr/>
              <a:lstStyle/>
              <a:p>
                <a:pPr>
                  <a:defRPr sz="1400" b="1">
                    <a:solidFill>
                      <a:srgbClr val="142B3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ARKF</c:v>
                </c:pt>
                <c:pt idx="1">
                  <c:v>FINX</c:v>
                </c:pt>
                <c:pt idx="2">
                  <c:v>FDFF</c:v>
                </c:pt>
              </c:strCache>
            </c:strRef>
          </c:cat>
          <c:val>
            <c:numRef>
              <c:f>Sheet1!$B$2:$B$4</c:f>
              <c:numCache>
                <c:formatCode>General</c:formatCode>
                <c:ptCount val="3"/>
                <c:pt idx="0">
                  <c:v>0.34810000000000002</c:v>
                </c:pt>
                <c:pt idx="1">
                  <c:v>0.24360000000000001</c:v>
                </c:pt>
                <c:pt idx="2">
                  <c:v>0.18590000000000001</c:v>
                </c:pt>
              </c:numCache>
            </c:numRef>
          </c:val>
          <c:extLst>
            <c:ext xmlns:c16="http://schemas.microsoft.com/office/drawing/2014/chart" uri="{C3380CC4-5D6E-409C-BE32-E72D297353CC}">
              <c16:uniqueId val="{00000006-48A0-DC49-9951-72FB7029B5D0}"/>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D3D8"/>
            </a:solidFill>
          </a:ln>
        </c:spPr>
        <c:txPr>
          <a:bodyPr/>
          <a:lstStyle/>
          <a:p>
            <a:pPr>
              <a:defRPr sz="1400" b="1">
                <a:solidFill>
                  <a:srgbClr val="142B3B"/>
                </a:solidFill>
                <a:latin typeface="Arial"/>
              </a:defRPr>
            </a:pPr>
            <a:endParaRPr lang="en-US"/>
          </a:p>
        </c:txPr>
        <c:crossAx val="-2113994440"/>
        <c:crosses val="autoZero"/>
        <c:auto val="1"/>
        <c:lblAlgn val="ctr"/>
        <c:lblOffset val="100"/>
        <c:noMultiLvlLbl val="0"/>
      </c:catAx>
      <c:valAx>
        <c:axId val="-2113994440"/>
        <c:scaling>
          <c:orientation val="minMax"/>
          <c:max val="0.42"/>
          <c:min val="0"/>
        </c:scaling>
        <c:delete val="1"/>
        <c:axPos val="l"/>
        <c:numFmt formatCode="0.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600" b="1">
                <a:solidFill>
                  <a:srgbClr val="142B3B"/>
                </a:solidFill>
                <a:latin typeface="Arial"/>
              </a:rPr>
              <a:t>Correlation to SPY</a:t>
            </a:r>
          </a:p>
        </c:rich>
      </c:tx>
      <c:overlay val="0"/>
    </c:title>
    <c:autoTitleDeleted val="0"/>
    <c:plotArea>
      <c:layout/>
      <c:barChart>
        <c:barDir val="col"/>
        <c:grouping val="clustered"/>
        <c:varyColors val="1"/>
        <c:ser>
          <c:idx val="0"/>
          <c:order val="0"/>
          <c:tx>
            <c:strRef>
              <c:f>Sheet1!$B$1</c:f>
              <c:strCache>
                <c:ptCount val="1"/>
                <c:pt idx="0">
                  <c:v>Correlation to SPY</c:v>
                </c:pt>
              </c:strCache>
            </c:strRef>
          </c:tx>
          <c:invertIfNegative val="1"/>
          <c:dPt>
            <c:idx val="0"/>
            <c:invertIfNegative val="1"/>
            <c:bubble3D val="0"/>
            <c:spPr>
              <a:solidFill>
                <a:srgbClr val="142B3B"/>
              </a:solidFill>
            </c:spPr>
            <c:extLst>
              <c:ext xmlns:c16="http://schemas.microsoft.com/office/drawing/2014/chart" uri="{C3380CC4-5D6E-409C-BE32-E72D297353CC}">
                <c16:uniqueId val="{00000001-BCFF-8949-931D-542FD549E40F}"/>
              </c:ext>
            </c:extLst>
          </c:dPt>
          <c:dPt>
            <c:idx val="1"/>
            <c:invertIfNegative val="1"/>
            <c:bubble3D val="0"/>
            <c:spPr>
              <a:solidFill>
                <a:srgbClr val="2F6FA8"/>
              </a:solidFill>
            </c:spPr>
            <c:extLst>
              <c:ext xmlns:c16="http://schemas.microsoft.com/office/drawing/2014/chart" uri="{C3380CC4-5D6E-409C-BE32-E72D297353CC}">
                <c16:uniqueId val="{00000003-BCFF-8949-931D-542FD549E40F}"/>
              </c:ext>
            </c:extLst>
          </c:dPt>
          <c:dPt>
            <c:idx val="2"/>
            <c:invertIfNegative val="1"/>
            <c:bubble3D val="0"/>
            <c:spPr>
              <a:solidFill>
                <a:srgbClr val="9DB4C8"/>
              </a:solidFill>
            </c:spPr>
            <c:extLst>
              <c:ext xmlns:c16="http://schemas.microsoft.com/office/drawing/2014/chart" uri="{C3380CC4-5D6E-409C-BE32-E72D297353CC}">
                <c16:uniqueId val="{00000005-BCFF-8949-931D-542FD549E40F}"/>
              </c:ext>
            </c:extLst>
          </c:dPt>
          <c:dLbls>
            <c:numFmt formatCode="0.00" sourceLinked="0"/>
            <c:spPr>
              <a:noFill/>
              <a:ln>
                <a:noFill/>
              </a:ln>
              <a:effectLst/>
            </c:spPr>
            <c:txPr>
              <a:bodyPr/>
              <a:lstStyle/>
              <a:p>
                <a:pPr>
                  <a:defRPr sz="1400" b="1">
                    <a:solidFill>
                      <a:srgbClr val="142B3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ARKF</c:v>
                </c:pt>
                <c:pt idx="1">
                  <c:v>FINX</c:v>
                </c:pt>
                <c:pt idx="2">
                  <c:v>FDFF</c:v>
                </c:pt>
              </c:strCache>
            </c:strRef>
          </c:cat>
          <c:val>
            <c:numRef>
              <c:f>Sheet1!$B$2:$B$4</c:f>
              <c:numCache>
                <c:formatCode>General</c:formatCode>
                <c:ptCount val="3"/>
                <c:pt idx="0">
                  <c:v>0.67935165359323502</c:v>
                </c:pt>
                <c:pt idx="1">
                  <c:v>0.75008636518530103</c:v>
                </c:pt>
                <c:pt idx="2">
                  <c:v>0.64006566808210796</c:v>
                </c:pt>
              </c:numCache>
            </c:numRef>
          </c:val>
          <c:extLst>
            <c:ext xmlns:c16="http://schemas.microsoft.com/office/drawing/2014/chart" uri="{C3380CC4-5D6E-409C-BE32-E72D297353CC}">
              <c16:uniqueId val="{00000006-BCFF-8949-931D-542FD549E40F}"/>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D3D8"/>
            </a:solidFill>
          </a:ln>
        </c:spPr>
        <c:txPr>
          <a:bodyPr/>
          <a:lstStyle/>
          <a:p>
            <a:pPr>
              <a:defRPr sz="1400" b="1">
                <a:solidFill>
                  <a:srgbClr val="142B3B"/>
                </a:solidFill>
                <a:latin typeface="Arial"/>
              </a:defRPr>
            </a:pPr>
            <a:endParaRPr lang="en-US"/>
          </a:p>
        </c:txPr>
        <c:crossAx val="-2113994440"/>
        <c:crosses val="autoZero"/>
        <c:auto val="1"/>
        <c:lblAlgn val="ctr"/>
        <c:lblOffset val="100"/>
        <c:noMultiLvlLbl val="0"/>
      </c:catAx>
      <c:valAx>
        <c:axId val="-2113994440"/>
        <c:scaling>
          <c:orientation val="minMax"/>
          <c:max val="1"/>
          <c:min val="0"/>
        </c:scaling>
        <c:delete val="1"/>
        <c:axPos val="l"/>
        <c:numFmt formatCode="0.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EE3BBA-3BB0-4330-B916-FA706D50671A}" type="datetimeFigureOut">
              <a:rPr lang="en-US" smtClean="0"/>
              <a:t>10/3/2026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C513AC-4793-4545-867B-96C769D3321E}" type="slidenum">
              <a:rPr lang="en-US" smtClean="0"/>
              <a:t>‹#›</a:t>
            </a:fld>
            <a:endParaRPr lang="en-US"/>
          </a:p>
        </p:txBody>
      </p:sp>
    </p:spTree>
    <p:extLst>
      <p:ext uri="{BB962C8B-B14F-4D97-AF65-F5344CB8AC3E}">
        <p14:creationId xmlns:p14="http://schemas.microsoft.com/office/powerpoint/2010/main" val="1410356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C860B-241F-518A-5962-90BEA9A52B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F1176-8915-765B-64EA-5A76F11966A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FE6417-BF32-C53B-0AAB-61CE0E34A02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6E945D68-6465-41B2-A2A1-C5DE0623BEF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4676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7FB75-CF6E-585A-8D23-B588E0C90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17F96-530B-8091-2AAE-A9E59C3E155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2447B56-992F-A69B-3EB4-5D82011C246A}"/>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0F55AA0C-31E9-96F4-7D45-2AEB5DBE8FC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88003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5E2A-E42D-2877-32BF-7A19E527C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C9085-E354-43F0-587A-96BE86241C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20F82B-5C18-282F-6506-995F01E3A257}"/>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B46A8A21-F7DE-5753-DC19-BE84DE40186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99403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Purpose and placement</a:t>
            </a:r>
          </a:p>
          <a:p>
            <a:r>
              <a:t>Insert this slide directly after the user-supplied performance/drawdown chart titled "Drag down (2024 Jan to 2026 Sep)". It supplies an evidence-based explanation of major pressures in the 2025–26 declines and recovery, rather than asserting a complete quantitative attribution for January 2024 through September 2026. The preceding chart is a drawdown chart: its endpoint values are distances below each portfolio's prior peak, not cumulative returns from January 2024. The underlying Portfolio Visualizer series was not supplied, so the chart's endpoint values are not independently recalculated here.</a:t>
            </a:r>
          </a:p>
          <a:p>
            <a:endParaRPr/>
          </a:p>
          <a:p>
            <a:r>
              <a:t>1. Macro pressure</a:t>
            </a:r>
          </a:p>
          <a:p>
            <a:r>
              <a:t>ARK's Q1 2026 CIO commentary, dated April 16, 2026, discusses 2025 tariff escalation and policy uncertainty, then Q1 2026 geopolitical tensions and inflation/growth concerns. It also describes a broad repricing of software equities as investors reassessed AI disruption. These are issuer explanations of the market environment, not measured contributions to any one fund's drawdown.</a:t>
            </a:r>
          </a:p>
          <a:p>
            <a:r>
              <a:t>Source: https://www.ark-funds.com/articles/etf/q1-2026-commentary-from-arks-cio</a:t>
            </a:r>
          </a:p>
          <a:p>
            <a:endParaRPr/>
          </a:p>
          <a:p>
            <a:r>
              <a:t>2. Payments earnings pressure</a:t>
            </a:r>
          </a:p>
          <a:p>
            <a:r>
              <a:t>Fiserv's October 29, 2025 release reset its 2025 organic revenue growth outlook to 3.5–4% and adjusted EPS outlook to $8.50–$8.60. The slide cites the growth guidance as evidence of company-level earnings pressure in the payments industry, not as a computed FINX return contribution. Fidelity's supplied May 31, 2026 Q&amp;A says its payment-processing overweight hurt relative performance amid slower growth and commoditization concerns.</a:t>
            </a:r>
          </a:p>
          <a:p>
            <a:r>
              <a:t>Source: https://investors.fiserv.com/news-releases/news-release-details/fiserv-reports-third-quarter-2025-results</a:t>
            </a:r>
          </a:p>
          <a:p>
            <a:r>
              <a:t>Source: user-supplied "FDFF fund maanger Q&amp;A.pdf", Fidelity Disruptive ETFs, Portfolio Manager Q&amp;A as of May 31, 2026, pp. 4–5.</a:t>
            </a:r>
          </a:p>
          <a:p>
            <a:endParaRPr/>
          </a:p>
          <a:p>
            <a:r>
              <a:t>3. Crypto detractors and the incomplete ARKF rebound</a:t>
            </a:r>
          </a:p>
          <a:p>
            <a:r>
              <a:t>ARK's Q2 2026 Quarterly Report reports individual contributions to ARKF's quarterly performance: Circle Internet Group -2.22 percentage points, Coinbase -1.00 pp and ARK 21Shares Bitcoin ETF -0.85 pp. These are contributions to fund return, not stock returns or holding weights. They demonstrate a drag during the rebound, not a claim that ARKF's entire quarter was negative. The same report shows ARKF NAV total return of +3.77% in Q2 2026. Other holdings contributed positively.</a:t>
            </a:r>
          </a:p>
          <a:p>
            <a:r>
              <a:t>Source: ARK Q2 2026 Quarterly Report, p. 15, "BIGGEST CONTRIBUTORS/DETRACTORS | Q2 2026": https://etfs.ark-funds.com/hubfs/2_Download_Files_For_ARK_Funds/Reports/ARK_ETF_Trust_Quarterly_Report.pdf?_hsmi=121587257</a:t>
            </a:r>
          </a:p>
          <a:p>
            <a:r>
              <a:t>The report URL is rolling. The version reviewed is titled "Update as of June 30, 2026 / Q2 2026".</a:t>
            </a:r>
          </a:p>
          <a:p>
            <a:endParaRPr/>
          </a:p>
          <a:p>
            <a:r>
              <a:t>4. FDFF offsets</a:t>
            </a:r>
          </a:p>
          <a:p>
            <a:r>
              <a:t>Fidelity's May 31, 2026 Q&amp;A identifies Adyen, whose shares fell 40% over the preceding fiscal year, as FDFF's largest individual relative detractor. It says the fund exited Adyen after the softened 2026 outlook and reduced payment-processing exposure. It identifies DBS, whose shares rose 50%, as its top contributor. The +50% and -40% are individual stock returns for the 12 months ending May 31, 2026, not fund contributions. The evidence shows offsets and active changes, but does not quantify how much they explain the September drawdown endpoint.</a:t>
            </a:r>
          </a:p>
          <a:p>
            <a:r>
              <a:t>Source: user-supplied "FDFF fund maanger Q&amp;A.pdf", Fidelity Disruptive ETFs, Portfolio Manager Q&amp;A as of May 31, 2026, pp. 4–5. Institution: Fidelity Investments, https://institutional.fidelity.com/</a:t>
            </a:r>
          </a:p>
          <a:p>
            <a:endParaRPr/>
          </a:p>
          <a:p>
            <a:r>
              <a:t>Analyst interpretation</a:t>
            </a:r>
          </a:p>
          <a:p>
            <a:r>
              <a:t>The bottom-line statement is a qualitative inference from the issuer evidence. ARKF's crypto exposures, payment-sector weakness relevant to the FinTech universe, and FDFF's bank exposure/active changes help explain differing return paths. This is not a claim that current holdings reproduce historical exposures, and no formal multi-fund drawdown attribution is asserted.</a:t>
            </a:r>
          </a:p>
          <a:p>
            <a:r>
              <a:t>Sources reviewed October 1,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8229B-B3E2-A66E-F3A0-EDD4CA6FF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E4E77-979A-12CD-BF89-79518E24EF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6FFC75-4303-B0FB-81EC-A24B7601C49E}"/>
              </a:ext>
            </a:extLst>
          </p:cNvPr>
          <p:cNvSpPr>
            <a:spLocks noGrp="1"/>
          </p:cNvSpPr>
          <p:nvPr>
            <p:ph type="body" idx="1"/>
          </p:nvPr>
        </p:nvSpPr>
        <p:spPr/>
        <p:txBody>
          <a:bodyPr/>
          <a:lstStyle/>
          <a:p>
            <a:r>
              <a:t>Higher rates have mixed effects: adverse to duration-sensitive valuations and nonbank funding, potentially supportive of reserve interest or certain bank revenue. Credit risk and deposit costs still matter. FX, tariffs and geopolitical shocks can affect cross-border activity and global holdings.</a:t>
            </a:r>
          </a:p>
          <a:p>
            <a:endParaRPr/>
          </a:p>
          <a:p>
            <a:r>
              <a:t>SOURCES (accessed September 30, 2026 unless a supplied document):</a:t>
            </a:r>
          </a:p>
          <a:p>
            <a:r>
              <a:t>https://www.federalreserve.gov/newsevents/pressreleases/monetary20260916a.htm</a:t>
            </a:r>
          </a:p>
          <a:p>
            <a:r>
              <a:t>https://www.bls.gov/news.release/archives/cpi_09112026.htm</a:t>
            </a:r>
          </a:p>
          <a:p>
            <a:r>
              <a:t>https://www.sec.gov/Archives/edgar/data/1403161/000140316126000103/q32026earningsrelease.htm</a:t>
            </a:r>
          </a:p>
          <a:p>
            <a:endParaRPr/>
          </a:p>
          <a:p>
            <a:r>
              <a:t>Figures are historical unless explicitly identified as analyst judgment. Holdings can change. Past performance does not predict future returns.</a:t>
            </a:r>
          </a:p>
        </p:txBody>
      </p:sp>
      <p:sp>
        <p:nvSpPr>
          <p:cNvPr id="4" name="Slide Number Placeholder 3">
            <a:extLst>
              <a:ext uri="{FF2B5EF4-FFF2-40B4-BE49-F238E27FC236}">
                <a16:creationId xmlns:a16="http://schemas.microsoft.com/office/drawing/2014/main" id="{47348B10-BF2A-4D2B-7BBF-A444EC77376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97343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01569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37174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57103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Sample: Shopify, Block, PayPal, Robinhood, Coinbase (large fintech holdings across ARKF and FINX). Q2 2026: SHOP, XYZ, PYPL, HOOD beat EPS; COIN missed (4 of 5 = 80%). Over Q4 2025 to Q2 2026 (15 company-quarters), 5 beat: SHOP 1, XYZ 1, PYPL 1, HOOD 2, COIN 0 = 33%. S&amp;P 500 Q2 2026: 86% beat (FactSet). Caveat: small sample, and vendor data may compare GAAP actuals with adjusted consensus in some quarters (e.g., Block Q1, Coinbase), which exaggerates misses.</a:t>
            </a:r>
          </a:p>
          <a:p>
            <a:endParaRPr/>
          </a:p>
          <a:p>
            <a:r>
              <a:t>Sources:</a:t>
            </a:r>
          </a:p>
          <a:p>
            <a:r>
              <a:t>- FactSet Insight (Aug 7, 2026): https://insight.factset.com/sp-500-earnings-season-update-august-7-2026</a:t>
            </a:r>
          </a:p>
          <a:p>
            <a:r>
              <a:t>- Perplexity Finance: earnings history: https://www.perplexity.ai/finance/PYPL/earnings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Q2 2026 EPS surprise = (actual - consensus) / consensus. SHOP $0.42 vs $0.39 (+7.7%); PYPL $1.38 vs $1.28 (+7.8%); XYZ $1.02 vs $0.86 (+18.6%); HOOD $0.62 vs $0.43 (+44.2%). Coinbase reported -$1.36 vs +$0.15 expected, so percent surprise is not meaningful and is excluded. S&amp;P 500 5-year average aggregate surprise is 7.0% (FactSet). Low EPS bases make percentage beats look large.</a:t>
            </a:r>
          </a:p>
          <a:p>
            <a:endParaRPr/>
          </a:p>
          <a:p>
            <a:r>
              <a:t>Sources:</a:t>
            </a:r>
          </a:p>
          <a:p>
            <a:r>
              <a:t>- FactSet Insight (Aug 7, 2026): https://insight.factset.com/sp-500-earnings-season-update-august-7-2026</a:t>
            </a:r>
          </a:p>
          <a:p>
            <a:r>
              <a:t>- Perplexity Finance: earnings history: https://www.perplexity.ai/finance/PYPL/earnings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 concept: companies and analysts converge on beatable estimates, so the market reaction depends on guidance and what was priced in. Q2 2026 one-day moves: Shopify +17.0% (beat), PayPal +4.0% (beat), Block -6.2% (beat), Robinhood -3.6% (beat), Coinbase -10.6% (miss). FactSet shows 76% (10-yr) to 78% (5-yr) of S&amp;P companies beat on average, so a beat alone is not news.</a:t>
            </a:r>
          </a:p>
          <a:p>
            <a:endParaRPr/>
          </a:p>
          <a:p>
            <a:r>
              <a:t>Sources:</a:t>
            </a:r>
          </a:p>
          <a:p>
            <a:r>
              <a:t>- Perplexity Finance: earnings history: https://www.perplexity.ai/finance/PYPL/earnings</a:t>
            </a:r>
          </a:p>
          <a:p>
            <a:r>
              <a:t>- FactSet Insight (Aug 7, 2026): https://insight.factset.com/sp-500-earnings-season-update-august-7-2026</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Upcoming dates and consensus Q3 2026 EPS from Perplexity Finance: PayPal Oct 27 ($1.32), Coinbase Oct 29 (-$0.22), Shopify Nov 3 ($0.44), Block Nov 3 ($1.02), Robinhood Nov 4 ($0.53). Average one-day post-earnings move is the historical average (Shopify 11.6%, Block 9.4%, PayPal 9.0%, Robinhood 9.1%, Coinbase 9.0%).</a:t>
            </a:r>
          </a:p>
          <a:p>
            <a:endParaRPr/>
          </a:p>
          <a:p>
            <a:r>
              <a:t>Sources:</a:t>
            </a:r>
          </a:p>
          <a:p>
            <a:r>
              <a:t>- Perplexity Finance: earnings history: https://www.perplexity.ai/finance/PYPL/earnings</a:t>
            </a:r>
          </a:p>
          <a:p>
            <a:r>
              <a:t>- Perplexity Finance: consensus estimates: https://www.perplexity.ai/finance/PYPL/analysis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are interchangeable: Street EPS is company-adjusted. SEC rules require reconciliation to GAAP and equal prominence; public companies must follow GAAP. Vendor data: Block Q1 2026 -$0.52 vs $0.68 consensus; Coinbase Q2 2026 -$1.36 vs $0.15; Shopify Q1 2026 -$0.45 vs $0.32. The gaps are consistent with GAAP results compared against adjusted consensus (verify in each release). Block FY2026 consensus: EPS $4.06 but net income $1.0B. The lecture claim that non-GAAP use is higher now than in 1996 is not backed by a statistic I found.</a:t>
            </a:r>
          </a:p>
          <a:p>
            <a:endParaRPr/>
          </a:p>
          <a:p>
            <a:r>
              <a:t>Sources:</a:t>
            </a:r>
          </a:p>
          <a:p>
            <a:r>
              <a:t>- SEC: Non-GAAP C&amp;DIs: https://www.sec.gov/rules-regulations/staff-guidance/corporation-finance-interpretations/non-gaap-financial-measures</a:t>
            </a:r>
          </a:p>
          <a:p>
            <a:r>
              <a:t>- Perplexity Finance: earnings history: https://www.perplexity.ai/finance/PYPL/earnings</a:t>
            </a:r>
          </a:p>
          <a:p>
            <a:r>
              <a:t>- Perplexity Finance: consensus estimates: https://www.perplexity.ai/finance/PYPL/analysis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Illustrative: $100M of capitalized software amortized over 3 years expenses $33.3M a year; stretching to 5 years expenses $20M, adding $13.3M of pre-tax earnings per year with no change in cash. The class example was a 4-year to 5-year change ($25M to $20M). Not a specific company; look for useful-life changes in the footnotes.</a:t>
            </a:r>
          </a:p>
          <a:p>
            <a:endParaRPr/>
          </a:p>
          <a:p>
            <a:r>
              <a:t>Sources:</a:t>
            </a:r>
          </a:p>
          <a:p>
            <a:r>
              <a:t>- SEC Financial Reporting Manual: https://www.sec.gov/about/divisions-offices/division-corporation-finance/financial-reporting-manual/frm-topic-8</a:t>
            </a:r>
          </a:p>
          <a:p>
            <a:r>
              <a:t>- SEC: Non-GAAP C&amp;DIs: https://www.sec.gov/rules-regulations/staff-guidance/corporation-finance-interpretations/non-gaap-financial-measures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Quarterly EPS from the vendor: PayPal $1.23, $1.21, $1.38 (steady); Robinhood $0.66, $0.38, $0.62; Block $0.65, -$0.52, $1.02 (swingy, partly GAAP vs adjusted). Forward P/E on FY2026 consensus: PayPal 9.8x, Block 18.0x, Robinhood 51.7x. Growth overrides the smoothness premium here. Cookie-jar reserves can fill a weak quarter until the jar is empty.</a:t>
            </a:r>
          </a:p>
          <a:p>
            <a:endParaRPr/>
          </a:p>
          <a:p>
            <a:r>
              <a:t>Sources:</a:t>
            </a:r>
          </a:p>
          <a:p>
            <a:r>
              <a:t>- Perplexity Finance: earnings history: https://www.perplexity.ai/finance/PYPL/earnings</a:t>
            </a:r>
          </a:p>
          <a:p>
            <a:r>
              <a:t>- Perplexity Finance: consensus estimates: https://www.perplexity.ai/finance/PYPL/analysis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Q2 2026 revenue vs EPS surprise: Shopify +5.5% vs +7.7%; PayPal +2.5% vs +7.8%; Block +2.2% vs +18.6%; Robinhood +1.7% vs +44.2%. Lecture point: revenue manipulation is limited (discounts, early shipments; a truck leaving the warehouse can count as a sale), while earnings have many more discretionary levers.</a:t>
            </a:r>
          </a:p>
          <a:p>
            <a:endParaRPr/>
          </a:p>
          <a:p>
            <a:r>
              <a:t>Sources:</a:t>
            </a:r>
          </a:p>
          <a:p>
            <a:r>
              <a:t>- Perplexity Finance: earnings history: https://www.perplexity.ai/finance/PYPL/earnings</a:t>
            </a:r>
          </a:p>
          <a:p>
            <a:r>
              <a:t>- SEC: Non-GAAP C&amp;DIs: https://www.sec.gov/rules-regulations/staff-guidance/corporation-finance-interpretations/non-gaap-financial-measures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Forward P/E = price (Oct 1, 2026) / consensus EPS. XYZ $72.86: 18.0x FY2026, 13.9x FY2027. PYPL $53.00: 9.8x, 9.2x. HOOD $111.88: 51.7x, 38.2x. COIN $187.96: FY2026 EPS negative (-$2.88), FY2027 69.3x. S&amp;P 500 forward P/E 19.2 (FactSet, Sep 25). Investors buy on forward multiples: when EPS is expected to grow, forward P/E is lower than trailing. Shopify consensus not retrieved. Fund-level P/Es (FINX 16.08x, FDFF 23.14x) appear on the valuation slide later.</a:t>
            </a:r>
          </a:p>
          <a:p>
            <a:endParaRPr/>
          </a:p>
          <a:p>
            <a:r>
              <a:t>Sources:</a:t>
            </a:r>
          </a:p>
          <a:p>
            <a:r>
              <a:t>- Perplexity Finance: consensus estimates: https://www.perplexity.ai/finance/PYPL/analysis</a:t>
            </a:r>
          </a:p>
          <a:p>
            <a:r>
              <a:t>- FactSet Earnings Insight: https://www.factset.com/earningsinsight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Lecture method applied to fintech ETFs. Headwinds: Fed hiked to 3.75-4.00% on Sep 16 with another hike expected; crypto weakness; open-banking rules in limbo. Tailwinds: SEC tokenization exemption, GENIUS Act clarity, strong earnings revisions, buybacks resuming. The range of outcomes appears later in the deck.</a:t>
            </a:r>
          </a:p>
          <a:p>
            <a:endParaRPr/>
          </a:p>
          <a:p>
            <a:r>
              <a:t>Sources:</a:t>
            </a:r>
          </a:p>
          <a:p>
            <a:r>
              <a:t>- Federal Reserve FOMC statement: https://www.federalreserve.gov/newsevents/pressreleases/monetary20260916a.htm</a:t>
            </a:r>
          </a:p>
          <a:p>
            <a:r>
              <a:t>- FactSet Earnings Insight: https://www.factset.com/earningsinsight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Citadel's Scott Rubner: about 10% of S&amp;P 500 weight in a pre-earnings buyback blackout on Sep 18, 61% by Sep 30; most resume after earnings (Nov 1). Midterm-year Q4 averages +5.6% from Sep 30 vs +2.9% for all years. ETF September change uses weekly closes Aug 28 to Sep 30, 2026: ARKF -1.2%, FINX -10.5%, FDFF -10.0%. Blackouts are one factor among several (rate hike, quarter-end rebalancing).</a:t>
            </a:r>
          </a:p>
          <a:p>
            <a:endParaRPr/>
          </a:p>
          <a:p>
            <a:r>
              <a:t>Sources:</a:t>
            </a:r>
          </a:p>
          <a:p>
            <a:r>
              <a:t>- Citadel's Rubner via Futunn: https://news.futunn.com/en/post/79488594/has-the-september-decline-in-us-stocks-not-yet-ended</a:t>
            </a:r>
          </a:p>
          <a:p>
            <a:r>
              <a:t>- Seeking Alpha (Sep 23): https://seekingalpha.com/news/4646053-still-on-the-sidelines-uptober-might-punish-s-and-p-500-skeptics?feed_item_type=news</a:t>
            </a:r>
          </a:p>
          <a:p>
            <a:r>
              <a:t>- Perplexity Finance data: https://www.perplexity.ai/finance/ARKF</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Fintech holdings move about 9-12% in a day on earnings, so intraday pricing lets an ETF holder react while a mutual fund fills once at the daily NAV. ETFs: more transparency, margin and short selling (e.g., hedge crypto beta), more control over capital gains via in-kind creation and redemption. Mutual funds: may charge 12b-1 fees (marketing/distribution; 0.25% of average daily net assets in the SEC-filed plan example); human-managed funds usually cost more than automated index funds like SPY. Fee levels for ARKF, FINX and FDFF are on the cost, scale and liquidity slide. Bid-ask spread note: FINX's 30-day median spread is 0.29% (Global X); use limit orders.</a:t>
            </a:r>
          </a:p>
          <a:p>
            <a:endParaRPr/>
          </a:p>
          <a:p>
            <a:r>
              <a:t>Sources:</a:t>
            </a:r>
          </a:p>
          <a:p>
            <a:r>
              <a:t>- Fidelity: ETF tax efficiency: https://www.fidelity.com/learning-center/investment-products/etf/etfs-tax-efficiency</a:t>
            </a:r>
          </a:p>
          <a:p>
            <a:r>
              <a:t>- J.P. Morgan AM: tax efficiency: https://am.jpmorgan.com/us/en/asset-management/adv/insights/etf-insights/tax-efficiency-of-etfs/</a:t>
            </a:r>
          </a:p>
          <a:p>
            <a:r>
              <a:t>- SEC: Rule 12b-1 plan example: https://www.sec.gov/Archives/edgar/data/877880/000119312515106487/d895701dex99m.htm</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Morningstar: morningstar.com/etfs/arcx/[ticker]/portfolio shows holdings and style. Lazy Portfolio ETF: model ETF portfolios and returns. Portfolio Visualizer: backtest and compare portfolios. DIY test: if a fund's fee is high, can you build a no-fee portfolio from its top 10 holdings yourself? If holdings are the same across ETFs, choose the lowest expense ratio.</a:t>
            </a:r>
          </a:p>
          <a:p>
            <a:endParaRPr/>
          </a:p>
          <a:p>
            <a:r>
              <a:t>Sources:</a:t>
            </a:r>
          </a:p>
          <a:p>
            <a:r>
              <a:t>- Morningstar: FINX portfolio: https://www.morningstar.com/etfs/arcx/finx/portfolio</a:t>
            </a:r>
          </a:p>
          <a:p>
            <a:r>
              <a:t>- Lazy Portfolio ETF: https://www.lazyportfolioetf.com</a:t>
            </a:r>
          </a:p>
          <a:p>
            <a:r>
              <a:t>- Portfolio Visualizer: https://www.portfoliovisualizer.com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ARKF, FINX and FDFF hold equities, so they have no contango or backwardation. Investors who pair them with bitcoin futures ETFs or leveraged crypto products face roll costs. Fidelity: a 1% monthly roll cost is nearly 13% annualized. Curve shapes are illustrative.</a:t>
            </a:r>
          </a:p>
          <a:p>
            <a:endParaRPr/>
          </a:p>
          <a:p>
            <a:r>
              <a:t>Sources:</a:t>
            </a:r>
          </a:p>
          <a:p>
            <a:r>
              <a:t>- Fidelity: contango &amp; backwardation: https://www.fidelity.com/learning-center/investment-products/etf/commodity-etfs-contango-backwardation</a:t>
            </a:r>
          </a:p>
          <a:p>
            <a:r>
              <a:t>- Perplexity Finance data: https://www.perplexity.ai/finance/ARKF</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Lecture point: government subsidies can cause overcapacity and a market collapse. The fintech analog is our judgment, not a sourced finding: years of cheap capital funded many payment, neobank and crypto firms, and the Fed's Sep 16 hike to 3.75-4.00% (with another expected) raises funding costs. Treat as a hypothesis to test with earnings.</a:t>
            </a:r>
          </a:p>
          <a:p>
            <a:endParaRPr/>
          </a:p>
          <a:p>
            <a:r>
              <a:t>Sources:</a:t>
            </a:r>
          </a:p>
          <a:p>
            <a:r>
              <a:t>- Federal Reserve FOMC statement: https://www.federalreserve.gov/newsevents/pressreleases/monetary20260916a.htm</a:t>
            </a:r>
          </a:p>
          <a:p>
            <a:r>
              <a:t>- J.P. Morgan AM: Sept FOMC: https://am.jpmorgan.com/us/en/asset-management/adv/insights/portfolio-insights/fixed-income/fixed-income-perspectives/fomc-statement-september-2026/</a:t>
            </a:r>
          </a:p>
          <a:p>
            <a:r>
              <a:t>- Perplexity Finance data: https://www.perplexity.ai/finance/ARKF</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The current name supersedes the earlier ARK Fintech Innovation ETF name in the request. The prospectus identifies Catherine D. Wood as portfolio manager since inception. The fund is non-diversified. The prospectus permits up to 25% in a wholly owned subsidiary used for specified exposures, including crypto-related exchange-traded products.</a:t>
            </a:r>
          </a:p>
          <a:p>
            <a:endParaRPr/>
          </a:p>
          <a:p>
            <a:r>
              <a:t>SOURCES (accessed September 30, 2026 unless a supplied document):</a:t>
            </a:r>
          </a:p>
          <a:p>
            <a:r>
              <a:t>User-supplied ARK Blockchain &amp; Fintech ETF Summary Prospectus.pdf, November 30, 2025; https://www.ark-funds.com/funds/arkf/</a:t>
            </a:r>
          </a:p>
          <a:p>
            <a:r>
              <a:t>User-supplied ARKF Fact Sheet (1).pdf, June 30, 2026, pp. 1–2; available from https://www.ark-funds.com/funds/arkf/</a:t>
            </a:r>
          </a:p>
          <a:p>
            <a:endParaRPr/>
          </a:p>
          <a:p>
            <a:r>
              <a:t>Figures are historical unless explicitly identified as analyst judgment. Holdings can change. Past performance does not predict future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Top 10 weights: Shopify 9.9, Robinhood 6.4, Block 6.2, ARK 21Shares Bitcoin ETF 5.8, Coinbase 5.3, Toast 4.6, AMD 4.4, Circle 4.2, Palantir 4.2, Amazon 4.0. Total 55.0. These are dated exposures, not the latest daily holdings or formal return attribution. Technology breakdown labels differ from standard sector classifications.</a:t>
            </a:r>
          </a:p>
          <a:p>
            <a:endParaRPr/>
          </a:p>
          <a:p>
            <a:r>
              <a:t>SOURCES (accessed September 30, 2026 unless a supplied document):</a:t>
            </a:r>
          </a:p>
          <a:p>
            <a:r>
              <a:t>User-supplied ARKF Fact Sheet (1).pdf, June 30, 2026, pp. 1–2; available from https://www.ark-funds.com/funds/arkf/</a:t>
            </a:r>
          </a:p>
          <a:p>
            <a:endParaRPr/>
          </a:p>
          <a:p>
            <a:r>
              <a:t>Figures are historical unless explicitly identified as analyst judgment. Holdings can change. Past performance does not predict future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Returns are issuer-reported NAV total returns, net of fund expenses. Periods longer than one year are annualized. The S&amp;P 500 is a broad equity reference, not a FinTech risk-matched index. A negative five-year annualized return demonstrates capital loss over that horizon despite a positive three-year rebound. Past performance does not predict future results.</a:t>
            </a:r>
          </a:p>
          <a:p>
            <a:endParaRPr/>
          </a:p>
          <a:p>
            <a:r>
              <a:t>SOURCES (accessed September 30, 2026 unless a supplied document):</a:t>
            </a:r>
          </a:p>
          <a:p>
            <a:r>
              <a:t>User-supplied ARKF Fact Sheet (1).pdf, June 30, 2026, pp. 1–2; available from https://www.ark-funds.com/funds/arkf/</a:t>
            </a:r>
          </a:p>
          <a:p>
            <a:r>
              <a:t>User-supplied ARK Blockchain &amp; Fintech ETF Summary Prospectus.pdf, November 30, 2025; https://www.ark-funds.com/funds/arkf/</a:t>
            </a:r>
          </a:p>
          <a:p>
            <a:endParaRPr/>
          </a:p>
          <a:p>
            <a:r>
              <a:t>Figures are historical unless explicitly identified as analyst judgment. Holdings can change. Past performance does not predict future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The April 2026 prospectus supersedes the user-supplied April 2022 filing for the manager roster. Nam To and Wayne Xie are the named current portfolio managers in that prospectus. Global X implements the index rather than choosing discretionary stock weights. At least 80% of assets are invested in index securities.</a:t>
            </a:r>
          </a:p>
          <a:p>
            <a:endParaRPr/>
          </a:p>
          <a:p>
            <a:r>
              <a:t>SOURCES (accessed September 30, 2026 unless a supplied document):</a:t>
            </a:r>
          </a:p>
          <a:p>
            <a:r>
              <a:t>https://globalxetfs.com.br/content/files/summary-prospectus-FINX-2026.pdf</a:t>
            </a:r>
          </a:p>
          <a:p>
            <a:r>
              <a:t>https://www.globalxetfs.com/funds/finx/</a:t>
            </a:r>
          </a:p>
          <a:p>
            <a:endParaRPr/>
          </a:p>
          <a:p>
            <a:r>
              <a:t>Figures are historical unless explicitly identified as analyst judgment. Holdings can change. Past performance does not predict future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Geographic and industry breakdowns exclude cash, currencies and other holdings. Non-U.S. weight is calculated as 100 minus 82.49 = 17.51%. Domicile is not revenue exposure and does not capture all FX or international-demand risk. Industry categories are not directly comparable with ARK technology themes or Fidelity sub-industries.</a:t>
            </a:r>
          </a:p>
          <a:p>
            <a:endParaRPr/>
          </a:p>
          <a:p>
            <a:r>
              <a:t>SOURCES (accessed September 30, 2026 unless a supplied document):</a:t>
            </a:r>
          </a:p>
          <a:p>
            <a:r>
              <a:t>https://assets.globalxetfs.com/funds/documents/finx/Fact-Sheet_FINX.pdf</a:t>
            </a:r>
          </a:p>
          <a:p>
            <a:endParaRPr/>
          </a:p>
          <a:p>
            <a:r>
              <a:t>Figures are historical unless explicitly identified as analyst judgment. Holdings can change. Past performance does not predict future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Top 10 concentration is calculated from issuer weights on September 29, 2026. Other top 10 holdings: Global Payments 4.28%, Adyen 4.15%, SoFi 3.72%, Affirm 3.72%, Intuit 3.47%. The 29 bp one-year NAV/index gap is a historical outcome, not a forecast of tracking error. The index is before fund expenses. Constituents can drift between rebalances; caps do not guarantee daily maximum weights.</a:t>
            </a:r>
          </a:p>
          <a:p>
            <a:endParaRPr/>
          </a:p>
          <a:p>
            <a:r>
              <a:t>SOURCES (accessed September 30, 2026 unless a supplied document):</a:t>
            </a:r>
          </a:p>
          <a:p>
            <a:r>
              <a:t>https://www.globalxetfs.com/funds/finx/</a:t>
            </a:r>
          </a:p>
          <a:p>
            <a:r>
              <a:t>https://globalxetfs.com.br/content/files/summary-prospectus-FINX-2026.pdf</a:t>
            </a:r>
          </a:p>
          <a:p>
            <a:endParaRPr/>
          </a:p>
          <a:p>
            <a:r>
              <a:t>Figures are historical unless explicitly identified as analyst judgment. Holdings can change. Past performance does not predict future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Holdings use the issuer snapshots already cited in the committee presentation. The dates differ, so this is not a synchronized latest-day overlap comparison.</a:t>
            </a:r>
          </a:p>
          <a:p>
            <a:endParaRPr/>
          </a:p>
          <a:p>
            <a:r>
              <a:t>SOURCES</a:t>
            </a:r>
          </a:p>
          <a:p>
            <a:r>
              <a:t>ARKF: User-supplied ARKF Fact Sheet (1).pdf, June 30, 2026, page 1. https://www.ark-funds.com/funds/arkf/</a:t>
            </a:r>
          </a:p>
          <a:p>
            <a:r>
              <a:t>FINX: Issuer holdings as of September 29, 2026, retrieved October 1, 2026 UTC. https://www.globalxetfs.com/funds/finx/</a:t>
            </a:r>
          </a:p>
          <a:p>
            <a:r>
              <a:t>FDFF: Fidelity Disruptive Finance ETF fact sheet, June 30, 2026, page 2. https://institutional.fidelity.com/app/proxy/content?literatureURL=/9910078.PDF</a:t>
            </a:r>
          </a:p>
          <a:p>
            <a:endParaRPr/>
          </a:p>
          <a:p>
            <a:r>
              <a:t>CALCULATION</a:t>
            </a:r>
          </a:p>
          <a:p>
            <a:r>
              <a:t>ARKF displayed top 10 sum to 55.0%; calculated other holdings 45.0%. FINX displayed top 10 sum to 51.43%; other holdings 48.57%. FDFF displayed top 10 sum to 48.11%; calculated other holdings 51.89%. Fidelity reports an aggregate top-10 figure of 48.10%, which differs by 0.01 percentage points from the sum of individually rounded weights. The table calculates its residual from the displayed entries so each column sums to 100%. Residuals include cash and net other assets where applicable.</a:t>
            </a:r>
          </a:p>
          <a:p>
            <a:endParaRPr/>
          </a:p>
          <a:p>
            <a:r>
              <a:t>ABBREVIATIONS</a:t>
            </a:r>
          </a:p>
          <a:p>
            <a:r>
              <a:t>ARK 21Shares BTC = ARK 21Shares Bitcoin ETF, a fund rather than an operating company. AMD = Advanced Micro Devices. Circle = Circle Internet Group. Palantir = Palantir Technologies. Apollo Global = Apollo Global Management. Other company names omit legal suffixes or share classes for readability.</a:t>
            </a:r>
          </a:p>
          <a:p>
            <a:endParaRPr/>
          </a:p>
          <a:p>
            <a:r>
              <a:t>INTERPRETATION</a:t>
            </a:r>
          </a:p>
          <a:p>
            <a:r>
              <a:t>ARKF and FINX share Robinhood, Block and Coinbase among their largest exposures. FDFF's largest positions include banks and asset managers, while Block appears in all three top-10 lists at their respective dates.</a:t>
            </a:r>
          </a:p>
          <a:p>
            <a:endParaRPr/>
          </a:p>
          <a:p>
            <a:r>
              <a:t>Design reference: user-supplied image(1).png. Editable 4:3 table with ten ranked holdings and an Other holdings 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THIS SLIDE SAYS</a:t>
            </a:r>
          </a:p>
          <a:p>
            <a:r>
              <a:t>Overlap: five names appear in more than one fund's top 10. Block is the only name held in all three. Robinhood, Coinbase, Circle and Toast are shared by ARKF and FINX only; FDFF's top 10 contains none of them, which is why FDFF behaves differently.</a:t>
            </a:r>
          </a:p>
          <a:p>
            <a:r>
              <a:t>Unique to each fund: ARKF holds the ARK 21Shares Bitcoin ETF (direct bitcoin exposure), Shopify, AMD, Palantir, Amazon. FINX holds payment processors PayPal, Fiserv, Global Payments, Adyen. FDFF holds banks (DBS, Capital One, Bankinter, FinecoBank), asset managers (BlackRock, Apollo), Visa, Mastercard, Hiscox.</a:t>
            </a:r>
          </a:p>
          <a:p>
            <a:endParaRPr/>
          </a:p>
          <a:p>
            <a:r>
              <a:t>SOURCES</a:t>
            </a:r>
          </a:p>
          <a:p>
            <a:r>
              <a:t>ARKF top 10: ARK fact sheet, Jun 30, 2026. FINX: Global X full holdings file, Sep 30, 2026. FDFF top 10: Fidelity fact sheet, Jun 30, 2026. A zero bar means the name is not in that fund's disclosed top 10; it may still be held below the top 10.</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THIS SLIDE SAYS</a:t>
            </a:r>
          </a:p>
          <a:p>
            <a:r>
              <a:t>Expense ratio and trading volume are the two most important comparison metrics. FDFF is the cheapest (0.50%); ARKF trades the most (128,310 shares a day). Volatility: ARKF, with bitcoin exposure, is the most volatile (34.81%). Correlation to SPY: FDFF is the least correlated (0.64).</a:t>
            </a:r>
          </a:p>
          <a:p>
            <a:endParaRPr/>
          </a:p>
          <a:p>
            <a:r>
              <a:t>SOURCES</a:t>
            </a:r>
          </a:p>
          <a:p>
            <a:r>
              <a:t>Expense ratios: ARK fact sheet (6/30/26) 0.75%; Global X FINX page (9/30/26) 0.68%; Fidelity FDFF fact sheet (6/30/26) 0.50%.</a:t>
            </a:r>
          </a:p>
          <a:p>
            <a:r>
              <a:t>Average daily volume: Finviz recent 3-month average, retrieved Sep 30, 2026.</a:t>
            </a:r>
          </a:p>
          <a:p>
            <a:r>
              <a:t>Volatility: Portfolio Visualizer, Jan 2024 – Sep 2026, monthly returns (group slide 9).</a:t>
            </a:r>
          </a:p>
          <a:p>
            <a:r>
              <a:t>Correlation to SPY: analyst calculation, CORREL of monthly returns from Digrin month-end adjusted prices, Jan 2024 – Sep 2026 (33 months). Same data gives SDs within ~0.8 pp of Portfolio Visualizer. Confirm in Portfolio Visualizer's asset-correlation table.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THIS SLIDE SAYS</a:t>
            </a:r>
          </a:p>
          <a:p>
            <a:r>
              <a:t>Detailed comparison, in the same table format as the holdings slide, including dividend yield.</a:t>
            </a:r>
          </a:p>
          <a:p>
            <a:endParaRPr/>
          </a:p>
          <a:p>
            <a:r>
              <a:t>NOTES</a:t>
            </a:r>
          </a:p>
          <a:p>
            <a:r>
              <a:t>Expense ratio and volume: as previous slide. AUM: Finviz (ARKF, FDFF) and Global X (FINX), Sep 30, 2026; shown last because it matters less than cost and trading volume.</a:t>
            </a:r>
          </a:p>
          <a:p>
            <a:r>
              <a:t>Dividend yield: trailing 12 months, third-party estimates (approximate): ARKF ~0.1% (Digrin, one $0.043 distribution in Dec 2025); FINX ~0.8% (Trackinsight 0.83%, Dividend.watch 0.80%); FDFF ~0.9% (Digrin 0.92%; Snowball 0.91%). FDFF pays the highest dividend of the three. Confirm on issuer pages before publishing.</a:t>
            </a:r>
          </a:p>
          <a:p>
            <a:endParaRPr/>
          </a:p>
          <a:p>
            <a:r>
              <a:t>DETAILED SOURCES</a:t>
            </a:r>
          </a:p>
          <a:p>
            <a:r>
              <a:t>1. Expense ratio, volume, volatility, correlation: as previous slide.</a:t>
            </a:r>
          </a:p>
          <a:p>
            <a:r>
              <a:t>2. AUM, Sep 30, 2026: ARKF $838.65M and FDFF $43.01M (Finviz) https://finviz.com/stock?t=ARKF ; https://finviz.com/stock?t=FDFF ; FINX $155.02M (Global X) https://www.globalxetfs.com/funds/finx/</a:t>
            </a:r>
          </a:p>
          <a:p>
            <a:r>
              <a:t>3. Dividend yield, trailing 12 months (third-party, approximate): ARKF ~0.1% (Digrin) https://www.digrin.com/stocks/detail/ARKF/ ; FINX ~0.8% (Trackinsight 0.83%) https://www.trackinsight.com/en/fund/XNMS:FINX/distribution ; FDFF ~0.9% (Digrin 0.92%; Snowball 0.91%) https://www.digrin.com/stocks/detail/FDFF/ ; https://snowball-analytics.com/public/asset/FDFF.NASDAQ</a:t>
            </a:r>
          </a:p>
          <a:p>
            <a:r>
              <a:t>Confirm yields on issuer pages before publishing.</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THIS SLIDE SAYS</a:t>
            </a:r>
          </a:p>
          <a:p>
            <a:r>
              <a:t>Industry-level indicators to monitor over the next year.</a:t>
            </a:r>
          </a:p>
          <a:p>
            <a:endParaRPr/>
          </a:p>
          <a:p>
            <a:r>
              <a:t>SOURCES</a:t>
            </a:r>
          </a:p>
          <a:p>
            <a:r>
              <a:t>Rates: Federal Reserve FOMC statement, Sep 16, 2026 — target range 3.75–4.00% after a 25 bp increase (as cited on deck slide 12). Higher rates support bank net interest income (FDFF) but pressure high-multiple growth (ARKF) and lenders' funding (Affirm, SoFi in FINX).</a:t>
            </a:r>
          </a:p>
          <a:p>
            <a:r>
              <a:t>Stablecoin rules: GENIUS licensing requirements expected from Jan 18, 2027 per U.S. Treasury, as cited on deck slide 11 (verify against the Treasury release). Most relevant to Circle and Coinbase (ARKF, FINX).</a:t>
            </a:r>
          </a:p>
          <a:p>
            <a:r>
              <a:t>Payments: Visa FYQ3 2026 (quarter to Jun 30) payments volume +10% y/y in constant dollars (deck slide 10). Payments are FINX's largest exposure.</a:t>
            </a:r>
          </a:p>
          <a:p>
            <a:r>
              <a:t>Consumer credit: weak borrowers and higher losses can hurt lenders and BNPL providers (group slide 12).</a:t>
            </a:r>
          </a:p>
          <a:p>
            <a:r>
              <a:t>These are monitoring items, not forecasts.</a:t>
            </a:r>
          </a:p>
          <a:p>
            <a:endParaRPr/>
          </a:p>
          <a:p>
            <a:r>
              <a:t>DETAILED SOURCES</a:t>
            </a:r>
          </a:p>
          <a:p>
            <a:r>
              <a:t>1. Federal Reserve, FOMC statement, September 16, 2026: target range 3.75–4.00% after a 25 bp increase. https://www.federalreserve.gov/newsevents/pressreleases/monetary20260916a.htm</a:t>
            </a:r>
          </a:p>
          <a:p>
            <a:r>
              <a:t>2. U.S. Treasury, GENIUS Act rulemaking: licensing requirements expected from January 18, 2027 (as cited on the group regulation slide; verify against the Treasury release).</a:t>
            </a:r>
          </a:p>
          <a:p>
            <a:r>
              <a:t>3. CFPB, personal financial data rights (open banking) rulemaking (as cited on the group regulation slide).</a:t>
            </a:r>
          </a:p>
          <a:p>
            <a:r>
              <a:t>4. Visa, FYQ3 2026 earnings release (quarter ended June 30, 2026): payments volume +10% y/y, constant dollars. https://investor.visa.com</a:t>
            </a:r>
          </a:p>
          <a:p>
            <a:r>
              <a:t>5. Consumer credit risk for lenders and BNPL providers: group catalysts slide.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THIS SLIDE SAYS</a:t>
            </a:r>
          </a:p>
          <a:p>
            <a:r>
              <a:t>For each fund, what would push it toward a bull or bear outcome over the next 12 months. These are scenario drivers, not forecasts or probabilities.</a:t>
            </a:r>
          </a:p>
          <a:p>
            <a:endParaRPr/>
          </a:p>
          <a:p>
            <a:r>
              <a:t>LINK TO HOLDINGS</a:t>
            </a:r>
          </a:p>
          <a:p>
            <a:r>
              <a:t>ARKF: ARK 21Shares Bitcoin ETF 5.8%, Coinbase 5.3%, Circle 4.2% (crypto); Shopify 9.9%, Amazon 4.0% (commerce). High volatility (34.81%) means both outcomes are wide.</a:t>
            </a:r>
          </a:p>
          <a:p>
            <a:r>
              <a:t>FINX: Robinhood 8.56%, PayPal 6.74%, Block 6.67%, Fiserv 4.33%, Global Payments 4.25% (payments and brokerage); Affirm and SoFi (consumer credit).</a:t>
            </a:r>
          </a:p>
          <a:p>
            <a:r>
              <a:t>FDFF: DBS, Capital One, Bankinter, FinecoBank (banks); BlackRock, Apollo (asset managers). Bank income is rate-sensitive; Capital One is exposed to card credit losses. </a:t>
            </a:r>
          </a:p>
          <a:p>
            <a:endParaRPr/>
          </a:p>
          <a:p>
            <a:r>
              <a:t>DETAILED SOURCES</a:t>
            </a:r>
          </a:p>
          <a:p>
            <a:r>
              <a:t>1. ARK, ARKF fact sheet, June 30, 2026 (ARK 21Shares Bitcoin ETF 5.8%, Coinbase 5.3%, Circle 4.2%, Shopify 9.9%). https://www.ark-funds.com/funds/arkf/</a:t>
            </a:r>
          </a:p>
          <a:p>
            <a:r>
              <a:t>2. Global X, FINX holdings, September 30, 2026 (Robinhood, PayPal, Block, Fiserv, Global Payments; Affirm, SoFi). https://www.globalxetfs.com/funds/finx/</a:t>
            </a:r>
          </a:p>
          <a:p>
            <a:r>
              <a:t>3. Fidelity, FDFF fact sheet, June 30, 2026 (DBS, Capital One, Bankinter, FinecoBank; BlackRock, Apollo). https://institutional.fidelity.com/app/proxy/content?literatureURL=/9910078.PDF</a:t>
            </a:r>
          </a:p>
          <a:p>
            <a:r>
              <a:t>Bull and bear drivers are scenarios, not forecasts or probabilities.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CONCLUSION</a:t>
            </a:r>
          </a:p>
          <a:p>
            <a:r>
              <a:t>FinTech is only 10% of the total equity position and serves a diversification purpose: the sleeve's correlation to SPY is 0.72 (below 1.0), and FDFF's is the lowest (0.64).</a:t>
            </a:r>
          </a:p>
          <a:p>
            <a:r>
              <a:t>FDFF is the majority (60%) because it holds financial institutions, has the lowest volatility (18.59%) and the highest dividend yield (~0.9%).</a:t>
            </a:r>
          </a:p>
          <a:p>
            <a:r>
              <a:t>FINX (30%) provides the payments exposure.</a:t>
            </a:r>
          </a:p>
          <a:p>
            <a:r>
              <a:t>ARKF, the most risky fund (volatility 34.81%, bitcoin exposure), has the least exposure (10%).</a:t>
            </a:r>
          </a:p>
          <a:p>
            <a:endParaRPr/>
          </a:p>
          <a:p>
            <a:r>
              <a:t>CALCULATIONS</a:t>
            </a:r>
          </a:p>
          <a:p>
            <a:r>
              <a:t>Sleeve dividend yield = 0.6×0.92% + 0.3×0.80% + 0.1×0.10% = 0.80% (approximate, third-party yields).</a:t>
            </a:r>
          </a:p>
          <a:p>
            <a:r>
              <a:t>Sleeve correlation and volatility (21.46%): monthly returns, Digrin prices, Jan 2024 – Sep 2026.</a:t>
            </a:r>
          </a:p>
          <a:p>
            <a:endParaRPr/>
          </a:p>
          <a:p>
            <a:r>
              <a:t>DETAILED SOURCES</a:t>
            </a:r>
          </a:p>
          <a:p>
            <a:r>
              <a:t>1. Volatility: Portfolio Visualizer, Jan 2024 – Sep 2026, monthly (FDFF 18.59%, FINX 24.36%, ARKF 34.81%). https://www.portfoliovisualizer.com/backtest-portfolio</a:t>
            </a:r>
          </a:p>
          <a:p>
            <a:r>
              <a:t>2. Correlation to SPY and sleeve volatility: calculated from Digrin monthly prices, Jan 2024 – Sep 2026 (sleeve correlation 0.72; sleeve volatility 21.46%). https://www.digrin.com/stocks/detail/SPY/price</a:t>
            </a:r>
          </a:p>
          <a:p>
            <a:r>
              <a:t>3. Dividend yields (TTM, approximate): Digrin, Trackinsight, Snowball (see comparison slide). Sleeve yield = 0.6×0.92% + 0.3×0.80% + 0.1×0.10% = 0.80%.</a:t>
            </a:r>
          </a:p>
          <a:p>
            <a:r>
              <a:t>4. Allocation: 10% of total equity; 60% FDFF / 30% FINX / 10% ARKF — group recommendation. Workbook: Theo_Conclusion_Support_v4.xlsx.</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DBC84-A294-0A31-DB32-32B630C79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2A7AD-41AE-45C5-3702-5D46CF9568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C8F78A-91DF-C984-2EAA-BC39D620FE02}"/>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8B0F321B-E251-5B3C-A250-55064694B9C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78548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2469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insight.factset.com/sp-500-earnings-season-update-august-7-2026"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hyperlink" Target="https://www.perplexity.ai/finance/PYPL/earning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insight.factset.com/sp-500-earnings-season-update-august-7-2026"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hyperlink" Target="https://www.perplexity.ai/finance/PYPL/earning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perplexity.ai/finance/PYPL/earnings"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hyperlink" Target="https://insight.factset.com/sp-500-earnings-season-update-august-7-2026"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perplexity.ai/finance/PYPL/earnings"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www.perplexity.ai/finance/PYPL/analysis"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sec.gov/rules-regulations/staff-guidance/corporation-finance-interpretations/non-gaap-financial-measures"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hyperlink" Target="https://www.perplexity.ai/finance/PYPL/analysis" TargetMode="External"/><Relationship Id="rId4" Type="http://schemas.openxmlformats.org/officeDocument/2006/relationships/hyperlink" Target="https://www.perplexity.ai/finance/PYPL/earning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sec.gov/about/divisions-offices/division-corporation-finance/financial-reporting-manual/frm-topic-8"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chart" Target="../charts/chart4.xml"/><Relationship Id="rId4" Type="http://schemas.openxmlformats.org/officeDocument/2006/relationships/hyperlink" Target="https://www.sec.gov/rules-regulations/staff-guidance/corporation-finance-interpretations/non-gaap-financial-measures"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perplexity.ai/finance/PYPL/earnings"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chart" Target="../charts/chart5.xml"/><Relationship Id="rId4" Type="http://schemas.openxmlformats.org/officeDocument/2006/relationships/hyperlink" Target="https://www.perplexity.ai/finance/PYPL/analysi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perplexity.ai/finance/PYPL/earnings"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chart" Target="../charts/chart6.xml"/><Relationship Id="rId4" Type="http://schemas.openxmlformats.org/officeDocument/2006/relationships/hyperlink" Target="https://www.sec.gov/rules-regulations/staff-guidance/corporation-finance-interpretations/non-gaap-financial-measure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perplexity.ai/finance/PYPL/analysis"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chart" Target="../charts/chart7.xml"/><Relationship Id="rId4" Type="http://schemas.openxmlformats.org/officeDocument/2006/relationships/hyperlink" Target="https://www.factset.com/earningsinsight"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federalreserve.gov/newsevents/pressreleases/monetary20260916a.htm"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www.factset.com/earningsinsight"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news.futunn.com/en/post/79488594/has-the-september-decline-in-us-stocks-not-yet-ended" TargetMode="External"/><Relationship Id="rId7" Type="http://schemas.openxmlformats.org/officeDocument/2006/relationships/chart" Target="../charts/chart9.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chart" Target="../charts/chart8.xml"/><Relationship Id="rId5" Type="http://schemas.openxmlformats.org/officeDocument/2006/relationships/hyperlink" Target="https://www.perplexity.ai/finance/ARKF" TargetMode="External"/><Relationship Id="rId4" Type="http://schemas.openxmlformats.org/officeDocument/2006/relationships/hyperlink" Target="https://seekingalpha.com/news/4646053-still-on-the-sidelines-uptober-might-punish-s-and-p-500-skeptics?feed_item_type=new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fidelity.com/learning-center/investment-products/etf/etfs-tax-efficiency"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hyperlink" Target="https://www.sec.gov/Archives/edgar/data/877880/000119312515106487/d895701dex99m.htm" TargetMode="External"/><Relationship Id="rId4" Type="http://schemas.openxmlformats.org/officeDocument/2006/relationships/hyperlink" Target="https://am.jpmorgan.com/us/en/asset-management/adv/insights/etf-insights/tax-efficiency-of-etfs/"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morningstar.com/etfs/arcx/finx/portfolio"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hyperlink" Target="https://www.portfoliovisualizer.com" TargetMode="External"/><Relationship Id="rId4" Type="http://schemas.openxmlformats.org/officeDocument/2006/relationships/hyperlink" Target="https://www.lazyportfolioetf.com"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fidelity.com/learning-center/investment-products/etf/commodity-etfs-contango-backwardation"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chart" Target="../charts/chart10.xml"/><Relationship Id="rId4" Type="http://schemas.openxmlformats.org/officeDocument/2006/relationships/hyperlink" Target="https://www.perplexity.ai/finance/ARKF"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federalreserve.gov/newsevents/pressreleases/monetary20260916a.htm"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hyperlink" Target="https://www.perplexity.ai/finance/ARKF" TargetMode="External"/><Relationship Id="rId4" Type="http://schemas.openxmlformats.org/officeDocument/2006/relationships/hyperlink" Target="https://am.jpmorgan.com/us/en/asset-management/adv/insights/portfolio-insights/fixed-income/fixed-income-perspectives/fomc-statement-september-2026/"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2.jpeg"/></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hyperlink" Target="https://digital.fidelity.com/prgw/digital/research/quote/dashboard/summary?symbol=FDFF" TargetMode="External"/><Relationship Id="rId4" Type="http://schemas.openxmlformats.org/officeDocument/2006/relationships/chart" Target="../charts/char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hyperlink" Target="https://digital.fidelity.com/prgw/digital/research/quote/dashboard/summary?symbol=FDFF" TargetMode="External"/><Relationship Id="rId5" Type="http://schemas.openxmlformats.org/officeDocument/2006/relationships/chart" Target="../charts/chart14.xml"/><Relationship Id="rId4" Type="http://schemas.openxmlformats.org/officeDocument/2006/relationships/chart" Target="../charts/char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chart" Target="../charts/chart16.xml"/><Relationship Id="rId4" Type="http://schemas.openxmlformats.org/officeDocument/2006/relationships/chart" Target="../charts/chart15.xml"/></Relationships>
</file>

<file path=ppt/slides/_rels/slide33.xml.rels><?xml version="1.0" encoding="UTF-8" standalone="yes"?>
<Relationships xmlns="http://schemas.openxmlformats.org/package/2006/relationships"><Relationship Id="rId3" Type="http://schemas.openxmlformats.org/officeDocument/2006/relationships/hyperlink" Target="https://www.ark-funds.com/funds/arkf/" TargetMode="External"/><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hyperlink" Target="https://institutional.fidelity.com/app/proxy/content?literatureURL=/9910078.PDF" TargetMode="External"/><Relationship Id="rId4" Type="http://schemas.openxmlformats.org/officeDocument/2006/relationships/hyperlink" Target="https://assets.globalxetfs.com/funds/holdings/finx_full-holdings_20260930.csv" TargetMode="External"/></Relationships>
</file>

<file path=ppt/slides/_rels/slide34.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hyperlink" Target="https://institutional.fidelity.com/app/proxy/content?literatureURL=/9910078.PDF" TargetMode="External"/><Relationship Id="rId5" Type="http://schemas.openxmlformats.org/officeDocument/2006/relationships/hyperlink" Target="https://assets.globalxetfs.com/funds/holdings/finx_full-holdings_20260930.csv" TargetMode="External"/><Relationship Id="rId4" Type="http://schemas.openxmlformats.org/officeDocument/2006/relationships/hyperlink" Target="https://www.ark-funds.com/funds/arkf/"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s://www.portfoliovisualizer.com/backtest-portfolio" TargetMode="External"/><Relationship Id="rId3" Type="http://schemas.openxmlformats.org/officeDocument/2006/relationships/chart" Target="../charts/chart18.xml"/><Relationship Id="rId7" Type="http://schemas.openxmlformats.org/officeDocument/2006/relationships/hyperlink" Target="https://finviz.com/stock?t=ARKF" TargetMode="External"/><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chart" Target="../charts/chart21.xml"/><Relationship Id="rId5" Type="http://schemas.openxmlformats.org/officeDocument/2006/relationships/chart" Target="../charts/chart20.xml"/><Relationship Id="rId4" Type="http://schemas.openxmlformats.org/officeDocument/2006/relationships/chart" Target="../charts/chart19.xml"/><Relationship Id="rId9" Type="http://schemas.openxmlformats.org/officeDocument/2006/relationships/hyperlink" Target="https://www.digrin.com/stocks/detail/SPY/price"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portfoliovisualizer.com/backtest-portfolio" TargetMode="External"/><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hyperlink" Target="https://www.federalreserve.gov/newsevents/pressreleases/monetary20260916a.htm" TargetMode="External"/><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hyperlink" Target="https://investor.visa.com/"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ark-funds.com/funds/arkf/" TargetMode="External"/><Relationship Id="rId2" Type="http://schemas.openxmlformats.org/officeDocument/2006/relationships/notesSlide" Target="../notesSlides/notesSlide38.xml"/><Relationship Id="rId1" Type="http://schemas.openxmlformats.org/officeDocument/2006/relationships/slideLayout" Target="../slideLayouts/slideLayout12.xml"/><Relationship Id="rId5" Type="http://schemas.openxmlformats.org/officeDocument/2006/relationships/hyperlink" Target="https://institutional.fidelity.com/app/proxy/content?literatureURL=/9910078.PDF" TargetMode="External"/><Relationship Id="rId4" Type="http://schemas.openxmlformats.org/officeDocument/2006/relationships/hyperlink" Target="https://www.globalxetfs.com/funds/finx/"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portfoliovisualizer.com/backtest-portfolio" TargetMode="External"/><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hyperlink" Target="https://www.digrin.com/stocks/detail/SPY/price"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chatgpt.com/share/6abde06d-be30-83ea-9bd9-0de8be05529c" TargetMode="External"/><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hyperlink" Target="https://www.perplexity.ai/search/7f3c8996-67ec-48df-b13b-d583821f0b4b" TargetMode="External"/><Relationship Id="rId5" Type="http://schemas.openxmlformats.org/officeDocument/2006/relationships/hyperlink" Target="https://chatgpt.com/share/6abe70d1-d01c-83ea-8862-8ef30963e771" TargetMode="External"/><Relationship Id="rId4" Type="http://schemas.openxmlformats.org/officeDocument/2006/relationships/hyperlink" Target="https://chatgpt.com/share/6abde4a6-b754-83ea-a34a-facc5ca2dbc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1B5BF-A9C8-0308-3A60-A94F98ABBC1F}"/>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10C0ED1-C245-70F1-C196-235855068744}"/>
              </a:ext>
            </a:extLst>
          </p:cNvPr>
          <p:cNvPicPr>
            <a:picLocks noChangeAspect="1"/>
          </p:cNvPicPr>
          <p:nvPr/>
        </p:nvPicPr>
        <p:blipFill>
          <a:blip r:embed="rId3"/>
          <a:stretch>
            <a:fillRect/>
          </a:stretch>
        </p:blipFill>
        <p:spPr>
          <a:xfrm>
            <a:off x="1" y="0"/>
            <a:ext cx="9144000" cy="6858000"/>
          </a:xfrm>
          <a:prstGeom prst="rect">
            <a:avLst/>
          </a:prstGeom>
        </p:spPr>
      </p:pic>
      <p:pic>
        <p:nvPicPr>
          <p:cNvPr id="27" name="Picture 26" descr="Capital One Financial Corporation (COF) Stock Price, News, Quote &amp; History  - Yahoo Finance">
            <a:extLst>
              <a:ext uri="{FF2B5EF4-FFF2-40B4-BE49-F238E27FC236}">
                <a16:creationId xmlns:a16="http://schemas.microsoft.com/office/drawing/2014/main" id="{3FBC0A7F-7B53-17F3-4F89-6FF785855655}"/>
              </a:ext>
            </a:extLst>
          </p:cNvPr>
          <p:cNvPicPr>
            <a:picLocks noChangeAspect="1"/>
          </p:cNvPicPr>
          <p:nvPr/>
        </p:nvPicPr>
        <p:blipFill>
          <a:blip r:embed="rId4"/>
          <a:stretch>
            <a:fillRect/>
          </a:stretch>
        </p:blipFill>
        <p:spPr>
          <a:xfrm>
            <a:off x="0" y="6207490"/>
            <a:ext cx="1851660" cy="650510"/>
          </a:xfrm>
          <a:prstGeom prst="rect">
            <a:avLst/>
          </a:prstGeom>
        </p:spPr>
      </p:pic>
      <p:pic>
        <p:nvPicPr>
          <p:cNvPr id="26" name="Picture 25" descr="PayPal Holdings Inc (PYPL) Dividends">
            <a:extLst>
              <a:ext uri="{FF2B5EF4-FFF2-40B4-BE49-F238E27FC236}">
                <a16:creationId xmlns:a16="http://schemas.microsoft.com/office/drawing/2014/main" id="{006F62F5-5038-C504-F373-E257A74B62E9}"/>
              </a:ext>
            </a:extLst>
          </p:cNvPr>
          <p:cNvPicPr>
            <a:picLocks noChangeAspect="1"/>
          </p:cNvPicPr>
          <p:nvPr/>
        </p:nvPicPr>
        <p:blipFill>
          <a:blip r:embed="rId5"/>
          <a:srcRect t="22962" b="21747"/>
          <a:stretch>
            <a:fillRect/>
          </a:stretch>
        </p:blipFill>
        <p:spPr>
          <a:xfrm>
            <a:off x="4183811" y="6207490"/>
            <a:ext cx="2404529" cy="650510"/>
          </a:xfrm>
          <a:prstGeom prst="rect">
            <a:avLst/>
          </a:prstGeom>
        </p:spPr>
      </p:pic>
      <p:pic>
        <p:nvPicPr>
          <p:cNvPr id="25" name="Picture 24" descr="Robinhood Reports Fourth Quarter and Full Year 2024 Results">
            <a:extLst>
              <a:ext uri="{FF2B5EF4-FFF2-40B4-BE49-F238E27FC236}">
                <a16:creationId xmlns:a16="http://schemas.microsoft.com/office/drawing/2014/main" id="{6B241DCE-0A15-10F1-3F06-3E76002EE7A8}"/>
              </a:ext>
            </a:extLst>
          </p:cNvPr>
          <p:cNvPicPr>
            <a:picLocks noChangeAspect="1"/>
          </p:cNvPicPr>
          <p:nvPr/>
        </p:nvPicPr>
        <p:blipFill>
          <a:blip r:embed="rId6">
            <a:alphaModFix amt="70000"/>
          </a:blip>
          <a:srcRect l="28896" t="37638" r="28949" b="40311"/>
          <a:stretch>
            <a:fillRect/>
          </a:stretch>
        </p:blipFill>
        <p:spPr>
          <a:xfrm>
            <a:off x="0" y="5540451"/>
            <a:ext cx="2555659" cy="666863"/>
          </a:xfrm>
          <a:prstGeom prst="rect">
            <a:avLst/>
          </a:prstGeom>
        </p:spPr>
      </p:pic>
      <p:pic>
        <p:nvPicPr>
          <p:cNvPr id="22" name="Picture 21" descr="Square, Inc. Changes Name to Block">
            <a:extLst>
              <a:ext uri="{FF2B5EF4-FFF2-40B4-BE49-F238E27FC236}">
                <a16:creationId xmlns:a16="http://schemas.microsoft.com/office/drawing/2014/main" id="{64280F18-C4EE-3369-396E-811DBBD1FDC7}"/>
              </a:ext>
            </a:extLst>
          </p:cNvPr>
          <p:cNvPicPr>
            <a:picLocks noChangeAspect="1"/>
          </p:cNvPicPr>
          <p:nvPr/>
        </p:nvPicPr>
        <p:blipFill>
          <a:blip r:embed="rId7">
            <a:alphaModFix amt="85000"/>
          </a:blip>
          <a:srcRect l="-40" t="19237" r="42" b="10068"/>
          <a:stretch>
            <a:fillRect/>
          </a:stretch>
        </p:blipFill>
        <p:spPr>
          <a:xfrm>
            <a:off x="6588339" y="5531466"/>
            <a:ext cx="2555660" cy="659646"/>
          </a:xfrm>
          <a:prstGeom prst="rect">
            <a:avLst/>
          </a:prstGeom>
        </p:spPr>
      </p:pic>
      <p:sp>
        <p:nvSpPr>
          <p:cNvPr id="16" name="Rectangle 15">
            <a:extLst>
              <a:ext uri="{FF2B5EF4-FFF2-40B4-BE49-F238E27FC236}">
                <a16:creationId xmlns:a16="http://schemas.microsoft.com/office/drawing/2014/main" id="{A9907E36-BF0B-F6A1-D374-D15393AC132C}"/>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8DC8C8"/>
                </a:solidFill>
                <a:latin typeface="Bitstream Charter"/>
                <a:ea typeface="Bitstream Charter"/>
                <a:cs typeface="Bitstream Charter"/>
              </a:defRPr>
            </a:pPr>
            <a:r>
              <a:rPr sz="1125" b="1">
                <a:solidFill>
                  <a:srgbClr val="8DC8C8"/>
                </a:solidFill>
                <a:latin typeface="Arial" panose="020B0604020202020204" pitchFamily="34" charset="0"/>
                <a:ea typeface="Bitstream Charter"/>
                <a:cs typeface="Arial" panose="020B0604020202020204" pitchFamily="34" charset="0"/>
              </a:rPr>
              <a:t>FINTECH </a:t>
            </a:r>
            <a:r>
              <a:rPr lang="en-US" sz="1125" b="1">
                <a:solidFill>
                  <a:srgbClr val="8DC8C8"/>
                </a:solidFill>
                <a:latin typeface="Arial" panose="020B0604020202020204" pitchFamily="34" charset="0"/>
                <a:ea typeface="Bitstream Charter"/>
                <a:cs typeface="Arial" panose="020B0604020202020204" pitchFamily="34" charset="0"/>
              </a:rPr>
              <a:t>ETF Analysis</a:t>
            </a:r>
            <a:endParaRPr sz="1125" b="1">
              <a:solidFill>
                <a:srgbClr val="8DC8C8"/>
              </a:solidFill>
              <a:latin typeface="Arial" panose="020B0604020202020204" pitchFamily="34" charset="0"/>
              <a:ea typeface="Bitstream Charter"/>
              <a:cs typeface="Arial" panose="020B0604020202020204" pitchFamily="34" charset="0"/>
            </a:endParaRPr>
          </a:p>
        </p:txBody>
      </p:sp>
      <p:sp>
        <p:nvSpPr>
          <p:cNvPr id="2" name="Rectangle 1">
            <a:extLst>
              <a:ext uri="{FF2B5EF4-FFF2-40B4-BE49-F238E27FC236}">
                <a16:creationId xmlns:a16="http://schemas.microsoft.com/office/drawing/2014/main" id="{F5B1214E-3A82-159A-AA51-FB149C128A2D}"/>
              </a:ext>
            </a:extLst>
          </p:cNvPr>
          <p:cNvSpPr>
            <a:spLocks noGrp="1"/>
          </p:cNvSpPr>
          <p:nvPr/>
        </p:nvSpPr>
        <p:spPr>
          <a:xfrm>
            <a:off x="2354580" y="1477056"/>
            <a:ext cx="4434840" cy="990600"/>
          </a:xfrm>
          <a:prstGeom prst="rect">
            <a:avLst/>
          </a:prstGeom>
          <a:noFill/>
          <a:ln w="0">
            <a:noFill/>
          </a:ln>
        </p:spPr>
        <p:txBody>
          <a:bodyPr wrap="square" lIns="0" tIns="0" rIns="0" bIns="0" anchor="t">
            <a:noAutofit/>
          </a:bodyPr>
          <a:lstStyle/>
          <a:p>
            <a:pPr algn="ctr">
              <a:defRPr sz="2775" b="1">
                <a:solidFill>
                  <a:srgbClr val="FFFFFF"/>
                </a:solidFill>
                <a:latin typeface="Bitstream Charter"/>
                <a:ea typeface="Bitstream Charter"/>
                <a:cs typeface="Bitstream Charter"/>
              </a:defRPr>
            </a:pPr>
            <a:r>
              <a:rPr sz="3000" b="1">
                <a:solidFill>
                  <a:srgbClr val="FFFFFF"/>
                </a:solidFill>
                <a:latin typeface="Arial" panose="020B0604020202020204" pitchFamily="34" charset="0"/>
                <a:ea typeface="Bitstream Charter"/>
                <a:cs typeface="Arial" panose="020B0604020202020204" pitchFamily="34" charset="0"/>
              </a:rPr>
              <a:t>A selective entry into</a:t>
            </a:r>
          </a:p>
          <a:p>
            <a:pPr algn="ctr">
              <a:defRPr sz="2775" b="1">
                <a:solidFill>
                  <a:srgbClr val="FFFFFF"/>
                </a:solidFill>
                <a:latin typeface="Bitstream Charter"/>
                <a:ea typeface="Bitstream Charter"/>
                <a:cs typeface="Bitstream Charter"/>
              </a:defRPr>
            </a:pPr>
            <a:r>
              <a:rPr sz="3000" b="1">
                <a:solidFill>
                  <a:srgbClr val="FFFFFF"/>
                </a:solidFill>
                <a:latin typeface="Arial" panose="020B0604020202020204" pitchFamily="34" charset="0"/>
                <a:ea typeface="Bitstream Charter"/>
                <a:cs typeface="Arial" panose="020B0604020202020204" pitchFamily="34" charset="0"/>
              </a:rPr>
              <a:t>financial digitization</a:t>
            </a:r>
          </a:p>
        </p:txBody>
      </p:sp>
      <p:sp>
        <p:nvSpPr>
          <p:cNvPr id="3" name="Rectangle 2">
            <a:extLst>
              <a:ext uri="{FF2B5EF4-FFF2-40B4-BE49-F238E27FC236}">
                <a16:creationId xmlns:a16="http://schemas.microsoft.com/office/drawing/2014/main" id="{D9BD6DD8-D4EF-73DA-105D-EA2B410CA88C}"/>
              </a:ext>
            </a:extLst>
          </p:cNvPr>
          <p:cNvSpPr>
            <a:spLocks noGrp="1"/>
          </p:cNvSpPr>
          <p:nvPr/>
        </p:nvSpPr>
        <p:spPr>
          <a:xfrm>
            <a:off x="1851660" y="2674920"/>
            <a:ext cx="5440680" cy="352425"/>
          </a:xfrm>
          <a:prstGeom prst="rect">
            <a:avLst/>
          </a:prstGeom>
          <a:noFill/>
          <a:ln w="0">
            <a:noFill/>
          </a:ln>
        </p:spPr>
        <p:txBody>
          <a:bodyPr wrap="square" lIns="0" tIns="0" rIns="0" bIns="0" anchor="t">
            <a:noAutofit/>
          </a:bodyPr>
          <a:lstStyle/>
          <a:p>
            <a:pPr algn="ctr">
              <a:defRPr sz="1425" b="0">
                <a:solidFill>
                  <a:srgbClr val="C7DADF"/>
                </a:solidFill>
                <a:latin typeface="Bitstream Charter"/>
                <a:ea typeface="Bitstream Charter"/>
                <a:cs typeface="Bitstream Charter"/>
              </a:defRPr>
            </a:pPr>
            <a:r>
              <a:rPr sz="1425" b="0">
                <a:solidFill>
                  <a:srgbClr val="C7DADF"/>
                </a:solidFill>
                <a:latin typeface="Arial" panose="020B0604020202020204" pitchFamily="34" charset="0"/>
                <a:ea typeface="Bitstream Charter"/>
                <a:cs typeface="Arial" panose="020B0604020202020204" pitchFamily="34" charset="0"/>
              </a:rPr>
              <a:t>ARKF • FINX • FDFF | Long-only thematic equity assessment</a:t>
            </a:r>
          </a:p>
        </p:txBody>
      </p:sp>
      <p:sp>
        <p:nvSpPr>
          <p:cNvPr id="19" name="Rectangle 18">
            <a:extLst>
              <a:ext uri="{FF2B5EF4-FFF2-40B4-BE49-F238E27FC236}">
                <a16:creationId xmlns:a16="http://schemas.microsoft.com/office/drawing/2014/main" id="{9389B47F-0FC1-FB05-15DA-CD422ADA52FE}"/>
              </a:ext>
            </a:extLst>
          </p:cNvPr>
          <p:cNvSpPr>
            <a:spLocks noGrp="1"/>
          </p:cNvSpPr>
          <p:nvPr/>
        </p:nvSpPr>
        <p:spPr>
          <a:xfrm>
            <a:off x="1851660" y="3478449"/>
            <a:ext cx="5440680" cy="352425"/>
          </a:xfrm>
          <a:prstGeom prst="rect">
            <a:avLst/>
          </a:prstGeom>
          <a:noFill/>
          <a:ln w="0">
            <a:noFill/>
          </a:ln>
        </p:spPr>
        <p:txBody>
          <a:bodyPr wrap="square" lIns="0" tIns="0" rIns="0" bIns="0" anchor="t">
            <a:noAutofit/>
          </a:bodyPr>
          <a:lstStyle/>
          <a:p>
            <a:pPr algn="ctr">
              <a:defRPr sz="1425" b="0">
                <a:solidFill>
                  <a:srgbClr val="C7DADF"/>
                </a:solidFill>
                <a:latin typeface="Bitstream Charter"/>
                <a:ea typeface="Bitstream Charter"/>
                <a:cs typeface="Bitstream Charter"/>
              </a:defRPr>
            </a:pPr>
            <a:endParaRPr sz="1425" b="0">
              <a:solidFill>
                <a:srgbClr val="C7DADF"/>
              </a:solidFill>
              <a:latin typeface="Arial" panose="020B0604020202020204" pitchFamily="34" charset="0"/>
              <a:ea typeface="Bitstream Charter"/>
              <a:cs typeface="Arial" panose="020B0604020202020204" pitchFamily="34" charset="0"/>
            </a:endParaRPr>
          </a:p>
        </p:txBody>
      </p:sp>
      <p:sp>
        <p:nvSpPr>
          <p:cNvPr id="20" name="TextBox 19">
            <a:extLst>
              <a:ext uri="{FF2B5EF4-FFF2-40B4-BE49-F238E27FC236}">
                <a16:creationId xmlns:a16="http://schemas.microsoft.com/office/drawing/2014/main" id="{6A6837EF-1373-6F96-4D68-2C5FDF4B7A88}"/>
              </a:ext>
            </a:extLst>
          </p:cNvPr>
          <p:cNvSpPr txBox="1"/>
          <p:nvPr/>
        </p:nvSpPr>
        <p:spPr>
          <a:xfrm>
            <a:off x="2542032" y="3315527"/>
            <a:ext cx="4059936" cy="1477328"/>
          </a:xfrm>
          <a:prstGeom prst="rect">
            <a:avLst/>
          </a:prstGeom>
          <a:noFill/>
        </p:spPr>
        <p:txBody>
          <a:bodyPr wrap="square" rtlCol="0">
            <a:spAutoFit/>
          </a:bodyPr>
          <a:lstStyle/>
          <a:p>
            <a:pPr algn="ctr"/>
            <a:r>
              <a:rPr lang="en-US">
                <a:solidFill>
                  <a:schemeClr val="bg1"/>
                </a:solidFill>
                <a:latin typeface="Arial" panose="020B0604020202020204" pitchFamily="34" charset="0"/>
                <a:cs typeface="Arial" panose="020B0604020202020204" pitchFamily="34" charset="0"/>
              </a:rPr>
              <a:t>Xiaowen Chen (Xavier)</a:t>
            </a:r>
            <a:br>
              <a:rPr lang="en-US">
                <a:solidFill>
                  <a:schemeClr val="bg1"/>
                </a:solidFill>
                <a:latin typeface="Arial" panose="020B0604020202020204" pitchFamily="34" charset="0"/>
                <a:cs typeface="Arial" panose="020B0604020202020204" pitchFamily="34" charset="0"/>
              </a:rPr>
            </a:br>
            <a:r>
              <a:rPr lang="en-US">
                <a:solidFill>
                  <a:schemeClr val="bg1"/>
                </a:solidFill>
                <a:latin typeface="Arial" panose="020B0604020202020204" pitchFamily="34" charset="0"/>
                <a:cs typeface="Arial" panose="020B0604020202020204" pitchFamily="34" charset="0"/>
              </a:rPr>
              <a:t>Parag Verma</a:t>
            </a:r>
          </a:p>
          <a:p>
            <a:pPr algn="ctr"/>
            <a:r>
              <a:rPr lang="en-US">
                <a:solidFill>
                  <a:schemeClr val="bg1"/>
                </a:solidFill>
                <a:latin typeface="Arial" panose="020B0604020202020204" pitchFamily="34" charset="0"/>
                <a:cs typeface="Arial" panose="020B0604020202020204" pitchFamily="34" charset="0"/>
              </a:rPr>
              <a:t>Samuel </a:t>
            </a:r>
            <a:r>
              <a:rPr lang="en-US" err="1">
                <a:solidFill>
                  <a:schemeClr val="bg1"/>
                </a:solidFill>
                <a:latin typeface="Arial" panose="020B0604020202020204" pitchFamily="34" charset="0"/>
                <a:cs typeface="Arial" panose="020B0604020202020204" pitchFamily="34" charset="0"/>
              </a:rPr>
              <a:t>Moshiashvili</a:t>
            </a:r>
            <a:br>
              <a:rPr lang="en-US">
                <a:solidFill>
                  <a:schemeClr val="bg1"/>
                </a:solidFill>
                <a:latin typeface="Arial" panose="020B0604020202020204" pitchFamily="34" charset="0"/>
                <a:cs typeface="Arial" panose="020B0604020202020204" pitchFamily="34" charset="0"/>
              </a:rPr>
            </a:br>
            <a:r>
              <a:rPr lang="en-US">
                <a:solidFill>
                  <a:schemeClr val="bg1"/>
                </a:solidFill>
                <a:latin typeface="Arial" panose="020B0604020202020204" pitchFamily="34" charset="0"/>
                <a:cs typeface="Arial" panose="020B0604020202020204" pitchFamily="34" charset="0"/>
              </a:rPr>
              <a:t>Jared Mount</a:t>
            </a:r>
            <a:br>
              <a:rPr lang="en-US">
                <a:solidFill>
                  <a:schemeClr val="bg1"/>
                </a:solidFill>
                <a:latin typeface="Arial" panose="020B0604020202020204" pitchFamily="34" charset="0"/>
                <a:cs typeface="Arial" panose="020B0604020202020204" pitchFamily="34" charset="0"/>
              </a:rPr>
            </a:br>
            <a:r>
              <a:rPr lang="en-US">
                <a:solidFill>
                  <a:schemeClr val="bg1"/>
                </a:solidFill>
                <a:latin typeface="Arial" panose="020B0604020202020204" pitchFamily="34" charset="0"/>
                <a:cs typeface="Arial" panose="020B0604020202020204" pitchFamily="34" charset="0"/>
              </a:rPr>
              <a:t>Theofilos </a:t>
            </a:r>
            <a:r>
              <a:rPr lang="en-US" err="1">
                <a:solidFill>
                  <a:schemeClr val="bg1"/>
                </a:solidFill>
                <a:latin typeface="Arial" panose="020B0604020202020204" pitchFamily="34" charset="0"/>
                <a:cs typeface="Arial" panose="020B0604020202020204" pitchFamily="34" charset="0"/>
              </a:rPr>
              <a:t>Kelemis</a:t>
            </a:r>
            <a:endParaRPr lang="en-US">
              <a:solidFill>
                <a:schemeClr val="bg1"/>
              </a:solidFill>
              <a:latin typeface="Arial" panose="020B0604020202020204" pitchFamily="34" charset="0"/>
              <a:cs typeface="Arial" panose="020B0604020202020204" pitchFamily="34" charset="0"/>
            </a:endParaRPr>
          </a:p>
        </p:txBody>
      </p:sp>
      <p:pic>
        <p:nvPicPr>
          <p:cNvPr id="21" name="Picture 20" descr="Shopify Inc. (SHOP) Stock Price, Quote, News &amp; Analysis | Seeking Alpha">
            <a:extLst>
              <a:ext uri="{FF2B5EF4-FFF2-40B4-BE49-F238E27FC236}">
                <a16:creationId xmlns:a16="http://schemas.microsoft.com/office/drawing/2014/main" id="{C52289AB-D66A-DDFF-C3C8-616B73E3DD01}"/>
              </a:ext>
            </a:extLst>
          </p:cNvPr>
          <p:cNvPicPr>
            <a:picLocks noChangeAspect="1"/>
          </p:cNvPicPr>
          <p:nvPr/>
        </p:nvPicPr>
        <p:blipFill>
          <a:blip r:embed="rId8"/>
          <a:stretch>
            <a:fillRect/>
          </a:stretch>
        </p:blipFill>
        <p:spPr>
          <a:xfrm>
            <a:off x="1851660" y="6207490"/>
            <a:ext cx="2332152" cy="650510"/>
          </a:xfrm>
          <a:prstGeom prst="rect">
            <a:avLst/>
          </a:prstGeom>
        </p:spPr>
      </p:pic>
      <p:pic>
        <p:nvPicPr>
          <p:cNvPr id="24" name="Picture 23" descr="424B4">
            <a:extLst>
              <a:ext uri="{FF2B5EF4-FFF2-40B4-BE49-F238E27FC236}">
                <a16:creationId xmlns:a16="http://schemas.microsoft.com/office/drawing/2014/main" id="{9705086C-86FC-B737-5C98-FB7C8706A2F9}"/>
              </a:ext>
            </a:extLst>
          </p:cNvPr>
          <p:cNvPicPr>
            <a:picLocks noChangeAspect="1"/>
          </p:cNvPicPr>
          <p:nvPr/>
        </p:nvPicPr>
        <p:blipFill>
          <a:blip r:embed="rId9"/>
          <a:stretch>
            <a:fillRect/>
          </a:stretch>
        </p:blipFill>
        <p:spPr>
          <a:xfrm>
            <a:off x="6588340" y="6207490"/>
            <a:ext cx="2555659" cy="650510"/>
          </a:xfrm>
          <a:prstGeom prst="rect">
            <a:avLst/>
          </a:prstGeom>
        </p:spPr>
      </p:pic>
      <p:pic>
        <p:nvPicPr>
          <p:cNvPr id="28" name="Picture 27" descr="Bankinter (BKT.MC) - Market capitalization">
            <a:extLst>
              <a:ext uri="{FF2B5EF4-FFF2-40B4-BE49-F238E27FC236}">
                <a16:creationId xmlns:a16="http://schemas.microsoft.com/office/drawing/2014/main" id="{403DA27C-37CC-773D-544E-4DEDA4A8C72E}"/>
              </a:ext>
            </a:extLst>
          </p:cNvPr>
          <p:cNvPicPr>
            <a:picLocks noChangeAspect="1"/>
          </p:cNvPicPr>
          <p:nvPr/>
        </p:nvPicPr>
        <p:blipFill>
          <a:blip r:embed="rId10"/>
          <a:srcRect t="37902" b="38055"/>
          <a:stretch>
            <a:fillRect/>
          </a:stretch>
        </p:blipFill>
        <p:spPr>
          <a:xfrm>
            <a:off x="3586112" y="5540648"/>
            <a:ext cx="1971775" cy="474075"/>
          </a:xfrm>
          <a:prstGeom prst="rect">
            <a:avLst/>
          </a:prstGeom>
        </p:spPr>
      </p:pic>
      <p:pic>
        <p:nvPicPr>
          <p:cNvPr id="30" name="Picture 29">
            <a:extLst>
              <a:ext uri="{FF2B5EF4-FFF2-40B4-BE49-F238E27FC236}">
                <a16:creationId xmlns:a16="http://schemas.microsoft.com/office/drawing/2014/main" id="{E3FF908C-974E-F3FA-4D04-A6673C50757D}"/>
              </a:ext>
            </a:extLst>
          </p:cNvPr>
          <p:cNvPicPr>
            <a:picLocks noChangeAspect="1"/>
          </p:cNvPicPr>
          <p:nvPr/>
        </p:nvPicPr>
        <p:blipFill>
          <a:blip r:embed="rId3">
            <a:alphaModFix amt="35000"/>
          </a:blip>
          <a:stretch>
            <a:fillRect/>
          </a:stretch>
        </p:blipFill>
        <p:spPr>
          <a:xfrm>
            <a:off x="0" y="6205394"/>
            <a:ext cx="9144000" cy="652606"/>
          </a:xfrm>
          <a:prstGeom prst="rect">
            <a:avLst/>
          </a:prstGeom>
        </p:spPr>
      </p:pic>
      <p:pic>
        <p:nvPicPr>
          <p:cNvPr id="32" name="Picture 31">
            <a:extLst>
              <a:ext uri="{FF2B5EF4-FFF2-40B4-BE49-F238E27FC236}">
                <a16:creationId xmlns:a16="http://schemas.microsoft.com/office/drawing/2014/main" id="{F1FE853B-193F-D98D-E49B-799BF96FFAB5}"/>
              </a:ext>
            </a:extLst>
          </p:cNvPr>
          <p:cNvPicPr>
            <a:picLocks noChangeAspect="1"/>
          </p:cNvPicPr>
          <p:nvPr/>
        </p:nvPicPr>
        <p:blipFill>
          <a:blip r:embed="rId3">
            <a:alphaModFix amt="35000"/>
          </a:blip>
          <a:stretch>
            <a:fillRect/>
          </a:stretch>
        </p:blipFill>
        <p:spPr>
          <a:xfrm>
            <a:off x="0" y="5540560"/>
            <a:ext cx="9144000" cy="664746"/>
          </a:xfrm>
          <a:prstGeom prst="rect">
            <a:avLst/>
          </a:prstGeom>
        </p:spPr>
      </p:pic>
    </p:spTree>
    <p:extLst>
      <p:ext uri="{BB962C8B-B14F-4D97-AF65-F5344CB8AC3E}">
        <p14:creationId xmlns:p14="http://schemas.microsoft.com/office/powerpoint/2010/main" val="3936704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0CA23-9318-B161-E889-FCB1C9B5B84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B2DD488-90F2-DB00-D2DE-63C811391C6D}"/>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Bitstream Charter"/>
                <a:cs typeface="Arial" panose="020B0604020202020204" pitchFamily="34" charset="0"/>
              </a:rPr>
              <a:t>FINTECH | </a:t>
            </a:r>
            <a:r>
              <a:rPr lang="en-US" sz="1125" b="1">
                <a:solidFill>
                  <a:srgbClr val="007D80"/>
                </a:solidFill>
                <a:latin typeface="Arial" panose="020B0604020202020204" pitchFamily="34" charset="0"/>
                <a:ea typeface="Bitstream Charter"/>
                <a:cs typeface="Arial" panose="020B0604020202020204" pitchFamily="34" charset="0"/>
              </a:rPr>
              <a:t>Performance</a:t>
            </a:r>
            <a:endParaRPr sz="1125" b="1">
              <a:solidFill>
                <a:srgbClr val="007D80"/>
              </a:solidFill>
              <a:latin typeface="Arial" panose="020B0604020202020204" pitchFamily="34" charset="0"/>
              <a:ea typeface="Bitstream Charter"/>
              <a:cs typeface="Arial" panose="020B0604020202020204" pitchFamily="34" charset="0"/>
            </a:endParaRPr>
          </a:p>
        </p:txBody>
      </p:sp>
      <p:pic>
        <p:nvPicPr>
          <p:cNvPr id="11" name="Picture 10">
            <a:extLst>
              <a:ext uri="{FF2B5EF4-FFF2-40B4-BE49-F238E27FC236}">
                <a16:creationId xmlns:a16="http://schemas.microsoft.com/office/drawing/2014/main" id="{2B950600-F83D-3763-0E5E-76566B2CDCE4}"/>
              </a:ext>
            </a:extLst>
          </p:cNvPr>
          <p:cNvPicPr>
            <a:picLocks noChangeAspect="1"/>
          </p:cNvPicPr>
          <p:nvPr/>
        </p:nvPicPr>
        <p:blipFill>
          <a:blip r:embed="rId3"/>
          <a:stretch>
            <a:fillRect/>
          </a:stretch>
        </p:blipFill>
        <p:spPr>
          <a:xfrm>
            <a:off x="0" y="1582205"/>
            <a:ext cx="9144000" cy="4131565"/>
          </a:xfrm>
          <a:prstGeom prst="rect">
            <a:avLst/>
          </a:prstGeom>
        </p:spPr>
      </p:pic>
      <p:sp>
        <p:nvSpPr>
          <p:cNvPr id="14" name="Rectangle 13">
            <a:extLst>
              <a:ext uri="{FF2B5EF4-FFF2-40B4-BE49-F238E27FC236}">
                <a16:creationId xmlns:a16="http://schemas.microsoft.com/office/drawing/2014/main" id="{B40FE8F5-D9EA-D4EE-3082-B2FFB2E24B1C}"/>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lang="en-US" altLang="zh-CN" sz="2750" b="1">
                <a:solidFill>
                  <a:schemeClr val="tx1">
                    <a:lumMod val="95000"/>
                    <a:lumOff val="5000"/>
                  </a:schemeClr>
                </a:solidFill>
                <a:latin typeface="Arial"/>
                <a:ea typeface="Bitstream Charter"/>
                <a:cs typeface="Arial"/>
              </a:rPr>
              <a:t>Performance (2024 Jan to 2026 Sep)</a:t>
            </a:r>
            <a:endParaRPr lang="en-US" sz="2750" b="1">
              <a:solidFill>
                <a:schemeClr val="tx1">
                  <a:lumMod val="95000"/>
                  <a:lumOff val="5000"/>
                </a:schemeClr>
              </a:solidFill>
              <a:latin typeface="Arial"/>
              <a:ea typeface="Bitstream Charter"/>
              <a:cs typeface="Arial"/>
            </a:endParaRPr>
          </a:p>
        </p:txBody>
      </p:sp>
      <p:sp>
        <p:nvSpPr>
          <p:cNvPr id="15" name="TextBox 14">
            <a:extLst>
              <a:ext uri="{FF2B5EF4-FFF2-40B4-BE49-F238E27FC236}">
                <a16:creationId xmlns:a16="http://schemas.microsoft.com/office/drawing/2014/main" id="{3637914F-1091-B090-37CF-F61D4AA67153}"/>
              </a:ext>
            </a:extLst>
          </p:cNvPr>
          <p:cNvSpPr txBox="1"/>
          <p:nvPr/>
        </p:nvSpPr>
        <p:spPr>
          <a:xfrm>
            <a:off x="7865533" y="2192863"/>
            <a:ext cx="1642533" cy="372533"/>
          </a:xfrm>
          <a:prstGeom prst="rect">
            <a:avLst/>
          </a:prstGeom>
          <a:noFill/>
        </p:spPr>
        <p:txBody>
          <a:bodyPr wrap="square" rtlCol="0">
            <a:spAutoFit/>
          </a:bodyPr>
          <a:lstStyle/>
          <a:p>
            <a:r>
              <a:rPr lang="en-US" b="1">
                <a:solidFill>
                  <a:srgbClr val="0A02FF"/>
                </a:solidFill>
              </a:rPr>
              <a:t>ARKF: +68%</a:t>
            </a:r>
          </a:p>
        </p:txBody>
      </p:sp>
      <p:sp>
        <p:nvSpPr>
          <p:cNvPr id="17" name="TextBox 16">
            <a:extLst>
              <a:ext uri="{FF2B5EF4-FFF2-40B4-BE49-F238E27FC236}">
                <a16:creationId xmlns:a16="http://schemas.microsoft.com/office/drawing/2014/main" id="{404F301D-5DAF-169C-B29F-07FEC4B01257}"/>
              </a:ext>
            </a:extLst>
          </p:cNvPr>
          <p:cNvSpPr txBox="1"/>
          <p:nvPr/>
        </p:nvSpPr>
        <p:spPr>
          <a:xfrm>
            <a:off x="7501467" y="2541054"/>
            <a:ext cx="1642533" cy="372533"/>
          </a:xfrm>
          <a:prstGeom prst="rect">
            <a:avLst/>
          </a:prstGeom>
          <a:noFill/>
        </p:spPr>
        <p:txBody>
          <a:bodyPr wrap="square" rtlCol="0">
            <a:spAutoFit/>
          </a:bodyPr>
          <a:lstStyle/>
          <a:p>
            <a:pPr algn="r"/>
            <a:r>
              <a:rPr lang="en-US" b="1">
                <a:solidFill>
                  <a:srgbClr val="39798D"/>
                </a:solidFill>
              </a:rPr>
              <a:t>SPY: +66%</a:t>
            </a:r>
          </a:p>
        </p:txBody>
      </p:sp>
      <p:sp>
        <p:nvSpPr>
          <p:cNvPr id="19" name="TextBox 18">
            <a:extLst>
              <a:ext uri="{FF2B5EF4-FFF2-40B4-BE49-F238E27FC236}">
                <a16:creationId xmlns:a16="http://schemas.microsoft.com/office/drawing/2014/main" id="{3C089404-0B00-8F7B-B2E9-DB136F712B04}"/>
              </a:ext>
            </a:extLst>
          </p:cNvPr>
          <p:cNvSpPr txBox="1"/>
          <p:nvPr/>
        </p:nvSpPr>
        <p:spPr>
          <a:xfrm>
            <a:off x="7501467" y="3461720"/>
            <a:ext cx="1642533" cy="372533"/>
          </a:xfrm>
          <a:prstGeom prst="rect">
            <a:avLst/>
          </a:prstGeom>
          <a:noFill/>
        </p:spPr>
        <p:txBody>
          <a:bodyPr wrap="square" rtlCol="0">
            <a:spAutoFit/>
          </a:bodyPr>
          <a:lstStyle/>
          <a:p>
            <a:pPr algn="r"/>
            <a:r>
              <a:rPr lang="en-US" b="1">
                <a:solidFill>
                  <a:srgbClr val="35628B"/>
                </a:solidFill>
              </a:rPr>
              <a:t>FDFF: +33%</a:t>
            </a:r>
          </a:p>
        </p:txBody>
      </p:sp>
      <p:sp>
        <p:nvSpPr>
          <p:cNvPr id="21" name="TextBox 20">
            <a:extLst>
              <a:ext uri="{FF2B5EF4-FFF2-40B4-BE49-F238E27FC236}">
                <a16:creationId xmlns:a16="http://schemas.microsoft.com/office/drawing/2014/main" id="{93637188-53C4-6F97-D6AF-5FE259B551E1}"/>
              </a:ext>
            </a:extLst>
          </p:cNvPr>
          <p:cNvSpPr txBox="1"/>
          <p:nvPr/>
        </p:nvSpPr>
        <p:spPr>
          <a:xfrm>
            <a:off x="7501467" y="4587745"/>
            <a:ext cx="1642533" cy="372533"/>
          </a:xfrm>
          <a:prstGeom prst="rect">
            <a:avLst/>
          </a:prstGeom>
          <a:noFill/>
        </p:spPr>
        <p:txBody>
          <a:bodyPr wrap="square" rtlCol="0">
            <a:spAutoFit/>
          </a:bodyPr>
          <a:lstStyle/>
          <a:p>
            <a:pPr algn="r"/>
            <a:r>
              <a:rPr lang="en-US" b="1">
                <a:solidFill>
                  <a:srgbClr val="16805D"/>
                </a:solidFill>
              </a:rPr>
              <a:t>FINX: +7%</a:t>
            </a:r>
          </a:p>
        </p:txBody>
      </p:sp>
      <p:sp>
        <p:nvSpPr>
          <p:cNvPr id="23" name="Rectangle 22">
            <a:extLst>
              <a:ext uri="{FF2B5EF4-FFF2-40B4-BE49-F238E27FC236}">
                <a16:creationId xmlns:a16="http://schemas.microsoft.com/office/drawing/2014/main" id="{52BF9F4B-A1EF-B265-C701-72E7A4471094}"/>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C3D5DB"/>
                </a:solidFill>
                <a:latin typeface="Bitstream Charter"/>
                <a:ea typeface="Bitstream Charter"/>
                <a:cs typeface="Bitstream Charter"/>
              </a:defRPr>
            </a:pPr>
            <a:r>
              <a:rPr sz="1400" b="0">
                <a:solidFill>
                  <a:schemeClr val="tx1">
                    <a:lumMod val="95000"/>
                    <a:lumOff val="5000"/>
                  </a:schemeClr>
                </a:solidFill>
                <a:latin typeface="Arial" panose="020B0604020202020204" pitchFamily="34" charset="0"/>
                <a:ea typeface="Bitstream Charter"/>
                <a:cs typeface="Arial" panose="020B0604020202020204" pitchFamily="34" charset="0"/>
              </a:rPr>
              <a:t>Sources: </a:t>
            </a:r>
            <a:r>
              <a:rPr lang="en-US" sz="1400" b="0">
                <a:solidFill>
                  <a:schemeClr val="tx1">
                    <a:lumMod val="95000"/>
                    <a:lumOff val="5000"/>
                  </a:schemeClr>
                </a:solidFill>
                <a:latin typeface="Arial" panose="020B0604020202020204" pitchFamily="34" charset="0"/>
                <a:ea typeface="Bitstream Charter"/>
                <a:cs typeface="Arial" panose="020B0604020202020204" pitchFamily="34" charset="0"/>
              </a:rPr>
              <a:t>https://www.portfoliovisualizer.com/backtest-portfolio#analysisResults, Code: ARKF, FDFF, FINX, Benchmark: SPY, data fetched Sep 30, 2026</a:t>
            </a:r>
            <a:endParaRPr sz="1400" b="0">
              <a:solidFill>
                <a:schemeClr val="tx1">
                  <a:lumMod val="95000"/>
                  <a:lumOff val="5000"/>
                </a:schemeClr>
              </a:solidFill>
              <a:latin typeface="Arial" panose="020B0604020202020204" pitchFamily="34" charset="0"/>
              <a:ea typeface="Bitstream Charter"/>
              <a:cs typeface="Arial" panose="020B0604020202020204" pitchFamily="34" charset="0"/>
            </a:endParaRPr>
          </a:p>
        </p:txBody>
      </p:sp>
    </p:spTree>
    <p:extLst>
      <p:ext uri="{BB962C8B-B14F-4D97-AF65-F5344CB8AC3E}">
        <p14:creationId xmlns:p14="http://schemas.microsoft.com/office/powerpoint/2010/main" val="2046339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053B-8312-8D1C-35DF-45A62883E9E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1315A82-9BE1-7184-B54D-3E032E512C71}"/>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Bitstream Charter"/>
                <a:cs typeface="Arial" panose="020B0604020202020204" pitchFamily="34" charset="0"/>
              </a:rPr>
              <a:t>FINTECH | </a:t>
            </a:r>
            <a:r>
              <a:rPr lang="en-US" sz="1125" b="1">
                <a:solidFill>
                  <a:srgbClr val="007D80"/>
                </a:solidFill>
                <a:latin typeface="Arial" panose="020B0604020202020204" pitchFamily="34" charset="0"/>
                <a:ea typeface="Bitstream Charter"/>
                <a:cs typeface="Arial" panose="020B0604020202020204" pitchFamily="34" charset="0"/>
              </a:rPr>
              <a:t>Performance</a:t>
            </a:r>
            <a:endParaRPr sz="1125" b="1">
              <a:solidFill>
                <a:srgbClr val="007D80"/>
              </a:solidFill>
              <a:latin typeface="Arial" panose="020B0604020202020204" pitchFamily="34" charset="0"/>
              <a:ea typeface="Bitstream Charter"/>
              <a:cs typeface="Arial" panose="020B0604020202020204" pitchFamily="34" charset="0"/>
            </a:endParaRPr>
          </a:p>
        </p:txBody>
      </p:sp>
      <p:sp>
        <p:nvSpPr>
          <p:cNvPr id="14" name="Rectangle 13">
            <a:extLst>
              <a:ext uri="{FF2B5EF4-FFF2-40B4-BE49-F238E27FC236}">
                <a16:creationId xmlns:a16="http://schemas.microsoft.com/office/drawing/2014/main" id="{2110FC9F-7C56-C6F8-1399-7ED956DCD667}"/>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lang="en-US" altLang="zh-CN" sz="2750" b="1">
                <a:solidFill>
                  <a:schemeClr val="tx1">
                    <a:lumMod val="95000"/>
                    <a:lumOff val="5000"/>
                  </a:schemeClr>
                </a:solidFill>
                <a:latin typeface="Arial"/>
                <a:ea typeface="Bitstream Charter"/>
                <a:cs typeface="Arial"/>
              </a:rPr>
              <a:t>Drawdown (2024 Jan to 2026 Sep)</a:t>
            </a:r>
            <a:endParaRPr lang="en-US" sz="2750" b="1">
              <a:solidFill>
                <a:schemeClr val="tx1">
                  <a:lumMod val="95000"/>
                  <a:lumOff val="5000"/>
                </a:schemeClr>
              </a:solidFill>
              <a:latin typeface="Arial"/>
              <a:ea typeface="Bitstream Charter"/>
              <a:cs typeface="Arial"/>
            </a:endParaRPr>
          </a:p>
        </p:txBody>
      </p:sp>
      <p:sp>
        <p:nvSpPr>
          <p:cNvPr id="23" name="Rectangle 22">
            <a:extLst>
              <a:ext uri="{FF2B5EF4-FFF2-40B4-BE49-F238E27FC236}">
                <a16:creationId xmlns:a16="http://schemas.microsoft.com/office/drawing/2014/main" id="{4A831CE0-0E66-92E6-0EDC-02D2C4276366}"/>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C3D5DB"/>
                </a:solidFill>
                <a:latin typeface="Bitstream Charter"/>
                <a:ea typeface="Bitstream Charter"/>
                <a:cs typeface="Bitstream Charter"/>
              </a:defRPr>
            </a:pPr>
            <a:r>
              <a:rPr sz="1400" b="0">
                <a:solidFill>
                  <a:schemeClr val="tx1">
                    <a:lumMod val="95000"/>
                    <a:lumOff val="5000"/>
                  </a:schemeClr>
                </a:solidFill>
                <a:latin typeface="Arial" panose="020B0604020202020204" pitchFamily="34" charset="0"/>
                <a:ea typeface="Bitstream Charter"/>
                <a:cs typeface="Arial" panose="020B0604020202020204" pitchFamily="34" charset="0"/>
              </a:rPr>
              <a:t>Sources: </a:t>
            </a:r>
            <a:r>
              <a:rPr lang="en-US" sz="1400" b="0">
                <a:solidFill>
                  <a:schemeClr val="tx1">
                    <a:lumMod val="95000"/>
                    <a:lumOff val="5000"/>
                  </a:schemeClr>
                </a:solidFill>
                <a:latin typeface="Arial" panose="020B0604020202020204" pitchFamily="34" charset="0"/>
                <a:ea typeface="Bitstream Charter"/>
                <a:cs typeface="Arial" panose="020B0604020202020204" pitchFamily="34" charset="0"/>
              </a:rPr>
              <a:t>https://www.portfoliovisualizer.com/backtest-portfolio#analysisResults, Code: ARKF, FDFF, FINX, Benchmark: SPY, data fetched Sep 30, 2026</a:t>
            </a:r>
            <a:endParaRPr sz="1400" b="0">
              <a:solidFill>
                <a:schemeClr val="tx1">
                  <a:lumMod val="95000"/>
                  <a:lumOff val="5000"/>
                </a:schemeClr>
              </a:solidFill>
              <a:latin typeface="Arial" panose="020B0604020202020204" pitchFamily="34" charset="0"/>
              <a:ea typeface="Bitstream Charter"/>
              <a:cs typeface="Arial" panose="020B0604020202020204" pitchFamily="34" charset="0"/>
            </a:endParaRPr>
          </a:p>
        </p:txBody>
      </p:sp>
      <p:pic>
        <p:nvPicPr>
          <p:cNvPr id="3" name="Picture 2">
            <a:extLst>
              <a:ext uri="{FF2B5EF4-FFF2-40B4-BE49-F238E27FC236}">
                <a16:creationId xmlns:a16="http://schemas.microsoft.com/office/drawing/2014/main" id="{B826241D-2117-F819-7A65-A002A5B01094}"/>
              </a:ext>
            </a:extLst>
          </p:cNvPr>
          <p:cNvPicPr>
            <a:picLocks noChangeAspect="1"/>
          </p:cNvPicPr>
          <p:nvPr/>
        </p:nvPicPr>
        <p:blipFill>
          <a:blip r:embed="rId3"/>
          <a:stretch>
            <a:fillRect/>
          </a:stretch>
        </p:blipFill>
        <p:spPr>
          <a:xfrm>
            <a:off x="0" y="1993998"/>
            <a:ext cx="9144000" cy="3378004"/>
          </a:xfrm>
          <a:prstGeom prst="rect">
            <a:avLst/>
          </a:prstGeom>
        </p:spPr>
      </p:pic>
      <p:sp>
        <p:nvSpPr>
          <p:cNvPr id="5" name="TextBox 4">
            <a:extLst>
              <a:ext uri="{FF2B5EF4-FFF2-40B4-BE49-F238E27FC236}">
                <a16:creationId xmlns:a16="http://schemas.microsoft.com/office/drawing/2014/main" id="{77912A4F-F5AC-5F06-A6F2-967A03FCDA61}"/>
              </a:ext>
            </a:extLst>
          </p:cNvPr>
          <p:cNvSpPr txBox="1"/>
          <p:nvPr/>
        </p:nvSpPr>
        <p:spPr>
          <a:xfrm>
            <a:off x="7501467" y="3223570"/>
            <a:ext cx="1642533" cy="372533"/>
          </a:xfrm>
          <a:prstGeom prst="rect">
            <a:avLst/>
          </a:prstGeom>
          <a:noFill/>
        </p:spPr>
        <p:txBody>
          <a:bodyPr wrap="square" rtlCol="0">
            <a:spAutoFit/>
          </a:bodyPr>
          <a:lstStyle/>
          <a:p>
            <a:pPr algn="r"/>
            <a:r>
              <a:rPr lang="en-US" b="1">
                <a:solidFill>
                  <a:srgbClr val="0A02FF"/>
                </a:solidFill>
              </a:rPr>
              <a:t>ARKF: -18%</a:t>
            </a:r>
          </a:p>
        </p:txBody>
      </p:sp>
      <p:sp>
        <p:nvSpPr>
          <p:cNvPr id="7" name="TextBox 6">
            <a:extLst>
              <a:ext uri="{FF2B5EF4-FFF2-40B4-BE49-F238E27FC236}">
                <a16:creationId xmlns:a16="http://schemas.microsoft.com/office/drawing/2014/main" id="{1D202894-5293-A5C9-0EF8-5B31F9D7F6C7}"/>
              </a:ext>
            </a:extLst>
          </p:cNvPr>
          <p:cNvSpPr txBox="1"/>
          <p:nvPr/>
        </p:nvSpPr>
        <p:spPr>
          <a:xfrm>
            <a:off x="7501467" y="1623518"/>
            <a:ext cx="1642533" cy="372533"/>
          </a:xfrm>
          <a:prstGeom prst="rect">
            <a:avLst/>
          </a:prstGeom>
          <a:noFill/>
        </p:spPr>
        <p:txBody>
          <a:bodyPr wrap="square" rtlCol="0">
            <a:spAutoFit/>
          </a:bodyPr>
          <a:lstStyle/>
          <a:p>
            <a:pPr algn="r"/>
            <a:r>
              <a:rPr lang="en-US" b="1">
                <a:solidFill>
                  <a:srgbClr val="39798D"/>
                </a:solidFill>
              </a:rPr>
              <a:t>SPY: 0%</a:t>
            </a:r>
          </a:p>
        </p:txBody>
      </p:sp>
      <p:sp>
        <p:nvSpPr>
          <p:cNvPr id="10" name="TextBox 9">
            <a:extLst>
              <a:ext uri="{FF2B5EF4-FFF2-40B4-BE49-F238E27FC236}">
                <a16:creationId xmlns:a16="http://schemas.microsoft.com/office/drawing/2014/main" id="{12236C88-F710-545E-20E2-5AF9282E105F}"/>
              </a:ext>
            </a:extLst>
          </p:cNvPr>
          <p:cNvSpPr txBox="1"/>
          <p:nvPr/>
        </p:nvSpPr>
        <p:spPr>
          <a:xfrm>
            <a:off x="7501467" y="2479531"/>
            <a:ext cx="1642533" cy="372533"/>
          </a:xfrm>
          <a:prstGeom prst="rect">
            <a:avLst/>
          </a:prstGeom>
          <a:noFill/>
        </p:spPr>
        <p:txBody>
          <a:bodyPr wrap="square" rtlCol="0">
            <a:spAutoFit/>
          </a:bodyPr>
          <a:lstStyle/>
          <a:p>
            <a:pPr algn="r"/>
            <a:r>
              <a:rPr lang="en-US" b="1">
                <a:solidFill>
                  <a:srgbClr val="35628B"/>
                </a:solidFill>
              </a:rPr>
              <a:t>FDFF: -2%</a:t>
            </a:r>
          </a:p>
        </p:txBody>
      </p:sp>
      <p:sp>
        <p:nvSpPr>
          <p:cNvPr id="13" name="TextBox 12">
            <a:extLst>
              <a:ext uri="{FF2B5EF4-FFF2-40B4-BE49-F238E27FC236}">
                <a16:creationId xmlns:a16="http://schemas.microsoft.com/office/drawing/2014/main" id="{28D941FF-24CC-3CCE-86D9-EA8C661CB3B6}"/>
              </a:ext>
            </a:extLst>
          </p:cNvPr>
          <p:cNvSpPr txBox="1"/>
          <p:nvPr/>
        </p:nvSpPr>
        <p:spPr>
          <a:xfrm>
            <a:off x="7562427" y="4087237"/>
            <a:ext cx="1642533" cy="372533"/>
          </a:xfrm>
          <a:prstGeom prst="rect">
            <a:avLst/>
          </a:prstGeom>
          <a:noFill/>
        </p:spPr>
        <p:txBody>
          <a:bodyPr wrap="square" rtlCol="0">
            <a:spAutoFit/>
          </a:bodyPr>
          <a:lstStyle/>
          <a:p>
            <a:pPr algn="r"/>
            <a:r>
              <a:rPr lang="en-US" b="1">
                <a:solidFill>
                  <a:srgbClr val="16805D"/>
                </a:solidFill>
              </a:rPr>
              <a:t>FINX: -21%</a:t>
            </a:r>
          </a:p>
        </p:txBody>
      </p:sp>
    </p:spTree>
    <p:extLst>
      <p:ext uri="{BB962C8B-B14F-4D97-AF65-F5344CB8AC3E}">
        <p14:creationId xmlns:p14="http://schemas.microsoft.com/office/powerpoint/2010/main" val="186011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3142CFB-5A57-E723-C712-C60345983C33}"/>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buNone/>
              <a:defRPr sz="1125" b="1">
                <a:solidFill>
                  <a:srgbClr val="007D80"/>
                </a:solidFill>
                <a:latin typeface="Arial"/>
                <a:ea typeface="Arial"/>
                <a:cs typeface="Arial"/>
              </a:defRPr>
            </a:pPr>
            <a:r>
              <a:rPr sz="1125" b="1">
                <a:solidFill>
                  <a:srgbClr val="007D80"/>
                </a:solidFill>
                <a:latin typeface="Arial"/>
                <a:ea typeface="Arial"/>
                <a:cs typeface="Arial"/>
              </a:rPr>
              <a:t>FINTECH | Performance drivers</a:t>
            </a:r>
          </a:p>
        </p:txBody>
      </p:sp>
      <p:sp>
        <p:nvSpPr>
          <p:cNvPr id="14" name="Rectangle 13">
            <a:extLst>
              <a:ext uri="{FF2B5EF4-FFF2-40B4-BE49-F238E27FC236}">
                <a16:creationId xmlns:a16="http://schemas.microsoft.com/office/drawing/2014/main" id="{58F09231-934C-7ECB-5B3A-FFD1E0C99C7E}"/>
              </a:ext>
            </a:extLst>
          </p:cNvPr>
          <p:cNvSpPr>
            <a:spLocks noGrp="1"/>
          </p:cNvSpPr>
          <p:nvPr/>
        </p:nvSpPr>
        <p:spPr>
          <a:xfrm>
            <a:off x="457200" y="523875"/>
            <a:ext cx="8229600" cy="514350"/>
          </a:xfrm>
          <a:prstGeom prst="rect">
            <a:avLst/>
          </a:prstGeom>
          <a:noFill/>
          <a:ln w="0">
            <a:noFill/>
          </a:ln>
        </p:spPr>
        <p:txBody>
          <a:bodyPr wrap="square" lIns="0" tIns="0" rIns="0" bIns="0" anchor="t">
            <a:noAutofit/>
          </a:bodyPr>
          <a:lstStyle/>
          <a:p>
            <a:pPr>
              <a:buNone/>
              <a:defRPr sz="2775" b="1">
                <a:solidFill>
                  <a:srgbClr val="0D0D0D"/>
                </a:solidFill>
                <a:latin typeface="Arial"/>
                <a:ea typeface="Arial"/>
                <a:cs typeface="Arial"/>
              </a:defRPr>
            </a:pPr>
            <a:r>
              <a:rPr sz="2750" b="1">
                <a:solidFill>
                  <a:schemeClr val="tx1">
                    <a:lumMod val="95000"/>
                    <a:lumOff val="5000"/>
                  </a:schemeClr>
                </a:solidFill>
                <a:latin typeface="Arial"/>
                <a:ea typeface="Arial"/>
                <a:cs typeface="Arial"/>
              </a:rPr>
              <a:t>Reasons behind </a:t>
            </a:r>
            <a:r>
              <a:rPr lang="en-US" sz="2750" b="1">
                <a:solidFill>
                  <a:schemeClr val="tx1">
                    <a:lumMod val="95000"/>
                    <a:lumOff val="5000"/>
                  </a:schemeClr>
                </a:solidFill>
                <a:latin typeface="Arial"/>
                <a:ea typeface="Arial"/>
                <a:cs typeface="Arial"/>
              </a:rPr>
              <a:t>drawdown</a:t>
            </a:r>
          </a:p>
        </p:txBody>
      </p:sp>
      <p:graphicFrame>
        <p:nvGraphicFramePr>
          <p:cNvPr id="23" name="Table 22"/>
          <p:cNvGraphicFramePr/>
          <p:nvPr>
            <p:extLst>
              <p:ext uri="{D42A27DB-BD31-4B8C-83A1-F6EECF244321}">
                <p14:modId xmlns:p14="http://schemas.microsoft.com/office/powerpoint/2010/main" val="4103403480"/>
              </p:ext>
            </p:extLst>
          </p:nvPr>
        </p:nvGraphicFramePr>
        <p:xfrm>
          <a:off x="457200" y="1202531"/>
          <a:ext cx="8229600" cy="4352925"/>
        </p:xfrm>
        <a:graphic>
          <a:graphicData uri="http://schemas.openxmlformats.org/drawingml/2006/table">
            <a:tbl>
              <a:tblPr firstRow="1"/>
              <a:tblGrid>
                <a:gridCol w="2028825">
                  <a:extLst>
                    <a:ext uri="{9D8B030D-6E8A-4147-A177-3AD203B41FA5}">
                      <a16:colId xmlns:a16="http://schemas.microsoft.com/office/drawing/2014/main" val="20000"/>
                    </a:ext>
                  </a:extLst>
                </a:gridCol>
                <a:gridCol w="6200775">
                  <a:extLst>
                    <a:ext uri="{9D8B030D-6E8A-4147-A177-3AD203B41FA5}">
                      <a16:colId xmlns:a16="http://schemas.microsoft.com/office/drawing/2014/main" val="20001"/>
                    </a:ext>
                  </a:extLst>
                </a:gridCol>
              </a:tblGrid>
              <a:tr h="447675">
                <a:tc>
                  <a:txBody>
                    <a:bodyPr/>
                    <a:lstStyle/>
                    <a:p>
                      <a:r>
                        <a:rPr sz="1800" b="1">
                          <a:solidFill>
                            <a:srgbClr val="FFFFFF"/>
                          </a:solidFill>
                          <a:latin typeface="Arial"/>
                          <a:ea typeface="Arial"/>
                          <a:cs typeface="Arial"/>
                        </a:rPr>
                        <a:t>Pressure / offset</a:t>
                      </a:r>
                    </a:p>
                  </a:txBody>
                  <a:tcPr marL="133350" marR="114300" marT="85725" marB="85725" anchor="ctr">
                    <a:solidFill>
                      <a:srgbClr val="142B3B"/>
                    </a:solidFill>
                  </a:tcPr>
                </a:tc>
                <a:tc>
                  <a:txBody>
                    <a:bodyPr/>
                    <a:lstStyle/>
                    <a:p>
                      <a:r>
                        <a:rPr sz="1800" b="1">
                          <a:solidFill>
                            <a:srgbClr val="FFFFFF"/>
                          </a:solidFill>
                          <a:latin typeface="Arial"/>
                          <a:ea typeface="Arial"/>
                          <a:cs typeface="Arial"/>
                        </a:rPr>
                        <a:t>Issuer evidence</a:t>
                      </a:r>
                    </a:p>
                  </a:txBody>
                  <a:tcPr marL="133350" marR="114300" marT="85725" marB="85725" anchor="ctr">
                    <a:solidFill>
                      <a:srgbClr val="142B3B"/>
                    </a:solidFill>
                  </a:tcPr>
                </a:tc>
                <a:extLst>
                  <a:ext uri="{0D108BD9-81ED-4DB2-BD59-A6C34878D82A}">
                    <a16:rowId xmlns:a16="http://schemas.microsoft.com/office/drawing/2014/main" val="10000"/>
                  </a:ext>
                </a:extLst>
              </a:tr>
              <a:tr h="819150">
                <a:tc>
                  <a:txBody>
                    <a:bodyPr/>
                    <a:lstStyle/>
                    <a:p>
                      <a:r>
                        <a:rPr sz="1800" b="1">
                          <a:solidFill>
                            <a:srgbClr val="0D0D0D"/>
                          </a:solidFill>
                          <a:latin typeface="Arial"/>
                          <a:ea typeface="Arial"/>
                          <a:cs typeface="Arial"/>
                        </a:rPr>
                        <a:t>Macro risk</a:t>
                      </a:r>
                    </a:p>
                    <a:p>
                      <a:r>
                        <a:rPr sz="1800" b="1">
                          <a:solidFill>
                            <a:srgbClr val="0D0D0D"/>
                          </a:solidFill>
                          <a:latin typeface="Arial"/>
                          <a:ea typeface="Arial"/>
                          <a:cs typeface="Arial"/>
                        </a:rPr>
                        <a:t>aversion</a:t>
                      </a:r>
                    </a:p>
                  </a:txBody>
                  <a:tcPr marL="133350" marR="114300" marT="85725" marB="85725" anchor="ctr">
                    <a:solidFill>
                      <a:srgbClr val="FFFFFF"/>
                    </a:solidFill>
                  </a:tcPr>
                </a:tc>
                <a:tc>
                  <a:txBody>
                    <a:bodyPr/>
                    <a:lstStyle/>
                    <a:p>
                      <a:r>
                        <a:rPr sz="1800" b="0">
                          <a:solidFill>
                            <a:srgbClr val="0D0D0D"/>
                          </a:solidFill>
                          <a:latin typeface="Arial"/>
                          <a:ea typeface="Arial"/>
                          <a:cs typeface="Arial"/>
                        </a:rPr>
                        <a:t>2025 tariff uncertainty and Q1 2026 geopolitical tensions</a:t>
                      </a:r>
                    </a:p>
                    <a:p>
                      <a:r>
                        <a:rPr sz="1800" b="0">
                          <a:solidFill>
                            <a:srgbClr val="0D0D0D"/>
                          </a:solidFill>
                          <a:latin typeface="Arial"/>
                          <a:ea typeface="Arial"/>
                          <a:cs typeface="Arial"/>
                        </a:rPr>
                        <a:t>raised inflation and growth concerns. [1]</a:t>
                      </a:r>
                    </a:p>
                  </a:txBody>
                  <a:tcPr marL="133350" marR="114300" marT="85725" marB="85725" anchor="ctr">
                    <a:solidFill>
                      <a:srgbClr val="FFFFFF"/>
                    </a:solidFill>
                  </a:tcPr>
                </a:tc>
                <a:extLst>
                  <a:ext uri="{0D108BD9-81ED-4DB2-BD59-A6C34878D82A}">
                    <a16:rowId xmlns:a16="http://schemas.microsoft.com/office/drawing/2014/main" val="10001"/>
                  </a:ext>
                </a:extLst>
              </a:tr>
              <a:tr h="819150">
                <a:tc>
                  <a:txBody>
                    <a:bodyPr/>
                    <a:lstStyle/>
                    <a:p>
                      <a:r>
                        <a:rPr sz="1800" b="1">
                          <a:solidFill>
                            <a:srgbClr val="0D0D0D"/>
                          </a:solidFill>
                          <a:latin typeface="Arial"/>
                          <a:ea typeface="Arial"/>
                          <a:cs typeface="Arial"/>
                        </a:rPr>
                        <a:t>Payments</a:t>
                      </a:r>
                    </a:p>
                    <a:p>
                      <a:r>
                        <a:rPr sz="1800" b="1">
                          <a:solidFill>
                            <a:srgbClr val="0D0D0D"/>
                          </a:solidFill>
                          <a:latin typeface="Arial"/>
                          <a:ea typeface="Arial"/>
                          <a:cs typeface="Arial"/>
                        </a:rPr>
                        <a:t>earnings pressure</a:t>
                      </a:r>
                    </a:p>
                  </a:txBody>
                  <a:tcPr marL="133350" marR="114300" marT="85725" marB="85725" anchor="ctr">
                    <a:solidFill>
                      <a:srgbClr val="F0F4F5"/>
                    </a:solidFill>
                  </a:tcPr>
                </a:tc>
                <a:tc>
                  <a:txBody>
                    <a:bodyPr/>
                    <a:lstStyle/>
                    <a:p>
                      <a:r>
                        <a:rPr sz="1800" b="0">
                          <a:solidFill>
                            <a:srgbClr val="0D0D0D"/>
                          </a:solidFill>
                          <a:latin typeface="Arial"/>
                          <a:ea typeface="Arial"/>
                          <a:cs typeface="Arial"/>
                        </a:rPr>
                        <a:t>Fiserv reset 2025 organic growth guidance to 3.5–4%.</a:t>
                      </a:r>
                    </a:p>
                    <a:p>
                      <a:r>
                        <a:rPr sz="1800" b="0">
                          <a:solidFill>
                            <a:srgbClr val="0D0D0D"/>
                          </a:solidFill>
                          <a:latin typeface="Arial"/>
                          <a:ea typeface="Arial"/>
                          <a:cs typeface="Arial"/>
                        </a:rPr>
                        <a:t>Fidelity cited slower growth and pricing concerns. [2, 3]</a:t>
                      </a:r>
                    </a:p>
                  </a:txBody>
                  <a:tcPr marL="133350" marR="114300" marT="85725" marB="85725" anchor="ctr">
                    <a:solidFill>
                      <a:srgbClr val="F0F4F5"/>
                    </a:solidFill>
                  </a:tcPr>
                </a:tc>
                <a:extLst>
                  <a:ext uri="{0D108BD9-81ED-4DB2-BD59-A6C34878D82A}">
                    <a16:rowId xmlns:a16="http://schemas.microsoft.com/office/drawing/2014/main" val="10002"/>
                  </a:ext>
                </a:extLst>
              </a:tr>
              <a:tr h="819150">
                <a:tc>
                  <a:txBody>
                    <a:bodyPr/>
                    <a:lstStyle/>
                    <a:p>
                      <a:r>
                        <a:rPr sz="1800" b="1">
                          <a:solidFill>
                            <a:srgbClr val="0D0D0D"/>
                          </a:solidFill>
                          <a:latin typeface="Arial"/>
                          <a:ea typeface="Arial"/>
                          <a:cs typeface="Arial"/>
                        </a:rPr>
                        <a:t>Crypto weakness</a:t>
                      </a:r>
                    </a:p>
                  </a:txBody>
                  <a:tcPr marL="133350" marR="114300" marT="85725" marB="85725" anchor="ctr">
                    <a:solidFill>
                      <a:srgbClr val="FFFFFF"/>
                    </a:solidFill>
                  </a:tcPr>
                </a:tc>
                <a:tc>
                  <a:txBody>
                    <a:bodyPr/>
                    <a:lstStyle/>
                    <a:p>
                      <a:r>
                        <a:rPr sz="1800" b="0">
                          <a:solidFill>
                            <a:srgbClr val="0D0D0D"/>
                          </a:solidFill>
                          <a:latin typeface="Arial"/>
                          <a:ea typeface="Arial"/>
                          <a:cs typeface="Arial"/>
                        </a:rPr>
                        <a:t>ARKF Q2 2026: Circle −2.22 pp, Coinbase −1.00 pp</a:t>
                      </a:r>
                    </a:p>
                    <a:p>
                      <a:r>
                        <a:rPr sz="1800" b="0">
                          <a:solidFill>
                            <a:srgbClr val="0D0D0D"/>
                          </a:solidFill>
                          <a:latin typeface="Arial"/>
                          <a:ea typeface="Arial"/>
                          <a:cs typeface="Arial"/>
                        </a:rPr>
                        <a:t>and Bitcoin ETF −0.85 pp of return contribution. [4]</a:t>
                      </a:r>
                    </a:p>
                  </a:txBody>
                  <a:tcPr marL="133350" marR="114300" marT="85725" marB="85725" anchor="ctr">
                    <a:solidFill>
                      <a:srgbClr val="FFFFFF"/>
                    </a:solidFill>
                  </a:tcPr>
                </a:tc>
                <a:extLst>
                  <a:ext uri="{0D108BD9-81ED-4DB2-BD59-A6C34878D82A}">
                    <a16:rowId xmlns:a16="http://schemas.microsoft.com/office/drawing/2014/main" val="10003"/>
                  </a:ext>
                </a:extLst>
              </a:tr>
              <a:tr h="1000125">
                <a:tc>
                  <a:txBody>
                    <a:bodyPr/>
                    <a:lstStyle/>
                    <a:p>
                      <a:r>
                        <a:rPr sz="1800" b="1">
                          <a:solidFill>
                            <a:srgbClr val="0D0D0D"/>
                          </a:solidFill>
                          <a:latin typeface="Arial"/>
                          <a:ea typeface="Arial"/>
                          <a:cs typeface="Arial"/>
                        </a:rPr>
                        <a:t>Offsets within</a:t>
                      </a:r>
                    </a:p>
                    <a:p>
                      <a:r>
                        <a:rPr sz="1800" b="1">
                          <a:solidFill>
                            <a:srgbClr val="0D0D0D"/>
                          </a:solidFill>
                          <a:latin typeface="Arial"/>
                          <a:ea typeface="Arial"/>
                          <a:cs typeface="Arial"/>
                        </a:rPr>
                        <a:t>FDFF</a:t>
                      </a:r>
                    </a:p>
                  </a:txBody>
                  <a:tcPr marL="133350" marR="114300" marT="85725" marB="85725" anchor="ctr">
                    <a:solidFill>
                      <a:srgbClr val="F0F4F5"/>
                    </a:solidFill>
                  </a:tcPr>
                </a:tc>
                <a:tc>
                  <a:txBody>
                    <a:bodyPr/>
                    <a:lstStyle/>
                    <a:p>
                      <a:r>
                        <a:rPr sz="1800" b="0">
                          <a:solidFill>
                            <a:srgbClr val="0D0D0D"/>
                          </a:solidFill>
                          <a:latin typeface="Arial"/>
                          <a:ea typeface="Arial"/>
                          <a:cs typeface="Arial"/>
                        </a:rPr>
                        <a:t>DBS (+50%) was FDFF’s top contributor. Fidelity exited</a:t>
                      </a:r>
                    </a:p>
                    <a:p>
                      <a:r>
                        <a:rPr sz="1800" b="0">
                          <a:solidFill>
                            <a:srgbClr val="0D0D0D"/>
                          </a:solidFill>
                          <a:latin typeface="Arial"/>
                          <a:ea typeface="Arial"/>
                          <a:cs typeface="Arial"/>
                        </a:rPr>
                        <a:t>Adyen (−40%) and reduced payments exposure. [3]</a:t>
                      </a:r>
                    </a:p>
                  </a:txBody>
                  <a:tcPr marL="133350" marR="114300" marT="85725" marB="85725" anchor="ctr">
                    <a:solidFill>
                      <a:srgbClr val="F0F4F5"/>
                    </a:solidFill>
                  </a:tcPr>
                </a:tc>
                <a:extLst>
                  <a:ext uri="{0D108BD9-81ED-4DB2-BD59-A6C34878D82A}">
                    <a16:rowId xmlns:a16="http://schemas.microsoft.com/office/drawing/2014/main" val="10004"/>
                  </a:ext>
                </a:extLst>
              </a:tr>
            </a:tbl>
          </a:graphicData>
        </a:graphic>
      </p:graphicFrame>
      <p:sp>
        <p:nvSpPr>
          <p:cNvPr id="19" name="Sources: [1] ARK Investment Management, Q1 2026 CIO commenta">
            <a:extLst>
              <a:ext uri="{FF2B5EF4-FFF2-40B4-BE49-F238E27FC236}">
                <a16:creationId xmlns:a16="http://schemas.microsoft.com/office/drawing/2014/main" id="{3D121113-862D-46F0-9DEB-D01EBC96584A}"/>
              </a:ext>
            </a:extLst>
          </p:cNvPr>
          <p:cNvSpPr>
            <a:spLocks noGrp="1"/>
          </p:cNvSpPr>
          <p:nvPr/>
        </p:nvSpPr>
        <p:spPr>
          <a:xfrm>
            <a:off x="457200" y="5719763"/>
            <a:ext cx="8229600" cy="1173692"/>
          </a:xfrm>
          <a:prstGeom prst="rect">
            <a:avLst/>
          </a:prstGeom>
          <a:noFill/>
          <a:ln w="0">
            <a:noFill/>
          </a:ln>
        </p:spPr>
        <p:txBody>
          <a:bodyPr lIns="0" tIns="0" rIns="0" bIns="0" anchor="t">
            <a:noAutofit/>
          </a:bodyPr>
          <a:lstStyle/>
          <a:p>
            <a:pPr>
              <a:defRPr sz="840" b="0">
                <a:solidFill>
                  <a:srgbClr val="536873"/>
                </a:solidFill>
                <a:latin typeface="Arial"/>
                <a:ea typeface="Arial"/>
                <a:cs typeface="Arial"/>
              </a:defRPr>
            </a:pPr>
            <a:r>
              <a:rPr sz="1400" b="0">
                <a:solidFill>
                  <a:schemeClr val="tx1">
                    <a:lumMod val="95000"/>
                    <a:lumOff val="5000"/>
                  </a:schemeClr>
                </a:solidFill>
                <a:latin typeface="Arial"/>
                <a:ea typeface="Arial"/>
                <a:cs typeface="Arial"/>
              </a:rPr>
              <a:t>Sources: </a:t>
            </a:r>
            <a:endParaRPr lang="en-US" sz="1400" b="0">
              <a:solidFill>
                <a:schemeClr val="tx1">
                  <a:lumMod val="95000"/>
                  <a:lumOff val="5000"/>
                </a:schemeClr>
              </a:solidFill>
              <a:latin typeface="Arial"/>
              <a:ea typeface="Arial"/>
              <a:cs typeface="Arial"/>
            </a:endParaRPr>
          </a:p>
          <a:p>
            <a:pPr>
              <a:defRPr sz="840" b="0">
                <a:solidFill>
                  <a:srgbClr val="536873"/>
                </a:solidFill>
                <a:latin typeface="Arial"/>
                <a:ea typeface="Arial"/>
                <a:cs typeface="Arial"/>
              </a:defRPr>
            </a:pPr>
            <a:r>
              <a:rPr sz="1400" b="0">
                <a:solidFill>
                  <a:schemeClr val="tx1">
                    <a:lumMod val="95000"/>
                    <a:lumOff val="5000"/>
                  </a:schemeClr>
                </a:solidFill>
                <a:latin typeface="Arial"/>
                <a:ea typeface="Arial"/>
                <a:cs typeface="Arial"/>
              </a:rPr>
              <a:t>[1] ARK Investment Management, Q1 2026 CIO commentary. </a:t>
            </a:r>
            <a:endParaRPr lang="en-US" sz="1400" b="0">
              <a:solidFill>
                <a:schemeClr val="tx1">
                  <a:lumMod val="95000"/>
                  <a:lumOff val="5000"/>
                </a:schemeClr>
              </a:solidFill>
              <a:latin typeface="Arial"/>
              <a:ea typeface="Arial"/>
              <a:cs typeface="Arial"/>
            </a:endParaRPr>
          </a:p>
          <a:p>
            <a:pPr>
              <a:defRPr sz="840" b="0">
                <a:solidFill>
                  <a:srgbClr val="536873"/>
                </a:solidFill>
                <a:latin typeface="Arial"/>
                <a:ea typeface="Arial"/>
                <a:cs typeface="Arial"/>
              </a:defRPr>
            </a:pPr>
            <a:r>
              <a:rPr sz="1400" b="0">
                <a:solidFill>
                  <a:schemeClr val="tx1">
                    <a:lumMod val="95000"/>
                    <a:lumOff val="5000"/>
                  </a:schemeClr>
                </a:solidFill>
                <a:latin typeface="Arial"/>
                <a:ea typeface="Arial"/>
                <a:cs typeface="Arial"/>
              </a:rPr>
              <a:t>[2] Fiserv, Q3 2025 results (Oct. 29, 2025).</a:t>
            </a:r>
          </a:p>
          <a:p>
            <a:pPr>
              <a:defRPr sz="840" b="0">
                <a:solidFill>
                  <a:srgbClr val="536873"/>
                </a:solidFill>
                <a:latin typeface="Arial"/>
                <a:ea typeface="Arial"/>
                <a:cs typeface="Arial"/>
              </a:defRPr>
            </a:pPr>
            <a:r>
              <a:rPr sz="1400" b="0">
                <a:solidFill>
                  <a:schemeClr val="tx1">
                    <a:lumMod val="95000"/>
                    <a:lumOff val="5000"/>
                  </a:schemeClr>
                </a:solidFill>
                <a:latin typeface="Arial"/>
                <a:ea typeface="Arial"/>
                <a:cs typeface="Arial"/>
              </a:rPr>
              <a:t>[3] Fidelity, Disruptive ETFs PM Q&amp;A (May 31, 2026), pp. 4–5. </a:t>
            </a:r>
            <a:endParaRPr lang="en-US" sz="1400" b="0">
              <a:solidFill>
                <a:schemeClr val="tx1">
                  <a:lumMod val="95000"/>
                  <a:lumOff val="5000"/>
                </a:schemeClr>
              </a:solidFill>
              <a:latin typeface="Arial"/>
              <a:ea typeface="Arial"/>
              <a:cs typeface="Arial"/>
            </a:endParaRPr>
          </a:p>
          <a:p>
            <a:pPr>
              <a:defRPr sz="840" b="0">
                <a:solidFill>
                  <a:srgbClr val="536873"/>
                </a:solidFill>
                <a:latin typeface="Arial"/>
                <a:ea typeface="Arial"/>
                <a:cs typeface="Arial"/>
              </a:defRPr>
            </a:pPr>
            <a:r>
              <a:rPr sz="1400" b="0">
                <a:solidFill>
                  <a:schemeClr val="tx1">
                    <a:lumMod val="95000"/>
                    <a:lumOff val="5000"/>
                  </a:schemeClr>
                </a:solidFill>
                <a:latin typeface="Arial"/>
                <a:ea typeface="Arial"/>
                <a:cs typeface="Arial"/>
              </a:rPr>
              <a:t>[4] ARK, Q2 2026 Quarterly Report, p. 15. </a:t>
            </a:r>
          </a:p>
        </p:txBody>
      </p:sp>
    </p:spTree>
    <p:extLst>
      <p:ext uri="{BB962C8B-B14F-4D97-AF65-F5344CB8AC3E}">
        <p14:creationId xmlns:p14="http://schemas.microsoft.com/office/powerpoint/2010/main" val="3958331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24BEE-F270-F244-8955-3E2F9D6114D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01CD668-EC4F-1BCA-9A63-EC44274B1A8B}"/>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Bitstream Charter"/>
                <a:cs typeface="Arial" panose="020B0604020202020204" pitchFamily="34" charset="0"/>
              </a:rPr>
              <a:t>FINTECH | </a:t>
            </a:r>
            <a:r>
              <a:rPr lang="en-US" sz="1125" b="1">
                <a:solidFill>
                  <a:srgbClr val="007D80"/>
                </a:solidFill>
                <a:latin typeface="Arial" panose="020B0604020202020204" pitchFamily="34" charset="0"/>
                <a:ea typeface="Bitstream Charter"/>
                <a:cs typeface="Arial" panose="020B0604020202020204" pitchFamily="34" charset="0"/>
              </a:rPr>
              <a:t>Performance</a:t>
            </a:r>
            <a:endParaRPr sz="1125" b="1">
              <a:solidFill>
                <a:srgbClr val="007D80"/>
              </a:solidFill>
              <a:latin typeface="Arial" panose="020B0604020202020204" pitchFamily="34" charset="0"/>
              <a:ea typeface="Bitstream Charter"/>
              <a:cs typeface="Arial" panose="020B0604020202020204" pitchFamily="34" charset="0"/>
            </a:endParaRPr>
          </a:p>
        </p:txBody>
      </p:sp>
      <p:sp>
        <p:nvSpPr>
          <p:cNvPr id="14" name="Rectangle 13">
            <a:extLst>
              <a:ext uri="{FF2B5EF4-FFF2-40B4-BE49-F238E27FC236}">
                <a16:creationId xmlns:a16="http://schemas.microsoft.com/office/drawing/2014/main" id="{58FAA925-0747-9F8C-E35D-3B0A6074C90E}"/>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lang="en-US" altLang="zh-CN" sz="2750" b="1">
                <a:solidFill>
                  <a:schemeClr val="tx1">
                    <a:lumMod val="95000"/>
                    <a:lumOff val="5000"/>
                  </a:schemeClr>
                </a:solidFill>
                <a:latin typeface="Arial"/>
                <a:ea typeface="Bitstream Charter"/>
                <a:cs typeface="Arial"/>
              </a:rPr>
              <a:t>Performance (2024 Jan to 2026 Sep)</a:t>
            </a:r>
            <a:endParaRPr lang="en-US" sz="2750" b="1">
              <a:solidFill>
                <a:schemeClr val="tx1">
                  <a:lumMod val="95000"/>
                  <a:lumOff val="5000"/>
                </a:schemeClr>
              </a:solidFill>
              <a:latin typeface="Arial"/>
              <a:ea typeface="Bitstream Charter"/>
              <a:cs typeface="Arial"/>
            </a:endParaRPr>
          </a:p>
        </p:txBody>
      </p:sp>
      <p:sp>
        <p:nvSpPr>
          <p:cNvPr id="23" name="Rectangle 22">
            <a:extLst>
              <a:ext uri="{FF2B5EF4-FFF2-40B4-BE49-F238E27FC236}">
                <a16:creationId xmlns:a16="http://schemas.microsoft.com/office/drawing/2014/main" id="{965827BD-12BF-23A8-B4A5-F8A2F84DD29B}"/>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C3D5DB"/>
                </a:solidFill>
                <a:latin typeface="Bitstream Charter"/>
                <a:ea typeface="Bitstream Charter"/>
                <a:cs typeface="Bitstream Charter"/>
              </a:defRPr>
            </a:pPr>
            <a:r>
              <a:rPr sz="1400" b="0">
                <a:solidFill>
                  <a:schemeClr val="tx1">
                    <a:lumMod val="95000"/>
                    <a:lumOff val="5000"/>
                  </a:schemeClr>
                </a:solidFill>
                <a:latin typeface="Arial" panose="020B0604020202020204" pitchFamily="34" charset="0"/>
                <a:ea typeface="Bitstream Charter"/>
                <a:cs typeface="Arial" panose="020B0604020202020204" pitchFamily="34" charset="0"/>
              </a:rPr>
              <a:t>Sources: </a:t>
            </a:r>
            <a:r>
              <a:rPr lang="en-US" sz="1400" b="0">
                <a:solidFill>
                  <a:schemeClr val="tx1">
                    <a:lumMod val="95000"/>
                    <a:lumOff val="5000"/>
                  </a:schemeClr>
                </a:solidFill>
                <a:latin typeface="Arial" panose="020B0604020202020204" pitchFamily="34" charset="0"/>
                <a:ea typeface="Bitstream Charter"/>
                <a:cs typeface="Arial" panose="020B0604020202020204" pitchFamily="34" charset="0"/>
              </a:rPr>
              <a:t>https://www.portfoliovisualizer.com/backtest-portfolio#analysisResults, Code: ARKF, FDFF, FINX, Benchmark: SPY, data fetched Sep 30, 2026</a:t>
            </a:r>
            <a:endParaRPr sz="1400" b="0">
              <a:solidFill>
                <a:schemeClr val="tx1">
                  <a:lumMod val="95000"/>
                  <a:lumOff val="5000"/>
                </a:schemeClr>
              </a:solidFill>
              <a:latin typeface="Arial" panose="020B0604020202020204" pitchFamily="34" charset="0"/>
              <a:ea typeface="Bitstream Charter"/>
              <a:cs typeface="Arial" panose="020B0604020202020204" pitchFamily="34" charset="0"/>
            </a:endParaRPr>
          </a:p>
        </p:txBody>
      </p:sp>
      <p:pic>
        <p:nvPicPr>
          <p:cNvPr id="3" name="Picture 2">
            <a:extLst>
              <a:ext uri="{FF2B5EF4-FFF2-40B4-BE49-F238E27FC236}">
                <a16:creationId xmlns:a16="http://schemas.microsoft.com/office/drawing/2014/main" id="{CCACF044-CC84-C69C-3366-BC10DE0AF69F}"/>
              </a:ext>
            </a:extLst>
          </p:cNvPr>
          <p:cNvPicPr>
            <a:picLocks noChangeAspect="1"/>
          </p:cNvPicPr>
          <p:nvPr/>
        </p:nvPicPr>
        <p:blipFill>
          <a:blip r:embed="rId3"/>
          <a:stretch>
            <a:fillRect/>
          </a:stretch>
        </p:blipFill>
        <p:spPr>
          <a:xfrm>
            <a:off x="0" y="1819275"/>
            <a:ext cx="9144000" cy="2991387"/>
          </a:xfrm>
          <a:prstGeom prst="rect">
            <a:avLst/>
          </a:prstGeom>
        </p:spPr>
      </p:pic>
      <p:sp>
        <p:nvSpPr>
          <p:cNvPr id="4" name="TextBox 3">
            <a:extLst>
              <a:ext uri="{FF2B5EF4-FFF2-40B4-BE49-F238E27FC236}">
                <a16:creationId xmlns:a16="http://schemas.microsoft.com/office/drawing/2014/main" id="{F59BD7D0-BD80-EEC2-60CB-012632A3543E}"/>
              </a:ext>
            </a:extLst>
          </p:cNvPr>
          <p:cNvSpPr txBox="1"/>
          <p:nvPr/>
        </p:nvSpPr>
        <p:spPr>
          <a:xfrm>
            <a:off x="2329815" y="5166360"/>
            <a:ext cx="4351020" cy="369332"/>
          </a:xfrm>
          <a:prstGeom prst="rect">
            <a:avLst/>
          </a:prstGeom>
          <a:solidFill>
            <a:srgbClr val="FFFF00"/>
          </a:solidFill>
        </p:spPr>
        <p:txBody>
          <a:bodyPr wrap="square" rtlCol="0">
            <a:spAutoFit/>
          </a:bodyPr>
          <a:lstStyle/>
          <a:p>
            <a:pPr algn="ctr"/>
            <a:r>
              <a:rPr lang="en-US" altLang="zh-CN">
                <a:latin typeface="Arial" panose="020B0604020202020204" pitchFamily="34" charset="0"/>
                <a:cs typeface="Arial" panose="020B0604020202020204" pitchFamily="34" charset="0"/>
              </a:rPr>
              <a:t>Why Fintech industry?</a:t>
            </a:r>
            <a:endParaRPr lang="en-US">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C6AE63F6-D4CA-6FF5-D5A1-C4A75F1F28DC}"/>
              </a:ext>
            </a:extLst>
          </p:cNvPr>
          <p:cNvSpPr/>
          <p:nvPr/>
        </p:nvSpPr>
        <p:spPr>
          <a:xfrm>
            <a:off x="3566160" y="4221480"/>
            <a:ext cx="3688080" cy="20574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0758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07089BE-9F01-4983-8551-A0019891B484}"/>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8DC8C8"/>
                </a:solidFill>
                <a:latin typeface="Bitstream Charter"/>
                <a:ea typeface="Bitstream Charter"/>
                <a:cs typeface="Bitstream Charter"/>
              </a:defRPr>
            </a:pPr>
            <a:r>
              <a:rPr sz="1125" b="1">
                <a:solidFill>
                  <a:schemeClr val="tx1">
                    <a:lumMod val="95000"/>
                    <a:lumOff val="5000"/>
                  </a:schemeClr>
                </a:solidFill>
                <a:latin typeface="Arial" panose="020B0604020202020204" pitchFamily="34" charset="0"/>
                <a:ea typeface="Bitstream Charter"/>
                <a:cs typeface="Arial" panose="020B0604020202020204" pitchFamily="34" charset="0"/>
              </a:rPr>
              <a:t>FINTECH MACRO</a:t>
            </a:r>
          </a:p>
        </p:txBody>
      </p:sp>
      <p:sp>
        <p:nvSpPr>
          <p:cNvPr id="4" name="Rectangle 3">
            <a:extLst>
              <a:ext uri="{FF2B5EF4-FFF2-40B4-BE49-F238E27FC236}">
                <a16:creationId xmlns:a16="http://schemas.microsoft.com/office/drawing/2014/main" id="{CCEC3081-D327-45C1-995F-7A33DA0AC491}"/>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defRPr sz="900" b="0">
                <a:solidFill>
                  <a:srgbClr val="AEC3CC"/>
                </a:solidFill>
                <a:latin typeface="Bitstream Charter"/>
                <a:ea typeface="Bitstream Charter"/>
                <a:cs typeface="Bitstream Charter"/>
              </a:defRPr>
            </a:pPr>
            <a:r>
              <a:rPr sz="900" b="0">
                <a:solidFill>
                  <a:schemeClr val="tx1">
                    <a:lumMod val="95000"/>
                    <a:lumOff val="5000"/>
                  </a:schemeClr>
                </a:solidFill>
                <a:latin typeface="Arial" panose="020B0604020202020204" pitchFamily="34" charset="0"/>
                <a:ea typeface="Bitstream Charter"/>
                <a:cs typeface="Arial" panose="020B0604020202020204" pitchFamily="34" charset="0"/>
              </a:rPr>
              <a:t>01</a:t>
            </a:r>
          </a:p>
        </p:txBody>
      </p:sp>
      <p:sp>
        <p:nvSpPr>
          <p:cNvPr id="5" name="Rectangle 4">
            <a:extLst>
              <a:ext uri="{FF2B5EF4-FFF2-40B4-BE49-F238E27FC236}">
                <a16:creationId xmlns:a16="http://schemas.microsoft.com/office/drawing/2014/main" id="{D48F6B15-96A0-439F-A34D-DFDE1A00B76B}"/>
              </a:ext>
            </a:extLst>
          </p:cNvPr>
          <p:cNvSpPr>
            <a:spLocks noGrp="1"/>
          </p:cNvSpPr>
          <p:nvPr/>
        </p:nvSpPr>
        <p:spPr>
          <a:xfrm>
            <a:off x="457200" y="1585722"/>
            <a:ext cx="5238750" cy="285750"/>
          </a:xfrm>
          <a:prstGeom prst="rect">
            <a:avLst/>
          </a:prstGeom>
          <a:noFill/>
          <a:ln w="0">
            <a:noFill/>
          </a:ln>
        </p:spPr>
        <p:txBody>
          <a:bodyPr wrap="square" lIns="0" tIns="0" rIns="0" bIns="0" anchor="t">
            <a:noAutofit/>
          </a:bodyPr>
          <a:lstStyle/>
          <a:p>
            <a:pPr>
              <a:defRPr sz="1725" b="1">
                <a:solidFill>
                  <a:srgbClr val="86CDCD"/>
                </a:solidFill>
                <a:latin typeface="Bitstream Charter"/>
                <a:ea typeface="Bitstream Charter"/>
                <a:cs typeface="Bitstream Charter"/>
              </a:defRPr>
            </a:pPr>
            <a:r>
              <a:rPr sz="1725" b="1">
                <a:solidFill>
                  <a:schemeClr val="tx1">
                    <a:lumMod val="95000"/>
                    <a:lumOff val="5000"/>
                  </a:schemeClr>
                </a:solidFill>
                <a:latin typeface="Arial" panose="020B0604020202020204" pitchFamily="34" charset="0"/>
                <a:ea typeface="Bitstream Charter"/>
                <a:cs typeface="Arial" panose="020B0604020202020204" pitchFamily="34" charset="0"/>
              </a:rPr>
              <a:t>THE INDUSTRY</a:t>
            </a:r>
          </a:p>
        </p:txBody>
      </p:sp>
      <p:sp>
        <p:nvSpPr>
          <p:cNvPr id="6" name="Rectangle 5">
            <a:extLst>
              <a:ext uri="{FF2B5EF4-FFF2-40B4-BE49-F238E27FC236}">
                <a16:creationId xmlns:a16="http://schemas.microsoft.com/office/drawing/2014/main" id="{A414E0D8-15CD-47CD-9ADB-D8376A2B80AC}"/>
              </a:ext>
            </a:extLst>
          </p:cNvPr>
          <p:cNvSpPr>
            <a:spLocks noGrp="1"/>
          </p:cNvSpPr>
          <p:nvPr/>
        </p:nvSpPr>
        <p:spPr>
          <a:xfrm>
            <a:off x="457200" y="1947672"/>
            <a:ext cx="5238750" cy="914400"/>
          </a:xfrm>
          <a:prstGeom prst="rect">
            <a:avLst/>
          </a:prstGeom>
          <a:noFill/>
          <a:ln w="0">
            <a:noFill/>
          </a:ln>
        </p:spPr>
        <p:txBody>
          <a:bodyPr wrap="square" lIns="0" tIns="0" rIns="0" bIns="0" anchor="t">
            <a:noAutofit/>
          </a:bodyPr>
          <a:lstStyle/>
          <a:p>
            <a:pPr>
              <a:defRPr sz="1725" b="0">
                <a:solidFill>
                  <a:srgbClr val="FFFFFF"/>
                </a:solidFill>
                <a:latin typeface="Bitstream Charter"/>
                <a:ea typeface="Bitstream Charter"/>
                <a:cs typeface="Bitstream Charter"/>
              </a:defRPr>
            </a:pPr>
            <a:r>
              <a:rPr sz="1725" b="0">
                <a:solidFill>
                  <a:schemeClr val="tx1">
                    <a:lumMod val="95000"/>
                    <a:lumOff val="5000"/>
                  </a:schemeClr>
                </a:solidFill>
                <a:latin typeface="Arial" panose="020B0604020202020204" pitchFamily="34" charset="0"/>
                <a:ea typeface="Bitstream Charter"/>
                <a:cs typeface="Arial" panose="020B0604020202020204" pitchFamily="34" charset="0"/>
              </a:rPr>
              <a:t>Payments, digital banking, lending, wealth platforms and financial software monetize the shift to digital transactions.</a:t>
            </a:r>
          </a:p>
        </p:txBody>
      </p:sp>
      <p:sp>
        <p:nvSpPr>
          <p:cNvPr id="7" name="Rectangle 6">
            <a:extLst>
              <a:ext uri="{FF2B5EF4-FFF2-40B4-BE49-F238E27FC236}">
                <a16:creationId xmlns:a16="http://schemas.microsoft.com/office/drawing/2014/main" id="{4DC39520-4CE1-4C12-B4CA-9A646241CB2A}"/>
              </a:ext>
            </a:extLst>
          </p:cNvPr>
          <p:cNvSpPr>
            <a:spLocks noGrp="1"/>
          </p:cNvSpPr>
          <p:nvPr/>
        </p:nvSpPr>
        <p:spPr>
          <a:xfrm>
            <a:off x="457200" y="2890647"/>
            <a:ext cx="5238750" cy="285750"/>
          </a:xfrm>
          <a:prstGeom prst="rect">
            <a:avLst/>
          </a:prstGeom>
          <a:noFill/>
          <a:ln w="0">
            <a:noFill/>
          </a:ln>
        </p:spPr>
        <p:txBody>
          <a:bodyPr wrap="square" lIns="0" tIns="0" rIns="0" bIns="0" anchor="t">
            <a:noAutofit/>
          </a:bodyPr>
          <a:lstStyle/>
          <a:p>
            <a:pPr>
              <a:defRPr sz="1725" b="1">
                <a:solidFill>
                  <a:srgbClr val="86CDCD"/>
                </a:solidFill>
                <a:latin typeface="Bitstream Charter"/>
                <a:ea typeface="Bitstream Charter"/>
                <a:cs typeface="Bitstream Charter"/>
              </a:defRPr>
            </a:pPr>
            <a:r>
              <a:rPr sz="1725" b="1">
                <a:solidFill>
                  <a:schemeClr val="tx1">
                    <a:lumMod val="95000"/>
                    <a:lumOff val="5000"/>
                  </a:schemeClr>
                </a:solidFill>
                <a:latin typeface="Arial" panose="020B0604020202020204" pitchFamily="34" charset="0"/>
                <a:ea typeface="Bitstream Charter"/>
                <a:cs typeface="Arial" panose="020B0604020202020204" pitchFamily="34" charset="0"/>
              </a:rPr>
              <a:t>WHY INVEST NOW</a:t>
            </a:r>
          </a:p>
        </p:txBody>
      </p:sp>
      <p:sp>
        <p:nvSpPr>
          <p:cNvPr id="8" name="Rectangle 7">
            <a:extLst>
              <a:ext uri="{FF2B5EF4-FFF2-40B4-BE49-F238E27FC236}">
                <a16:creationId xmlns:a16="http://schemas.microsoft.com/office/drawing/2014/main" id="{E80C1AFC-A13D-4731-BC3D-FB29E70034E1}"/>
              </a:ext>
            </a:extLst>
          </p:cNvPr>
          <p:cNvSpPr>
            <a:spLocks noGrp="1"/>
          </p:cNvSpPr>
          <p:nvPr/>
        </p:nvSpPr>
        <p:spPr>
          <a:xfrm>
            <a:off x="457200" y="3252597"/>
            <a:ext cx="5238750" cy="914400"/>
          </a:xfrm>
          <a:prstGeom prst="rect">
            <a:avLst/>
          </a:prstGeom>
          <a:noFill/>
          <a:ln w="0">
            <a:noFill/>
          </a:ln>
        </p:spPr>
        <p:txBody>
          <a:bodyPr wrap="square" lIns="0" tIns="0" rIns="0" bIns="0" anchor="t">
            <a:noAutofit/>
          </a:bodyPr>
          <a:lstStyle/>
          <a:p>
            <a:pPr>
              <a:defRPr sz="1725" b="0">
                <a:solidFill>
                  <a:srgbClr val="FFFFFF"/>
                </a:solidFill>
                <a:latin typeface="Bitstream Charter"/>
                <a:ea typeface="Bitstream Charter"/>
                <a:cs typeface="Bitstream Charter"/>
              </a:defRPr>
            </a:pPr>
            <a:r>
              <a:rPr sz="1725" b="0">
                <a:solidFill>
                  <a:schemeClr val="tx1">
                    <a:lumMod val="95000"/>
                    <a:lumOff val="5000"/>
                  </a:schemeClr>
                </a:solidFill>
                <a:latin typeface="Arial" panose="020B0604020202020204" pitchFamily="34" charset="0"/>
                <a:ea typeface="Bitstream Charter"/>
                <a:cs typeface="Arial" panose="020B0604020202020204" pitchFamily="34" charset="0"/>
              </a:rPr>
              <a:t>Resilient payment activity and emerging stablecoin rules support selective exposure to scalable financial infrastructure.</a:t>
            </a:r>
          </a:p>
        </p:txBody>
      </p:sp>
      <p:sp>
        <p:nvSpPr>
          <p:cNvPr id="9" name="Rectangle 8">
            <a:extLst>
              <a:ext uri="{FF2B5EF4-FFF2-40B4-BE49-F238E27FC236}">
                <a16:creationId xmlns:a16="http://schemas.microsoft.com/office/drawing/2014/main" id="{B1CA00EF-320A-4A2D-A369-759AD1691A30}"/>
              </a:ext>
            </a:extLst>
          </p:cNvPr>
          <p:cNvSpPr>
            <a:spLocks noGrp="1"/>
          </p:cNvSpPr>
          <p:nvPr/>
        </p:nvSpPr>
        <p:spPr>
          <a:xfrm>
            <a:off x="457200" y="4195572"/>
            <a:ext cx="5238750" cy="285750"/>
          </a:xfrm>
          <a:prstGeom prst="rect">
            <a:avLst/>
          </a:prstGeom>
          <a:noFill/>
          <a:ln w="0">
            <a:noFill/>
          </a:ln>
        </p:spPr>
        <p:txBody>
          <a:bodyPr wrap="square" lIns="0" tIns="0" rIns="0" bIns="0" anchor="t">
            <a:noAutofit/>
          </a:bodyPr>
          <a:lstStyle/>
          <a:p>
            <a:pPr>
              <a:defRPr sz="1725" b="1">
                <a:solidFill>
                  <a:srgbClr val="86CDCD"/>
                </a:solidFill>
                <a:latin typeface="Bitstream Charter"/>
                <a:ea typeface="Bitstream Charter"/>
                <a:cs typeface="Bitstream Charter"/>
              </a:defRPr>
            </a:pPr>
            <a:r>
              <a:rPr sz="1725" b="1">
                <a:solidFill>
                  <a:schemeClr val="tx1">
                    <a:lumMod val="95000"/>
                    <a:lumOff val="5000"/>
                  </a:schemeClr>
                </a:solidFill>
                <a:latin typeface="Arial" panose="020B0604020202020204" pitchFamily="34" charset="0"/>
                <a:ea typeface="Bitstream Charter"/>
                <a:cs typeface="Arial" panose="020B0604020202020204" pitchFamily="34" charset="0"/>
              </a:rPr>
              <a:t>WHAT MUST BE UNDERWRITTEN</a:t>
            </a:r>
          </a:p>
        </p:txBody>
      </p:sp>
      <p:sp>
        <p:nvSpPr>
          <p:cNvPr id="10" name="Rectangle 9">
            <a:extLst>
              <a:ext uri="{FF2B5EF4-FFF2-40B4-BE49-F238E27FC236}">
                <a16:creationId xmlns:a16="http://schemas.microsoft.com/office/drawing/2014/main" id="{52292D35-E070-44C8-A88B-1694C239EC04}"/>
              </a:ext>
            </a:extLst>
          </p:cNvPr>
          <p:cNvSpPr>
            <a:spLocks noGrp="1"/>
          </p:cNvSpPr>
          <p:nvPr/>
        </p:nvSpPr>
        <p:spPr>
          <a:xfrm>
            <a:off x="457200" y="4565650"/>
            <a:ext cx="5238750" cy="914400"/>
          </a:xfrm>
          <a:prstGeom prst="rect">
            <a:avLst/>
          </a:prstGeom>
          <a:noFill/>
          <a:ln w="0">
            <a:noFill/>
          </a:ln>
        </p:spPr>
        <p:txBody>
          <a:bodyPr wrap="square" lIns="0" tIns="0" rIns="0" bIns="0" anchor="t">
            <a:noAutofit/>
          </a:bodyPr>
          <a:lstStyle/>
          <a:p>
            <a:pPr>
              <a:defRPr sz="1725" b="0">
                <a:solidFill>
                  <a:srgbClr val="FFFFFF"/>
                </a:solidFill>
                <a:latin typeface="Bitstream Charter"/>
                <a:ea typeface="Bitstream Charter"/>
                <a:cs typeface="Bitstream Charter"/>
              </a:defRPr>
            </a:pPr>
            <a:r>
              <a:rPr sz="1725" b="0">
                <a:solidFill>
                  <a:schemeClr val="tx1">
                    <a:lumMod val="95000"/>
                    <a:lumOff val="5000"/>
                  </a:schemeClr>
                </a:solidFill>
                <a:latin typeface="Arial" panose="020B0604020202020204" pitchFamily="34" charset="0"/>
                <a:ea typeface="Bitstream Charter"/>
                <a:cs typeface="Arial" panose="020B0604020202020204" pitchFamily="34" charset="0"/>
              </a:rPr>
              <a:t>Adoption must translate into durable margins and cash flow. Competition, credit losses and higher rates can absorb the gains.</a:t>
            </a:r>
          </a:p>
        </p:txBody>
      </p:sp>
      <p:sp>
        <p:nvSpPr>
          <p:cNvPr id="11" name="Rectangle 10">
            <a:extLst>
              <a:ext uri="{FF2B5EF4-FFF2-40B4-BE49-F238E27FC236}">
                <a16:creationId xmlns:a16="http://schemas.microsoft.com/office/drawing/2014/main" id="{15B366BC-2FD6-4B2B-A242-A2049F1EA195}"/>
              </a:ext>
            </a:extLst>
          </p:cNvPr>
          <p:cNvSpPr>
            <a:spLocks noGrp="1"/>
          </p:cNvSpPr>
          <p:nvPr/>
        </p:nvSpPr>
        <p:spPr>
          <a:xfrm>
            <a:off x="6362700" y="1547622"/>
            <a:ext cx="2286000" cy="619125"/>
          </a:xfrm>
          <a:prstGeom prst="rect">
            <a:avLst/>
          </a:prstGeom>
          <a:noFill/>
          <a:ln w="0">
            <a:noFill/>
          </a:ln>
        </p:spPr>
        <p:txBody>
          <a:bodyPr wrap="square" lIns="0" tIns="0" rIns="0" bIns="0" anchor="t">
            <a:noAutofit/>
          </a:bodyPr>
          <a:lstStyle/>
          <a:p>
            <a:pPr>
              <a:defRPr sz="4050" b="1">
                <a:solidFill>
                  <a:srgbClr val="FFFFFF"/>
                </a:solidFill>
                <a:latin typeface="Bitstream Charter"/>
                <a:ea typeface="Bitstream Charter"/>
                <a:cs typeface="Bitstream Charter"/>
              </a:defRPr>
            </a:pPr>
            <a:r>
              <a:rPr sz="4050" b="1">
                <a:solidFill>
                  <a:schemeClr val="tx1">
                    <a:lumMod val="95000"/>
                    <a:lumOff val="5000"/>
                  </a:schemeClr>
                </a:solidFill>
                <a:latin typeface="Arial" panose="020B0604020202020204" pitchFamily="34" charset="0"/>
                <a:ea typeface="Bitstream Charter"/>
                <a:cs typeface="Arial" panose="020B0604020202020204" pitchFamily="34" charset="0"/>
              </a:rPr>
              <a:t>+10%</a:t>
            </a:r>
          </a:p>
        </p:txBody>
      </p:sp>
      <p:sp>
        <p:nvSpPr>
          <p:cNvPr id="12" name="Rectangle 11">
            <a:extLst>
              <a:ext uri="{FF2B5EF4-FFF2-40B4-BE49-F238E27FC236}">
                <a16:creationId xmlns:a16="http://schemas.microsoft.com/office/drawing/2014/main" id="{1EC59643-93F2-4FD9-AAFE-6A8E18D4E92A}"/>
              </a:ext>
            </a:extLst>
          </p:cNvPr>
          <p:cNvSpPr>
            <a:spLocks noGrp="1"/>
          </p:cNvSpPr>
          <p:nvPr/>
        </p:nvSpPr>
        <p:spPr>
          <a:xfrm>
            <a:off x="6362700" y="2214372"/>
            <a:ext cx="2247900" cy="762000"/>
          </a:xfrm>
          <a:prstGeom prst="rect">
            <a:avLst/>
          </a:prstGeom>
          <a:noFill/>
          <a:ln w="0">
            <a:noFill/>
          </a:ln>
        </p:spPr>
        <p:txBody>
          <a:bodyPr wrap="square" lIns="0" tIns="0" rIns="0" bIns="0" anchor="t">
            <a:noAutofit/>
          </a:bodyPr>
          <a:lstStyle/>
          <a:p>
            <a:pPr>
              <a:defRPr sz="1500" b="0">
                <a:solidFill>
                  <a:srgbClr val="BCD1D8"/>
                </a:solidFill>
                <a:latin typeface="Bitstream Charter"/>
                <a:ea typeface="Bitstream Charter"/>
                <a:cs typeface="Bitstream Charter"/>
              </a:defRPr>
            </a:pPr>
            <a:r>
              <a:rPr sz="1500" b="0">
                <a:solidFill>
                  <a:schemeClr val="tx1">
                    <a:lumMod val="95000"/>
                    <a:lumOff val="5000"/>
                  </a:schemeClr>
                </a:solidFill>
                <a:latin typeface="Arial" panose="020B0604020202020204" pitchFamily="34" charset="0"/>
                <a:ea typeface="Bitstream Charter"/>
                <a:cs typeface="Arial" panose="020B0604020202020204" pitchFamily="34" charset="0"/>
              </a:rPr>
              <a:t>Visa payments volume</a:t>
            </a:r>
          </a:p>
          <a:p>
            <a:pPr>
              <a:defRPr sz="1500" b="0">
                <a:solidFill>
                  <a:srgbClr val="BCD1D8"/>
                </a:solidFill>
                <a:latin typeface="Bitstream Charter"/>
                <a:ea typeface="Bitstream Charter"/>
                <a:cs typeface="Bitstream Charter"/>
              </a:defRPr>
            </a:pPr>
            <a:r>
              <a:rPr sz="1500" b="0">
                <a:solidFill>
                  <a:schemeClr val="tx1">
                    <a:lumMod val="95000"/>
                    <a:lumOff val="5000"/>
                  </a:schemeClr>
                </a:solidFill>
                <a:latin typeface="Arial" panose="020B0604020202020204" pitchFamily="34" charset="0"/>
                <a:ea typeface="Bitstream Charter"/>
                <a:cs typeface="Arial" panose="020B0604020202020204" pitchFamily="34" charset="0"/>
              </a:rPr>
              <a:t>Year over year, constant dollars</a:t>
            </a:r>
          </a:p>
        </p:txBody>
      </p:sp>
      <p:sp>
        <p:nvSpPr>
          <p:cNvPr id="13" name="Rectangle 12">
            <a:extLst>
              <a:ext uri="{FF2B5EF4-FFF2-40B4-BE49-F238E27FC236}">
                <a16:creationId xmlns:a16="http://schemas.microsoft.com/office/drawing/2014/main" id="{9908B60B-FE7B-43CF-9658-1784D6609E0F}"/>
              </a:ext>
            </a:extLst>
          </p:cNvPr>
          <p:cNvSpPr>
            <a:spLocks noGrp="1"/>
          </p:cNvSpPr>
          <p:nvPr/>
        </p:nvSpPr>
        <p:spPr>
          <a:xfrm>
            <a:off x="6362700" y="3224022"/>
            <a:ext cx="2286000" cy="619125"/>
          </a:xfrm>
          <a:prstGeom prst="rect">
            <a:avLst/>
          </a:prstGeom>
          <a:noFill/>
          <a:ln w="0">
            <a:noFill/>
          </a:ln>
        </p:spPr>
        <p:txBody>
          <a:bodyPr wrap="square" lIns="0" tIns="0" rIns="0" bIns="0" anchor="t">
            <a:noAutofit/>
          </a:bodyPr>
          <a:lstStyle/>
          <a:p>
            <a:pPr>
              <a:defRPr sz="4050" b="1">
                <a:solidFill>
                  <a:srgbClr val="FFFFFF"/>
                </a:solidFill>
                <a:latin typeface="Bitstream Charter"/>
                <a:ea typeface="Bitstream Charter"/>
                <a:cs typeface="Bitstream Charter"/>
              </a:defRPr>
            </a:pPr>
            <a:r>
              <a:rPr sz="4050" b="1">
                <a:solidFill>
                  <a:schemeClr val="tx1">
                    <a:lumMod val="95000"/>
                    <a:lumOff val="5000"/>
                  </a:schemeClr>
                </a:solidFill>
                <a:latin typeface="Arial" panose="020B0604020202020204" pitchFamily="34" charset="0"/>
                <a:ea typeface="Bitstream Charter"/>
                <a:cs typeface="Arial" panose="020B0604020202020204" pitchFamily="34" charset="0"/>
              </a:rPr>
              <a:t>+13%</a:t>
            </a:r>
          </a:p>
        </p:txBody>
      </p:sp>
      <p:sp>
        <p:nvSpPr>
          <p:cNvPr id="14" name="Rectangle 13">
            <a:extLst>
              <a:ext uri="{FF2B5EF4-FFF2-40B4-BE49-F238E27FC236}">
                <a16:creationId xmlns:a16="http://schemas.microsoft.com/office/drawing/2014/main" id="{A1340CEA-5404-4539-BA36-642740F513E4}"/>
              </a:ext>
            </a:extLst>
          </p:cNvPr>
          <p:cNvSpPr>
            <a:spLocks noGrp="1"/>
          </p:cNvSpPr>
          <p:nvPr/>
        </p:nvSpPr>
        <p:spPr>
          <a:xfrm>
            <a:off x="6362700" y="3890772"/>
            <a:ext cx="2247900" cy="762000"/>
          </a:xfrm>
          <a:prstGeom prst="rect">
            <a:avLst/>
          </a:prstGeom>
          <a:noFill/>
          <a:ln w="0">
            <a:noFill/>
          </a:ln>
        </p:spPr>
        <p:txBody>
          <a:bodyPr wrap="square" lIns="0" tIns="0" rIns="0" bIns="0" anchor="t">
            <a:noAutofit/>
          </a:bodyPr>
          <a:lstStyle/>
          <a:p>
            <a:pPr>
              <a:defRPr sz="1500" b="0">
                <a:solidFill>
                  <a:srgbClr val="BCD1D8"/>
                </a:solidFill>
                <a:latin typeface="Bitstream Charter"/>
                <a:ea typeface="Bitstream Charter"/>
                <a:cs typeface="Bitstream Charter"/>
              </a:defRPr>
            </a:pPr>
            <a:r>
              <a:rPr sz="1500" b="0">
                <a:solidFill>
                  <a:schemeClr val="tx1">
                    <a:lumMod val="95000"/>
                    <a:lumOff val="5000"/>
                  </a:schemeClr>
                </a:solidFill>
                <a:latin typeface="Arial" panose="020B0604020202020204" pitchFamily="34" charset="0"/>
                <a:ea typeface="Bitstream Charter"/>
                <a:cs typeface="Arial" panose="020B0604020202020204" pitchFamily="34" charset="0"/>
              </a:rPr>
              <a:t>Visa cross-border volume</a:t>
            </a:r>
          </a:p>
          <a:p>
            <a:pPr>
              <a:defRPr sz="1500" b="0">
                <a:solidFill>
                  <a:srgbClr val="BCD1D8"/>
                </a:solidFill>
                <a:latin typeface="Bitstream Charter"/>
                <a:ea typeface="Bitstream Charter"/>
                <a:cs typeface="Bitstream Charter"/>
              </a:defRPr>
            </a:pPr>
            <a:r>
              <a:rPr sz="1500" b="0">
                <a:solidFill>
                  <a:schemeClr val="tx1">
                    <a:lumMod val="95000"/>
                    <a:lumOff val="5000"/>
                  </a:schemeClr>
                </a:solidFill>
                <a:latin typeface="Arial" panose="020B0604020202020204" pitchFamily="34" charset="0"/>
                <a:ea typeface="Bitstream Charter"/>
                <a:cs typeface="Arial" panose="020B0604020202020204" pitchFamily="34" charset="0"/>
              </a:rPr>
              <a:t>Year over year, constant dollars</a:t>
            </a:r>
          </a:p>
        </p:txBody>
      </p:sp>
      <p:sp>
        <p:nvSpPr>
          <p:cNvPr id="15" name="Rectangle 14">
            <a:extLst>
              <a:ext uri="{FF2B5EF4-FFF2-40B4-BE49-F238E27FC236}">
                <a16:creationId xmlns:a16="http://schemas.microsoft.com/office/drawing/2014/main" id="{6FC4D087-5570-47F5-A091-10F1534B561E}"/>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C3D5DB"/>
                </a:solidFill>
                <a:latin typeface="Bitstream Charter"/>
                <a:ea typeface="Bitstream Charter"/>
                <a:cs typeface="Bitstream Charter"/>
              </a:defRPr>
            </a:pPr>
            <a:r>
              <a:rPr sz="1400" b="0">
                <a:solidFill>
                  <a:schemeClr val="tx1">
                    <a:lumMod val="95000"/>
                    <a:lumOff val="5000"/>
                  </a:schemeClr>
                </a:solidFill>
                <a:latin typeface="Arial" panose="020B0604020202020204" pitchFamily="34" charset="0"/>
                <a:ea typeface="Bitstream Charter"/>
                <a:cs typeface="Arial" panose="020B0604020202020204" pitchFamily="34" charset="0"/>
              </a:rPr>
              <a:t>Sources: Visa FYQ3 2026 earnings release (quarter ended June 30); Federal Reserve, September 24, 2026; analyst assessment.</a:t>
            </a:r>
          </a:p>
        </p:txBody>
      </p:sp>
      <p:sp>
        <p:nvSpPr>
          <p:cNvPr id="3" name="Rectangle 2">
            <a:extLst>
              <a:ext uri="{FF2B5EF4-FFF2-40B4-BE49-F238E27FC236}">
                <a16:creationId xmlns:a16="http://schemas.microsoft.com/office/drawing/2014/main" id="{B1A58739-8483-C4B7-B48D-2BF3C0B651E7}"/>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lang="en-US" altLang="zh-CN" sz="2750" b="1">
                <a:solidFill>
                  <a:schemeClr val="tx1">
                    <a:lumMod val="95000"/>
                    <a:lumOff val="5000"/>
                  </a:schemeClr>
                </a:solidFill>
                <a:latin typeface="Arial"/>
                <a:cs typeface="Arial"/>
              </a:rPr>
              <a:t>Tailwinds</a:t>
            </a:r>
            <a:endParaRPr lang="en-US" sz="2750">
              <a:solidFill>
                <a:schemeClr val="tx1">
                  <a:lumMod val="95000"/>
                  <a:lumOff val="5000"/>
                </a:schemeClr>
              </a:solidFill>
            </a:endParaRPr>
          </a:p>
        </p:txBody>
      </p:sp>
    </p:spTree>
    <p:extLst>
      <p:ext uri="{BB962C8B-B14F-4D97-AF65-F5344CB8AC3E}">
        <p14:creationId xmlns:p14="http://schemas.microsoft.com/office/powerpoint/2010/main" val="432212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750A00-9C58-4EE2-8D23-21E6BB644205}"/>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Bitstream Charter"/>
                <a:cs typeface="Arial" panose="020B0604020202020204" pitchFamily="34" charset="0"/>
              </a:rPr>
              <a:t>FINTECH MACRO | REGULATION</a:t>
            </a:r>
          </a:p>
        </p:txBody>
      </p:sp>
      <p:sp>
        <p:nvSpPr>
          <p:cNvPr id="2" name="Rectangle 1">
            <a:extLst>
              <a:ext uri="{FF2B5EF4-FFF2-40B4-BE49-F238E27FC236}">
                <a16:creationId xmlns:a16="http://schemas.microsoft.com/office/drawing/2014/main" id="{96377586-6103-4AA1-8BE2-8DE63BDC9FF8}"/>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sz="2750" b="1">
                <a:solidFill>
                  <a:schemeClr val="tx1">
                    <a:lumMod val="95000"/>
                    <a:lumOff val="5000"/>
                  </a:schemeClr>
                </a:solidFill>
                <a:latin typeface="Arial"/>
                <a:ea typeface="Bitstream Charter"/>
                <a:cs typeface="Arial"/>
              </a:rPr>
              <a:t>Policy clarity creates opportunity</a:t>
            </a:r>
            <a:endParaRPr lang="en-US" sz="2750" b="1">
              <a:solidFill>
                <a:schemeClr val="tx1">
                  <a:lumMod val="95000"/>
                  <a:lumOff val="5000"/>
                </a:schemeClr>
              </a:solidFill>
              <a:latin typeface="Arial"/>
              <a:ea typeface="Bitstream Charter"/>
              <a:cs typeface="Arial"/>
            </a:endParaRPr>
          </a:p>
          <a:p>
            <a:pPr>
              <a:defRPr sz="2775" b="1">
                <a:solidFill>
                  <a:srgbClr val="142B3B"/>
                </a:solidFill>
                <a:latin typeface="Bitstream Charter"/>
                <a:ea typeface="Bitstream Charter"/>
                <a:cs typeface="Bitstream Charter"/>
              </a:defRPr>
            </a:pPr>
            <a:r>
              <a:rPr sz="2750" b="1">
                <a:solidFill>
                  <a:schemeClr val="tx1">
                    <a:lumMod val="95000"/>
                    <a:lumOff val="5000"/>
                  </a:schemeClr>
                </a:solidFill>
                <a:latin typeface="Arial"/>
                <a:ea typeface="Bitstream Charter"/>
                <a:cs typeface="Arial"/>
              </a:rPr>
              <a:t>and new compliance costs</a:t>
            </a:r>
          </a:p>
        </p:txBody>
      </p:sp>
      <p:sp>
        <p:nvSpPr>
          <p:cNvPr id="3" name="Rectangle 2">
            <a:extLst>
              <a:ext uri="{FF2B5EF4-FFF2-40B4-BE49-F238E27FC236}">
                <a16:creationId xmlns:a16="http://schemas.microsoft.com/office/drawing/2014/main" id="{44130E5E-DF86-40BD-A2C2-B03FB81AFB89}"/>
              </a:ext>
            </a:extLst>
          </p:cNvPr>
          <p:cNvSpPr>
            <a:spLocks noGrp="1"/>
          </p:cNvSpPr>
          <p:nvPr/>
        </p:nvSpPr>
        <p:spPr>
          <a:xfrm>
            <a:off x="457200" y="1562100"/>
            <a:ext cx="8229600" cy="352425"/>
          </a:xfrm>
          <a:prstGeom prst="rect">
            <a:avLst/>
          </a:prstGeom>
          <a:noFill/>
          <a:ln w="0">
            <a:noFill/>
          </a:ln>
        </p:spPr>
        <p:txBody>
          <a:bodyPr wrap="square" lIns="0" tIns="0" rIns="0" bIns="0" anchor="t">
            <a:noAutofit/>
          </a:bodyPr>
          <a:lstStyle/>
          <a:p>
            <a:pPr>
              <a:defRPr sz="1425" b="0">
                <a:solidFill>
                  <a:srgbClr val="536873"/>
                </a:solidFill>
                <a:latin typeface="Bitstream Charter"/>
                <a:ea typeface="Bitstream Charter"/>
                <a:cs typeface="Bitstream Charter"/>
              </a:defRPr>
            </a:pPr>
            <a:r>
              <a:rPr sz="1425" b="0">
                <a:solidFill>
                  <a:srgbClr val="536873"/>
                </a:solidFill>
                <a:latin typeface="Arial" panose="020B0604020202020204" pitchFamily="34" charset="0"/>
                <a:ea typeface="Bitstream Charter"/>
                <a:cs typeface="Arial" panose="020B0604020202020204" pitchFamily="34" charset="0"/>
              </a:rPr>
              <a:t>Regulatory status as of September 30, 2026</a:t>
            </a:r>
          </a:p>
        </p:txBody>
      </p:sp>
      <p:sp>
        <p:nvSpPr>
          <p:cNvPr id="4" name="Rectangle 3">
            <a:extLst>
              <a:ext uri="{FF2B5EF4-FFF2-40B4-BE49-F238E27FC236}">
                <a16:creationId xmlns:a16="http://schemas.microsoft.com/office/drawing/2014/main" id="{B080CF2D-E784-43E9-9293-54E5935FDAB7}"/>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defRPr sz="900" b="0">
                <a:solidFill>
                  <a:srgbClr val="536873"/>
                </a:solidFill>
                <a:latin typeface="Bitstream Charter"/>
                <a:ea typeface="Bitstream Charter"/>
                <a:cs typeface="Bitstream Charter"/>
              </a:defRPr>
            </a:pPr>
            <a:r>
              <a:rPr sz="900" b="0">
                <a:solidFill>
                  <a:srgbClr val="536873"/>
                </a:solidFill>
                <a:latin typeface="Arial" panose="020B0604020202020204" pitchFamily="34" charset="0"/>
                <a:ea typeface="Bitstream Charter"/>
                <a:cs typeface="Arial" panose="020B0604020202020204" pitchFamily="34" charset="0"/>
              </a:rPr>
              <a:t>02</a:t>
            </a:r>
          </a:p>
        </p:txBody>
      </p:sp>
      <p:graphicFrame>
        <p:nvGraphicFramePr>
          <p:cNvPr id="12" name="Table 11"/>
          <p:cNvGraphicFramePr/>
          <p:nvPr/>
        </p:nvGraphicFramePr>
        <p:xfrm>
          <a:off x="457200" y="2038350"/>
          <a:ext cx="8229600" cy="3160395"/>
        </p:xfrm>
        <a:graphic>
          <a:graphicData uri="http://schemas.openxmlformats.org/drawingml/2006/table">
            <a:tbl>
              <a:tblPr firstRow="1"/>
              <a:tblGrid>
                <a:gridCol w="1762125">
                  <a:extLst>
                    <a:ext uri="{9D8B030D-6E8A-4147-A177-3AD203B41FA5}">
                      <a16:colId xmlns:a16="http://schemas.microsoft.com/office/drawing/2014/main" val="20000"/>
                    </a:ext>
                  </a:extLst>
                </a:gridCol>
                <a:gridCol w="3228975">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457200">
                <a:tc>
                  <a:txBody>
                    <a:bodyPr/>
                    <a:lstStyle/>
                    <a:p>
                      <a:r>
                        <a:rPr sz="1575" b="1">
                          <a:solidFill>
                            <a:srgbClr val="FFFFFF"/>
                          </a:solidFill>
                          <a:latin typeface="Bitstream Charter"/>
                          <a:ea typeface="Bitstream Charter"/>
                          <a:cs typeface="Bitstream Charter"/>
                        </a:rPr>
                        <a:t>Policy area</a:t>
                      </a:r>
                    </a:p>
                  </a:txBody>
                  <a:tcPr marL="133350" marR="95250" marT="104775" marB="76200" anchor="ctr">
                    <a:solidFill>
                      <a:srgbClr val="102B3B"/>
                    </a:solidFill>
                  </a:tcPr>
                </a:tc>
                <a:tc>
                  <a:txBody>
                    <a:bodyPr/>
                    <a:lstStyle/>
                    <a:p>
                      <a:r>
                        <a:rPr sz="1575" b="1">
                          <a:solidFill>
                            <a:srgbClr val="FFFFFF"/>
                          </a:solidFill>
                          <a:latin typeface="Bitstream Charter"/>
                          <a:ea typeface="Bitstream Charter"/>
                          <a:cs typeface="Bitstream Charter"/>
                        </a:rPr>
                        <a:t>Verified status</a:t>
                      </a:r>
                    </a:p>
                  </a:txBody>
                  <a:tcPr marL="133350" marR="95250" marT="104775" marB="76200" anchor="ctr">
                    <a:solidFill>
                      <a:srgbClr val="102B3B"/>
                    </a:solidFill>
                  </a:tcPr>
                </a:tc>
                <a:tc>
                  <a:txBody>
                    <a:bodyPr/>
                    <a:lstStyle/>
                    <a:p>
                      <a:r>
                        <a:rPr sz="1575" b="1">
                          <a:solidFill>
                            <a:srgbClr val="FFFFFF"/>
                          </a:solidFill>
                          <a:latin typeface="Bitstream Charter"/>
                          <a:ea typeface="Bitstream Charter"/>
                          <a:cs typeface="Bitstream Charter"/>
                        </a:rPr>
                        <a:t>Investment implication¹</a:t>
                      </a:r>
                    </a:p>
                  </a:txBody>
                  <a:tcPr marL="133350" marR="95250" marT="104775" marB="76200" anchor="ctr">
                    <a:solidFill>
                      <a:srgbClr val="102B3B"/>
                    </a:solidFill>
                  </a:tcPr>
                </a:tc>
                <a:extLst>
                  <a:ext uri="{0D108BD9-81ED-4DB2-BD59-A6C34878D82A}">
                    <a16:rowId xmlns:a16="http://schemas.microsoft.com/office/drawing/2014/main" val="10000"/>
                  </a:ext>
                </a:extLst>
              </a:tr>
              <a:tr h="895350">
                <a:tc>
                  <a:txBody>
                    <a:bodyPr/>
                    <a:lstStyle/>
                    <a:p>
                      <a:r>
                        <a:rPr sz="1575" b="1">
                          <a:solidFill>
                            <a:srgbClr val="142B3B"/>
                          </a:solidFill>
                          <a:latin typeface="Bitstream Charter"/>
                          <a:ea typeface="Bitstream Charter"/>
                          <a:cs typeface="Bitstream Charter"/>
                        </a:rPr>
                        <a:t>U.S. stablecoins</a:t>
                      </a:r>
                    </a:p>
                  </a:txBody>
                  <a:tcPr marL="133350" marR="95250" marT="104775" marB="76200" anchor="ctr">
                    <a:solidFill>
                      <a:srgbClr val="FFFFFF"/>
                    </a:solidFill>
                  </a:tcPr>
                </a:tc>
                <a:tc>
                  <a:txBody>
                    <a:bodyPr/>
                    <a:lstStyle/>
                    <a:p>
                      <a:r>
                        <a:rPr sz="1575" b="0">
                          <a:solidFill>
                            <a:srgbClr val="142B3B"/>
                          </a:solidFill>
                          <a:latin typeface="Bitstream Charter"/>
                          <a:ea typeface="Bitstream Charter"/>
                          <a:cs typeface="Bitstream Charter"/>
                        </a:rPr>
                        <a:t>GENIUS framework enacted;</a:t>
                      </a:r>
                    </a:p>
                    <a:p>
                      <a:r>
                        <a:rPr sz="1575" b="0">
                          <a:solidFill>
                            <a:srgbClr val="142B3B"/>
                          </a:solidFill>
                          <a:latin typeface="Bitstream Charter"/>
                          <a:ea typeface="Bitstream Charter"/>
                          <a:cs typeface="Bitstream Charter"/>
                        </a:rPr>
                        <a:t>Fed implementation proposals</a:t>
                      </a:r>
                    </a:p>
                    <a:p>
                      <a:r>
                        <a:rPr sz="1575" b="0">
                          <a:solidFill>
                            <a:srgbClr val="142B3B"/>
                          </a:solidFill>
                          <a:latin typeface="Bitstream Charter"/>
                          <a:ea typeface="Bitstream Charter"/>
                          <a:cs typeface="Bitstream Charter"/>
                        </a:rPr>
                        <a:t>issued September 24.</a:t>
                      </a:r>
                    </a:p>
                  </a:txBody>
                  <a:tcPr marL="133350" marR="95250" marT="104775" marB="76200" anchor="ctr">
                    <a:solidFill>
                      <a:srgbClr val="FFFFFF"/>
                    </a:solidFill>
                  </a:tcPr>
                </a:tc>
                <a:tc>
                  <a:txBody>
                    <a:bodyPr/>
                    <a:lstStyle/>
                    <a:p>
                      <a:r>
                        <a:rPr sz="1575" b="0">
                          <a:solidFill>
                            <a:srgbClr val="142B3B"/>
                          </a:solidFill>
                          <a:latin typeface="Bitstream Charter"/>
                          <a:ea typeface="Bitstream Charter"/>
                          <a:cs typeface="Bitstream Charter"/>
                        </a:rPr>
                        <a:t>Clearer route to regulated</a:t>
                      </a:r>
                    </a:p>
                    <a:p>
                      <a:r>
                        <a:rPr sz="1575" b="0">
                          <a:solidFill>
                            <a:srgbClr val="142B3B"/>
                          </a:solidFill>
                          <a:latin typeface="Bitstream Charter"/>
                          <a:ea typeface="Bitstream Charter"/>
                          <a:cs typeface="Bitstream Charter"/>
                        </a:rPr>
                        <a:t>issuance; reserve and capital</a:t>
                      </a:r>
                    </a:p>
                    <a:p>
                      <a:r>
                        <a:rPr sz="1575" b="0">
                          <a:solidFill>
                            <a:srgbClr val="142B3B"/>
                          </a:solidFill>
                          <a:latin typeface="Bitstream Charter"/>
                          <a:ea typeface="Bitstream Charter"/>
                          <a:cs typeface="Bitstream Charter"/>
                        </a:rPr>
                        <a:t>rules constrain economics.</a:t>
                      </a:r>
                    </a:p>
                  </a:txBody>
                  <a:tcPr marL="133350" marR="95250" marT="104775" marB="76200" anchor="ctr">
                    <a:solidFill>
                      <a:srgbClr val="FFFFFF"/>
                    </a:solidFill>
                  </a:tcPr>
                </a:tc>
                <a:extLst>
                  <a:ext uri="{0D108BD9-81ED-4DB2-BD59-A6C34878D82A}">
                    <a16:rowId xmlns:a16="http://schemas.microsoft.com/office/drawing/2014/main" val="10001"/>
                  </a:ext>
                </a:extLst>
              </a:tr>
              <a:tr h="895350">
                <a:tc>
                  <a:txBody>
                    <a:bodyPr/>
                    <a:lstStyle/>
                    <a:p>
                      <a:r>
                        <a:rPr sz="1575" b="1">
                          <a:solidFill>
                            <a:srgbClr val="142B3B"/>
                          </a:solidFill>
                          <a:latin typeface="Bitstream Charter"/>
                          <a:ea typeface="Bitstream Charter"/>
                          <a:cs typeface="Bitstream Charter"/>
                        </a:rPr>
                        <a:t>U.S. open banking</a:t>
                      </a:r>
                    </a:p>
                  </a:txBody>
                  <a:tcPr marL="133350" marR="95250" marT="104775" marB="76200" anchor="ctr">
                    <a:solidFill>
                      <a:srgbClr val="F0F4F5"/>
                    </a:solidFill>
                  </a:tcPr>
                </a:tc>
                <a:tc>
                  <a:txBody>
                    <a:bodyPr/>
                    <a:lstStyle/>
                    <a:p>
                      <a:r>
                        <a:rPr sz="1575" b="0">
                          <a:solidFill>
                            <a:srgbClr val="142B3B"/>
                          </a:solidFill>
                          <a:latin typeface="Bitstream Charter"/>
                          <a:ea typeface="Bitstream Charter"/>
                          <a:cs typeface="Bitstream Charter"/>
                        </a:rPr>
                        <a:t>CFPB reconsidering data-rights</a:t>
                      </a:r>
                    </a:p>
                    <a:p>
                      <a:r>
                        <a:rPr sz="1575" b="0">
                          <a:solidFill>
                            <a:srgbClr val="142B3B"/>
                          </a:solidFill>
                          <a:latin typeface="Bitstream Charter"/>
                          <a:ea typeface="Bitstream Charter"/>
                          <a:cs typeface="Bitstream Charter"/>
                        </a:rPr>
                        <a:t>rules, including access fees,</a:t>
                      </a:r>
                    </a:p>
                    <a:p>
                      <a:r>
                        <a:rPr sz="1575" b="0">
                          <a:solidFill>
                            <a:srgbClr val="142B3B"/>
                          </a:solidFill>
                          <a:latin typeface="Bitstream Charter"/>
                          <a:ea typeface="Bitstream Charter"/>
                          <a:cs typeface="Bitstream Charter"/>
                        </a:rPr>
                        <a:t>privacy and security.</a:t>
                      </a:r>
                    </a:p>
                  </a:txBody>
                  <a:tcPr marL="133350" marR="95250" marT="104775" marB="76200" anchor="ctr">
                    <a:solidFill>
                      <a:srgbClr val="F0F4F5"/>
                    </a:solidFill>
                  </a:tcPr>
                </a:tc>
                <a:tc>
                  <a:txBody>
                    <a:bodyPr/>
                    <a:lstStyle/>
                    <a:p>
                      <a:r>
                        <a:rPr sz="1575" b="0">
                          <a:solidFill>
                            <a:srgbClr val="142B3B"/>
                          </a:solidFill>
                          <a:latin typeface="Bitstream Charter"/>
                          <a:ea typeface="Bitstream Charter"/>
                          <a:cs typeface="Bitstream Charter"/>
                        </a:rPr>
                        <a:t>Data portability could improve</a:t>
                      </a:r>
                    </a:p>
                    <a:p>
                      <a:r>
                        <a:rPr sz="1575" b="0">
                          <a:solidFill>
                            <a:srgbClr val="142B3B"/>
                          </a:solidFill>
                          <a:latin typeface="Bitstream Charter"/>
                          <a:ea typeface="Bitstream Charter"/>
                          <a:cs typeface="Bitstream Charter"/>
                        </a:rPr>
                        <a:t>competition; timing and</a:t>
                      </a:r>
                    </a:p>
                    <a:p>
                      <a:r>
                        <a:rPr sz="1575" b="0">
                          <a:solidFill>
                            <a:srgbClr val="142B3B"/>
                          </a:solidFill>
                          <a:latin typeface="Bitstream Charter"/>
                          <a:ea typeface="Bitstream Charter"/>
                          <a:cs typeface="Bitstream Charter"/>
                        </a:rPr>
                        <a:t>commercial terms remain risks.</a:t>
                      </a:r>
                    </a:p>
                  </a:txBody>
                  <a:tcPr marL="133350" marR="95250" marT="104775" marB="76200" anchor="ctr">
                    <a:solidFill>
                      <a:srgbClr val="F0F4F5"/>
                    </a:solidFill>
                  </a:tcPr>
                </a:tc>
                <a:extLst>
                  <a:ext uri="{0D108BD9-81ED-4DB2-BD59-A6C34878D82A}">
                    <a16:rowId xmlns:a16="http://schemas.microsoft.com/office/drawing/2014/main" val="10002"/>
                  </a:ext>
                </a:extLst>
              </a:tr>
              <a:tr h="895350">
                <a:tc>
                  <a:txBody>
                    <a:bodyPr/>
                    <a:lstStyle/>
                    <a:p>
                      <a:r>
                        <a:rPr sz="1575" b="1">
                          <a:solidFill>
                            <a:srgbClr val="142B3B"/>
                          </a:solidFill>
                          <a:latin typeface="Bitstream Charter"/>
                          <a:ea typeface="Bitstream Charter"/>
                          <a:cs typeface="Bitstream Charter"/>
                        </a:rPr>
                        <a:t>EU crypto assets</a:t>
                      </a:r>
                    </a:p>
                  </a:txBody>
                  <a:tcPr marL="133350" marR="95250" marT="104775" marB="76200" anchor="ctr">
                    <a:solidFill>
                      <a:srgbClr val="FFFFFF"/>
                    </a:solidFill>
                  </a:tcPr>
                </a:tc>
                <a:tc>
                  <a:txBody>
                    <a:bodyPr/>
                    <a:lstStyle/>
                    <a:p>
                      <a:r>
                        <a:rPr sz="1575" b="0">
                          <a:solidFill>
                            <a:srgbClr val="142B3B"/>
                          </a:solidFill>
                          <a:latin typeface="Bitstream Charter"/>
                          <a:ea typeface="Bitstream Charter"/>
                          <a:cs typeface="Bitstream Charter"/>
                        </a:rPr>
                        <a:t>MiCA’s maximum transition</a:t>
                      </a:r>
                    </a:p>
                    <a:p>
                      <a:r>
                        <a:rPr sz="1575" b="0">
                          <a:solidFill>
                            <a:srgbClr val="142B3B"/>
                          </a:solidFill>
                          <a:latin typeface="Bitstream Charter"/>
                          <a:ea typeface="Bitstream Charter"/>
                          <a:cs typeface="Bitstream Charter"/>
                        </a:rPr>
                        <a:t>for existing service providers</a:t>
                      </a:r>
                    </a:p>
                    <a:p>
                      <a:r>
                        <a:rPr sz="1575" b="0">
                          <a:solidFill>
                            <a:srgbClr val="142B3B"/>
                          </a:solidFill>
                          <a:latin typeface="Bitstream Charter"/>
                          <a:ea typeface="Bitstream Charter"/>
                          <a:cs typeface="Bitstream Charter"/>
                        </a:rPr>
                        <a:t>ended July 1, 2026.</a:t>
                      </a:r>
                    </a:p>
                  </a:txBody>
                  <a:tcPr marL="133350" marR="95250" marT="104775" marB="76200" anchor="ctr">
                    <a:solidFill>
                      <a:srgbClr val="FFFFFF"/>
                    </a:solidFill>
                  </a:tcPr>
                </a:tc>
                <a:tc>
                  <a:txBody>
                    <a:bodyPr/>
                    <a:lstStyle/>
                    <a:p>
                      <a:r>
                        <a:rPr sz="1575" b="0">
                          <a:solidFill>
                            <a:srgbClr val="142B3B"/>
                          </a:solidFill>
                          <a:latin typeface="Bitstream Charter"/>
                          <a:ea typeface="Bitstream Charter"/>
                          <a:cs typeface="Bitstream Charter"/>
                        </a:rPr>
                        <a:t>Authorization raises barriers</a:t>
                      </a:r>
                    </a:p>
                    <a:p>
                      <a:r>
                        <a:rPr sz="1575" b="0">
                          <a:solidFill>
                            <a:srgbClr val="142B3B"/>
                          </a:solidFill>
                          <a:latin typeface="Bitstream Charter"/>
                          <a:ea typeface="Bitstream Charter"/>
                          <a:cs typeface="Bitstream Charter"/>
                        </a:rPr>
                        <a:t>to entry and compliance costs</a:t>
                      </a:r>
                    </a:p>
                    <a:p>
                      <a:r>
                        <a:rPr sz="1575" b="0">
                          <a:solidFill>
                            <a:srgbClr val="142B3B"/>
                          </a:solidFill>
                          <a:latin typeface="Bitstream Charter"/>
                          <a:ea typeface="Bitstream Charter"/>
                          <a:cs typeface="Bitstream Charter"/>
                        </a:rPr>
                        <a:t>for cross-border platforms.</a:t>
                      </a:r>
                    </a:p>
                  </a:txBody>
                  <a:tcPr marL="133350" marR="95250" marT="104775" marB="76200" anchor="ct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1D79E008-AA39-4326-8B96-E128EE12E75F}"/>
              </a:ext>
            </a:extLst>
          </p:cNvPr>
          <p:cNvSpPr>
            <a:spLocks noGrp="1"/>
          </p:cNvSpPr>
          <p:nvPr/>
        </p:nvSpPr>
        <p:spPr>
          <a:xfrm>
            <a:off x="457200" y="5562600"/>
            <a:ext cx="8229600" cy="419100"/>
          </a:xfrm>
          <a:prstGeom prst="rect">
            <a:avLst/>
          </a:prstGeom>
          <a:noFill/>
          <a:ln w="0">
            <a:noFill/>
          </a:ln>
        </p:spPr>
        <p:txBody>
          <a:bodyPr wrap="square" lIns="0" tIns="0" rIns="0" bIns="0" anchor="t">
            <a:noAutofit/>
          </a:bodyPr>
          <a:lstStyle/>
          <a:p>
            <a:pPr>
              <a:defRPr sz="1425" b="0">
                <a:solidFill>
                  <a:srgbClr val="536873"/>
                </a:solidFill>
                <a:latin typeface="Bitstream Charter"/>
                <a:ea typeface="Bitstream Charter"/>
                <a:cs typeface="Bitstream Charter"/>
              </a:defRPr>
            </a:pPr>
            <a:r>
              <a:rPr sz="1425" b="0">
                <a:solidFill>
                  <a:srgbClr val="536873"/>
                </a:solidFill>
                <a:latin typeface="Arial" panose="020B0604020202020204" pitchFamily="34" charset="0"/>
                <a:ea typeface="Bitstream Charter"/>
                <a:cs typeface="Arial" panose="020B0604020202020204" pitchFamily="34" charset="0"/>
              </a:rPr>
              <a:t>Watch: Treasury expects GENIUS licensing requirements to begin January 18, 2027.</a:t>
            </a:r>
          </a:p>
          <a:p>
            <a:pPr>
              <a:defRPr sz="1425" b="0">
                <a:solidFill>
                  <a:srgbClr val="536873"/>
                </a:solidFill>
                <a:latin typeface="Bitstream Charter"/>
                <a:ea typeface="Bitstream Charter"/>
                <a:cs typeface="Bitstream Charter"/>
              </a:defRPr>
            </a:pPr>
            <a:r>
              <a:rPr sz="1425" b="0">
                <a:solidFill>
                  <a:srgbClr val="536873"/>
                </a:solidFill>
                <a:latin typeface="Arial" panose="020B0604020202020204" pitchFamily="34" charset="0"/>
                <a:ea typeface="Bitstream Charter"/>
                <a:cs typeface="Arial" panose="020B0604020202020204" pitchFamily="34" charset="0"/>
              </a:rPr>
              <a:t>¹Investment implications are analyst judgments; proposals are not final rules.</a:t>
            </a:r>
          </a:p>
        </p:txBody>
      </p:sp>
      <p:sp>
        <p:nvSpPr>
          <p:cNvPr id="7" name="Rectangle 6">
            <a:extLst>
              <a:ext uri="{FF2B5EF4-FFF2-40B4-BE49-F238E27FC236}">
                <a16:creationId xmlns:a16="http://schemas.microsoft.com/office/drawing/2014/main" id="{0178D267-170C-4ADD-9D65-19C9322DF019}"/>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536873"/>
                </a:solidFill>
                <a:latin typeface="Bitstream Charter"/>
                <a:ea typeface="Bitstream Charter"/>
                <a:cs typeface="Bitstream Charter"/>
              </a:defRPr>
            </a:pPr>
            <a:r>
              <a:rPr sz="885" b="0">
                <a:solidFill>
                  <a:srgbClr val="536873"/>
                </a:solidFill>
                <a:latin typeface="Arial" panose="020B0604020202020204" pitchFamily="34" charset="0"/>
                <a:ea typeface="Bitstream Charter"/>
                <a:cs typeface="Arial" panose="020B0604020202020204" pitchFamily="34" charset="0"/>
              </a:rPr>
              <a:t>Sources: Federal Reserve (9/24/26); U.S. Treasury (GENIUS rulemaking); CFPB data-rights rulemaking; ESMA, MiCA Article 143.</a:t>
            </a:r>
          </a:p>
        </p:txBody>
      </p:sp>
    </p:spTree>
    <p:extLst>
      <p:ext uri="{BB962C8B-B14F-4D97-AF65-F5344CB8AC3E}">
        <p14:creationId xmlns:p14="http://schemas.microsoft.com/office/powerpoint/2010/main" val="119401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8B095A-744E-428C-9B33-6FA60BD31838}"/>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Bitstream Charter"/>
                <a:cs typeface="Arial" panose="020B0604020202020204" pitchFamily="34" charset="0"/>
              </a:rPr>
              <a:t>FINTECH MACRO | CATALYSTS</a:t>
            </a:r>
          </a:p>
        </p:txBody>
      </p:sp>
      <p:sp>
        <p:nvSpPr>
          <p:cNvPr id="2" name="Rectangle 1">
            <a:extLst>
              <a:ext uri="{FF2B5EF4-FFF2-40B4-BE49-F238E27FC236}">
                <a16:creationId xmlns:a16="http://schemas.microsoft.com/office/drawing/2014/main" id="{675D3D5A-7516-4A94-98EC-2E1670F47C8B}"/>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sz="2775" b="1">
                <a:solidFill>
                  <a:srgbClr val="142B3B"/>
                </a:solidFill>
                <a:latin typeface="Arial" panose="020B0604020202020204" pitchFamily="34" charset="0"/>
                <a:ea typeface="Bitstream Charter"/>
                <a:cs typeface="Arial" panose="020B0604020202020204" pitchFamily="34" charset="0"/>
              </a:rPr>
              <a:t>The cycle rewards cash generation</a:t>
            </a:r>
          </a:p>
          <a:p>
            <a:pPr>
              <a:defRPr sz="2775" b="1">
                <a:solidFill>
                  <a:srgbClr val="142B3B"/>
                </a:solidFill>
                <a:latin typeface="Bitstream Charter"/>
                <a:ea typeface="Bitstream Charter"/>
                <a:cs typeface="Bitstream Charter"/>
              </a:defRPr>
            </a:pPr>
            <a:r>
              <a:rPr sz="2775" b="1">
                <a:solidFill>
                  <a:srgbClr val="142B3B"/>
                </a:solidFill>
                <a:latin typeface="Arial" panose="020B0604020202020204" pitchFamily="34" charset="0"/>
                <a:ea typeface="Bitstream Charter"/>
                <a:cs typeface="Arial" panose="020B0604020202020204" pitchFamily="34" charset="0"/>
              </a:rPr>
              <a:t>and exposes funding dependence</a:t>
            </a:r>
          </a:p>
        </p:txBody>
      </p:sp>
      <p:sp>
        <p:nvSpPr>
          <p:cNvPr id="3" name="Rectangle 2">
            <a:extLst>
              <a:ext uri="{FF2B5EF4-FFF2-40B4-BE49-F238E27FC236}">
                <a16:creationId xmlns:a16="http://schemas.microsoft.com/office/drawing/2014/main" id="{82F98B16-FE74-49A6-8031-5AD891518351}"/>
              </a:ext>
            </a:extLst>
          </p:cNvPr>
          <p:cNvSpPr>
            <a:spLocks noGrp="1"/>
          </p:cNvSpPr>
          <p:nvPr/>
        </p:nvSpPr>
        <p:spPr>
          <a:xfrm>
            <a:off x="457200" y="1562100"/>
            <a:ext cx="8229600" cy="352425"/>
          </a:xfrm>
          <a:prstGeom prst="rect">
            <a:avLst/>
          </a:prstGeom>
          <a:noFill/>
          <a:ln w="0">
            <a:noFill/>
          </a:ln>
        </p:spPr>
        <p:txBody>
          <a:bodyPr wrap="square" lIns="0" tIns="0" rIns="0" bIns="0" anchor="t">
            <a:noAutofit/>
          </a:bodyPr>
          <a:lstStyle/>
          <a:p>
            <a:pPr>
              <a:defRPr sz="1425" b="0">
                <a:solidFill>
                  <a:srgbClr val="536873"/>
                </a:solidFill>
                <a:latin typeface="Bitstream Charter"/>
                <a:ea typeface="Bitstream Charter"/>
                <a:cs typeface="Bitstream Charter"/>
              </a:defRPr>
            </a:pPr>
            <a:r>
              <a:rPr sz="1425" b="0">
                <a:solidFill>
                  <a:srgbClr val="536873"/>
                </a:solidFill>
                <a:latin typeface="Arial" panose="020B0604020202020204" pitchFamily="34" charset="0"/>
                <a:ea typeface="Bitstream Charter"/>
                <a:cs typeface="Arial" panose="020B0604020202020204" pitchFamily="34" charset="0"/>
              </a:rPr>
              <a:t>Fed target range: 3.75–4.00% after a 25 bp increase on September 16</a:t>
            </a:r>
          </a:p>
        </p:txBody>
      </p:sp>
      <p:sp>
        <p:nvSpPr>
          <p:cNvPr id="4" name="Rectangle 3">
            <a:extLst>
              <a:ext uri="{FF2B5EF4-FFF2-40B4-BE49-F238E27FC236}">
                <a16:creationId xmlns:a16="http://schemas.microsoft.com/office/drawing/2014/main" id="{B3D078AA-76E1-4EF7-8A46-03F9BED947AB}"/>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defRPr sz="900" b="0">
                <a:solidFill>
                  <a:srgbClr val="536873"/>
                </a:solidFill>
                <a:latin typeface="Bitstream Charter"/>
                <a:ea typeface="Bitstream Charter"/>
                <a:cs typeface="Bitstream Charter"/>
              </a:defRPr>
            </a:pPr>
            <a:r>
              <a:rPr sz="900" b="0">
                <a:solidFill>
                  <a:srgbClr val="536873"/>
                </a:solidFill>
                <a:latin typeface="Arial" panose="020B0604020202020204" pitchFamily="34" charset="0"/>
                <a:ea typeface="Bitstream Charter"/>
                <a:cs typeface="Arial" panose="020B0604020202020204" pitchFamily="34" charset="0"/>
              </a:rPr>
              <a:t>03</a:t>
            </a:r>
          </a:p>
        </p:txBody>
      </p:sp>
      <p:graphicFrame>
        <p:nvGraphicFramePr>
          <p:cNvPr id="12" name="Table 11"/>
          <p:cNvGraphicFramePr/>
          <p:nvPr/>
        </p:nvGraphicFramePr>
        <p:xfrm>
          <a:off x="457200" y="2038350"/>
          <a:ext cx="8229600" cy="3217545"/>
        </p:xfrm>
        <a:graphic>
          <a:graphicData uri="http://schemas.openxmlformats.org/drawingml/2006/table">
            <a:tbl>
              <a:tblPr firstRow="1"/>
              <a:tblGrid>
                <a:gridCol w="2000250">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3228975">
                  <a:extLst>
                    <a:ext uri="{9D8B030D-6E8A-4147-A177-3AD203B41FA5}">
                      <a16:colId xmlns:a16="http://schemas.microsoft.com/office/drawing/2014/main" val="20002"/>
                    </a:ext>
                  </a:extLst>
                </a:gridCol>
              </a:tblGrid>
              <a:tr h="514350">
                <a:tc>
                  <a:txBody>
                    <a:bodyPr/>
                    <a:lstStyle/>
                    <a:p>
                      <a:r>
                        <a:rPr sz="1575" b="1">
                          <a:solidFill>
                            <a:srgbClr val="FFFFFF"/>
                          </a:solidFill>
                          <a:latin typeface="Bitstream Charter"/>
                          <a:ea typeface="Bitstream Charter"/>
                          <a:cs typeface="Bitstream Charter"/>
                        </a:rPr>
                        <a:t>Catalyst to monitor</a:t>
                      </a:r>
                    </a:p>
                  </a:txBody>
                  <a:tcPr marL="133350" marR="95250" marT="104775" marB="76200" anchor="ctr">
                    <a:solidFill>
                      <a:srgbClr val="102B3B"/>
                    </a:solidFill>
                  </a:tcPr>
                </a:tc>
                <a:tc>
                  <a:txBody>
                    <a:bodyPr/>
                    <a:lstStyle/>
                    <a:p>
                      <a:r>
                        <a:rPr sz="1575" b="1">
                          <a:solidFill>
                            <a:srgbClr val="FFFFFF"/>
                          </a:solidFill>
                          <a:latin typeface="Bitstream Charter"/>
                          <a:ea typeface="Bitstream Charter"/>
                          <a:cs typeface="Bitstream Charter"/>
                        </a:rPr>
                        <a:t>Upside pathway¹</a:t>
                      </a:r>
                    </a:p>
                  </a:txBody>
                  <a:tcPr marL="133350" marR="95250" marT="104775" marB="76200" anchor="ctr">
                    <a:solidFill>
                      <a:srgbClr val="102B3B"/>
                    </a:solidFill>
                  </a:tcPr>
                </a:tc>
                <a:tc>
                  <a:txBody>
                    <a:bodyPr/>
                    <a:lstStyle/>
                    <a:p>
                      <a:r>
                        <a:rPr sz="1575" b="1">
                          <a:solidFill>
                            <a:srgbClr val="FFFFFF"/>
                          </a:solidFill>
                          <a:latin typeface="Bitstream Charter"/>
                          <a:ea typeface="Bitstream Charter"/>
                          <a:cs typeface="Bitstream Charter"/>
                        </a:rPr>
                        <a:t>Downside pathway¹</a:t>
                      </a:r>
                    </a:p>
                  </a:txBody>
                  <a:tcPr marL="133350" marR="95250" marT="104775" marB="76200" anchor="ctr">
                    <a:solidFill>
                      <a:srgbClr val="102B3B"/>
                    </a:solidFill>
                  </a:tcPr>
                </a:tc>
                <a:extLst>
                  <a:ext uri="{0D108BD9-81ED-4DB2-BD59-A6C34878D82A}">
                    <a16:rowId xmlns:a16="http://schemas.microsoft.com/office/drawing/2014/main" val="10000"/>
                  </a:ext>
                </a:extLst>
              </a:tr>
              <a:tr h="895350">
                <a:tc>
                  <a:txBody>
                    <a:bodyPr/>
                    <a:lstStyle/>
                    <a:p>
                      <a:r>
                        <a:rPr sz="1575" b="1">
                          <a:solidFill>
                            <a:srgbClr val="142B3B"/>
                          </a:solidFill>
                          <a:latin typeface="Bitstream Charter"/>
                          <a:ea typeface="Bitstream Charter"/>
                          <a:cs typeface="Bitstream Charter"/>
                        </a:rPr>
                        <a:t>Rates and inflation</a:t>
                      </a:r>
                    </a:p>
                  </a:txBody>
                  <a:tcPr marL="133350" marR="95250" marT="104775" marB="76200" anchor="ctr">
                    <a:solidFill>
                      <a:srgbClr val="FFFFFF"/>
                    </a:solidFill>
                  </a:tcPr>
                </a:tc>
                <a:tc>
                  <a:txBody>
                    <a:bodyPr/>
                    <a:lstStyle/>
                    <a:p>
                      <a:r>
                        <a:rPr sz="1575" b="0">
                          <a:solidFill>
                            <a:srgbClr val="142B3B"/>
                          </a:solidFill>
                          <a:latin typeface="Bitstream Charter"/>
                          <a:ea typeface="Bitstream Charter"/>
                          <a:cs typeface="Bitstream Charter"/>
                        </a:rPr>
                        <a:t>Lower discount rates can</a:t>
                      </a:r>
                    </a:p>
                    <a:p>
                      <a:r>
                        <a:rPr sz="1575" b="0">
                          <a:solidFill>
                            <a:srgbClr val="142B3B"/>
                          </a:solidFill>
                          <a:latin typeface="Bitstream Charter"/>
                          <a:ea typeface="Bitstream Charter"/>
                          <a:cs typeface="Bitstream Charter"/>
                        </a:rPr>
                        <a:t>support growth valuations.</a:t>
                      </a:r>
                    </a:p>
                  </a:txBody>
                  <a:tcPr marL="133350" marR="95250" marT="104775" marB="76200" anchor="ctr">
                    <a:solidFill>
                      <a:srgbClr val="FFFFFF"/>
                    </a:solidFill>
                  </a:tcPr>
                </a:tc>
                <a:tc>
                  <a:txBody>
                    <a:bodyPr/>
                    <a:lstStyle/>
                    <a:p>
                      <a:r>
                        <a:rPr sz="1575" b="0">
                          <a:solidFill>
                            <a:srgbClr val="142B3B"/>
                          </a:solidFill>
                          <a:latin typeface="Bitstream Charter"/>
                          <a:ea typeface="Bitstream Charter"/>
                          <a:cs typeface="Bitstream Charter"/>
                        </a:rPr>
                        <a:t>August CPI: +3.4% year over</a:t>
                      </a:r>
                    </a:p>
                    <a:p>
                      <a:r>
                        <a:rPr sz="1575" b="0">
                          <a:solidFill>
                            <a:srgbClr val="142B3B"/>
                          </a:solidFill>
                          <a:latin typeface="Bitstream Charter"/>
                          <a:ea typeface="Bitstream Charter"/>
                          <a:cs typeface="Bitstream Charter"/>
                        </a:rPr>
                        <a:t>year; renewed tightening</a:t>
                      </a:r>
                    </a:p>
                    <a:p>
                      <a:r>
                        <a:rPr sz="1575" b="0">
                          <a:solidFill>
                            <a:srgbClr val="142B3B"/>
                          </a:solidFill>
                          <a:latin typeface="Bitstream Charter"/>
                          <a:ea typeface="Bitstream Charter"/>
                          <a:cs typeface="Bitstream Charter"/>
                        </a:rPr>
                        <a:t>raises funding costs.</a:t>
                      </a:r>
                    </a:p>
                  </a:txBody>
                  <a:tcPr marL="133350" marR="95250" marT="104775" marB="76200" anchor="ctr">
                    <a:solidFill>
                      <a:srgbClr val="FFFFFF"/>
                    </a:solidFill>
                  </a:tcPr>
                </a:tc>
                <a:extLst>
                  <a:ext uri="{0D108BD9-81ED-4DB2-BD59-A6C34878D82A}">
                    <a16:rowId xmlns:a16="http://schemas.microsoft.com/office/drawing/2014/main" val="10001"/>
                  </a:ext>
                </a:extLst>
              </a:tr>
              <a:tr h="895350">
                <a:tc>
                  <a:txBody>
                    <a:bodyPr/>
                    <a:lstStyle/>
                    <a:p>
                      <a:r>
                        <a:rPr sz="1575" b="1">
                          <a:solidFill>
                            <a:srgbClr val="142B3B"/>
                          </a:solidFill>
                          <a:latin typeface="Bitstream Charter"/>
                          <a:ea typeface="Bitstream Charter"/>
                          <a:cs typeface="Bitstream Charter"/>
                        </a:rPr>
                        <a:t>Consumer and credit</a:t>
                      </a:r>
                    </a:p>
                  </a:txBody>
                  <a:tcPr marL="133350" marR="95250" marT="104775" marB="76200" anchor="ctr">
                    <a:solidFill>
                      <a:srgbClr val="F0F4F5"/>
                    </a:solidFill>
                  </a:tcPr>
                </a:tc>
                <a:tc>
                  <a:txBody>
                    <a:bodyPr/>
                    <a:lstStyle/>
                    <a:p>
                      <a:r>
                        <a:rPr sz="1575" b="0">
                          <a:solidFill>
                            <a:srgbClr val="142B3B"/>
                          </a:solidFill>
                          <a:latin typeface="Bitstream Charter"/>
                          <a:ea typeface="Bitstream Charter"/>
                          <a:cs typeface="Bitstream Charter"/>
                        </a:rPr>
                        <a:t>Steady spending supports</a:t>
                      </a:r>
                    </a:p>
                    <a:p>
                      <a:r>
                        <a:rPr sz="1575" b="0">
                          <a:solidFill>
                            <a:srgbClr val="142B3B"/>
                          </a:solidFill>
                          <a:latin typeface="Bitstream Charter"/>
                          <a:ea typeface="Bitstream Charter"/>
                          <a:cs typeface="Bitstream Charter"/>
                        </a:rPr>
                        <a:t>transaction revenue and</a:t>
                      </a:r>
                    </a:p>
                    <a:p>
                      <a:r>
                        <a:rPr sz="1575" b="0">
                          <a:solidFill>
                            <a:srgbClr val="142B3B"/>
                          </a:solidFill>
                          <a:latin typeface="Bitstream Charter"/>
                          <a:ea typeface="Bitstream Charter"/>
                          <a:cs typeface="Bitstream Charter"/>
                        </a:rPr>
                        <a:t>operating leverage.</a:t>
                      </a:r>
                    </a:p>
                  </a:txBody>
                  <a:tcPr marL="133350" marR="95250" marT="104775" marB="76200" anchor="ctr">
                    <a:solidFill>
                      <a:srgbClr val="F0F4F5"/>
                    </a:solidFill>
                  </a:tcPr>
                </a:tc>
                <a:tc>
                  <a:txBody>
                    <a:bodyPr/>
                    <a:lstStyle/>
                    <a:p>
                      <a:r>
                        <a:rPr sz="1575" b="0">
                          <a:solidFill>
                            <a:srgbClr val="142B3B"/>
                          </a:solidFill>
                          <a:latin typeface="Bitstream Charter"/>
                          <a:ea typeface="Bitstream Charter"/>
                          <a:cs typeface="Bitstream Charter"/>
                        </a:rPr>
                        <a:t>Weak borrowers, higher losses</a:t>
                      </a:r>
                    </a:p>
                    <a:p>
                      <a:r>
                        <a:rPr sz="1575" b="0">
                          <a:solidFill>
                            <a:srgbClr val="142B3B"/>
                          </a:solidFill>
                          <a:latin typeface="Bitstream Charter"/>
                          <a:ea typeface="Bitstream Charter"/>
                          <a:cs typeface="Bitstream Charter"/>
                        </a:rPr>
                        <a:t>and tighter funding can hurt</a:t>
                      </a:r>
                    </a:p>
                    <a:p>
                      <a:r>
                        <a:rPr sz="1575" b="0">
                          <a:solidFill>
                            <a:srgbClr val="142B3B"/>
                          </a:solidFill>
                          <a:latin typeface="Bitstream Charter"/>
                          <a:ea typeface="Bitstream Charter"/>
                          <a:cs typeface="Bitstream Charter"/>
                        </a:rPr>
                        <a:t>lenders and BNPL providers.</a:t>
                      </a:r>
                    </a:p>
                  </a:txBody>
                  <a:tcPr marL="133350" marR="95250" marT="104775" marB="76200" anchor="ctr">
                    <a:solidFill>
                      <a:srgbClr val="F0F4F5"/>
                    </a:solidFill>
                  </a:tcPr>
                </a:tc>
                <a:extLst>
                  <a:ext uri="{0D108BD9-81ED-4DB2-BD59-A6C34878D82A}">
                    <a16:rowId xmlns:a16="http://schemas.microsoft.com/office/drawing/2014/main" val="10002"/>
                  </a:ext>
                </a:extLst>
              </a:tr>
              <a:tr h="895350">
                <a:tc>
                  <a:txBody>
                    <a:bodyPr/>
                    <a:lstStyle/>
                    <a:p>
                      <a:r>
                        <a:rPr sz="1575" b="1">
                          <a:solidFill>
                            <a:srgbClr val="142B3B"/>
                          </a:solidFill>
                          <a:latin typeface="Bitstream Charter"/>
                          <a:ea typeface="Bitstream Charter"/>
                          <a:cs typeface="Bitstream Charter"/>
                        </a:rPr>
                        <a:t>AI and payment rails</a:t>
                      </a:r>
                    </a:p>
                  </a:txBody>
                  <a:tcPr marL="133350" marR="95250" marT="104775" marB="76200" anchor="ctr">
                    <a:solidFill>
                      <a:srgbClr val="FFFFFF"/>
                    </a:solidFill>
                  </a:tcPr>
                </a:tc>
                <a:tc>
                  <a:txBody>
                    <a:bodyPr/>
                    <a:lstStyle/>
                    <a:p>
                      <a:r>
                        <a:rPr sz="1575" b="0">
                          <a:solidFill>
                            <a:srgbClr val="142B3B"/>
                          </a:solidFill>
                          <a:latin typeface="Bitstream Charter"/>
                          <a:ea typeface="Bitstream Charter"/>
                          <a:cs typeface="Bitstream Charter"/>
                        </a:rPr>
                        <a:t>Automation can reduce fraud</a:t>
                      </a:r>
                    </a:p>
                    <a:p>
                      <a:r>
                        <a:rPr sz="1575" b="0">
                          <a:solidFill>
                            <a:srgbClr val="142B3B"/>
                          </a:solidFill>
                          <a:latin typeface="Bitstream Charter"/>
                          <a:ea typeface="Bitstream Charter"/>
                          <a:cs typeface="Bitstream Charter"/>
                        </a:rPr>
                        <a:t>and servicing costs; new rails</a:t>
                      </a:r>
                    </a:p>
                    <a:p>
                      <a:r>
                        <a:rPr sz="1575" b="0">
                          <a:solidFill>
                            <a:srgbClr val="142B3B"/>
                          </a:solidFill>
                          <a:latin typeface="Bitstream Charter"/>
                          <a:ea typeface="Bitstream Charter"/>
                          <a:cs typeface="Bitstream Charter"/>
                        </a:rPr>
                        <a:t>expand use cases.</a:t>
                      </a:r>
                    </a:p>
                  </a:txBody>
                  <a:tcPr marL="133350" marR="95250" marT="104775" marB="76200" anchor="ctr">
                    <a:solidFill>
                      <a:srgbClr val="FFFFFF"/>
                    </a:solidFill>
                  </a:tcPr>
                </a:tc>
                <a:tc>
                  <a:txBody>
                    <a:bodyPr/>
                    <a:lstStyle/>
                    <a:p>
                      <a:r>
                        <a:rPr sz="1575" b="0">
                          <a:solidFill>
                            <a:srgbClr val="142B3B"/>
                          </a:solidFill>
                          <a:latin typeface="Bitstream Charter"/>
                          <a:ea typeface="Bitstream Charter"/>
                          <a:cs typeface="Bitstream Charter"/>
                        </a:rPr>
                        <a:t>Pricing pressure, cyber losses</a:t>
                      </a:r>
                    </a:p>
                    <a:p>
                      <a:r>
                        <a:rPr sz="1575" b="0">
                          <a:solidFill>
                            <a:srgbClr val="142B3B"/>
                          </a:solidFill>
                          <a:latin typeface="Bitstream Charter"/>
                          <a:ea typeface="Bitstream Charter"/>
                          <a:cs typeface="Bitstream Charter"/>
                        </a:rPr>
                        <a:t>and disintermediation can</a:t>
                      </a:r>
                    </a:p>
                    <a:p>
                      <a:r>
                        <a:rPr sz="1575" b="0">
                          <a:solidFill>
                            <a:srgbClr val="142B3B"/>
                          </a:solidFill>
                          <a:latin typeface="Bitstream Charter"/>
                          <a:ea typeface="Bitstream Charter"/>
                          <a:cs typeface="Bitstream Charter"/>
                        </a:rPr>
                        <a:t>offset volume growth.</a:t>
                      </a:r>
                    </a:p>
                  </a:txBody>
                  <a:tcPr marL="133350" marR="95250" marT="104775" marB="76200" anchor="ct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C77AC63D-A80D-4B4E-AF16-263606E2855F}"/>
              </a:ext>
            </a:extLst>
          </p:cNvPr>
          <p:cNvSpPr>
            <a:spLocks noGrp="1"/>
          </p:cNvSpPr>
          <p:nvPr/>
        </p:nvSpPr>
        <p:spPr>
          <a:xfrm>
            <a:off x="457200" y="5619750"/>
            <a:ext cx="8229600" cy="419100"/>
          </a:xfrm>
          <a:prstGeom prst="rect">
            <a:avLst/>
          </a:prstGeom>
          <a:noFill/>
          <a:ln w="0">
            <a:noFill/>
          </a:ln>
        </p:spPr>
        <p:txBody>
          <a:bodyPr wrap="square" lIns="0" tIns="0" rIns="0" bIns="0" anchor="t">
            <a:noAutofit/>
          </a:bodyPr>
          <a:lstStyle/>
          <a:p>
            <a:pPr>
              <a:defRPr sz="1425" b="0">
                <a:solidFill>
                  <a:srgbClr val="536873"/>
                </a:solidFill>
                <a:latin typeface="Bitstream Charter"/>
                <a:ea typeface="Bitstream Charter"/>
                <a:cs typeface="Bitstream Charter"/>
              </a:defRPr>
            </a:pPr>
            <a:r>
              <a:rPr sz="1425" b="0">
                <a:solidFill>
                  <a:srgbClr val="536873"/>
                </a:solidFill>
                <a:latin typeface="Arial" panose="020B0604020202020204" pitchFamily="34" charset="0"/>
                <a:ea typeface="Bitstream Charter"/>
                <a:cs typeface="Arial" panose="020B0604020202020204" pitchFamily="34" charset="0"/>
              </a:rPr>
              <a:t>Committee stance: invest in structural adoption, but require evidence of monetization.</a:t>
            </a:r>
          </a:p>
          <a:p>
            <a:pPr>
              <a:defRPr sz="1425" b="0">
                <a:solidFill>
                  <a:srgbClr val="536873"/>
                </a:solidFill>
                <a:latin typeface="Bitstream Charter"/>
                <a:ea typeface="Bitstream Charter"/>
                <a:cs typeface="Bitstream Charter"/>
              </a:defRPr>
            </a:pPr>
            <a:r>
              <a:rPr sz="1425" b="0">
                <a:solidFill>
                  <a:srgbClr val="536873"/>
                </a:solidFill>
                <a:latin typeface="Arial" panose="020B0604020202020204" pitchFamily="34" charset="0"/>
                <a:ea typeface="Bitstream Charter"/>
                <a:cs typeface="Arial" panose="020B0604020202020204" pitchFamily="34" charset="0"/>
              </a:rPr>
              <a:t>¹Scenario analysis, not forecasts or assigned probabilities.</a:t>
            </a:r>
          </a:p>
        </p:txBody>
      </p:sp>
      <p:sp>
        <p:nvSpPr>
          <p:cNvPr id="7" name="Rectangle 6">
            <a:extLst>
              <a:ext uri="{FF2B5EF4-FFF2-40B4-BE49-F238E27FC236}">
                <a16:creationId xmlns:a16="http://schemas.microsoft.com/office/drawing/2014/main" id="{5CCB318D-D9FC-4BF6-BCD6-934516F744B5}"/>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536873"/>
                </a:solidFill>
                <a:latin typeface="Bitstream Charter"/>
                <a:ea typeface="Bitstream Charter"/>
                <a:cs typeface="Bitstream Charter"/>
              </a:defRPr>
            </a:pPr>
            <a:r>
              <a:rPr sz="885" b="0">
                <a:solidFill>
                  <a:srgbClr val="536873"/>
                </a:solidFill>
                <a:latin typeface="Arial" panose="020B0604020202020204" pitchFamily="34" charset="0"/>
                <a:ea typeface="Bitstream Charter"/>
                <a:cs typeface="Arial" panose="020B0604020202020204" pitchFamily="34" charset="0"/>
              </a:rPr>
              <a:t>Sources: Federal Reserve FOMC statement (9/16/26); BLS August 2026 CPI release (9/11/26); Visa FYQ3 2026; analyst analysis.</a:t>
            </a:r>
          </a:p>
        </p:txBody>
      </p:sp>
    </p:spTree>
    <p:extLst>
      <p:ext uri="{BB962C8B-B14F-4D97-AF65-F5344CB8AC3E}">
        <p14:creationId xmlns:p14="http://schemas.microsoft.com/office/powerpoint/2010/main" val="485152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FINTECH EARNINGS</a:t>
            </a:r>
          </a:p>
        </p:txBody>
      </p:sp>
      <p:sp>
        <p:nvSpPr>
          <p:cNvPr id="4" name="TextBox 3"/>
          <p:cNvSpPr txBox="1"/>
          <p:nvPr/>
        </p:nvSpPr>
        <p:spPr>
          <a:xfrm>
            <a:off x="147320" y="462280"/>
            <a:ext cx="8859520" cy="478593"/>
          </a:xfrm>
          <a:prstGeom prst="rect">
            <a:avLst/>
          </a:prstGeom>
          <a:noFill/>
        </p:spPr>
        <p:txBody>
          <a:bodyPr wrap="square" lIns="45720" tIns="27432" rIns="45720" bIns="27432" anchor="t">
            <a:spAutoFit/>
          </a:bodyPr>
          <a:lstStyle/>
          <a:p>
            <a:pPr>
              <a:spcAft>
                <a:spcPts val="600"/>
              </a:spcAft>
            </a:pPr>
            <a:r>
              <a:rPr sz="2750" b="1">
                <a:solidFill>
                  <a:srgbClr val="142D44"/>
                </a:solidFill>
                <a:latin typeface="Arial"/>
              </a:rPr>
              <a:t>Fintech holdings beat less reliably than the S&amp;P 500</a:t>
            </a:r>
            <a:endParaRPr lang="en-US" sz="2750" b="1">
              <a:solidFill>
                <a:srgbClr val="142D44"/>
              </a:solidFill>
              <a:latin typeface="Arial"/>
              <a:cs typeface="Arial"/>
            </a:endParaRP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Q2 looked like the index. The prior 3 quarters did not</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FactSet Insight (Aug 7, 2026)</a:t>
            </a:r>
            <a:r>
              <a:rPr sz="1400">
                <a:solidFill>
                  <a:srgbClr val="5C6E7D"/>
                </a:solidFill>
                <a:latin typeface="Arial"/>
              </a:rPr>
              <a:t>  |  </a:t>
            </a:r>
            <a:r>
              <a:rPr sz="1400">
                <a:latin typeface="Arial"/>
                <a:hlinkClick r:id="rId4"/>
              </a:rPr>
              <a:t>Perplexity Finance: earnings history</a:t>
            </a:r>
          </a:p>
        </p:txBody>
      </p:sp>
      <p:sp>
        <p:nvSpPr>
          <p:cNvPr id="9" name="TextBox 8"/>
          <p:cNvSpPr txBox="1"/>
          <p:nvPr/>
        </p:nvSpPr>
        <p:spPr>
          <a:xfrm>
            <a:off x="411480" y="1280160"/>
            <a:ext cx="50292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 OF COMPANIES BEATING EPS ESTIMATES</a:t>
            </a:r>
          </a:p>
        </p:txBody>
      </p:sp>
      <p:graphicFrame>
        <p:nvGraphicFramePr>
          <p:cNvPr id="10" name="Chart 9"/>
          <p:cNvGraphicFramePr>
            <a:graphicFrameLocks noGrp="1"/>
          </p:cNvGraphicFramePr>
          <p:nvPr/>
        </p:nvGraphicFramePr>
        <p:xfrm>
          <a:off x="274320" y="1554480"/>
          <a:ext cx="5120640" cy="361188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p:cNvSpPr txBox="1"/>
          <p:nvPr/>
        </p:nvSpPr>
        <p:spPr>
          <a:xfrm>
            <a:off x="5577840" y="1371600"/>
            <a:ext cx="3154680" cy="3840480"/>
          </a:xfrm>
          <a:prstGeom prst="rect">
            <a:avLst/>
          </a:prstGeom>
          <a:noFill/>
        </p:spPr>
        <p:txBody>
          <a:bodyPr wrap="square" lIns="45720" tIns="27432" rIns="45720" bIns="27432">
            <a:spAutoFit/>
          </a:bodyPr>
          <a:lstStyle/>
          <a:p>
            <a:pPr>
              <a:spcAft>
                <a:spcPts val="600"/>
              </a:spcAft>
            </a:pPr>
            <a:r>
              <a:rPr sz="1600" b="0">
                <a:solidFill>
                  <a:srgbClr val="192F40"/>
                </a:solidFill>
                <a:latin typeface="Arial"/>
              </a:rPr>
              <a:t>• S&amp;P 500: 86% beat in Q2 2026.</a:t>
            </a:r>
          </a:p>
          <a:p>
            <a:pPr>
              <a:spcAft>
                <a:spcPts val="600"/>
              </a:spcAft>
            </a:pPr>
            <a:r>
              <a:rPr sz="1600" b="0">
                <a:solidFill>
                  <a:srgbClr val="192F40"/>
                </a:solidFill>
                <a:latin typeface="Arial"/>
              </a:rPr>
              <a:t>• Fintech top 5: 4 of 5 beat in Q2.</a:t>
            </a:r>
          </a:p>
          <a:p>
            <a:pPr>
              <a:spcAft>
                <a:spcPts val="600"/>
              </a:spcAft>
            </a:pPr>
            <a:r>
              <a:rPr sz="1600" b="0">
                <a:solidFill>
                  <a:srgbClr val="192F40"/>
                </a:solidFill>
                <a:latin typeface="Arial"/>
              </a:rPr>
              <a:t>• Past 3 quarters: only 5 of 15 beat.</a:t>
            </a:r>
          </a:p>
          <a:p>
            <a:pPr>
              <a:spcAft>
                <a:spcPts val="600"/>
              </a:spcAft>
            </a:pPr>
            <a:r>
              <a:rPr sz="1600" b="0">
                <a:solidFill>
                  <a:srgbClr val="192F40"/>
                </a:solidFill>
                <a:latin typeface="Arial"/>
              </a:rPr>
              <a:t>• Small sample; GAAP vs. adjusted mismatches possible.</a:t>
            </a:r>
          </a:p>
        </p:txBody>
      </p:sp>
    </p:spTree>
    <p:extLst>
      <p:ext uri="{BB962C8B-B14F-4D97-AF65-F5344CB8AC3E}">
        <p14:creationId xmlns:p14="http://schemas.microsoft.com/office/powerpoint/2010/main" val="4255857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FINTECH EARNINGS</a:t>
            </a:r>
          </a:p>
        </p:txBody>
      </p:sp>
      <p:sp>
        <p:nvSpPr>
          <p:cNvPr id="4" name="TextBox 3"/>
          <p:cNvSpPr txBox="1"/>
          <p:nvPr/>
        </p:nvSpPr>
        <p:spPr>
          <a:xfrm>
            <a:off x="411480" y="502920"/>
            <a:ext cx="8321040" cy="478593"/>
          </a:xfrm>
          <a:prstGeom prst="rect">
            <a:avLst/>
          </a:prstGeom>
          <a:noFill/>
        </p:spPr>
        <p:txBody>
          <a:bodyPr wrap="square" lIns="45720" tIns="27432" rIns="45720" bIns="27432" anchor="t">
            <a:spAutoFit/>
          </a:bodyPr>
          <a:lstStyle/>
          <a:p>
            <a:pPr>
              <a:spcAft>
                <a:spcPts val="600"/>
              </a:spcAft>
            </a:pPr>
            <a:r>
              <a:rPr sz="2750" b="1">
                <a:solidFill>
                  <a:srgbClr val="142D44"/>
                </a:solidFill>
                <a:latin typeface="Arial"/>
              </a:rPr>
              <a:t>When fintech beats, the margin is often bigger</a:t>
            </a:r>
            <a:endParaRPr lang="en-US" sz="2750" b="1">
              <a:solidFill>
                <a:srgbClr val="142D44"/>
              </a:solidFill>
              <a:latin typeface="Arial"/>
              <a:cs typeface="Arial"/>
            </a:endParaRP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Typical S&amp;P beat is ~7%. Robinhood and Block beat by far more</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FactSet Insight (Aug 7, 2026)</a:t>
            </a:r>
            <a:r>
              <a:rPr sz="1400">
                <a:solidFill>
                  <a:srgbClr val="5C6E7D"/>
                </a:solidFill>
                <a:latin typeface="Arial"/>
              </a:rPr>
              <a:t>  |  </a:t>
            </a:r>
            <a:r>
              <a:rPr sz="1400">
                <a:latin typeface="Arial"/>
                <a:hlinkClick r:id="rId4"/>
              </a:rPr>
              <a:t>Perplexity Finance: earnings history</a:t>
            </a:r>
          </a:p>
        </p:txBody>
      </p:sp>
      <p:sp>
        <p:nvSpPr>
          <p:cNvPr id="9" name="TextBox 8"/>
          <p:cNvSpPr txBox="1"/>
          <p:nvPr/>
        </p:nvSpPr>
        <p:spPr>
          <a:xfrm>
            <a:off x="411480" y="1280160"/>
            <a:ext cx="54864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Q2 2026 EPS SURPRISE (%)</a:t>
            </a:r>
          </a:p>
        </p:txBody>
      </p:sp>
      <p:graphicFrame>
        <p:nvGraphicFramePr>
          <p:cNvPr id="10" name="Chart 9"/>
          <p:cNvGraphicFramePr>
            <a:graphicFrameLocks noGrp="1"/>
          </p:cNvGraphicFramePr>
          <p:nvPr/>
        </p:nvGraphicFramePr>
        <p:xfrm>
          <a:off x="274320" y="1554480"/>
          <a:ext cx="5303520" cy="361188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p:cNvSpPr txBox="1"/>
          <p:nvPr/>
        </p:nvSpPr>
        <p:spPr>
          <a:xfrm>
            <a:off x="5760720" y="1371600"/>
            <a:ext cx="2971800" cy="3840480"/>
          </a:xfrm>
          <a:prstGeom prst="rect">
            <a:avLst/>
          </a:prstGeom>
          <a:noFill/>
        </p:spPr>
        <p:txBody>
          <a:bodyPr wrap="square" lIns="45720" tIns="27432" rIns="45720" bIns="27432">
            <a:spAutoFit/>
          </a:bodyPr>
          <a:lstStyle/>
          <a:p>
            <a:pPr>
              <a:spcAft>
                <a:spcPts val="600"/>
              </a:spcAft>
            </a:pPr>
            <a:r>
              <a:rPr sz="1600" b="0">
                <a:solidFill>
                  <a:srgbClr val="192F40"/>
                </a:solidFill>
                <a:latin typeface="Arial"/>
              </a:rPr>
              <a:t>• Shopify and PayPal: ~8%, near the S&amp;P norm.</a:t>
            </a:r>
          </a:p>
          <a:p>
            <a:pPr>
              <a:spcAft>
                <a:spcPts val="600"/>
              </a:spcAft>
            </a:pPr>
            <a:r>
              <a:rPr sz="1600" b="0">
                <a:solidFill>
                  <a:srgbClr val="192F40"/>
                </a:solidFill>
                <a:latin typeface="Arial"/>
              </a:rPr>
              <a:t>• Block +19%, Robinhood +44%.</a:t>
            </a:r>
          </a:p>
          <a:p>
            <a:pPr>
              <a:spcAft>
                <a:spcPts val="600"/>
              </a:spcAft>
            </a:pPr>
            <a:r>
              <a:rPr sz="1600" b="0">
                <a:solidFill>
                  <a:srgbClr val="192F40"/>
                </a:solidFill>
                <a:latin typeface="Arial"/>
              </a:rPr>
              <a:t>• Coinbase missed: -$1.36 vs. +$0.15.</a:t>
            </a:r>
          </a:p>
        </p:txBody>
      </p:sp>
    </p:spTree>
    <p:extLst>
      <p:ext uri="{BB962C8B-B14F-4D97-AF65-F5344CB8AC3E}">
        <p14:creationId xmlns:p14="http://schemas.microsoft.com/office/powerpoint/2010/main" val="778940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FINTECH EARNINGS</a:t>
            </a:r>
          </a:p>
        </p:txBody>
      </p:sp>
      <p:sp>
        <p:nvSpPr>
          <p:cNvPr id="4" name="TextBox 3"/>
          <p:cNvSpPr txBox="1"/>
          <p:nvPr/>
        </p:nvSpPr>
        <p:spPr>
          <a:xfrm>
            <a:off x="411480" y="462280"/>
            <a:ext cx="8483600" cy="478593"/>
          </a:xfrm>
          <a:prstGeom prst="rect">
            <a:avLst/>
          </a:prstGeom>
          <a:noFill/>
        </p:spPr>
        <p:txBody>
          <a:bodyPr wrap="square" lIns="45720" tIns="27432" rIns="45720" bIns="27432" anchor="t">
            <a:spAutoFit/>
          </a:bodyPr>
          <a:lstStyle/>
          <a:p>
            <a:pPr>
              <a:spcAft>
                <a:spcPts val="600"/>
              </a:spcAft>
            </a:pPr>
            <a:r>
              <a:rPr sz="2750" b="1">
                <a:solidFill>
                  <a:srgbClr val="142D44"/>
                </a:solidFill>
                <a:latin typeface="Arial"/>
              </a:rPr>
              <a:t>The expectations game: a beat is already priced in</a:t>
            </a:r>
            <a:endParaRPr lang="en-US" sz="2750" b="1">
              <a:solidFill>
                <a:srgbClr val="142D44"/>
              </a:solidFill>
              <a:latin typeface="Arial"/>
              <a:cs typeface="Arial"/>
            </a:endParaRP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Block and Robinhood beat EPS and still fell</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Perplexity Finance: earnings history</a:t>
            </a:r>
            <a:r>
              <a:rPr sz="1400">
                <a:solidFill>
                  <a:srgbClr val="5C6E7D"/>
                </a:solidFill>
                <a:latin typeface="Arial"/>
              </a:rPr>
              <a:t>  |  </a:t>
            </a:r>
            <a:r>
              <a:rPr sz="1400">
                <a:latin typeface="Arial"/>
                <a:hlinkClick r:id="rId4"/>
              </a:rPr>
              <a:t>FactSet Insight (Aug 7, 2026)</a:t>
            </a:r>
          </a:p>
        </p:txBody>
      </p:sp>
      <p:sp>
        <p:nvSpPr>
          <p:cNvPr id="9" name="TextBox 8"/>
          <p:cNvSpPr txBox="1"/>
          <p:nvPr/>
        </p:nvSpPr>
        <p:spPr>
          <a:xfrm>
            <a:off x="411480" y="1280160"/>
            <a:ext cx="54864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1-DAY STOCK MOVE AFTER Q2 2026 EARNINGS (%)</a:t>
            </a:r>
          </a:p>
        </p:txBody>
      </p:sp>
      <p:graphicFrame>
        <p:nvGraphicFramePr>
          <p:cNvPr id="10" name="Chart 9"/>
          <p:cNvGraphicFramePr>
            <a:graphicFrameLocks noGrp="1"/>
          </p:cNvGraphicFramePr>
          <p:nvPr/>
        </p:nvGraphicFramePr>
        <p:xfrm>
          <a:off x="274320" y="1554480"/>
          <a:ext cx="5303520" cy="361188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p:cNvSpPr txBox="1"/>
          <p:nvPr/>
        </p:nvSpPr>
        <p:spPr>
          <a:xfrm>
            <a:off x="5760720" y="1371600"/>
            <a:ext cx="2971800" cy="3840480"/>
          </a:xfrm>
          <a:prstGeom prst="rect">
            <a:avLst/>
          </a:prstGeom>
          <a:noFill/>
        </p:spPr>
        <p:txBody>
          <a:bodyPr wrap="square" lIns="45720" tIns="27432" rIns="45720" bIns="27432">
            <a:spAutoFit/>
          </a:bodyPr>
          <a:lstStyle/>
          <a:p>
            <a:pPr>
              <a:spcAft>
                <a:spcPts val="600"/>
              </a:spcAft>
            </a:pPr>
            <a:r>
              <a:rPr sz="1600" b="0">
                <a:solidFill>
                  <a:srgbClr val="192F40"/>
                </a:solidFill>
                <a:latin typeface="Arial"/>
              </a:rPr>
              <a:t>• All but Coinbase beat EPS.</a:t>
            </a:r>
          </a:p>
          <a:p>
            <a:pPr>
              <a:spcAft>
                <a:spcPts val="600"/>
              </a:spcAft>
            </a:pPr>
            <a:r>
              <a:rPr sz="1600" b="0">
                <a:solidFill>
                  <a:srgbClr val="192F40"/>
                </a:solidFill>
                <a:latin typeface="Arial"/>
              </a:rPr>
              <a:t>• Block and Robinhood beat but fell.</a:t>
            </a:r>
          </a:p>
          <a:p>
            <a:pPr>
              <a:spcAft>
                <a:spcPts val="600"/>
              </a:spcAft>
            </a:pPr>
            <a:r>
              <a:rPr sz="1600" b="0">
                <a:solidFill>
                  <a:srgbClr val="192F40"/>
                </a:solidFill>
                <a:latin typeface="Arial"/>
              </a:rPr>
              <a:t>• Guidance and flows set the move.</a:t>
            </a:r>
          </a:p>
        </p:txBody>
      </p:sp>
    </p:spTree>
    <p:extLst>
      <p:ext uri="{BB962C8B-B14F-4D97-AF65-F5344CB8AC3E}">
        <p14:creationId xmlns:p14="http://schemas.microsoft.com/office/powerpoint/2010/main" val="405041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FINTECH EARNINGS</a:t>
            </a:r>
          </a:p>
        </p:txBody>
      </p:sp>
      <p:sp>
        <p:nvSpPr>
          <p:cNvPr id="4" name="TextBox 3"/>
          <p:cNvSpPr txBox="1"/>
          <p:nvPr/>
        </p:nvSpPr>
        <p:spPr>
          <a:xfrm>
            <a:off x="411480" y="502920"/>
            <a:ext cx="8321040" cy="478593"/>
          </a:xfrm>
          <a:prstGeom prst="rect">
            <a:avLst/>
          </a:prstGeom>
          <a:noFill/>
        </p:spPr>
        <p:txBody>
          <a:bodyPr wrap="square" lIns="45720" tIns="27432" rIns="45720" bIns="27432" anchor="t">
            <a:spAutoFit/>
          </a:bodyPr>
          <a:lstStyle/>
          <a:p>
            <a:pPr>
              <a:spcAft>
                <a:spcPts val="600"/>
              </a:spcAft>
            </a:pPr>
            <a:r>
              <a:rPr sz="2750" b="1">
                <a:solidFill>
                  <a:srgbClr val="142D44"/>
                </a:solidFill>
                <a:latin typeface="Arial"/>
              </a:rPr>
              <a:t>Next catalysts: Q3 earnings land Oct 27 to Nov 4</a:t>
            </a:r>
            <a:endParaRPr lang="en-US" sz="2750" b="1">
              <a:solidFill>
                <a:srgbClr val="142D44"/>
              </a:solidFill>
              <a:latin typeface="Arial"/>
              <a:cs typeface="Arial"/>
            </a:endParaRP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Typical fintech earnings move is 9-12% in one day</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Perplexity Finance: earnings history</a:t>
            </a:r>
            <a:r>
              <a:rPr sz="1400">
                <a:solidFill>
                  <a:srgbClr val="5C6E7D"/>
                </a:solidFill>
                <a:latin typeface="Arial"/>
              </a:rPr>
              <a:t>  |  </a:t>
            </a:r>
            <a:r>
              <a:rPr sz="1400">
                <a:latin typeface="Arial"/>
                <a:hlinkClick r:id="rId4"/>
              </a:rPr>
              <a:t>Perplexity Finance: consensus estimates</a:t>
            </a:r>
          </a:p>
        </p:txBody>
      </p:sp>
      <p:graphicFrame>
        <p:nvGraphicFramePr>
          <p:cNvPr id="9" name="Table 8"/>
          <p:cNvGraphicFramePr>
            <a:graphicFrameLocks noGrp="1"/>
          </p:cNvGraphicFramePr>
          <p:nvPr>
            <p:extLst>
              <p:ext uri="{D42A27DB-BD31-4B8C-83A1-F6EECF244321}">
                <p14:modId xmlns:p14="http://schemas.microsoft.com/office/powerpoint/2010/main" val="927668931"/>
              </p:ext>
            </p:extLst>
          </p:nvPr>
        </p:nvGraphicFramePr>
        <p:xfrm>
          <a:off x="411480" y="1280160"/>
          <a:ext cx="8321040" cy="3291839"/>
        </p:xfrm>
        <a:graphic>
          <a:graphicData uri="http://schemas.openxmlformats.org/drawingml/2006/table">
            <a:tbl>
              <a:tblPr>
                <a:tableStyleId>{5C22544A-7EE6-4342-B048-85BDC9FD1C3A}</a:tableStyleId>
              </a:tblPr>
              <a:tblGrid>
                <a:gridCol w="28346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548639">
                <a:tc>
                  <a:txBody>
                    <a:bodyPr/>
                    <a:lstStyle/>
                    <a:p>
                      <a:r>
                        <a:rPr sz="1400" b="1" dirty="0">
                          <a:solidFill>
                            <a:srgbClr val="FFFFFF"/>
                          </a:solidFill>
                          <a:latin typeface="Arial"/>
                        </a:rPr>
                        <a:t>Company</a:t>
                      </a:r>
                    </a:p>
                  </a:txBody>
                  <a:tcPr marL="64008" marR="64008" marT="27432" marB="27432" anchor="ctr">
                    <a:solidFill>
                      <a:srgbClr val="142D44"/>
                    </a:solidFill>
                  </a:tcPr>
                </a:tc>
                <a:tc>
                  <a:txBody>
                    <a:bodyPr/>
                    <a:lstStyle/>
                    <a:p>
                      <a:r>
                        <a:rPr sz="1400" b="1" dirty="0">
                          <a:solidFill>
                            <a:srgbClr val="FFFFFF"/>
                          </a:solidFill>
                          <a:latin typeface="Arial"/>
                        </a:rPr>
                        <a:t>Report date</a:t>
                      </a:r>
                    </a:p>
                  </a:txBody>
                  <a:tcPr marL="64008" marR="64008" marT="27432" marB="27432" anchor="ctr">
                    <a:solidFill>
                      <a:srgbClr val="142D44"/>
                    </a:solidFill>
                  </a:tcPr>
                </a:tc>
                <a:tc>
                  <a:txBody>
                    <a:bodyPr/>
                    <a:lstStyle/>
                    <a:p>
                      <a:r>
                        <a:rPr sz="1400" b="1" dirty="0">
                          <a:solidFill>
                            <a:srgbClr val="FFFFFF"/>
                          </a:solidFill>
                          <a:latin typeface="Arial"/>
                        </a:rPr>
                        <a:t>Q3 EPS est.</a:t>
                      </a:r>
                    </a:p>
                  </a:txBody>
                  <a:tcPr marL="64008" marR="64008" marT="27432" marB="27432" anchor="ctr">
                    <a:solidFill>
                      <a:srgbClr val="142D44"/>
                    </a:solidFill>
                  </a:tcPr>
                </a:tc>
                <a:tc>
                  <a:txBody>
                    <a:bodyPr/>
                    <a:lstStyle/>
                    <a:p>
                      <a:r>
                        <a:rPr sz="1400" b="1" dirty="0">
                          <a:solidFill>
                            <a:srgbClr val="FFFFFF"/>
                          </a:solidFill>
                          <a:latin typeface="Arial"/>
                        </a:rPr>
                        <a:t>Avg 1-day move</a:t>
                      </a:r>
                    </a:p>
                  </a:txBody>
                  <a:tcPr marL="64008" marR="64008" marT="27432" marB="27432" anchor="ctr">
                    <a:solidFill>
                      <a:srgbClr val="142D44"/>
                    </a:solidFill>
                  </a:tcPr>
                </a:tc>
                <a:extLst>
                  <a:ext uri="{0D108BD9-81ED-4DB2-BD59-A6C34878D82A}">
                    <a16:rowId xmlns:a16="http://schemas.microsoft.com/office/drawing/2014/main" val="10000"/>
                  </a:ext>
                </a:extLst>
              </a:tr>
              <a:tr h="548639">
                <a:tc>
                  <a:txBody>
                    <a:bodyPr/>
                    <a:lstStyle/>
                    <a:p>
                      <a:r>
                        <a:rPr sz="1400" b="1" dirty="0">
                          <a:solidFill>
                            <a:srgbClr val="192F40"/>
                          </a:solidFill>
                          <a:latin typeface="Arial"/>
                        </a:rPr>
                        <a:t>PayPal (PYPL)</a:t>
                      </a:r>
                    </a:p>
                  </a:txBody>
                  <a:tcPr marL="64008" marR="64008" marT="27432" marB="27432" anchor="ctr">
                    <a:solidFill>
                      <a:srgbClr val="F0F4F7"/>
                    </a:solidFill>
                  </a:tcPr>
                </a:tc>
                <a:tc>
                  <a:txBody>
                    <a:bodyPr/>
                    <a:lstStyle/>
                    <a:p>
                      <a:r>
                        <a:rPr sz="1400" b="0" dirty="0">
                          <a:solidFill>
                            <a:srgbClr val="192F40"/>
                          </a:solidFill>
                          <a:latin typeface="Arial"/>
                        </a:rPr>
                        <a:t>Oct 27</a:t>
                      </a:r>
                    </a:p>
                  </a:txBody>
                  <a:tcPr marL="64008" marR="64008" marT="27432" marB="27432" anchor="ctr">
                    <a:solidFill>
                      <a:srgbClr val="F0F4F7"/>
                    </a:solidFill>
                  </a:tcPr>
                </a:tc>
                <a:tc>
                  <a:txBody>
                    <a:bodyPr/>
                    <a:lstStyle/>
                    <a:p>
                      <a:r>
                        <a:rPr sz="1400" b="0" dirty="0">
                          <a:solidFill>
                            <a:srgbClr val="192F40"/>
                          </a:solidFill>
                          <a:latin typeface="Arial"/>
                        </a:rPr>
                        <a:t>$1.32</a:t>
                      </a:r>
                    </a:p>
                  </a:txBody>
                  <a:tcPr marL="64008" marR="64008" marT="27432" marB="27432" anchor="ctr">
                    <a:solidFill>
                      <a:srgbClr val="F0F4F7"/>
                    </a:solidFill>
                  </a:tcPr>
                </a:tc>
                <a:tc>
                  <a:txBody>
                    <a:bodyPr/>
                    <a:lstStyle/>
                    <a:p>
                      <a:r>
                        <a:rPr sz="1400" b="0" dirty="0">
                          <a:solidFill>
                            <a:srgbClr val="192F40"/>
                          </a:solidFill>
                          <a:latin typeface="Arial"/>
                        </a:rPr>
                        <a:t>9.0%</a:t>
                      </a:r>
                    </a:p>
                  </a:txBody>
                  <a:tcPr marL="64008" marR="64008" marT="27432" marB="27432" anchor="ctr">
                    <a:solidFill>
                      <a:srgbClr val="F0F4F7"/>
                    </a:solidFill>
                  </a:tcPr>
                </a:tc>
                <a:extLst>
                  <a:ext uri="{0D108BD9-81ED-4DB2-BD59-A6C34878D82A}">
                    <a16:rowId xmlns:a16="http://schemas.microsoft.com/office/drawing/2014/main" val="10001"/>
                  </a:ext>
                </a:extLst>
              </a:tr>
              <a:tr h="548639">
                <a:tc>
                  <a:txBody>
                    <a:bodyPr/>
                    <a:lstStyle/>
                    <a:p>
                      <a:r>
                        <a:rPr sz="1400" b="1" dirty="0">
                          <a:solidFill>
                            <a:srgbClr val="192F40"/>
                          </a:solidFill>
                          <a:latin typeface="Arial"/>
                        </a:rPr>
                        <a:t>Coinbase (COIN)</a:t>
                      </a:r>
                    </a:p>
                  </a:txBody>
                  <a:tcPr marL="64008" marR="64008" marT="27432" marB="27432" anchor="ctr">
                    <a:solidFill>
                      <a:srgbClr val="FFFFFF"/>
                    </a:solidFill>
                  </a:tcPr>
                </a:tc>
                <a:tc>
                  <a:txBody>
                    <a:bodyPr/>
                    <a:lstStyle/>
                    <a:p>
                      <a:r>
                        <a:rPr sz="1400" b="0" dirty="0">
                          <a:solidFill>
                            <a:srgbClr val="192F40"/>
                          </a:solidFill>
                          <a:latin typeface="Arial"/>
                        </a:rPr>
                        <a:t>Oct 29</a:t>
                      </a:r>
                    </a:p>
                  </a:txBody>
                  <a:tcPr marL="64008" marR="64008" marT="27432" marB="27432" anchor="ctr">
                    <a:solidFill>
                      <a:srgbClr val="FFFFFF"/>
                    </a:solidFill>
                  </a:tcPr>
                </a:tc>
                <a:tc>
                  <a:txBody>
                    <a:bodyPr/>
                    <a:lstStyle/>
                    <a:p>
                      <a:r>
                        <a:rPr sz="1400" b="0" dirty="0">
                          <a:solidFill>
                            <a:srgbClr val="192F40"/>
                          </a:solidFill>
                          <a:latin typeface="Arial"/>
                        </a:rPr>
                        <a:t>-$</a:t>
                      </a:r>
                      <a:r>
                        <a:rPr lang="en-US" sz="1400" b="0" dirty="0">
                          <a:solidFill>
                            <a:srgbClr val="192F40"/>
                          </a:solidFill>
                          <a:latin typeface="Arial"/>
                        </a:rPr>
                        <a:t>0.24</a:t>
                      </a:r>
                      <a:endParaRPr sz="1400" b="0" dirty="0">
                        <a:solidFill>
                          <a:srgbClr val="192F40"/>
                        </a:solidFill>
                        <a:latin typeface="Arial"/>
                      </a:endParaRPr>
                    </a:p>
                  </a:txBody>
                  <a:tcPr marL="64008" marR="64008" marT="27432" marB="27432" anchor="ctr">
                    <a:solidFill>
                      <a:srgbClr val="FFFFFF"/>
                    </a:solidFill>
                  </a:tcPr>
                </a:tc>
                <a:tc>
                  <a:txBody>
                    <a:bodyPr/>
                    <a:lstStyle/>
                    <a:p>
                      <a:r>
                        <a:rPr sz="1400" b="0" dirty="0">
                          <a:solidFill>
                            <a:srgbClr val="192F40"/>
                          </a:solidFill>
                          <a:latin typeface="Arial"/>
                        </a:rPr>
                        <a:t>9.0%</a:t>
                      </a:r>
                    </a:p>
                  </a:txBody>
                  <a:tcPr marL="64008" marR="64008" marT="27432" marB="27432" anchor="ctr">
                    <a:solidFill>
                      <a:srgbClr val="FFFFFF"/>
                    </a:solidFill>
                  </a:tcPr>
                </a:tc>
                <a:extLst>
                  <a:ext uri="{0D108BD9-81ED-4DB2-BD59-A6C34878D82A}">
                    <a16:rowId xmlns:a16="http://schemas.microsoft.com/office/drawing/2014/main" val="10002"/>
                  </a:ext>
                </a:extLst>
              </a:tr>
              <a:tr h="548639">
                <a:tc>
                  <a:txBody>
                    <a:bodyPr/>
                    <a:lstStyle/>
                    <a:p>
                      <a:r>
                        <a:rPr sz="1400" b="1" dirty="0">
                          <a:solidFill>
                            <a:srgbClr val="192F40"/>
                          </a:solidFill>
                          <a:latin typeface="Arial"/>
                        </a:rPr>
                        <a:t>Shopify (SHOP)</a:t>
                      </a:r>
                    </a:p>
                  </a:txBody>
                  <a:tcPr marL="64008" marR="64008" marT="27432" marB="27432" anchor="ctr">
                    <a:solidFill>
                      <a:srgbClr val="F0F4F7"/>
                    </a:solidFill>
                  </a:tcPr>
                </a:tc>
                <a:tc>
                  <a:txBody>
                    <a:bodyPr/>
                    <a:lstStyle/>
                    <a:p>
                      <a:r>
                        <a:rPr sz="1400" b="0" dirty="0">
                          <a:solidFill>
                            <a:srgbClr val="192F40"/>
                          </a:solidFill>
                          <a:latin typeface="Arial"/>
                        </a:rPr>
                        <a:t>Nov 3</a:t>
                      </a:r>
                    </a:p>
                  </a:txBody>
                  <a:tcPr marL="64008" marR="64008" marT="27432" marB="27432" anchor="ctr">
                    <a:solidFill>
                      <a:srgbClr val="F0F4F7"/>
                    </a:solidFill>
                  </a:tcPr>
                </a:tc>
                <a:tc>
                  <a:txBody>
                    <a:bodyPr/>
                    <a:lstStyle/>
                    <a:p>
                      <a:r>
                        <a:rPr sz="1400" b="0" dirty="0">
                          <a:solidFill>
                            <a:srgbClr val="192F40"/>
                          </a:solidFill>
                          <a:latin typeface="Arial"/>
                        </a:rPr>
                        <a:t>$0.44</a:t>
                      </a:r>
                    </a:p>
                  </a:txBody>
                  <a:tcPr marL="64008" marR="64008" marT="27432" marB="27432" anchor="ctr">
                    <a:solidFill>
                      <a:srgbClr val="F0F4F7"/>
                    </a:solidFill>
                  </a:tcPr>
                </a:tc>
                <a:tc>
                  <a:txBody>
                    <a:bodyPr/>
                    <a:lstStyle/>
                    <a:p>
                      <a:r>
                        <a:rPr sz="1400" b="0" dirty="0">
                          <a:solidFill>
                            <a:srgbClr val="192F40"/>
                          </a:solidFill>
                          <a:latin typeface="Arial"/>
                        </a:rPr>
                        <a:t>11.6%</a:t>
                      </a:r>
                    </a:p>
                  </a:txBody>
                  <a:tcPr marL="64008" marR="64008" marT="27432" marB="27432" anchor="ctr">
                    <a:solidFill>
                      <a:srgbClr val="F0F4F7"/>
                    </a:solidFill>
                  </a:tcPr>
                </a:tc>
                <a:extLst>
                  <a:ext uri="{0D108BD9-81ED-4DB2-BD59-A6C34878D82A}">
                    <a16:rowId xmlns:a16="http://schemas.microsoft.com/office/drawing/2014/main" val="10003"/>
                  </a:ext>
                </a:extLst>
              </a:tr>
              <a:tr h="548639">
                <a:tc>
                  <a:txBody>
                    <a:bodyPr/>
                    <a:lstStyle/>
                    <a:p>
                      <a:r>
                        <a:rPr sz="1400" b="1" dirty="0">
                          <a:solidFill>
                            <a:srgbClr val="192F40"/>
                          </a:solidFill>
                          <a:latin typeface="Arial"/>
                        </a:rPr>
                        <a:t>Block (XYZ)</a:t>
                      </a:r>
                    </a:p>
                  </a:txBody>
                  <a:tcPr marL="64008" marR="64008" marT="27432" marB="27432" anchor="ctr">
                    <a:solidFill>
                      <a:srgbClr val="FFFFFF"/>
                    </a:solidFill>
                  </a:tcPr>
                </a:tc>
                <a:tc>
                  <a:txBody>
                    <a:bodyPr/>
                    <a:lstStyle/>
                    <a:p>
                      <a:r>
                        <a:rPr sz="1400" b="0" dirty="0">
                          <a:solidFill>
                            <a:srgbClr val="192F40"/>
                          </a:solidFill>
                          <a:latin typeface="Arial"/>
                        </a:rPr>
                        <a:t>Nov 3</a:t>
                      </a:r>
                    </a:p>
                  </a:txBody>
                  <a:tcPr marL="64008" marR="64008" marT="27432" marB="27432" anchor="ctr">
                    <a:solidFill>
                      <a:srgbClr val="FFFFFF"/>
                    </a:solidFill>
                  </a:tcPr>
                </a:tc>
                <a:tc>
                  <a:txBody>
                    <a:bodyPr/>
                    <a:lstStyle/>
                    <a:p>
                      <a:r>
                        <a:rPr sz="1400" b="0" dirty="0">
                          <a:solidFill>
                            <a:srgbClr val="192F40"/>
                          </a:solidFill>
                          <a:latin typeface="Arial"/>
                        </a:rPr>
                        <a:t>$1.02</a:t>
                      </a:r>
                    </a:p>
                  </a:txBody>
                  <a:tcPr marL="64008" marR="64008" marT="27432" marB="27432" anchor="ctr">
                    <a:solidFill>
                      <a:srgbClr val="FFFFFF"/>
                    </a:solidFill>
                  </a:tcPr>
                </a:tc>
                <a:tc>
                  <a:txBody>
                    <a:bodyPr/>
                    <a:lstStyle/>
                    <a:p>
                      <a:r>
                        <a:rPr sz="1400" b="0" dirty="0">
                          <a:solidFill>
                            <a:srgbClr val="192F40"/>
                          </a:solidFill>
                          <a:latin typeface="Arial"/>
                        </a:rPr>
                        <a:t>9.4%</a:t>
                      </a:r>
                    </a:p>
                  </a:txBody>
                  <a:tcPr marL="64008" marR="64008" marT="27432" marB="27432" anchor="ctr">
                    <a:solidFill>
                      <a:srgbClr val="FFFFFF"/>
                    </a:solidFill>
                  </a:tcPr>
                </a:tc>
                <a:extLst>
                  <a:ext uri="{0D108BD9-81ED-4DB2-BD59-A6C34878D82A}">
                    <a16:rowId xmlns:a16="http://schemas.microsoft.com/office/drawing/2014/main" val="10004"/>
                  </a:ext>
                </a:extLst>
              </a:tr>
              <a:tr h="548644">
                <a:tc>
                  <a:txBody>
                    <a:bodyPr/>
                    <a:lstStyle/>
                    <a:p>
                      <a:r>
                        <a:rPr sz="1400" b="1" dirty="0">
                          <a:solidFill>
                            <a:srgbClr val="192F40"/>
                          </a:solidFill>
                          <a:latin typeface="Arial"/>
                        </a:rPr>
                        <a:t>Robinhood (HOOD)</a:t>
                      </a:r>
                    </a:p>
                  </a:txBody>
                  <a:tcPr marL="64008" marR="64008" marT="27432" marB="27432" anchor="ctr">
                    <a:solidFill>
                      <a:srgbClr val="F0F4F7"/>
                    </a:solidFill>
                  </a:tcPr>
                </a:tc>
                <a:tc>
                  <a:txBody>
                    <a:bodyPr/>
                    <a:lstStyle/>
                    <a:p>
                      <a:r>
                        <a:rPr sz="1400" b="0" dirty="0">
                          <a:solidFill>
                            <a:srgbClr val="192F40"/>
                          </a:solidFill>
                          <a:latin typeface="Arial"/>
                        </a:rPr>
                        <a:t>Nov 4</a:t>
                      </a:r>
                    </a:p>
                  </a:txBody>
                  <a:tcPr marL="64008" marR="64008" marT="27432" marB="27432" anchor="ctr">
                    <a:solidFill>
                      <a:srgbClr val="F0F4F7"/>
                    </a:solidFill>
                  </a:tcPr>
                </a:tc>
                <a:tc>
                  <a:txBody>
                    <a:bodyPr/>
                    <a:lstStyle/>
                    <a:p>
                      <a:r>
                        <a:rPr sz="1400" b="0" dirty="0">
                          <a:solidFill>
                            <a:srgbClr val="192F40"/>
                          </a:solidFill>
                          <a:latin typeface="Arial"/>
                        </a:rPr>
                        <a:t>$0.53</a:t>
                      </a:r>
                    </a:p>
                  </a:txBody>
                  <a:tcPr marL="64008" marR="64008" marT="27432" marB="27432" anchor="ctr">
                    <a:solidFill>
                      <a:srgbClr val="F0F4F7"/>
                    </a:solidFill>
                  </a:tcPr>
                </a:tc>
                <a:tc>
                  <a:txBody>
                    <a:bodyPr/>
                    <a:lstStyle/>
                    <a:p>
                      <a:r>
                        <a:rPr sz="1400" b="0" dirty="0">
                          <a:solidFill>
                            <a:srgbClr val="192F40"/>
                          </a:solidFill>
                          <a:latin typeface="Arial"/>
                        </a:rPr>
                        <a:t>9.1%</a:t>
                      </a:r>
                    </a:p>
                  </a:txBody>
                  <a:tcPr marL="64008" marR="64008" marT="27432" marB="27432" anchor="ctr">
                    <a:solidFill>
                      <a:srgbClr val="F0F4F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FINTECH EARNINGS</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Pro forma = adjusted = Street = non-GAAP</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Fintech GAAP and Street EPS can diverge by a lot</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SEC: Non-GAAP C&amp;DIs</a:t>
            </a:r>
            <a:r>
              <a:rPr sz="1400">
                <a:solidFill>
                  <a:srgbClr val="5C6E7D"/>
                </a:solidFill>
                <a:latin typeface="Arial"/>
              </a:rPr>
              <a:t>  |  </a:t>
            </a:r>
            <a:r>
              <a:rPr sz="1400">
                <a:latin typeface="Arial"/>
                <a:hlinkClick r:id="rId4"/>
              </a:rPr>
              <a:t>Perplexity Finance: earnings history</a:t>
            </a:r>
            <a:r>
              <a:rPr sz="1400">
                <a:solidFill>
                  <a:srgbClr val="5C6E7D"/>
                </a:solidFill>
                <a:latin typeface="Arial"/>
              </a:rPr>
              <a:t>  |  </a:t>
            </a:r>
            <a:r>
              <a:rPr sz="1400">
                <a:latin typeface="Arial"/>
                <a:hlinkClick r:id="rId5"/>
              </a:rPr>
              <a:t>Perplexity Finance: consensus estimates</a:t>
            </a:r>
          </a:p>
        </p:txBody>
      </p:sp>
      <p:graphicFrame>
        <p:nvGraphicFramePr>
          <p:cNvPr id="9" name="Table 8"/>
          <p:cNvGraphicFramePr>
            <a:graphicFrameLocks noGrp="1"/>
          </p:cNvGraphicFramePr>
          <p:nvPr/>
        </p:nvGraphicFramePr>
        <p:xfrm>
          <a:off x="411480" y="1280160"/>
          <a:ext cx="8321040" cy="2514600"/>
        </p:xfrm>
        <a:graphic>
          <a:graphicData uri="http://schemas.openxmlformats.org/drawingml/2006/table">
            <a:tbl>
              <a:tblPr>
                <a:tableStyleId>{5C22544A-7EE6-4342-B048-85BDC9FD1C3A}</a:tableStyleId>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502920">
                <a:tc>
                  <a:txBody>
                    <a:bodyPr/>
                    <a:lstStyle/>
                    <a:p>
                      <a:r>
                        <a:rPr sz="1400" b="1">
                          <a:solidFill>
                            <a:srgbClr val="FFFFFF"/>
                          </a:solidFill>
                          <a:latin typeface="Arial"/>
                        </a:rPr>
                        <a:t>Company</a:t>
                      </a:r>
                    </a:p>
                  </a:txBody>
                  <a:tcPr marL="64008" marR="64008" marT="27432" marB="27432" anchor="ctr">
                    <a:solidFill>
                      <a:srgbClr val="142D44"/>
                    </a:solidFill>
                  </a:tcPr>
                </a:tc>
                <a:tc>
                  <a:txBody>
                    <a:bodyPr/>
                    <a:lstStyle/>
                    <a:p>
                      <a:r>
                        <a:rPr sz="1400" b="1">
                          <a:solidFill>
                            <a:srgbClr val="FFFFFF"/>
                          </a:solidFill>
                          <a:latin typeface="Arial"/>
                        </a:rPr>
                        <a:t>Reported EPS</a:t>
                      </a:r>
                    </a:p>
                  </a:txBody>
                  <a:tcPr marL="64008" marR="64008" marT="27432" marB="27432" anchor="ctr">
                    <a:solidFill>
                      <a:srgbClr val="142D44"/>
                    </a:solidFill>
                  </a:tcPr>
                </a:tc>
                <a:tc>
                  <a:txBody>
                    <a:bodyPr/>
                    <a:lstStyle/>
                    <a:p>
                      <a:r>
                        <a:rPr sz="1400" b="1">
                          <a:solidFill>
                            <a:srgbClr val="FFFFFF"/>
                          </a:solidFill>
                          <a:latin typeface="Arial"/>
                        </a:rPr>
                        <a:t>Consensus</a:t>
                      </a:r>
                    </a:p>
                  </a:txBody>
                  <a:tcPr marL="64008" marR="64008" marT="27432" marB="27432" anchor="ctr">
                    <a:solidFill>
                      <a:srgbClr val="142D44"/>
                    </a:solidFill>
                  </a:tcPr>
                </a:tc>
                <a:tc>
                  <a:txBody>
                    <a:bodyPr/>
                    <a:lstStyle/>
                    <a:p>
                      <a:r>
                        <a:rPr sz="1400" b="1">
                          <a:solidFill>
                            <a:srgbClr val="FFFFFF"/>
                          </a:solidFill>
                          <a:latin typeface="Arial"/>
                        </a:rPr>
                        <a:t>Quarter</a:t>
                      </a:r>
                    </a:p>
                  </a:txBody>
                  <a:tcPr marL="64008" marR="64008" marT="27432" marB="27432" anchor="ctr">
                    <a:solidFill>
                      <a:srgbClr val="142D44"/>
                    </a:solidFill>
                  </a:tcPr>
                </a:tc>
                <a:extLst>
                  <a:ext uri="{0D108BD9-81ED-4DB2-BD59-A6C34878D82A}">
                    <a16:rowId xmlns:a16="http://schemas.microsoft.com/office/drawing/2014/main" val="10000"/>
                  </a:ext>
                </a:extLst>
              </a:tr>
              <a:tr h="502920">
                <a:tc>
                  <a:txBody>
                    <a:bodyPr/>
                    <a:lstStyle/>
                    <a:p>
                      <a:r>
                        <a:rPr sz="1400" b="1">
                          <a:solidFill>
                            <a:srgbClr val="192F40"/>
                          </a:solidFill>
                          <a:latin typeface="Arial"/>
                        </a:rPr>
                        <a:t>Block (XYZ)</a:t>
                      </a:r>
                    </a:p>
                  </a:txBody>
                  <a:tcPr marL="64008" marR="64008" marT="27432" marB="27432" anchor="ctr">
                    <a:solidFill>
                      <a:srgbClr val="F0F4F7"/>
                    </a:solidFill>
                  </a:tcPr>
                </a:tc>
                <a:tc>
                  <a:txBody>
                    <a:bodyPr/>
                    <a:lstStyle/>
                    <a:p>
                      <a:r>
                        <a:rPr sz="1400" b="0">
                          <a:solidFill>
                            <a:srgbClr val="192F40"/>
                          </a:solidFill>
                          <a:latin typeface="Arial"/>
                        </a:rPr>
                        <a:t>-$0.52</a:t>
                      </a:r>
                    </a:p>
                  </a:txBody>
                  <a:tcPr marL="64008" marR="64008" marT="27432" marB="27432" anchor="ctr">
                    <a:solidFill>
                      <a:srgbClr val="F0F4F7"/>
                    </a:solidFill>
                  </a:tcPr>
                </a:tc>
                <a:tc>
                  <a:txBody>
                    <a:bodyPr/>
                    <a:lstStyle/>
                    <a:p>
                      <a:r>
                        <a:rPr sz="1400" b="0">
                          <a:solidFill>
                            <a:srgbClr val="192F40"/>
                          </a:solidFill>
                          <a:latin typeface="Arial"/>
                        </a:rPr>
                        <a:t>$0.68</a:t>
                      </a:r>
                    </a:p>
                  </a:txBody>
                  <a:tcPr marL="64008" marR="64008" marT="27432" marB="27432" anchor="ctr">
                    <a:solidFill>
                      <a:srgbClr val="F0F4F7"/>
                    </a:solidFill>
                  </a:tcPr>
                </a:tc>
                <a:tc>
                  <a:txBody>
                    <a:bodyPr/>
                    <a:lstStyle/>
                    <a:p>
                      <a:r>
                        <a:rPr sz="1400" b="0">
                          <a:solidFill>
                            <a:srgbClr val="192F40"/>
                          </a:solidFill>
                          <a:latin typeface="Arial"/>
                        </a:rPr>
                        <a:t>Q1 2026</a:t>
                      </a:r>
                    </a:p>
                  </a:txBody>
                  <a:tcPr marL="64008" marR="64008" marT="27432" marB="27432" anchor="ctr">
                    <a:solidFill>
                      <a:srgbClr val="F0F4F7"/>
                    </a:solidFill>
                  </a:tcPr>
                </a:tc>
                <a:extLst>
                  <a:ext uri="{0D108BD9-81ED-4DB2-BD59-A6C34878D82A}">
                    <a16:rowId xmlns:a16="http://schemas.microsoft.com/office/drawing/2014/main" val="10001"/>
                  </a:ext>
                </a:extLst>
              </a:tr>
              <a:tr h="502920">
                <a:tc>
                  <a:txBody>
                    <a:bodyPr/>
                    <a:lstStyle/>
                    <a:p>
                      <a:r>
                        <a:rPr sz="1400" b="1">
                          <a:solidFill>
                            <a:srgbClr val="192F40"/>
                          </a:solidFill>
                          <a:latin typeface="Arial"/>
                        </a:rPr>
                        <a:t>Coinbase (COIN)</a:t>
                      </a:r>
                    </a:p>
                  </a:txBody>
                  <a:tcPr marL="64008" marR="64008" marT="27432" marB="27432" anchor="ctr">
                    <a:solidFill>
                      <a:srgbClr val="FFFFFF"/>
                    </a:solidFill>
                  </a:tcPr>
                </a:tc>
                <a:tc>
                  <a:txBody>
                    <a:bodyPr/>
                    <a:lstStyle/>
                    <a:p>
                      <a:r>
                        <a:rPr sz="1400" b="0">
                          <a:solidFill>
                            <a:srgbClr val="192F40"/>
                          </a:solidFill>
                          <a:latin typeface="Arial"/>
                        </a:rPr>
                        <a:t>-$1.36</a:t>
                      </a:r>
                    </a:p>
                  </a:txBody>
                  <a:tcPr marL="64008" marR="64008" marT="27432" marB="27432" anchor="ctr">
                    <a:solidFill>
                      <a:srgbClr val="FFFFFF"/>
                    </a:solidFill>
                  </a:tcPr>
                </a:tc>
                <a:tc>
                  <a:txBody>
                    <a:bodyPr/>
                    <a:lstStyle/>
                    <a:p>
                      <a:r>
                        <a:rPr sz="1400" b="0">
                          <a:solidFill>
                            <a:srgbClr val="192F40"/>
                          </a:solidFill>
                          <a:latin typeface="Arial"/>
                        </a:rPr>
                        <a:t>$0.15</a:t>
                      </a:r>
                    </a:p>
                  </a:txBody>
                  <a:tcPr marL="64008" marR="64008" marT="27432" marB="27432" anchor="ctr">
                    <a:solidFill>
                      <a:srgbClr val="FFFFFF"/>
                    </a:solidFill>
                  </a:tcPr>
                </a:tc>
                <a:tc>
                  <a:txBody>
                    <a:bodyPr/>
                    <a:lstStyle/>
                    <a:p>
                      <a:r>
                        <a:rPr sz="1400" b="0">
                          <a:solidFill>
                            <a:srgbClr val="192F40"/>
                          </a:solidFill>
                          <a:latin typeface="Arial"/>
                        </a:rPr>
                        <a:t>Q2 2026</a:t>
                      </a:r>
                    </a:p>
                  </a:txBody>
                  <a:tcPr marL="64008" marR="64008" marT="27432" marB="27432" anchor="ctr">
                    <a:solidFill>
                      <a:srgbClr val="FFFFFF"/>
                    </a:solidFill>
                  </a:tcPr>
                </a:tc>
                <a:extLst>
                  <a:ext uri="{0D108BD9-81ED-4DB2-BD59-A6C34878D82A}">
                    <a16:rowId xmlns:a16="http://schemas.microsoft.com/office/drawing/2014/main" val="10002"/>
                  </a:ext>
                </a:extLst>
              </a:tr>
              <a:tr h="502920">
                <a:tc>
                  <a:txBody>
                    <a:bodyPr/>
                    <a:lstStyle/>
                    <a:p>
                      <a:r>
                        <a:rPr sz="1400" b="1">
                          <a:solidFill>
                            <a:srgbClr val="192F40"/>
                          </a:solidFill>
                          <a:latin typeface="Arial"/>
                        </a:rPr>
                        <a:t>Shopify (SHOP)</a:t>
                      </a:r>
                    </a:p>
                  </a:txBody>
                  <a:tcPr marL="64008" marR="64008" marT="27432" marB="27432" anchor="ctr">
                    <a:solidFill>
                      <a:srgbClr val="F0F4F7"/>
                    </a:solidFill>
                  </a:tcPr>
                </a:tc>
                <a:tc>
                  <a:txBody>
                    <a:bodyPr/>
                    <a:lstStyle/>
                    <a:p>
                      <a:r>
                        <a:rPr sz="1400" b="0">
                          <a:solidFill>
                            <a:srgbClr val="192F40"/>
                          </a:solidFill>
                          <a:latin typeface="Arial"/>
                        </a:rPr>
                        <a:t>-$0.45</a:t>
                      </a:r>
                    </a:p>
                  </a:txBody>
                  <a:tcPr marL="64008" marR="64008" marT="27432" marB="27432" anchor="ctr">
                    <a:solidFill>
                      <a:srgbClr val="F0F4F7"/>
                    </a:solidFill>
                  </a:tcPr>
                </a:tc>
                <a:tc>
                  <a:txBody>
                    <a:bodyPr/>
                    <a:lstStyle/>
                    <a:p>
                      <a:r>
                        <a:rPr sz="1400" b="0">
                          <a:solidFill>
                            <a:srgbClr val="192F40"/>
                          </a:solidFill>
                          <a:latin typeface="Arial"/>
                        </a:rPr>
                        <a:t>$0.32</a:t>
                      </a:r>
                    </a:p>
                  </a:txBody>
                  <a:tcPr marL="64008" marR="64008" marT="27432" marB="27432" anchor="ctr">
                    <a:solidFill>
                      <a:srgbClr val="F0F4F7"/>
                    </a:solidFill>
                  </a:tcPr>
                </a:tc>
                <a:tc>
                  <a:txBody>
                    <a:bodyPr/>
                    <a:lstStyle/>
                    <a:p>
                      <a:r>
                        <a:rPr sz="1400" b="0">
                          <a:solidFill>
                            <a:srgbClr val="192F40"/>
                          </a:solidFill>
                          <a:latin typeface="Arial"/>
                        </a:rPr>
                        <a:t>Q1 2026</a:t>
                      </a:r>
                    </a:p>
                  </a:txBody>
                  <a:tcPr marL="64008" marR="64008" marT="27432" marB="27432" anchor="ctr">
                    <a:solidFill>
                      <a:srgbClr val="F0F4F7"/>
                    </a:solidFill>
                  </a:tcPr>
                </a:tc>
                <a:extLst>
                  <a:ext uri="{0D108BD9-81ED-4DB2-BD59-A6C34878D82A}">
                    <a16:rowId xmlns:a16="http://schemas.microsoft.com/office/drawing/2014/main" val="10003"/>
                  </a:ext>
                </a:extLst>
              </a:tr>
              <a:tr h="502920">
                <a:tc>
                  <a:txBody>
                    <a:bodyPr/>
                    <a:lstStyle/>
                    <a:p>
                      <a:r>
                        <a:rPr sz="1400" b="1">
                          <a:solidFill>
                            <a:srgbClr val="192F40"/>
                          </a:solidFill>
                          <a:latin typeface="Arial"/>
                        </a:rPr>
                        <a:t>Block (XYZ)</a:t>
                      </a:r>
                    </a:p>
                  </a:txBody>
                  <a:tcPr marL="64008" marR="64008" marT="27432" marB="27432" anchor="ctr">
                    <a:solidFill>
                      <a:srgbClr val="FFFFFF"/>
                    </a:solidFill>
                  </a:tcPr>
                </a:tc>
                <a:tc>
                  <a:txBody>
                    <a:bodyPr/>
                    <a:lstStyle/>
                    <a:p>
                      <a:r>
                        <a:rPr sz="1400" b="0">
                          <a:solidFill>
                            <a:srgbClr val="192F40"/>
                          </a:solidFill>
                          <a:latin typeface="Arial"/>
                        </a:rPr>
                        <a:t>$1.02</a:t>
                      </a:r>
                    </a:p>
                  </a:txBody>
                  <a:tcPr marL="64008" marR="64008" marT="27432" marB="27432" anchor="ctr">
                    <a:solidFill>
                      <a:srgbClr val="FFFFFF"/>
                    </a:solidFill>
                  </a:tcPr>
                </a:tc>
                <a:tc>
                  <a:txBody>
                    <a:bodyPr/>
                    <a:lstStyle/>
                    <a:p>
                      <a:r>
                        <a:rPr sz="1400" b="0">
                          <a:solidFill>
                            <a:srgbClr val="192F40"/>
                          </a:solidFill>
                          <a:latin typeface="Arial"/>
                        </a:rPr>
                        <a:t>$0.86</a:t>
                      </a:r>
                    </a:p>
                  </a:txBody>
                  <a:tcPr marL="64008" marR="64008" marT="27432" marB="27432" anchor="ctr">
                    <a:solidFill>
                      <a:srgbClr val="FFFFFF"/>
                    </a:solidFill>
                  </a:tcPr>
                </a:tc>
                <a:tc>
                  <a:txBody>
                    <a:bodyPr/>
                    <a:lstStyle/>
                    <a:p>
                      <a:r>
                        <a:rPr sz="1400" b="0">
                          <a:solidFill>
                            <a:srgbClr val="192F40"/>
                          </a:solidFill>
                          <a:latin typeface="Arial"/>
                        </a:rPr>
                        <a:t>Q2 2026</a:t>
                      </a:r>
                    </a:p>
                  </a:txBody>
                  <a:tcPr marL="64008" marR="64008"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411480" y="3931920"/>
            <a:ext cx="8321040" cy="1188720"/>
          </a:xfrm>
          <a:prstGeom prst="rect">
            <a:avLst/>
          </a:prstGeom>
          <a:solidFill>
            <a:srgbClr val="F0F4F7"/>
          </a:solidFill>
          <a:ln w="12700">
            <a:solidFill>
              <a:srgbClr val="D7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931920"/>
            <a:ext cx="8046720" cy="1188720"/>
          </a:xfrm>
          <a:prstGeom prst="rect">
            <a:avLst/>
          </a:prstGeom>
          <a:noFill/>
        </p:spPr>
        <p:txBody>
          <a:bodyPr wrap="square" lIns="45720" tIns="27432" rIns="45720" bIns="27432" anchor="ctr">
            <a:spAutoFit/>
          </a:bodyPr>
          <a:lstStyle/>
          <a:p>
            <a:pPr>
              <a:spcAft>
                <a:spcPts val="600"/>
              </a:spcAft>
            </a:pPr>
            <a:r>
              <a:rPr sz="1600" b="0">
                <a:solidFill>
                  <a:srgbClr val="192F40"/>
                </a:solidFill>
                <a:latin typeface="Arial"/>
              </a:rPr>
              <a:t>Block's FY2026 consensus EPS is $4.06, but consensus net income is just $1.0B. Check which basis a number uses.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FINTECH EARNINGS</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Accounting lever: capitalized software lives</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Same cash, higher EPS. Check footnotes for changes</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SEC Financial Reporting Manual</a:t>
            </a:r>
            <a:r>
              <a:rPr sz="1400">
                <a:solidFill>
                  <a:srgbClr val="5C6E7D"/>
                </a:solidFill>
                <a:latin typeface="Arial"/>
              </a:rPr>
              <a:t>  |  </a:t>
            </a:r>
            <a:r>
              <a:rPr sz="1400">
                <a:latin typeface="Arial"/>
                <a:hlinkClick r:id="rId4"/>
              </a:rPr>
              <a:t>SEC: Non-GAAP C&amp;DIs</a:t>
            </a:r>
          </a:p>
        </p:txBody>
      </p:sp>
      <p:sp>
        <p:nvSpPr>
          <p:cNvPr id="9" name="TextBox 8"/>
          <p:cNvSpPr txBox="1"/>
          <p:nvPr/>
        </p:nvSpPr>
        <p:spPr>
          <a:xfrm>
            <a:off x="411480" y="1280160"/>
            <a:ext cx="54864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ANNUAL AMORTIZATION ON $100M OF SOFTWARE ($M)</a:t>
            </a:r>
          </a:p>
        </p:txBody>
      </p:sp>
      <p:graphicFrame>
        <p:nvGraphicFramePr>
          <p:cNvPr id="10" name="Chart 9"/>
          <p:cNvGraphicFramePr>
            <a:graphicFrameLocks noGrp="1"/>
          </p:cNvGraphicFramePr>
          <p:nvPr/>
        </p:nvGraphicFramePr>
        <p:xfrm>
          <a:off x="274320" y="1554480"/>
          <a:ext cx="4937760" cy="361188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p:cNvSpPr txBox="1"/>
          <p:nvPr/>
        </p:nvSpPr>
        <p:spPr>
          <a:xfrm>
            <a:off x="5394960" y="1371600"/>
            <a:ext cx="3337560" cy="3840480"/>
          </a:xfrm>
          <a:prstGeom prst="rect">
            <a:avLst/>
          </a:prstGeom>
          <a:noFill/>
        </p:spPr>
        <p:txBody>
          <a:bodyPr wrap="square" lIns="45720" tIns="27432" rIns="45720" bIns="27432">
            <a:spAutoFit/>
          </a:bodyPr>
          <a:lstStyle/>
          <a:p>
            <a:pPr>
              <a:spcAft>
                <a:spcPts val="600"/>
              </a:spcAft>
            </a:pPr>
            <a:r>
              <a:rPr sz="1600" b="0">
                <a:solidFill>
                  <a:srgbClr val="192F40"/>
                </a:solidFill>
                <a:latin typeface="Arial"/>
              </a:rPr>
              <a:t>• Longer life: +$13.3M pre-tax earnings per year.</a:t>
            </a:r>
          </a:p>
          <a:p>
            <a:pPr>
              <a:spcAft>
                <a:spcPts val="600"/>
              </a:spcAft>
            </a:pPr>
            <a:r>
              <a:rPr sz="1600" b="0">
                <a:solidFill>
                  <a:srgbClr val="192F40"/>
                </a:solidFill>
                <a:latin typeface="Arial"/>
              </a:rPr>
              <a:t>• No change in cash flow.</a:t>
            </a:r>
          </a:p>
          <a:p>
            <a:pPr>
              <a:spcAft>
                <a:spcPts val="600"/>
              </a:spcAft>
            </a:pPr>
            <a:r>
              <a:rPr sz="1600" b="0">
                <a:solidFill>
                  <a:srgbClr val="192F40"/>
                </a:solidFill>
                <a:latin typeface="Arial"/>
              </a:rPr>
              <a:t>• Class example: 4-year to 5-year schedule.</a:t>
            </a:r>
          </a:p>
          <a:p>
            <a:pPr>
              <a:spcAft>
                <a:spcPts val="600"/>
              </a:spcAft>
            </a:pPr>
            <a:r>
              <a:rPr sz="1600" b="0">
                <a:solidFill>
                  <a:srgbClr val="192F40"/>
                </a:solidFill>
                <a:latin typeface="Arial"/>
              </a:rPr>
              <a:t>• Illustrative example.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FINTECH VALUATION</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Steady earnings vs. swings: PayPal, Robinhood, Block</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Smooth EPS helps, but growth sets the multiple</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Perplexity Finance: earnings history</a:t>
            </a:r>
            <a:r>
              <a:rPr sz="1400">
                <a:solidFill>
                  <a:srgbClr val="5C6E7D"/>
                </a:solidFill>
                <a:latin typeface="Arial"/>
              </a:rPr>
              <a:t>  |  </a:t>
            </a:r>
            <a:r>
              <a:rPr sz="1400">
                <a:latin typeface="Arial"/>
                <a:hlinkClick r:id="rId4"/>
              </a:rPr>
              <a:t>Perplexity Finance: consensus estimates</a:t>
            </a:r>
          </a:p>
        </p:txBody>
      </p:sp>
      <p:sp>
        <p:nvSpPr>
          <p:cNvPr id="9" name="TextBox 8"/>
          <p:cNvSpPr txBox="1"/>
          <p:nvPr/>
        </p:nvSpPr>
        <p:spPr>
          <a:xfrm>
            <a:off x="411480" y="1280160"/>
            <a:ext cx="54864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QUARTERLY EPS ($)</a:t>
            </a:r>
          </a:p>
        </p:txBody>
      </p:sp>
      <p:graphicFrame>
        <p:nvGraphicFramePr>
          <p:cNvPr id="10" name="Chart 9"/>
          <p:cNvGraphicFramePr>
            <a:graphicFrameLocks noGrp="1"/>
          </p:cNvGraphicFramePr>
          <p:nvPr/>
        </p:nvGraphicFramePr>
        <p:xfrm>
          <a:off x="274320" y="1554480"/>
          <a:ext cx="5120640" cy="361188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p:cNvSpPr txBox="1"/>
          <p:nvPr/>
        </p:nvSpPr>
        <p:spPr>
          <a:xfrm>
            <a:off x="5577840" y="1371600"/>
            <a:ext cx="3154680" cy="3840480"/>
          </a:xfrm>
          <a:prstGeom prst="rect">
            <a:avLst/>
          </a:prstGeom>
          <a:noFill/>
        </p:spPr>
        <p:txBody>
          <a:bodyPr wrap="square" lIns="45720" tIns="27432" rIns="45720" bIns="27432">
            <a:spAutoFit/>
          </a:bodyPr>
          <a:lstStyle/>
          <a:p>
            <a:pPr>
              <a:spcAft>
                <a:spcPts val="600"/>
              </a:spcAft>
            </a:pPr>
            <a:r>
              <a:rPr sz="1600" b="0">
                <a:solidFill>
                  <a:srgbClr val="192F40"/>
                </a:solidFill>
                <a:latin typeface="Arial"/>
              </a:rPr>
              <a:t>• PayPal: steadiest EPS, lowest P/E.</a:t>
            </a:r>
          </a:p>
          <a:p>
            <a:pPr>
              <a:spcAft>
                <a:spcPts val="600"/>
              </a:spcAft>
            </a:pPr>
            <a:r>
              <a:rPr sz="1600" b="0">
                <a:solidFill>
                  <a:srgbClr val="192F40"/>
                </a:solidFill>
                <a:latin typeface="Arial"/>
              </a:rPr>
              <a:t>• Robinhood: higher growth, 51.7x.</a:t>
            </a:r>
          </a:p>
          <a:p>
            <a:pPr>
              <a:spcAft>
                <a:spcPts val="600"/>
              </a:spcAft>
            </a:pPr>
            <a:r>
              <a:rPr sz="1600" b="0">
                <a:solidFill>
                  <a:srgbClr val="192F40"/>
                </a:solidFill>
                <a:latin typeface="Arial"/>
              </a:rPr>
              <a:t>• Smoothing needs reserves; the 'jar' can run out.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FINTECH EARNINGS</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Revenue beats are small. EPS beats are big</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Earnings amplify small sales beats, and have more levers</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Perplexity Finance: earnings history</a:t>
            </a:r>
            <a:r>
              <a:rPr sz="1400">
                <a:solidFill>
                  <a:srgbClr val="5C6E7D"/>
                </a:solidFill>
                <a:latin typeface="Arial"/>
              </a:rPr>
              <a:t>  |  </a:t>
            </a:r>
            <a:r>
              <a:rPr sz="1400">
                <a:latin typeface="Arial"/>
                <a:hlinkClick r:id="rId4"/>
              </a:rPr>
              <a:t>SEC: Non-GAAP C&amp;DIs</a:t>
            </a:r>
          </a:p>
        </p:txBody>
      </p:sp>
      <p:sp>
        <p:nvSpPr>
          <p:cNvPr id="9" name="TextBox 8"/>
          <p:cNvSpPr txBox="1"/>
          <p:nvPr/>
        </p:nvSpPr>
        <p:spPr>
          <a:xfrm>
            <a:off x="411480" y="1280160"/>
            <a:ext cx="54864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Q2 2026 SURPRISE VS. CONSENSUS (%)</a:t>
            </a:r>
          </a:p>
        </p:txBody>
      </p:sp>
      <p:graphicFrame>
        <p:nvGraphicFramePr>
          <p:cNvPr id="10" name="Chart 9"/>
          <p:cNvGraphicFramePr>
            <a:graphicFrameLocks noGrp="1"/>
          </p:cNvGraphicFramePr>
          <p:nvPr/>
        </p:nvGraphicFramePr>
        <p:xfrm>
          <a:off x="274320" y="1554480"/>
          <a:ext cx="5303520" cy="361188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p:cNvSpPr txBox="1"/>
          <p:nvPr/>
        </p:nvSpPr>
        <p:spPr>
          <a:xfrm>
            <a:off x="5760720" y="1371600"/>
            <a:ext cx="2971800" cy="3840480"/>
          </a:xfrm>
          <a:prstGeom prst="rect">
            <a:avLst/>
          </a:prstGeom>
          <a:noFill/>
        </p:spPr>
        <p:txBody>
          <a:bodyPr wrap="square" lIns="45720" tIns="27432" rIns="45720" bIns="27432">
            <a:spAutoFit/>
          </a:bodyPr>
          <a:lstStyle/>
          <a:p>
            <a:pPr>
              <a:spcAft>
                <a:spcPts val="600"/>
              </a:spcAft>
            </a:pPr>
            <a:r>
              <a:rPr sz="1600" b="0">
                <a:solidFill>
                  <a:srgbClr val="192F40"/>
                </a:solidFill>
                <a:latin typeface="Arial"/>
              </a:rPr>
              <a:t>• Revenue beats: 1.7% to 5.5%.</a:t>
            </a:r>
          </a:p>
          <a:p>
            <a:pPr>
              <a:spcAft>
                <a:spcPts val="600"/>
              </a:spcAft>
            </a:pPr>
            <a:r>
              <a:rPr sz="1600" b="0">
                <a:solidFill>
                  <a:srgbClr val="192F40"/>
                </a:solidFill>
                <a:latin typeface="Arial"/>
              </a:rPr>
              <a:t>• EPS beats: 7.7% to 44.2%.</a:t>
            </a:r>
          </a:p>
          <a:p>
            <a:pPr>
              <a:spcAft>
                <a:spcPts val="600"/>
              </a:spcAft>
            </a:pPr>
            <a:r>
              <a:rPr sz="1600" b="0">
                <a:solidFill>
                  <a:srgbClr val="192F40"/>
                </a:solidFill>
                <a:latin typeface="Arial"/>
              </a:rPr>
              <a:t>• Sales need customers; EPS has more levers.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FINTECH VALUATION</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Forward P/E: PayPal is cheap, Robinhood is not</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S&amp;P 500 forward P/E is 19.2. Fintech spans 10x to 69x</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Perplexity Finance: consensus estimates</a:t>
            </a:r>
            <a:r>
              <a:rPr sz="1400">
                <a:solidFill>
                  <a:srgbClr val="5C6E7D"/>
                </a:solidFill>
                <a:latin typeface="Arial"/>
              </a:rPr>
              <a:t>  |  </a:t>
            </a:r>
            <a:r>
              <a:rPr sz="1400">
                <a:latin typeface="Arial"/>
                <a:hlinkClick r:id="rId4"/>
              </a:rPr>
              <a:t>FactSet Earnings Insight</a:t>
            </a:r>
          </a:p>
        </p:txBody>
      </p:sp>
      <p:sp>
        <p:nvSpPr>
          <p:cNvPr id="9" name="TextBox 8"/>
          <p:cNvSpPr txBox="1"/>
          <p:nvPr/>
        </p:nvSpPr>
        <p:spPr>
          <a:xfrm>
            <a:off x="411480" y="1280160"/>
            <a:ext cx="54864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FORWARD P/E (PRICE / CONSENSUS EPS)</a:t>
            </a:r>
          </a:p>
        </p:txBody>
      </p:sp>
      <p:graphicFrame>
        <p:nvGraphicFramePr>
          <p:cNvPr id="10" name="Chart 9"/>
          <p:cNvGraphicFramePr>
            <a:graphicFrameLocks noGrp="1"/>
          </p:cNvGraphicFramePr>
          <p:nvPr/>
        </p:nvGraphicFramePr>
        <p:xfrm>
          <a:off x="274320" y="1554480"/>
          <a:ext cx="5394960" cy="361188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p:cNvSpPr txBox="1"/>
          <p:nvPr/>
        </p:nvSpPr>
        <p:spPr>
          <a:xfrm>
            <a:off x="5852160" y="1371600"/>
            <a:ext cx="2880360" cy="3840480"/>
          </a:xfrm>
          <a:prstGeom prst="rect">
            <a:avLst/>
          </a:prstGeom>
          <a:noFill/>
        </p:spPr>
        <p:txBody>
          <a:bodyPr wrap="square" lIns="45720" tIns="27432" rIns="45720" bIns="27432">
            <a:spAutoFit/>
          </a:bodyPr>
          <a:lstStyle/>
          <a:p>
            <a:pPr>
              <a:spcAft>
                <a:spcPts val="600"/>
              </a:spcAft>
            </a:pPr>
            <a:r>
              <a:rPr sz="1600" b="0">
                <a:solidFill>
                  <a:srgbClr val="192F40"/>
                </a:solidFill>
                <a:latin typeface="Arial"/>
              </a:rPr>
              <a:t>• Higher EPS growth lowers forward P/E.</a:t>
            </a:r>
          </a:p>
          <a:p>
            <a:pPr>
              <a:spcAft>
                <a:spcPts val="600"/>
              </a:spcAft>
            </a:pPr>
            <a:r>
              <a:rPr sz="1600" b="0">
                <a:solidFill>
                  <a:srgbClr val="192F40"/>
                </a:solidFill>
                <a:latin typeface="Arial"/>
              </a:rPr>
              <a:t>• Coinbase: FY2026 EPS negative; FY2027 69x.</a:t>
            </a:r>
          </a:p>
          <a:p>
            <a:pPr>
              <a:spcAft>
                <a:spcPts val="600"/>
              </a:spcAft>
            </a:pPr>
            <a:r>
              <a:rPr sz="1600" b="0">
                <a:solidFill>
                  <a:srgbClr val="192F40"/>
                </a:solidFill>
                <a:latin typeface="Arial"/>
              </a:rPr>
              <a:t>• S&amp;P 500 benchmark: 19.2x.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FORECASTING</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Forecast method: headwinds, tailwinds, then a range</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Price = EPS x P/E. Give a range, not a point</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Federal Reserve FOMC statement</a:t>
            </a:r>
            <a:r>
              <a:rPr sz="1400">
                <a:solidFill>
                  <a:srgbClr val="5C6E7D"/>
                </a:solidFill>
                <a:latin typeface="Arial"/>
              </a:rPr>
              <a:t>  |  </a:t>
            </a:r>
            <a:r>
              <a:rPr sz="1400">
                <a:latin typeface="Arial"/>
                <a:hlinkClick r:id="rId4"/>
              </a:rPr>
              <a:t>FactSet Earnings Insight</a:t>
            </a:r>
          </a:p>
        </p:txBody>
      </p:sp>
      <p:sp>
        <p:nvSpPr>
          <p:cNvPr id="9" name="Rectangle 8"/>
          <p:cNvSpPr/>
          <p:nvPr/>
        </p:nvSpPr>
        <p:spPr>
          <a:xfrm>
            <a:off x="411480" y="1463040"/>
            <a:ext cx="2651760" cy="109728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2560320" cy="1097280"/>
          </a:xfrm>
          <a:prstGeom prst="rect">
            <a:avLst/>
          </a:prstGeom>
          <a:noFill/>
        </p:spPr>
        <p:txBody>
          <a:bodyPr wrap="square" lIns="45720" tIns="27432" rIns="45720" bIns="27432" anchor="ctr">
            <a:spAutoFit/>
          </a:bodyPr>
          <a:lstStyle/>
          <a:p>
            <a:pPr algn="ctr">
              <a:spcAft>
                <a:spcPts val="600"/>
              </a:spcAft>
            </a:pPr>
            <a:r>
              <a:rPr sz="2400" b="1">
                <a:solidFill>
                  <a:srgbClr val="FFFFFF"/>
                </a:solidFill>
                <a:latin typeface="Arial"/>
              </a:rPr>
              <a:t>Headwinds</a:t>
            </a:r>
          </a:p>
        </p:txBody>
      </p:sp>
      <p:sp>
        <p:nvSpPr>
          <p:cNvPr id="11" name="TextBox 10"/>
          <p:cNvSpPr txBox="1"/>
          <p:nvPr/>
        </p:nvSpPr>
        <p:spPr>
          <a:xfrm>
            <a:off x="457200" y="2651760"/>
            <a:ext cx="2560320" cy="1005840"/>
          </a:xfrm>
          <a:prstGeom prst="rect">
            <a:avLst/>
          </a:prstGeom>
          <a:noFill/>
        </p:spPr>
        <p:txBody>
          <a:bodyPr wrap="square" lIns="45720" tIns="27432" rIns="45720" bIns="27432">
            <a:spAutoFit/>
          </a:bodyPr>
          <a:lstStyle/>
          <a:p>
            <a:pPr algn="ctr">
              <a:spcAft>
                <a:spcPts val="600"/>
              </a:spcAft>
            </a:pPr>
            <a:r>
              <a:rPr sz="1600" b="0">
                <a:solidFill>
                  <a:srgbClr val="192F40"/>
                </a:solidFill>
                <a:latin typeface="Arial"/>
              </a:rPr>
              <a:t>Fed hikes, crypto swings, open-banking limbo</a:t>
            </a:r>
          </a:p>
        </p:txBody>
      </p:sp>
      <p:sp>
        <p:nvSpPr>
          <p:cNvPr id="12" name="Rectangle 11"/>
          <p:cNvSpPr/>
          <p:nvPr/>
        </p:nvSpPr>
        <p:spPr>
          <a:xfrm>
            <a:off x="3246120" y="1463040"/>
            <a:ext cx="2651760" cy="1097280"/>
          </a:xfrm>
          <a:prstGeom prst="rect">
            <a:avLst/>
          </a:prstGeom>
          <a:solidFill>
            <a:srgbClr val="315C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91840" y="1463040"/>
            <a:ext cx="2560320" cy="1097280"/>
          </a:xfrm>
          <a:prstGeom prst="rect">
            <a:avLst/>
          </a:prstGeom>
          <a:noFill/>
        </p:spPr>
        <p:txBody>
          <a:bodyPr wrap="square" lIns="45720" tIns="27432" rIns="45720" bIns="27432" anchor="ctr">
            <a:spAutoFit/>
          </a:bodyPr>
          <a:lstStyle/>
          <a:p>
            <a:pPr algn="ctr">
              <a:spcAft>
                <a:spcPts val="600"/>
              </a:spcAft>
            </a:pPr>
            <a:r>
              <a:rPr sz="2400" b="1">
                <a:solidFill>
                  <a:srgbClr val="FFFFFF"/>
                </a:solidFill>
                <a:latin typeface="Arial"/>
              </a:rPr>
              <a:t>Tailwinds</a:t>
            </a:r>
          </a:p>
        </p:txBody>
      </p:sp>
      <p:sp>
        <p:nvSpPr>
          <p:cNvPr id="14" name="TextBox 13"/>
          <p:cNvSpPr txBox="1"/>
          <p:nvPr/>
        </p:nvSpPr>
        <p:spPr>
          <a:xfrm>
            <a:off x="3291840" y="2651760"/>
            <a:ext cx="2560320" cy="1005840"/>
          </a:xfrm>
          <a:prstGeom prst="rect">
            <a:avLst/>
          </a:prstGeom>
          <a:noFill/>
        </p:spPr>
        <p:txBody>
          <a:bodyPr wrap="square" lIns="45720" tIns="27432" rIns="45720" bIns="27432">
            <a:spAutoFit/>
          </a:bodyPr>
          <a:lstStyle/>
          <a:p>
            <a:pPr algn="ctr">
              <a:spcAft>
                <a:spcPts val="600"/>
              </a:spcAft>
            </a:pPr>
            <a:r>
              <a:rPr sz="1600" b="0">
                <a:solidFill>
                  <a:srgbClr val="192F40"/>
                </a:solidFill>
                <a:latin typeface="Arial"/>
              </a:rPr>
              <a:t>Stablecoin rules, tokenization, buybacks, EPS growth</a:t>
            </a:r>
          </a:p>
        </p:txBody>
      </p:sp>
      <p:sp>
        <p:nvSpPr>
          <p:cNvPr id="15" name="Rectangle 14"/>
          <p:cNvSpPr/>
          <p:nvPr/>
        </p:nvSpPr>
        <p:spPr>
          <a:xfrm>
            <a:off x="6080760" y="1463040"/>
            <a:ext cx="2651760" cy="109728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1463040"/>
            <a:ext cx="2560320" cy="1097280"/>
          </a:xfrm>
          <a:prstGeom prst="rect">
            <a:avLst/>
          </a:prstGeom>
          <a:noFill/>
        </p:spPr>
        <p:txBody>
          <a:bodyPr wrap="square" lIns="45720" tIns="27432" rIns="45720" bIns="27432" anchor="ctr">
            <a:spAutoFit/>
          </a:bodyPr>
          <a:lstStyle/>
          <a:p>
            <a:pPr algn="ctr">
              <a:spcAft>
                <a:spcPts val="600"/>
              </a:spcAft>
            </a:pPr>
            <a:r>
              <a:rPr sz="2400" b="1">
                <a:solidFill>
                  <a:srgbClr val="FFFFFF"/>
                </a:solidFill>
                <a:latin typeface="Arial"/>
              </a:rPr>
              <a:t>Range</a:t>
            </a:r>
          </a:p>
        </p:txBody>
      </p:sp>
      <p:sp>
        <p:nvSpPr>
          <p:cNvPr id="17" name="TextBox 16"/>
          <p:cNvSpPr txBox="1"/>
          <p:nvPr/>
        </p:nvSpPr>
        <p:spPr>
          <a:xfrm>
            <a:off x="6126480" y="2651760"/>
            <a:ext cx="2560320" cy="1005840"/>
          </a:xfrm>
          <a:prstGeom prst="rect">
            <a:avLst/>
          </a:prstGeom>
          <a:noFill/>
        </p:spPr>
        <p:txBody>
          <a:bodyPr wrap="square" lIns="45720" tIns="27432" rIns="45720" bIns="27432">
            <a:spAutoFit/>
          </a:bodyPr>
          <a:lstStyle/>
          <a:p>
            <a:pPr algn="ctr">
              <a:spcAft>
                <a:spcPts val="600"/>
              </a:spcAft>
            </a:pPr>
            <a:r>
              <a:rPr sz="1600" b="0">
                <a:solidFill>
                  <a:srgbClr val="192F40"/>
                </a:solidFill>
                <a:latin typeface="Arial"/>
              </a:rPr>
              <a:t>Bear / base / bull ETF price</a:t>
            </a:r>
          </a:p>
        </p:txBody>
      </p:sp>
      <p:graphicFrame>
        <p:nvGraphicFramePr>
          <p:cNvPr id="18" name="Table 17"/>
          <p:cNvGraphicFramePr>
            <a:graphicFrameLocks noGrp="1"/>
          </p:cNvGraphicFramePr>
          <p:nvPr/>
        </p:nvGraphicFramePr>
        <p:xfrm>
          <a:off x="411480" y="3749039"/>
          <a:ext cx="8321040" cy="1389888"/>
        </p:xfrm>
        <a:graphic>
          <a:graphicData uri="http://schemas.openxmlformats.org/drawingml/2006/table">
            <a:tbl>
              <a:tblPr>
                <a:tableStyleId>{5C22544A-7EE6-4342-B048-85BDC9FD1C3A}</a:tableStyleId>
              </a:tblPr>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47472">
                <a:tc>
                  <a:txBody>
                    <a:bodyPr/>
                    <a:lstStyle/>
                    <a:p>
                      <a:r>
                        <a:rPr sz="1400" b="1">
                          <a:solidFill>
                            <a:srgbClr val="FFFFFF"/>
                          </a:solidFill>
                          <a:latin typeface="Arial"/>
                        </a:rPr>
                        <a:t>Case</a:t>
                      </a:r>
                    </a:p>
                  </a:txBody>
                  <a:tcPr marL="64008" marR="64008" marT="27432" marB="27432" anchor="ctr">
                    <a:solidFill>
                      <a:srgbClr val="142D44"/>
                    </a:solidFill>
                  </a:tcPr>
                </a:tc>
                <a:tc>
                  <a:txBody>
                    <a:bodyPr/>
                    <a:lstStyle/>
                    <a:p>
                      <a:r>
                        <a:rPr sz="1400" b="1">
                          <a:solidFill>
                            <a:srgbClr val="FFFFFF"/>
                          </a:solidFill>
                          <a:latin typeface="Arial"/>
                        </a:rPr>
                        <a:t>EPS</a:t>
                      </a:r>
                    </a:p>
                  </a:txBody>
                  <a:tcPr marL="64008" marR="64008" marT="27432" marB="27432" anchor="ctr">
                    <a:solidFill>
                      <a:srgbClr val="142D44"/>
                    </a:solidFill>
                  </a:tcPr>
                </a:tc>
                <a:tc>
                  <a:txBody>
                    <a:bodyPr/>
                    <a:lstStyle/>
                    <a:p>
                      <a:r>
                        <a:rPr sz="1400" b="1">
                          <a:solidFill>
                            <a:srgbClr val="FFFFFF"/>
                          </a:solidFill>
                          <a:latin typeface="Arial"/>
                        </a:rPr>
                        <a:t>P/E</a:t>
                      </a:r>
                    </a:p>
                  </a:txBody>
                  <a:tcPr marL="64008" marR="64008" marT="27432" marB="27432" anchor="ctr">
                    <a:solidFill>
                      <a:srgbClr val="142D44"/>
                    </a:solidFill>
                  </a:tcPr>
                </a:tc>
                <a:tc>
                  <a:txBody>
                    <a:bodyPr/>
                    <a:lstStyle/>
                    <a:p>
                      <a:r>
                        <a:rPr sz="1400" b="1">
                          <a:solidFill>
                            <a:srgbClr val="FFFFFF"/>
                          </a:solidFill>
                          <a:latin typeface="Arial"/>
                        </a:rPr>
                        <a:t>Price</a:t>
                      </a:r>
                    </a:p>
                  </a:txBody>
                  <a:tcPr marL="64008" marR="64008" marT="27432" marB="27432" anchor="ctr">
                    <a:solidFill>
                      <a:srgbClr val="142D44"/>
                    </a:solidFill>
                  </a:tcPr>
                </a:tc>
                <a:extLst>
                  <a:ext uri="{0D108BD9-81ED-4DB2-BD59-A6C34878D82A}">
                    <a16:rowId xmlns:a16="http://schemas.microsoft.com/office/drawing/2014/main" val="10000"/>
                  </a:ext>
                </a:extLst>
              </a:tr>
              <a:tr h="347472">
                <a:tc>
                  <a:txBody>
                    <a:bodyPr/>
                    <a:lstStyle/>
                    <a:p>
                      <a:r>
                        <a:rPr sz="1400" b="1">
                          <a:solidFill>
                            <a:srgbClr val="192F40"/>
                          </a:solidFill>
                          <a:latin typeface="Arial"/>
                        </a:rPr>
                        <a:t>Bear</a:t>
                      </a:r>
                    </a:p>
                  </a:txBody>
                  <a:tcPr marL="64008" marR="64008" marT="27432" marB="27432" anchor="ctr">
                    <a:solidFill>
                      <a:srgbClr val="F0F4F7"/>
                    </a:solidFill>
                  </a:tcPr>
                </a:tc>
                <a:tc>
                  <a:txBody>
                    <a:bodyPr/>
                    <a:lstStyle/>
                    <a:p>
                      <a:r>
                        <a:rPr sz="1400" b="0">
                          <a:solidFill>
                            <a:srgbClr val="192F40"/>
                          </a:solidFill>
                          <a:latin typeface="Arial"/>
                        </a:rPr>
                        <a:t>Lower</a:t>
                      </a:r>
                    </a:p>
                  </a:txBody>
                  <a:tcPr marL="64008" marR="64008" marT="27432" marB="27432" anchor="ctr">
                    <a:solidFill>
                      <a:srgbClr val="F0F4F7"/>
                    </a:solidFill>
                  </a:tcPr>
                </a:tc>
                <a:tc>
                  <a:txBody>
                    <a:bodyPr/>
                    <a:lstStyle/>
                    <a:p>
                      <a:r>
                        <a:rPr sz="1400" b="0">
                          <a:solidFill>
                            <a:srgbClr val="192F40"/>
                          </a:solidFill>
                          <a:latin typeface="Arial"/>
                        </a:rPr>
                        <a:t>Lower</a:t>
                      </a:r>
                    </a:p>
                  </a:txBody>
                  <a:tcPr marL="64008" marR="64008" marT="27432" marB="27432" anchor="ctr">
                    <a:solidFill>
                      <a:srgbClr val="F0F4F7"/>
                    </a:solidFill>
                  </a:tcPr>
                </a:tc>
                <a:tc>
                  <a:txBody>
                    <a:bodyPr/>
                    <a:lstStyle/>
                    <a:p>
                      <a:r>
                        <a:rPr sz="1400" b="0">
                          <a:solidFill>
                            <a:srgbClr val="192F40"/>
                          </a:solidFill>
                          <a:latin typeface="Arial"/>
                        </a:rPr>
                        <a:t>Low end</a:t>
                      </a:r>
                    </a:p>
                  </a:txBody>
                  <a:tcPr marL="64008" marR="64008" marT="27432" marB="27432" anchor="ctr">
                    <a:solidFill>
                      <a:srgbClr val="F0F4F7"/>
                    </a:solidFill>
                  </a:tcPr>
                </a:tc>
                <a:extLst>
                  <a:ext uri="{0D108BD9-81ED-4DB2-BD59-A6C34878D82A}">
                    <a16:rowId xmlns:a16="http://schemas.microsoft.com/office/drawing/2014/main" val="10001"/>
                  </a:ext>
                </a:extLst>
              </a:tr>
              <a:tr h="347472">
                <a:tc>
                  <a:txBody>
                    <a:bodyPr/>
                    <a:lstStyle/>
                    <a:p>
                      <a:r>
                        <a:rPr sz="1400" b="1">
                          <a:solidFill>
                            <a:srgbClr val="192F40"/>
                          </a:solidFill>
                          <a:latin typeface="Arial"/>
                        </a:rPr>
                        <a:t>Base</a:t>
                      </a:r>
                    </a:p>
                  </a:txBody>
                  <a:tcPr marL="64008" marR="64008" marT="27432" marB="27432" anchor="ctr">
                    <a:solidFill>
                      <a:srgbClr val="FFFFFF"/>
                    </a:solidFill>
                  </a:tcPr>
                </a:tc>
                <a:tc>
                  <a:txBody>
                    <a:bodyPr/>
                    <a:lstStyle/>
                    <a:p>
                      <a:r>
                        <a:rPr sz="1400" b="0">
                          <a:solidFill>
                            <a:srgbClr val="192F40"/>
                          </a:solidFill>
                          <a:latin typeface="Arial"/>
                        </a:rPr>
                        <a:t>Consensus</a:t>
                      </a:r>
                    </a:p>
                  </a:txBody>
                  <a:tcPr marL="64008" marR="64008" marT="27432" marB="27432" anchor="ctr">
                    <a:solidFill>
                      <a:srgbClr val="FFFFFF"/>
                    </a:solidFill>
                  </a:tcPr>
                </a:tc>
                <a:tc>
                  <a:txBody>
                    <a:bodyPr/>
                    <a:lstStyle/>
                    <a:p>
                      <a:r>
                        <a:rPr sz="1400" b="0">
                          <a:solidFill>
                            <a:srgbClr val="192F40"/>
                          </a:solidFill>
                          <a:latin typeface="Arial"/>
                        </a:rPr>
                        <a:t>Current</a:t>
                      </a:r>
                    </a:p>
                  </a:txBody>
                  <a:tcPr marL="64008" marR="64008" marT="27432" marB="27432" anchor="ctr">
                    <a:solidFill>
                      <a:srgbClr val="FFFFFF"/>
                    </a:solidFill>
                  </a:tcPr>
                </a:tc>
                <a:tc>
                  <a:txBody>
                    <a:bodyPr/>
                    <a:lstStyle/>
                    <a:p>
                      <a:r>
                        <a:rPr sz="1400" b="0">
                          <a:solidFill>
                            <a:srgbClr val="192F40"/>
                          </a:solidFill>
                          <a:latin typeface="Arial"/>
                        </a:rPr>
                        <a:t>Middle</a:t>
                      </a:r>
                    </a:p>
                  </a:txBody>
                  <a:tcPr marL="64008" marR="64008" marT="27432" marB="27432" anchor="ctr">
                    <a:solidFill>
                      <a:srgbClr val="FFFFFF"/>
                    </a:solidFill>
                  </a:tcPr>
                </a:tc>
                <a:extLst>
                  <a:ext uri="{0D108BD9-81ED-4DB2-BD59-A6C34878D82A}">
                    <a16:rowId xmlns:a16="http://schemas.microsoft.com/office/drawing/2014/main" val="10002"/>
                  </a:ext>
                </a:extLst>
              </a:tr>
              <a:tr h="347472">
                <a:tc>
                  <a:txBody>
                    <a:bodyPr/>
                    <a:lstStyle/>
                    <a:p>
                      <a:r>
                        <a:rPr sz="1400" b="1">
                          <a:solidFill>
                            <a:srgbClr val="192F40"/>
                          </a:solidFill>
                          <a:latin typeface="Arial"/>
                        </a:rPr>
                        <a:t>Bull</a:t>
                      </a:r>
                    </a:p>
                  </a:txBody>
                  <a:tcPr marL="64008" marR="64008" marT="27432" marB="27432" anchor="ctr">
                    <a:solidFill>
                      <a:srgbClr val="F0F4F7"/>
                    </a:solidFill>
                  </a:tcPr>
                </a:tc>
                <a:tc>
                  <a:txBody>
                    <a:bodyPr/>
                    <a:lstStyle/>
                    <a:p>
                      <a:r>
                        <a:rPr sz="1400" b="0">
                          <a:solidFill>
                            <a:srgbClr val="192F40"/>
                          </a:solidFill>
                          <a:latin typeface="Arial"/>
                        </a:rPr>
                        <a:t>Higher</a:t>
                      </a:r>
                    </a:p>
                  </a:txBody>
                  <a:tcPr marL="64008" marR="64008" marT="27432" marB="27432" anchor="ctr">
                    <a:solidFill>
                      <a:srgbClr val="F0F4F7"/>
                    </a:solidFill>
                  </a:tcPr>
                </a:tc>
                <a:tc>
                  <a:txBody>
                    <a:bodyPr/>
                    <a:lstStyle/>
                    <a:p>
                      <a:r>
                        <a:rPr sz="1400" b="0">
                          <a:solidFill>
                            <a:srgbClr val="192F40"/>
                          </a:solidFill>
                          <a:latin typeface="Arial"/>
                        </a:rPr>
                        <a:t>Higher</a:t>
                      </a:r>
                    </a:p>
                  </a:txBody>
                  <a:tcPr marL="64008" marR="64008" marT="27432" marB="27432" anchor="ctr">
                    <a:solidFill>
                      <a:srgbClr val="F0F4F7"/>
                    </a:solidFill>
                  </a:tcPr>
                </a:tc>
                <a:tc>
                  <a:txBody>
                    <a:bodyPr/>
                    <a:lstStyle/>
                    <a:p>
                      <a:r>
                        <a:rPr sz="1400" b="0">
                          <a:solidFill>
                            <a:srgbClr val="192F40"/>
                          </a:solidFill>
                          <a:latin typeface="Arial"/>
                        </a:rPr>
                        <a:t>High end</a:t>
                      </a:r>
                    </a:p>
                  </a:txBody>
                  <a:tcPr marL="64008" marR="64008" marT="27432" marB="27432" anchor="ctr">
                    <a:solidFill>
                      <a:srgbClr val="F0F4F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1: MARKET TIMING</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September was weak for fintech ETFs as buybacks paused</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Blackouts end mid-Oct to Nov. Q4 often rebounds</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Citadel's Rubner via Futunn</a:t>
            </a:r>
            <a:r>
              <a:rPr sz="1400">
                <a:solidFill>
                  <a:srgbClr val="5C6E7D"/>
                </a:solidFill>
                <a:latin typeface="Arial"/>
              </a:rPr>
              <a:t>  |  </a:t>
            </a:r>
            <a:r>
              <a:rPr sz="1400">
                <a:latin typeface="Arial"/>
                <a:hlinkClick r:id="rId4"/>
              </a:rPr>
              <a:t>Seeking Alpha (Sep 23)</a:t>
            </a:r>
            <a:r>
              <a:rPr sz="1400">
                <a:solidFill>
                  <a:srgbClr val="5C6E7D"/>
                </a:solidFill>
                <a:latin typeface="Arial"/>
              </a:rPr>
              <a:t>  |  </a:t>
            </a:r>
            <a:r>
              <a:rPr sz="1400">
                <a:latin typeface="Arial"/>
                <a:hlinkClick r:id="rId5"/>
              </a:rPr>
              <a:t>Perplexity Finance data</a:t>
            </a:r>
          </a:p>
        </p:txBody>
      </p:sp>
      <p:sp>
        <p:nvSpPr>
          <p:cNvPr id="9" name="TextBox 8"/>
          <p:cNvSpPr txBox="1"/>
          <p:nvPr/>
        </p:nvSpPr>
        <p:spPr>
          <a:xfrm>
            <a:off x="411480" y="1280160"/>
            <a:ext cx="45720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S&amp;P 500 WEIGHT IN BLACKOUT (%)</a:t>
            </a:r>
          </a:p>
        </p:txBody>
      </p:sp>
      <p:graphicFrame>
        <p:nvGraphicFramePr>
          <p:cNvPr id="10" name="Chart 9"/>
          <p:cNvGraphicFramePr>
            <a:graphicFrameLocks noGrp="1"/>
          </p:cNvGraphicFramePr>
          <p:nvPr/>
        </p:nvGraphicFramePr>
        <p:xfrm>
          <a:off x="274320" y="1554480"/>
          <a:ext cx="3840480" cy="3611880"/>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Box 10"/>
          <p:cNvSpPr txBox="1"/>
          <p:nvPr/>
        </p:nvSpPr>
        <p:spPr>
          <a:xfrm>
            <a:off x="4297680" y="1280160"/>
            <a:ext cx="45720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SEP 2026 CHANGE (%)</a:t>
            </a:r>
          </a:p>
        </p:txBody>
      </p:sp>
      <p:graphicFrame>
        <p:nvGraphicFramePr>
          <p:cNvPr id="12" name="Chart 11"/>
          <p:cNvGraphicFramePr>
            <a:graphicFrameLocks noGrp="1"/>
          </p:cNvGraphicFramePr>
          <p:nvPr/>
        </p:nvGraphicFramePr>
        <p:xfrm>
          <a:off x="4206240" y="1554480"/>
          <a:ext cx="4480560" cy="3611880"/>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2: FINTECH ETF MECHANICS</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Why fintech exposure comes as ETFs, not mutual funds</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Intraday trading matters when holdings gap 9-12% on earnings</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Fidelity: ETF tax efficiency</a:t>
            </a:r>
            <a:r>
              <a:rPr sz="1400">
                <a:solidFill>
                  <a:srgbClr val="5C6E7D"/>
                </a:solidFill>
                <a:latin typeface="Arial"/>
              </a:rPr>
              <a:t>  |  </a:t>
            </a:r>
            <a:r>
              <a:rPr sz="1400">
                <a:latin typeface="Arial"/>
                <a:hlinkClick r:id="rId4"/>
              </a:rPr>
              <a:t>J.P. Morgan AM: tax efficiency</a:t>
            </a:r>
            <a:r>
              <a:rPr sz="1400">
                <a:solidFill>
                  <a:srgbClr val="5C6E7D"/>
                </a:solidFill>
                <a:latin typeface="Arial"/>
              </a:rPr>
              <a:t>  |  </a:t>
            </a:r>
            <a:r>
              <a:rPr sz="1400">
                <a:latin typeface="Arial"/>
                <a:hlinkClick r:id="rId5"/>
              </a:rPr>
              <a:t>SEC: Rule 12b-1 plan example</a:t>
            </a:r>
          </a:p>
        </p:txBody>
      </p:sp>
      <p:graphicFrame>
        <p:nvGraphicFramePr>
          <p:cNvPr id="9" name="Table 8"/>
          <p:cNvGraphicFramePr>
            <a:graphicFrameLocks noGrp="1"/>
          </p:cNvGraphicFramePr>
          <p:nvPr/>
        </p:nvGraphicFramePr>
        <p:xfrm>
          <a:off x="411480" y="1325880"/>
          <a:ext cx="8321040" cy="3566160"/>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594360">
                <a:tc>
                  <a:txBody>
                    <a:bodyPr/>
                    <a:lstStyle/>
                    <a:p>
                      <a:r>
                        <a:rPr sz="1400" b="1">
                          <a:solidFill>
                            <a:srgbClr val="FFFFFF"/>
                          </a:solidFill>
                          <a:latin typeface="Arial"/>
                        </a:rPr>
                        <a:t>Feature</a:t>
                      </a:r>
                    </a:p>
                  </a:txBody>
                  <a:tcPr marL="64008" marR="64008" marT="27432" marB="27432" anchor="ctr">
                    <a:solidFill>
                      <a:srgbClr val="142D44"/>
                    </a:solidFill>
                  </a:tcPr>
                </a:tc>
                <a:tc>
                  <a:txBody>
                    <a:bodyPr/>
                    <a:lstStyle/>
                    <a:p>
                      <a:r>
                        <a:rPr sz="1400" b="1">
                          <a:solidFill>
                            <a:srgbClr val="FFFFFF"/>
                          </a:solidFill>
                          <a:latin typeface="Arial"/>
                        </a:rPr>
                        <a:t>Mutual fund</a:t>
                      </a:r>
                    </a:p>
                  </a:txBody>
                  <a:tcPr marL="64008" marR="64008" marT="27432" marB="27432" anchor="ctr">
                    <a:solidFill>
                      <a:srgbClr val="142D44"/>
                    </a:solidFill>
                  </a:tcPr>
                </a:tc>
                <a:tc>
                  <a:txBody>
                    <a:bodyPr/>
                    <a:lstStyle/>
                    <a:p>
                      <a:r>
                        <a:rPr sz="1400" b="1">
                          <a:solidFill>
                            <a:srgbClr val="FFFFFF"/>
                          </a:solidFill>
                          <a:latin typeface="Arial"/>
                        </a:rPr>
                        <a:t>Fintech ETF (ARKF, FINX, FDFF)</a:t>
                      </a:r>
                    </a:p>
                  </a:txBody>
                  <a:tcPr marL="64008" marR="64008" marT="27432" marB="27432" anchor="ctr">
                    <a:solidFill>
                      <a:srgbClr val="142D44"/>
                    </a:solidFill>
                  </a:tcPr>
                </a:tc>
                <a:extLst>
                  <a:ext uri="{0D108BD9-81ED-4DB2-BD59-A6C34878D82A}">
                    <a16:rowId xmlns:a16="http://schemas.microsoft.com/office/drawing/2014/main" val="10000"/>
                  </a:ext>
                </a:extLst>
              </a:tr>
              <a:tr h="594360">
                <a:tc>
                  <a:txBody>
                    <a:bodyPr/>
                    <a:lstStyle/>
                    <a:p>
                      <a:r>
                        <a:rPr sz="1400" b="1">
                          <a:solidFill>
                            <a:srgbClr val="192F40"/>
                          </a:solidFill>
                          <a:latin typeface="Arial"/>
                        </a:rPr>
                        <a:t>Pricing</a:t>
                      </a:r>
                    </a:p>
                  </a:txBody>
                  <a:tcPr marL="64008" marR="64008" marT="27432" marB="27432" anchor="ctr">
                    <a:solidFill>
                      <a:srgbClr val="F0F4F7"/>
                    </a:solidFill>
                  </a:tcPr>
                </a:tc>
                <a:tc>
                  <a:txBody>
                    <a:bodyPr/>
                    <a:lstStyle/>
                    <a:p>
                      <a:r>
                        <a:rPr sz="1400" b="0">
                          <a:solidFill>
                            <a:srgbClr val="192F40"/>
                          </a:solidFill>
                          <a:latin typeface="Arial"/>
                        </a:rPr>
                        <a:t>Once a day (NAV)</a:t>
                      </a:r>
                    </a:p>
                  </a:txBody>
                  <a:tcPr marL="64008" marR="64008" marT="27432" marB="27432" anchor="ctr">
                    <a:solidFill>
                      <a:srgbClr val="F0F4F7"/>
                    </a:solidFill>
                  </a:tcPr>
                </a:tc>
                <a:tc>
                  <a:txBody>
                    <a:bodyPr/>
                    <a:lstStyle/>
                    <a:p>
                      <a:r>
                        <a:rPr sz="1400" b="0">
                          <a:solidFill>
                            <a:srgbClr val="192F40"/>
                          </a:solidFill>
                          <a:latin typeface="Arial"/>
                        </a:rPr>
                        <a:t>Intraday; react to earnings and Fed news</a:t>
                      </a:r>
                    </a:p>
                  </a:txBody>
                  <a:tcPr marL="64008" marR="64008" marT="27432" marB="27432" anchor="ctr">
                    <a:solidFill>
                      <a:srgbClr val="F0F4F7"/>
                    </a:solidFill>
                  </a:tcPr>
                </a:tc>
                <a:extLst>
                  <a:ext uri="{0D108BD9-81ED-4DB2-BD59-A6C34878D82A}">
                    <a16:rowId xmlns:a16="http://schemas.microsoft.com/office/drawing/2014/main" val="10001"/>
                  </a:ext>
                </a:extLst>
              </a:tr>
              <a:tr h="594360">
                <a:tc>
                  <a:txBody>
                    <a:bodyPr/>
                    <a:lstStyle/>
                    <a:p>
                      <a:r>
                        <a:rPr sz="1400" b="1">
                          <a:solidFill>
                            <a:srgbClr val="192F40"/>
                          </a:solidFill>
                          <a:latin typeface="Arial"/>
                        </a:rPr>
                        <a:t>Transparency</a:t>
                      </a:r>
                    </a:p>
                  </a:txBody>
                  <a:tcPr marL="64008" marR="64008" marT="27432" marB="27432" anchor="ctr">
                    <a:solidFill>
                      <a:srgbClr val="FFFFFF"/>
                    </a:solidFill>
                  </a:tcPr>
                </a:tc>
                <a:tc>
                  <a:txBody>
                    <a:bodyPr/>
                    <a:lstStyle/>
                    <a:p>
                      <a:r>
                        <a:rPr sz="1400" b="0">
                          <a:solidFill>
                            <a:srgbClr val="192F40"/>
                          </a:solidFill>
                          <a:latin typeface="Arial"/>
                        </a:rPr>
                        <a:t>Periodic holdings</a:t>
                      </a:r>
                    </a:p>
                  </a:txBody>
                  <a:tcPr marL="64008" marR="64008" marT="27432" marB="27432" anchor="ctr">
                    <a:solidFill>
                      <a:srgbClr val="FFFFFF"/>
                    </a:solidFill>
                  </a:tcPr>
                </a:tc>
                <a:tc>
                  <a:txBody>
                    <a:bodyPr/>
                    <a:lstStyle/>
                    <a:p>
                      <a:r>
                        <a:rPr sz="1400" b="0">
                          <a:solidFill>
                            <a:srgbClr val="192F40"/>
                          </a:solidFill>
                          <a:latin typeface="Arial"/>
                        </a:rPr>
                        <a:t>Daily holdings (most)</a:t>
                      </a:r>
                    </a:p>
                  </a:txBody>
                  <a:tcPr marL="64008" marR="64008" marT="27432" marB="27432" anchor="ctr">
                    <a:solidFill>
                      <a:srgbClr val="FFFFFF"/>
                    </a:solidFill>
                  </a:tcPr>
                </a:tc>
                <a:extLst>
                  <a:ext uri="{0D108BD9-81ED-4DB2-BD59-A6C34878D82A}">
                    <a16:rowId xmlns:a16="http://schemas.microsoft.com/office/drawing/2014/main" val="10002"/>
                  </a:ext>
                </a:extLst>
              </a:tr>
              <a:tr h="594360">
                <a:tc>
                  <a:txBody>
                    <a:bodyPr/>
                    <a:lstStyle/>
                    <a:p>
                      <a:r>
                        <a:rPr sz="1400" b="1">
                          <a:solidFill>
                            <a:srgbClr val="192F40"/>
                          </a:solidFill>
                          <a:latin typeface="Arial"/>
                        </a:rPr>
                        <a:t>Margin / short</a:t>
                      </a:r>
                    </a:p>
                  </a:txBody>
                  <a:tcPr marL="64008" marR="64008" marT="27432" marB="27432" anchor="ctr">
                    <a:solidFill>
                      <a:srgbClr val="F0F4F7"/>
                    </a:solidFill>
                  </a:tcPr>
                </a:tc>
                <a:tc>
                  <a:txBody>
                    <a:bodyPr/>
                    <a:lstStyle/>
                    <a:p>
                      <a:r>
                        <a:rPr sz="1400" b="0">
                          <a:solidFill>
                            <a:srgbClr val="192F40"/>
                          </a:solidFill>
                          <a:latin typeface="Arial"/>
                        </a:rPr>
                        <a:t>No</a:t>
                      </a:r>
                    </a:p>
                  </a:txBody>
                  <a:tcPr marL="64008" marR="64008" marT="27432" marB="27432" anchor="ctr">
                    <a:solidFill>
                      <a:srgbClr val="F0F4F7"/>
                    </a:solidFill>
                  </a:tcPr>
                </a:tc>
                <a:tc>
                  <a:txBody>
                    <a:bodyPr/>
                    <a:lstStyle/>
                    <a:p>
                      <a:r>
                        <a:rPr sz="1400" b="0">
                          <a:solidFill>
                            <a:srgbClr val="192F40"/>
                          </a:solidFill>
                          <a:latin typeface="Arial"/>
                        </a:rPr>
                        <a:t>Yes; can hedge crypto beta</a:t>
                      </a:r>
                    </a:p>
                  </a:txBody>
                  <a:tcPr marL="64008" marR="64008" marT="27432" marB="27432" anchor="ctr">
                    <a:solidFill>
                      <a:srgbClr val="F0F4F7"/>
                    </a:solidFill>
                  </a:tcPr>
                </a:tc>
                <a:extLst>
                  <a:ext uri="{0D108BD9-81ED-4DB2-BD59-A6C34878D82A}">
                    <a16:rowId xmlns:a16="http://schemas.microsoft.com/office/drawing/2014/main" val="10003"/>
                  </a:ext>
                </a:extLst>
              </a:tr>
              <a:tr h="594360">
                <a:tc>
                  <a:txBody>
                    <a:bodyPr/>
                    <a:lstStyle/>
                    <a:p>
                      <a:r>
                        <a:rPr sz="1400" b="1">
                          <a:solidFill>
                            <a:srgbClr val="192F40"/>
                          </a:solidFill>
                          <a:latin typeface="Arial"/>
                        </a:rPr>
                        <a:t>Capital gains</a:t>
                      </a:r>
                    </a:p>
                  </a:txBody>
                  <a:tcPr marL="64008" marR="64008" marT="27432" marB="27432" anchor="ctr">
                    <a:solidFill>
                      <a:srgbClr val="FFFFFF"/>
                    </a:solidFill>
                  </a:tcPr>
                </a:tc>
                <a:tc>
                  <a:txBody>
                    <a:bodyPr/>
                    <a:lstStyle/>
                    <a:p>
                      <a:r>
                        <a:rPr sz="1400" b="0">
                          <a:solidFill>
                            <a:srgbClr val="192F40"/>
                          </a:solidFill>
                          <a:latin typeface="Arial"/>
                        </a:rPr>
                        <a:t>Less control</a:t>
                      </a:r>
                    </a:p>
                  </a:txBody>
                  <a:tcPr marL="64008" marR="64008" marT="27432" marB="27432" anchor="ctr">
                    <a:solidFill>
                      <a:srgbClr val="FFFFFF"/>
                    </a:solidFill>
                  </a:tcPr>
                </a:tc>
                <a:tc>
                  <a:txBody>
                    <a:bodyPr/>
                    <a:lstStyle/>
                    <a:p>
                      <a:r>
                        <a:rPr sz="1400" b="0">
                          <a:solidFill>
                            <a:srgbClr val="192F40"/>
                          </a:solidFill>
                          <a:latin typeface="Arial"/>
                        </a:rPr>
                        <a:t>In-kind; more control</a:t>
                      </a:r>
                    </a:p>
                  </a:txBody>
                  <a:tcPr marL="64008" marR="64008" marT="27432" marB="27432" anchor="ctr">
                    <a:solidFill>
                      <a:srgbClr val="FFFFFF"/>
                    </a:solidFill>
                  </a:tcPr>
                </a:tc>
                <a:extLst>
                  <a:ext uri="{0D108BD9-81ED-4DB2-BD59-A6C34878D82A}">
                    <a16:rowId xmlns:a16="http://schemas.microsoft.com/office/drawing/2014/main" val="10004"/>
                  </a:ext>
                </a:extLst>
              </a:tr>
              <a:tr h="594360">
                <a:tc>
                  <a:txBody>
                    <a:bodyPr/>
                    <a:lstStyle/>
                    <a:p>
                      <a:r>
                        <a:rPr sz="1400" b="1">
                          <a:solidFill>
                            <a:srgbClr val="192F40"/>
                          </a:solidFill>
                          <a:latin typeface="Arial"/>
                        </a:rPr>
                        <a:t>Fees</a:t>
                      </a:r>
                    </a:p>
                  </a:txBody>
                  <a:tcPr marL="64008" marR="64008" marT="27432" marB="27432" anchor="ctr">
                    <a:solidFill>
                      <a:srgbClr val="F0F4F7"/>
                    </a:solidFill>
                  </a:tcPr>
                </a:tc>
                <a:tc>
                  <a:txBody>
                    <a:bodyPr/>
                    <a:lstStyle/>
                    <a:p>
                      <a:r>
                        <a:rPr sz="1400" b="0">
                          <a:solidFill>
                            <a:srgbClr val="192F40"/>
                          </a:solidFill>
                          <a:latin typeface="Arial"/>
                        </a:rPr>
                        <a:t>12b-1 possible (e.g., 0.25%); human managers</a:t>
                      </a:r>
                    </a:p>
                  </a:txBody>
                  <a:tcPr marL="64008" marR="64008" marT="27432" marB="27432" anchor="ctr">
                    <a:solidFill>
                      <a:srgbClr val="F0F4F7"/>
                    </a:solidFill>
                  </a:tcPr>
                </a:tc>
                <a:tc>
                  <a:txBody>
                    <a:bodyPr/>
                    <a:lstStyle/>
                    <a:p>
                      <a:r>
                        <a:rPr sz="1400" b="0">
                          <a:solidFill>
                            <a:srgbClr val="192F40"/>
                          </a:solidFill>
                          <a:latin typeface="Arial"/>
                        </a:rPr>
                        <a:t>Index ETFs automated; ARKF active</a:t>
                      </a:r>
                    </a:p>
                  </a:txBody>
                  <a:tcPr marL="64008" marR="64008" marT="27432" marB="27432" anchor="ctr">
                    <a:solidFill>
                      <a:srgbClr val="F0F4F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2: RESEARCH TOOLS</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Three free tools to check what is inside a fintech ETF</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Check holdings, then backtest the DIY alternative</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Morningstar: FINX portfolio</a:t>
            </a:r>
            <a:r>
              <a:rPr sz="1400">
                <a:solidFill>
                  <a:srgbClr val="5C6E7D"/>
                </a:solidFill>
                <a:latin typeface="Arial"/>
              </a:rPr>
              <a:t>  |  </a:t>
            </a:r>
            <a:r>
              <a:rPr sz="1400">
                <a:latin typeface="Arial"/>
                <a:hlinkClick r:id="rId4"/>
              </a:rPr>
              <a:t>Lazy Portfolio ETF</a:t>
            </a:r>
            <a:r>
              <a:rPr sz="1400">
                <a:solidFill>
                  <a:srgbClr val="5C6E7D"/>
                </a:solidFill>
                <a:latin typeface="Arial"/>
              </a:rPr>
              <a:t>  |  </a:t>
            </a:r>
            <a:r>
              <a:rPr sz="1400">
                <a:latin typeface="Arial"/>
                <a:hlinkClick r:id="rId5"/>
              </a:rPr>
              <a:t>Portfolio Visualizer</a:t>
            </a:r>
          </a:p>
        </p:txBody>
      </p:sp>
      <p:graphicFrame>
        <p:nvGraphicFramePr>
          <p:cNvPr id="9" name="Table 8"/>
          <p:cNvGraphicFramePr>
            <a:graphicFrameLocks noGrp="1"/>
          </p:cNvGraphicFramePr>
          <p:nvPr/>
        </p:nvGraphicFramePr>
        <p:xfrm>
          <a:off x="411480" y="1325880"/>
          <a:ext cx="8321040" cy="2926080"/>
        </p:xfrm>
        <a:graphic>
          <a:graphicData uri="http://schemas.openxmlformats.org/drawingml/2006/table">
            <a:tbl>
              <a:tblPr>
                <a:tableStyleId>{5C22544A-7EE6-4342-B048-85BDC9FD1C3A}</a:tableStyleId>
              </a:tblPr>
              <a:tblGrid>
                <a:gridCol w="39319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731520">
                <a:tc>
                  <a:txBody>
                    <a:bodyPr/>
                    <a:lstStyle/>
                    <a:p>
                      <a:r>
                        <a:rPr sz="1400" b="1">
                          <a:solidFill>
                            <a:srgbClr val="FFFFFF"/>
                          </a:solidFill>
                          <a:latin typeface="Arial"/>
                        </a:rPr>
                        <a:t>Tool</a:t>
                      </a:r>
                    </a:p>
                  </a:txBody>
                  <a:tcPr marL="64008" marR="64008" marT="27432" marB="27432" anchor="ctr">
                    <a:solidFill>
                      <a:srgbClr val="142D44"/>
                    </a:solidFill>
                  </a:tcPr>
                </a:tc>
                <a:tc>
                  <a:txBody>
                    <a:bodyPr/>
                    <a:lstStyle/>
                    <a:p>
                      <a:r>
                        <a:rPr sz="1400" b="1">
                          <a:solidFill>
                            <a:srgbClr val="FFFFFF"/>
                          </a:solidFill>
                          <a:latin typeface="Arial"/>
                        </a:rPr>
                        <a:t>Fintech use</a:t>
                      </a:r>
                    </a:p>
                  </a:txBody>
                  <a:tcPr marL="64008" marR="64008" marT="27432" marB="27432" anchor="ctr">
                    <a:solidFill>
                      <a:srgbClr val="142D44"/>
                    </a:solidFill>
                  </a:tcPr>
                </a:tc>
                <a:extLst>
                  <a:ext uri="{0D108BD9-81ED-4DB2-BD59-A6C34878D82A}">
                    <a16:rowId xmlns:a16="http://schemas.microsoft.com/office/drawing/2014/main" val="10000"/>
                  </a:ext>
                </a:extLst>
              </a:tr>
              <a:tr h="731520">
                <a:tc>
                  <a:txBody>
                    <a:bodyPr/>
                    <a:lstStyle/>
                    <a:p>
                      <a:r>
                        <a:rPr sz="1400" b="1">
                          <a:solidFill>
                            <a:srgbClr val="192F40"/>
                          </a:solidFill>
                          <a:latin typeface="Arial"/>
                        </a:rPr>
                        <a:t>Morningstar /etfs/arcx/finx/portfolio</a:t>
                      </a:r>
                    </a:p>
                  </a:txBody>
                  <a:tcPr marL="64008" marR="64008" marT="27432" marB="27432" anchor="ctr">
                    <a:solidFill>
                      <a:srgbClr val="F0F4F7"/>
                    </a:solidFill>
                  </a:tcPr>
                </a:tc>
                <a:tc>
                  <a:txBody>
                    <a:bodyPr/>
                    <a:lstStyle/>
                    <a:p>
                      <a:r>
                        <a:rPr sz="1400" b="0">
                          <a:solidFill>
                            <a:srgbClr val="192F40"/>
                          </a:solidFill>
                          <a:latin typeface="Arial"/>
                        </a:rPr>
                        <a:t>Holdings, sector mix, overlap of ARKF vs. FINX</a:t>
                      </a:r>
                    </a:p>
                  </a:txBody>
                  <a:tcPr marL="64008" marR="64008" marT="27432" marB="27432" anchor="ctr">
                    <a:solidFill>
                      <a:srgbClr val="F0F4F7"/>
                    </a:solidFill>
                  </a:tcPr>
                </a:tc>
                <a:extLst>
                  <a:ext uri="{0D108BD9-81ED-4DB2-BD59-A6C34878D82A}">
                    <a16:rowId xmlns:a16="http://schemas.microsoft.com/office/drawing/2014/main" val="10001"/>
                  </a:ext>
                </a:extLst>
              </a:tr>
              <a:tr h="731520">
                <a:tc>
                  <a:txBody>
                    <a:bodyPr/>
                    <a:lstStyle/>
                    <a:p>
                      <a:r>
                        <a:rPr sz="1400" b="1">
                          <a:solidFill>
                            <a:srgbClr val="192F40"/>
                          </a:solidFill>
                          <a:latin typeface="Arial"/>
                        </a:rPr>
                        <a:t>lazyportfolioetf.com</a:t>
                      </a:r>
                    </a:p>
                  </a:txBody>
                  <a:tcPr marL="64008" marR="64008" marT="27432" marB="27432" anchor="ctr">
                    <a:solidFill>
                      <a:srgbClr val="FFFFFF"/>
                    </a:solidFill>
                  </a:tcPr>
                </a:tc>
                <a:tc>
                  <a:txBody>
                    <a:bodyPr/>
                    <a:lstStyle/>
                    <a:p>
                      <a:r>
                        <a:rPr sz="1400" b="0">
                          <a:solidFill>
                            <a:srgbClr val="192F40"/>
                          </a:solidFill>
                          <a:latin typeface="Arial"/>
                        </a:rPr>
                        <a:t>Model portfolios; add a fintech ETF sleeve</a:t>
                      </a:r>
                    </a:p>
                  </a:txBody>
                  <a:tcPr marL="64008" marR="64008" marT="27432" marB="27432" anchor="ctr">
                    <a:solidFill>
                      <a:srgbClr val="FFFFFF"/>
                    </a:solidFill>
                  </a:tcPr>
                </a:tc>
                <a:extLst>
                  <a:ext uri="{0D108BD9-81ED-4DB2-BD59-A6C34878D82A}">
                    <a16:rowId xmlns:a16="http://schemas.microsoft.com/office/drawing/2014/main" val="10002"/>
                  </a:ext>
                </a:extLst>
              </a:tr>
              <a:tr h="731520">
                <a:tc>
                  <a:txBody>
                    <a:bodyPr/>
                    <a:lstStyle/>
                    <a:p>
                      <a:r>
                        <a:rPr sz="1400" b="1">
                          <a:solidFill>
                            <a:srgbClr val="192F40"/>
                          </a:solidFill>
                          <a:latin typeface="Arial"/>
                        </a:rPr>
                        <a:t>portfoliovisualizer.com</a:t>
                      </a:r>
                    </a:p>
                  </a:txBody>
                  <a:tcPr marL="64008" marR="64008" marT="27432" marB="27432" anchor="ctr">
                    <a:solidFill>
                      <a:srgbClr val="F0F4F7"/>
                    </a:solidFill>
                  </a:tcPr>
                </a:tc>
                <a:tc>
                  <a:txBody>
                    <a:bodyPr/>
                    <a:lstStyle/>
                    <a:p>
                      <a:r>
                        <a:rPr sz="1400" b="0">
                          <a:solidFill>
                            <a:srgbClr val="192F40"/>
                          </a:solidFill>
                          <a:latin typeface="Arial"/>
                        </a:rPr>
                        <a:t>Backtest top-10 DIY vs. the ETF</a:t>
                      </a:r>
                    </a:p>
                  </a:txBody>
                  <a:tcPr marL="64008" marR="64008" marT="27432" marB="27432" anchor="ctr">
                    <a:solidFill>
                      <a:srgbClr val="F0F4F7"/>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411480" y="4489444"/>
            <a:ext cx="8321040" cy="1371600"/>
          </a:xfrm>
          <a:prstGeom prst="rect">
            <a:avLst/>
          </a:prstGeom>
          <a:noFill/>
        </p:spPr>
        <p:txBody>
          <a:bodyPr wrap="square" lIns="45720" tIns="27432" rIns="45720" bIns="27432">
            <a:spAutoFit/>
          </a:bodyPr>
          <a:lstStyle/>
          <a:p>
            <a:pPr>
              <a:spcAft>
                <a:spcPts val="600"/>
              </a:spcAft>
            </a:pPr>
            <a:r>
              <a:rPr sz="1800" b="0">
                <a:solidFill>
                  <a:srgbClr val="192F40"/>
                </a:solidFill>
                <a:latin typeface="Arial"/>
              </a:rPr>
              <a:t>Same holdings? Buy the lowest expense ratio. High fee? Test a DIY top-10.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2: FUTURES-BASED ETFS</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Fintech equity ETFs have no roll yield. Crypto futures ETFs do</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Check the curve before you buy any futures-based ETF</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Fidelity: contango &amp; backwardation</a:t>
            </a:r>
            <a:r>
              <a:rPr sz="1400">
                <a:solidFill>
                  <a:srgbClr val="5C6E7D"/>
                </a:solidFill>
                <a:latin typeface="Arial"/>
              </a:rPr>
              <a:t>  |  </a:t>
            </a:r>
            <a:r>
              <a:rPr sz="1400">
                <a:latin typeface="Arial"/>
                <a:hlinkClick r:id="rId4"/>
              </a:rPr>
              <a:t>Perplexity Finance data</a:t>
            </a:r>
          </a:p>
        </p:txBody>
      </p:sp>
      <p:sp>
        <p:nvSpPr>
          <p:cNvPr id="9" name="TextBox 8"/>
          <p:cNvSpPr txBox="1"/>
          <p:nvPr/>
        </p:nvSpPr>
        <p:spPr>
          <a:xfrm>
            <a:off x="411480" y="1280160"/>
            <a:ext cx="5486400" cy="274320"/>
          </a:xfrm>
          <a:prstGeom prst="rect">
            <a:avLst/>
          </a:prstGeom>
          <a:noFill/>
        </p:spPr>
        <p:txBody>
          <a:bodyPr wrap="square" lIns="45720" tIns="27432" rIns="45720" bIns="27432">
            <a:spAutoFit/>
          </a:bodyPr>
          <a:lstStyle/>
          <a:p>
            <a:pPr>
              <a:spcAft>
                <a:spcPts val="600"/>
              </a:spcAft>
            </a:pPr>
            <a:r>
              <a:rPr sz="1200" b="1">
                <a:solidFill>
                  <a:srgbClr val="315C77"/>
                </a:solidFill>
                <a:latin typeface="Arial"/>
              </a:rPr>
              <a:t>FUTURES CURVE SHAPES, ILLUSTRATIVE ($)</a:t>
            </a:r>
          </a:p>
        </p:txBody>
      </p:sp>
      <p:graphicFrame>
        <p:nvGraphicFramePr>
          <p:cNvPr id="10" name="Chart 9"/>
          <p:cNvGraphicFramePr>
            <a:graphicFrameLocks noGrp="1"/>
          </p:cNvGraphicFramePr>
          <p:nvPr/>
        </p:nvGraphicFramePr>
        <p:xfrm>
          <a:off x="274320" y="1554480"/>
          <a:ext cx="5120640" cy="361188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p:cNvSpPr txBox="1"/>
          <p:nvPr/>
        </p:nvSpPr>
        <p:spPr>
          <a:xfrm>
            <a:off x="5577840" y="1371600"/>
            <a:ext cx="3154680" cy="3840480"/>
          </a:xfrm>
          <a:prstGeom prst="rect">
            <a:avLst/>
          </a:prstGeom>
          <a:noFill/>
        </p:spPr>
        <p:txBody>
          <a:bodyPr wrap="square" lIns="45720" tIns="27432" rIns="45720" bIns="27432">
            <a:spAutoFit/>
          </a:bodyPr>
          <a:lstStyle/>
          <a:p>
            <a:pPr>
              <a:spcAft>
                <a:spcPts val="600"/>
              </a:spcAft>
            </a:pPr>
            <a:r>
              <a:rPr sz="1600" b="0">
                <a:solidFill>
                  <a:srgbClr val="192F40"/>
                </a:solidFill>
                <a:latin typeface="Arial"/>
              </a:rPr>
              <a:t>• Contango: later contracts cost more, so rolling loses.</a:t>
            </a:r>
          </a:p>
          <a:p>
            <a:pPr>
              <a:spcAft>
                <a:spcPts val="600"/>
              </a:spcAft>
            </a:pPr>
            <a:r>
              <a:rPr sz="1600" b="0">
                <a:solidFill>
                  <a:srgbClr val="192F40"/>
                </a:solidFill>
                <a:latin typeface="Arial"/>
              </a:rPr>
              <a:t>• Backwardation: rolling earns positive carry.</a:t>
            </a:r>
          </a:p>
          <a:p>
            <a:pPr>
              <a:spcAft>
                <a:spcPts val="600"/>
              </a:spcAft>
            </a:pPr>
            <a:r>
              <a:rPr sz="1600" b="0">
                <a:solidFill>
                  <a:srgbClr val="192F40"/>
                </a:solidFill>
                <a:latin typeface="Arial"/>
              </a:rPr>
              <a:t>• Our three ETFs hold stocks: no roll.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1480" y="301752"/>
            <a:ext cx="365760" cy="45720"/>
          </a:xfrm>
          <a:prstGeom prst="rect">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7772400" cy="274320"/>
          </a:xfrm>
          <a:prstGeom prst="rect">
            <a:avLst/>
          </a:prstGeom>
          <a:noFill/>
        </p:spPr>
        <p:txBody>
          <a:bodyPr wrap="square" lIns="45720" tIns="27432" rIns="45720" bIns="27432">
            <a:spAutoFit/>
          </a:bodyPr>
          <a:lstStyle/>
          <a:p>
            <a:pPr>
              <a:spcAft>
                <a:spcPts val="600"/>
              </a:spcAft>
            </a:pPr>
            <a:r>
              <a:rPr sz="1200" b="1">
                <a:solidFill>
                  <a:srgbClr val="5C6E7D"/>
                </a:solidFill>
                <a:latin typeface="Arial"/>
              </a:rPr>
              <a:t>PART 2: THEMATIC ETF RISK</a:t>
            </a:r>
          </a:p>
        </p:txBody>
      </p:sp>
      <p:sp>
        <p:nvSpPr>
          <p:cNvPr id="4" name="TextBox 3"/>
          <p:cNvSpPr txBox="1"/>
          <p:nvPr/>
        </p:nvSpPr>
        <p:spPr>
          <a:xfrm>
            <a:off x="411480" y="502920"/>
            <a:ext cx="8321040" cy="685800"/>
          </a:xfrm>
          <a:prstGeom prst="rect">
            <a:avLst/>
          </a:prstGeom>
          <a:noFill/>
        </p:spPr>
        <p:txBody>
          <a:bodyPr wrap="square" lIns="45720" tIns="27432" rIns="45720" bIns="27432">
            <a:spAutoFit/>
          </a:bodyPr>
          <a:lstStyle/>
          <a:p>
            <a:pPr>
              <a:spcAft>
                <a:spcPts val="600"/>
              </a:spcAft>
            </a:pPr>
            <a:r>
              <a:rPr sz="2400" b="1">
                <a:solidFill>
                  <a:srgbClr val="142D44"/>
                </a:solidFill>
                <a:latin typeface="Arial"/>
              </a:rPr>
              <a:t>Cheap capital can overbuild a theme, like subsidies</a:t>
            </a:r>
          </a:p>
        </p:txBody>
      </p:sp>
      <p:sp>
        <p:nvSpPr>
          <p:cNvPr id="5" name="Rectangle 4"/>
          <p:cNvSpPr/>
          <p:nvPr/>
        </p:nvSpPr>
        <p:spPr>
          <a:xfrm>
            <a:off x="411480" y="5285232"/>
            <a:ext cx="8321040" cy="731520"/>
          </a:xfrm>
          <a:prstGeom prst="rect">
            <a:avLst/>
          </a:prstGeom>
          <a:solidFill>
            <a:srgbClr val="142D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5285232"/>
            <a:ext cx="8046720" cy="731520"/>
          </a:xfrm>
          <a:prstGeom prst="rect">
            <a:avLst/>
          </a:prstGeom>
          <a:noFill/>
        </p:spPr>
        <p:txBody>
          <a:bodyPr wrap="square" lIns="45720" tIns="27432" rIns="45720" bIns="27432" anchor="ctr">
            <a:spAutoFit/>
          </a:bodyPr>
          <a:lstStyle/>
          <a:p>
            <a:pPr>
              <a:spcAft>
                <a:spcPts val="600"/>
              </a:spcAft>
            </a:pPr>
            <a:r>
              <a:rPr sz="1800" b="1">
                <a:solidFill>
                  <a:srgbClr val="FFFFFF"/>
                </a:solidFill>
                <a:latin typeface="Arial"/>
              </a:rPr>
              <a:t>Rate hikes now test whether fintech built too much capacity</a:t>
            </a:r>
          </a:p>
        </p:txBody>
      </p:sp>
      <p:cxnSp>
        <p:nvCxnSpPr>
          <p:cNvPr id="7" name="Connector 6"/>
          <p:cNvCxnSpPr/>
          <p:nvPr/>
        </p:nvCxnSpPr>
        <p:spPr>
          <a:xfrm>
            <a:off x="411480" y="6108192"/>
            <a:ext cx="8321040" cy="0"/>
          </a:xfrm>
          <a:prstGeom prst="line">
            <a:avLst/>
          </a:prstGeom>
          <a:ln>
            <a:solidFill>
              <a:srgbClr val="D7E0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126480"/>
            <a:ext cx="8321040" cy="685800"/>
          </a:xfrm>
          <a:prstGeom prst="rect">
            <a:avLst/>
          </a:prstGeom>
          <a:noFill/>
        </p:spPr>
        <p:txBody>
          <a:bodyPr wrap="square">
            <a:spAutoFit/>
          </a:bodyPr>
          <a:lstStyle/>
          <a:p>
            <a:r>
              <a:rPr sz="1400">
                <a:solidFill>
                  <a:srgbClr val="5C6E7D"/>
                </a:solidFill>
                <a:latin typeface="Arial"/>
              </a:rPr>
              <a:t>Sources: </a:t>
            </a:r>
            <a:r>
              <a:rPr sz="1400">
                <a:latin typeface="Arial"/>
                <a:hlinkClick r:id="rId3"/>
              </a:rPr>
              <a:t>Federal Reserve FOMC statement</a:t>
            </a:r>
            <a:r>
              <a:rPr sz="1400">
                <a:solidFill>
                  <a:srgbClr val="5C6E7D"/>
                </a:solidFill>
                <a:latin typeface="Arial"/>
              </a:rPr>
              <a:t>  |  </a:t>
            </a:r>
            <a:r>
              <a:rPr sz="1400">
                <a:latin typeface="Arial"/>
                <a:hlinkClick r:id="rId4"/>
              </a:rPr>
              <a:t>J.P. Morgan AM: Sept FOMC</a:t>
            </a:r>
            <a:r>
              <a:rPr sz="1400">
                <a:solidFill>
                  <a:srgbClr val="5C6E7D"/>
                </a:solidFill>
                <a:latin typeface="Arial"/>
              </a:rPr>
              <a:t>  |  </a:t>
            </a:r>
            <a:r>
              <a:rPr sz="1400">
                <a:latin typeface="Arial"/>
                <a:hlinkClick r:id="rId5"/>
              </a:rPr>
              <a:t>Perplexity Finance data</a:t>
            </a:r>
          </a:p>
        </p:txBody>
      </p:sp>
      <p:sp>
        <p:nvSpPr>
          <p:cNvPr id="9" name="Pentagon 8"/>
          <p:cNvSpPr/>
          <p:nvPr/>
        </p:nvSpPr>
        <p:spPr>
          <a:xfrm>
            <a:off x="411480" y="1645920"/>
            <a:ext cx="1554480" cy="1005840"/>
          </a:xfrm>
          <a:prstGeom prst="homePlate">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9768" y="1645920"/>
            <a:ext cx="1417320" cy="1005840"/>
          </a:xfrm>
          <a:prstGeom prst="rect">
            <a:avLst/>
          </a:prstGeom>
          <a:noFill/>
        </p:spPr>
        <p:txBody>
          <a:bodyPr wrap="square" lIns="45720" tIns="27432" rIns="45720" bIns="27432" anchor="ctr">
            <a:spAutoFit/>
          </a:bodyPr>
          <a:lstStyle/>
          <a:p>
            <a:pPr algn="ctr">
              <a:spcAft>
                <a:spcPts val="600"/>
              </a:spcAft>
            </a:pPr>
            <a:r>
              <a:rPr sz="1400" b="1">
                <a:solidFill>
                  <a:srgbClr val="FFFFFF"/>
                </a:solidFill>
                <a:latin typeface="Arial"/>
              </a:rPr>
              <a:t>Cheap capital</a:t>
            </a:r>
          </a:p>
        </p:txBody>
      </p:sp>
      <p:sp>
        <p:nvSpPr>
          <p:cNvPr id="11" name="Pentagon 10"/>
          <p:cNvSpPr/>
          <p:nvPr/>
        </p:nvSpPr>
        <p:spPr>
          <a:xfrm>
            <a:off x="2093976" y="1645920"/>
            <a:ext cx="1554480" cy="1005840"/>
          </a:xfrm>
          <a:prstGeom prst="homePlate">
            <a:avLst/>
          </a:prstGeom>
          <a:solidFill>
            <a:srgbClr val="315C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12264" y="1645920"/>
            <a:ext cx="1417320" cy="1005840"/>
          </a:xfrm>
          <a:prstGeom prst="rect">
            <a:avLst/>
          </a:prstGeom>
          <a:noFill/>
        </p:spPr>
        <p:txBody>
          <a:bodyPr wrap="square" lIns="45720" tIns="27432" rIns="45720" bIns="27432" anchor="ctr">
            <a:spAutoFit/>
          </a:bodyPr>
          <a:lstStyle/>
          <a:p>
            <a:pPr algn="ctr">
              <a:spcAft>
                <a:spcPts val="600"/>
              </a:spcAft>
            </a:pPr>
            <a:r>
              <a:rPr sz="1400" b="1">
                <a:solidFill>
                  <a:srgbClr val="FFFFFF"/>
                </a:solidFill>
                <a:latin typeface="Arial"/>
              </a:rPr>
              <a:t>More entrants</a:t>
            </a:r>
          </a:p>
        </p:txBody>
      </p:sp>
      <p:sp>
        <p:nvSpPr>
          <p:cNvPr id="13" name="Pentagon 12"/>
          <p:cNvSpPr/>
          <p:nvPr/>
        </p:nvSpPr>
        <p:spPr>
          <a:xfrm>
            <a:off x="3776472" y="1645920"/>
            <a:ext cx="1554480" cy="1005840"/>
          </a:xfrm>
          <a:prstGeom prst="homePlate">
            <a:avLst/>
          </a:prstGeom>
          <a:solidFill>
            <a:srgbClr val="315C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94759" y="1645920"/>
            <a:ext cx="1417320" cy="1005840"/>
          </a:xfrm>
          <a:prstGeom prst="rect">
            <a:avLst/>
          </a:prstGeom>
          <a:noFill/>
        </p:spPr>
        <p:txBody>
          <a:bodyPr wrap="square" lIns="45720" tIns="27432" rIns="45720" bIns="27432" anchor="ctr">
            <a:spAutoFit/>
          </a:bodyPr>
          <a:lstStyle/>
          <a:p>
            <a:pPr algn="ctr">
              <a:spcAft>
                <a:spcPts val="600"/>
              </a:spcAft>
            </a:pPr>
            <a:r>
              <a:rPr sz="1400" b="1">
                <a:solidFill>
                  <a:srgbClr val="FFFFFF"/>
                </a:solidFill>
                <a:latin typeface="Arial"/>
              </a:rPr>
              <a:t>Price competition</a:t>
            </a:r>
          </a:p>
        </p:txBody>
      </p:sp>
      <p:sp>
        <p:nvSpPr>
          <p:cNvPr id="15" name="Pentagon 14"/>
          <p:cNvSpPr/>
          <p:nvPr/>
        </p:nvSpPr>
        <p:spPr>
          <a:xfrm>
            <a:off x="5458968" y="1645920"/>
            <a:ext cx="1554480" cy="1005840"/>
          </a:xfrm>
          <a:prstGeom prst="homePlate">
            <a:avLst/>
          </a:prstGeom>
          <a:solidFill>
            <a:srgbClr val="315C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77256" y="1645920"/>
            <a:ext cx="1417320" cy="1005840"/>
          </a:xfrm>
          <a:prstGeom prst="rect">
            <a:avLst/>
          </a:prstGeom>
          <a:noFill/>
        </p:spPr>
        <p:txBody>
          <a:bodyPr wrap="square" lIns="45720" tIns="27432" rIns="45720" bIns="27432" anchor="ctr">
            <a:spAutoFit/>
          </a:bodyPr>
          <a:lstStyle/>
          <a:p>
            <a:pPr algn="ctr">
              <a:spcAft>
                <a:spcPts val="600"/>
              </a:spcAft>
            </a:pPr>
            <a:r>
              <a:rPr sz="1400" b="1">
                <a:solidFill>
                  <a:srgbClr val="FFFFFF"/>
                </a:solidFill>
                <a:latin typeface="Arial"/>
              </a:rPr>
              <a:t>Margin squeeze</a:t>
            </a:r>
          </a:p>
        </p:txBody>
      </p:sp>
      <p:sp>
        <p:nvSpPr>
          <p:cNvPr id="17" name="Pentagon 16"/>
          <p:cNvSpPr/>
          <p:nvPr/>
        </p:nvSpPr>
        <p:spPr>
          <a:xfrm>
            <a:off x="7141464" y="1645920"/>
            <a:ext cx="1554480" cy="1005840"/>
          </a:xfrm>
          <a:prstGeom prst="homePlate">
            <a:avLst/>
          </a:prstGeom>
          <a:solidFill>
            <a:srgbClr val="E8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59752" y="1645920"/>
            <a:ext cx="1417320" cy="1005840"/>
          </a:xfrm>
          <a:prstGeom prst="rect">
            <a:avLst/>
          </a:prstGeom>
          <a:noFill/>
        </p:spPr>
        <p:txBody>
          <a:bodyPr wrap="square" lIns="45720" tIns="27432" rIns="45720" bIns="27432" anchor="ctr">
            <a:spAutoFit/>
          </a:bodyPr>
          <a:lstStyle/>
          <a:p>
            <a:pPr algn="ctr">
              <a:spcAft>
                <a:spcPts val="600"/>
              </a:spcAft>
            </a:pPr>
            <a:r>
              <a:rPr sz="1400" b="1">
                <a:solidFill>
                  <a:srgbClr val="FFFFFF"/>
                </a:solidFill>
                <a:latin typeface="Arial"/>
              </a:rPr>
              <a:t>Shake-out</a:t>
            </a:r>
          </a:p>
        </p:txBody>
      </p:sp>
      <p:sp>
        <p:nvSpPr>
          <p:cNvPr id="19" name="TextBox 18"/>
          <p:cNvSpPr txBox="1"/>
          <p:nvPr/>
        </p:nvSpPr>
        <p:spPr>
          <a:xfrm>
            <a:off x="411480" y="3017520"/>
            <a:ext cx="8321040" cy="2103120"/>
          </a:xfrm>
          <a:prstGeom prst="rect">
            <a:avLst/>
          </a:prstGeom>
          <a:noFill/>
        </p:spPr>
        <p:txBody>
          <a:bodyPr wrap="square" lIns="45720" tIns="27432" rIns="45720" bIns="27432">
            <a:spAutoFit/>
          </a:bodyPr>
          <a:lstStyle/>
          <a:p>
            <a:pPr>
              <a:spcAft>
                <a:spcPts val="600"/>
              </a:spcAft>
            </a:pPr>
            <a:r>
              <a:rPr sz="1800" b="0">
                <a:solidFill>
                  <a:srgbClr val="192F40"/>
                </a:solidFill>
                <a:latin typeface="Arial"/>
              </a:rPr>
              <a:t>• Class idea: subsidies cause overcapacity, then a collapse.</a:t>
            </a:r>
          </a:p>
          <a:p>
            <a:pPr>
              <a:spcAft>
                <a:spcPts val="600"/>
              </a:spcAft>
            </a:pPr>
            <a:r>
              <a:rPr sz="1800" b="0">
                <a:solidFill>
                  <a:srgbClr val="192F40"/>
                </a:solidFill>
                <a:latin typeface="Arial"/>
              </a:rPr>
              <a:t>• Fintech analog (our judgment): cheap capital, now repriced by Fed hikes.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BE42879-6899-4CAF-937F-52230879A368}"/>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Arial"/>
                <a:ea typeface="Arial"/>
                <a:cs typeface="Arial"/>
              </a:defRPr>
            </a:pPr>
            <a:r>
              <a:rPr sz="1125" b="1">
                <a:solidFill>
                  <a:srgbClr val="007D80"/>
                </a:solidFill>
                <a:latin typeface="Arial"/>
                <a:ea typeface="Arial"/>
                <a:cs typeface="Arial"/>
              </a:rPr>
              <a:t>ARKF | MANDATE AND MANAGEMENT</a:t>
            </a:r>
          </a:p>
        </p:txBody>
      </p:sp>
      <p:sp>
        <p:nvSpPr>
          <p:cNvPr id="2" name="Rectangle 1">
            <a:extLst>
              <a:ext uri="{FF2B5EF4-FFF2-40B4-BE49-F238E27FC236}">
                <a16:creationId xmlns:a16="http://schemas.microsoft.com/office/drawing/2014/main" id="{192E9F1C-9F28-46EC-9414-5CD503CC10C6}"/>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400" b="1">
                <a:solidFill>
                  <a:srgbClr val="142B3B"/>
                </a:solidFill>
                <a:latin typeface="Arial"/>
                <a:ea typeface="Arial"/>
                <a:cs typeface="Arial"/>
              </a:defRPr>
            </a:pPr>
            <a:r>
              <a:rPr sz="2400" b="1">
                <a:solidFill>
                  <a:srgbClr val="142B3B"/>
                </a:solidFill>
                <a:latin typeface="Arial"/>
                <a:ea typeface="Arial"/>
                <a:cs typeface="Arial"/>
              </a:rPr>
              <a:t>ARKF is an active blockchain</a:t>
            </a:r>
          </a:p>
          <a:p>
            <a:pPr>
              <a:defRPr sz="2400" b="1">
                <a:solidFill>
                  <a:srgbClr val="142B3B"/>
                </a:solidFill>
                <a:latin typeface="Arial"/>
                <a:ea typeface="Arial"/>
                <a:cs typeface="Arial"/>
              </a:defRPr>
            </a:pPr>
            <a:r>
              <a:rPr sz="2400" b="1">
                <a:solidFill>
                  <a:srgbClr val="142B3B"/>
                </a:solidFill>
                <a:latin typeface="Arial"/>
                <a:ea typeface="Arial"/>
                <a:cs typeface="Arial"/>
              </a:rPr>
              <a:t>and FinTech conviction portfolio</a:t>
            </a:r>
          </a:p>
        </p:txBody>
      </p:sp>
      <p:sp>
        <p:nvSpPr>
          <p:cNvPr id="3" name="Rectangle 2">
            <a:extLst>
              <a:ext uri="{FF2B5EF4-FFF2-40B4-BE49-F238E27FC236}">
                <a16:creationId xmlns:a16="http://schemas.microsoft.com/office/drawing/2014/main" id="{8BF5B7BB-6088-4372-9F8B-ACBC2F959B6A}"/>
              </a:ext>
            </a:extLst>
          </p:cNvPr>
          <p:cNvSpPr>
            <a:spLocks noGrp="1"/>
          </p:cNvSpPr>
          <p:nvPr/>
        </p:nvSpPr>
        <p:spPr>
          <a:xfrm>
            <a:off x="457200" y="1562100"/>
            <a:ext cx="8229600" cy="352425"/>
          </a:xfrm>
          <a:prstGeom prst="rect">
            <a:avLst/>
          </a:prstGeom>
          <a:noFill/>
          <a:ln w="0">
            <a:noFill/>
          </a:ln>
        </p:spPr>
        <p:txBody>
          <a:bodyPr wrap="square" lIns="0" tIns="0" rIns="0" bIns="0" anchor="t">
            <a:noAutofit/>
          </a:bodyPr>
          <a:lstStyle/>
          <a:p>
            <a:pPr>
              <a:defRPr sz="1425" b="0">
                <a:solidFill>
                  <a:srgbClr val="536873"/>
                </a:solidFill>
                <a:latin typeface="Arial"/>
                <a:ea typeface="Arial"/>
                <a:cs typeface="Arial"/>
              </a:defRPr>
            </a:pPr>
            <a:r>
              <a:rPr sz="1425" b="0">
                <a:solidFill>
                  <a:srgbClr val="536873"/>
                </a:solidFill>
                <a:latin typeface="Arial"/>
                <a:ea typeface="Arial"/>
                <a:cs typeface="Arial"/>
              </a:rPr>
              <a:t>Current name: ARK Blockchain &amp; Fintech Innovation ETF</a:t>
            </a:r>
          </a:p>
        </p:txBody>
      </p:sp>
      <p:sp>
        <p:nvSpPr>
          <p:cNvPr id="4" name="Rectangle 3">
            <a:extLst>
              <a:ext uri="{FF2B5EF4-FFF2-40B4-BE49-F238E27FC236}">
                <a16:creationId xmlns:a16="http://schemas.microsoft.com/office/drawing/2014/main" id="{9F9AAFBC-1BD4-45F1-A533-B6913CADF4F8}"/>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defRPr sz="900" b="0">
                <a:solidFill>
                  <a:srgbClr val="536873"/>
                </a:solidFill>
                <a:latin typeface="Arial"/>
                <a:ea typeface="Arial"/>
                <a:cs typeface="Arial"/>
              </a:defRPr>
            </a:pPr>
            <a:r>
              <a:rPr sz="900" b="0">
                <a:solidFill>
                  <a:srgbClr val="536873"/>
                </a:solidFill>
                <a:latin typeface="Arial"/>
                <a:ea typeface="Arial"/>
                <a:cs typeface="Arial"/>
              </a:rPr>
              <a:t>04</a:t>
            </a:r>
          </a:p>
        </p:txBody>
      </p:sp>
      <p:sp>
        <p:nvSpPr>
          <p:cNvPr id="5" name="Rectangle 4">
            <a:extLst>
              <a:ext uri="{FF2B5EF4-FFF2-40B4-BE49-F238E27FC236}">
                <a16:creationId xmlns:a16="http://schemas.microsoft.com/office/drawing/2014/main" id="{8202AF5A-994A-4221-A75D-425BE7A9C265}"/>
              </a:ext>
            </a:extLst>
          </p:cNvPr>
          <p:cNvSpPr>
            <a:spLocks noGrp="1"/>
          </p:cNvSpPr>
          <p:nvPr/>
        </p:nvSpPr>
        <p:spPr>
          <a:xfrm>
            <a:off x="457200" y="2114550"/>
            <a:ext cx="5486400" cy="292608"/>
          </a:xfrm>
          <a:prstGeom prst="rect">
            <a:avLst/>
          </a:prstGeom>
          <a:noFill/>
          <a:ln w="0">
            <a:noFill/>
          </a:ln>
        </p:spPr>
        <p:txBody>
          <a:bodyPr wrap="square" lIns="0" tIns="0" rIns="0" bIns="0" anchor="t">
            <a:noAutofit/>
          </a:bodyPr>
          <a:lstStyle/>
          <a:p>
            <a:pPr>
              <a:defRPr sz="1800" b="1">
                <a:solidFill>
                  <a:srgbClr val="007D80"/>
                </a:solidFill>
                <a:latin typeface="Arial"/>
                <a:ea typeface="Arial"/>
                <a:cs typeface="Arial"/>
              </a:defRPr>
            </a:pPr>
            <a:r>
              <a:rPr sz="1800" b="1">
                <a:solidFill>
                  <a:srgbClr val="007D80"/>
                </a:solidFill>
                <a:latin typeface="Arial"/>
                <a:ea typeface="Arial"/>
                <a:cs typeface="Arial"/>
              </a:rPr>
              <a:t>INVESTMENT MANDATE</a:t>
            </a:r>
          </a:p>
        </p:txBody>
      </p:sp>
      <p:sp>
        <p:nvSpPr>
          <p:cNvPr id="6" name="Rectangle 5">
            <a:extLst>
              <a:ext uri="{FF2B5EF4-FFF2-40B4-BE49-F238E27FC236}">
                <a16:creationId xmlns:a16="http://schemas.microsoft.com/office/drawing/2014/main" id="{A6F2EB93-65B2-4144-9AB6-7EAA53AE1F6A}"/>
              </a:ext>
            </a:extLst>
          </p:cNvPr>
          <p:cNvSpPr>
            <a:spLocks noGrp="1"/>
          </p:cNvSpPr>
          <p:nvPr/>
        </p:nvSpPr>
        <p:spPr>
          <a:xfrm>
            <a:off x="457200" y="2423160"/>
            <a:ext cx="5486400" cy="822960"/>
          </a:xfrm>
          <a:prstGeom prst="rect">
            <a:avLst/>
          </a:prstGeom>
          <a:noFill/>
          <a:ln w="0">
            <a:noFill/>
          </a:ln>
        </p:spPr>
        <p:txBody>
          <a:bodyPr wrap="square" lIns="0" tIns="0" rIns="0" bIns="0" anchor="t">
            <a:noAutofit/>
          </a:bodyPr>
          <a:lstStyle/>
          <a:p>
            <a:pPr>
              <a:defRPr sz="1800" b="0">
                <a:solidFill>
                  <a:srgbClr val="142B3B"/>
                </a:solidFill>
                <a:latin typeface="Arial"/>
                <a:ea typeface="Arial"/>
                <a:cs typeface="Arial"/>
              </a:defRPr>
            </a:pPr>
            <a:r>
              <a:rPr sz="1800" b="0">
                <a:solidFill>
                  <a:srgbClr val="142B3B"/>
                </a:solidFill>
                <a:latin typeface="Arial"/>
                <a:ea typeface="Arial"/>
                <a:cs typeface="Arial"/>
              </a:rPr>
              <a:t>Long-term capital growth. At least 80% in domestic and foreign equities aligned with blockchain and FinTech innovation.</a:t>
            </a:r>
          </a:p>
        </p:txBody>
      </p:sp>
      <p:sp>
        <p:nvSpPr>
          <p:cNvPr id="7" name="Rectangle 6">
            <a:extLst>
              <a:ext uri="{FF2B5EF4-FFF2-40B4-BE49-F238E27FC236}">
                <a16:creationId xmlns:a16="http://schemas.microsoft.com/office/drawing/2014/main" id="{1C5E33D2-7AB7-499F-8B10-4F5839E8E1F2}"/>
              </a:ext>
            </a:extLst>
          </p:cNvPr>
          <p:cNvSpPr>
            <a:spLocks noGrp="1"/>
          </p:cNvSpPr>
          <p:nvPr/>
        </p:nvSpPr>
        <p:spPr>
          <a:xfrm>
            <a:off x="457200" y="3429000"/>
            <a:ext cx="5486400" cy="292608"/>
          </a:xfrm>
          <a:prstGeom prst="rect">
            <a:avLst/>
          </a:prstGeom>
          <a:noFill/>
          <a:ln w="0">
            <a:noFill/>
          </a:ln>
        </p:spPr>
        <p:txBody>
          <a:bodyPr wrap="square" lIns="0" tIns="0" rIns="0" bIns="0" anchor="t">
            <a:noAutofit/>
          </a:bodyPr>
          <a:lstStyle/>
          <a:p>
            <a:pPr>
              <a:defRPr sz="1800" b="1">
                <a:solidFill>
                  <a:srgbClr val="007D80"/>
                </a:solidFill>
                <a:latin typeface="Arial"/>
                <a:ea typeface="Arial"/>
                <a:cs typeface="Arial"/>
              </a:defRPr>
            </a:pPr>
            <a:r>
              <a:rPr sz="1800" b="1">
                <a:solidFill>
                  <a:srgbClr val="007D80"/>
                </a:solidFill>
                <a:latin typeface="Arial"/>
                <a:ea typeface="Arial"/>
                <a:cs typeface="Arial"/>
              </a:rPr>
              <a:t>RESEARCH PROCESS</a:t>
            </a:r>
          </a:p>
        </p:txBody>
      </p:sp>
      <p:sp>
        <p:nvSpPr>
          <p:cNvPr id="8" name="Rectangle 7">
            <a:extLst>
              <a:ext uri="{FF2B5EF4-FFF2-40B4-BE49-F238E27FC236}">
                <a16:creationId xmlns:a16="http://schemas.microsoft.com/office/drawing/2014/main" id="{A54A433C-5093-4EEA-BED8-63CCD72D80C1}"/>
              </a:ext>
            </a:extLst>
          </p:cNvPr>
          <p:cNvSpPr>
            <a:spLocks noGrp="1"/>
          </p:cNvSpPr>
          <p:nvPr/>
        </p:nvSpPr>
        <p:spPr>
          <a:xfrm>
            <a:off x="457200" y="3737610"/>
            <a:ext cx="5486400" cy="822960"/>
          </a:xfrm>
          <a:prstGeom prst="rect">
            <a:avLst/>
          </a:prstGeom>
          <a:noFill/>
          <a:ln w="0">
            <a:noFill/>
          </a:ln>
        </p:spPr>
        <p:txBody>
          <a:bodyPr wrap="square" lIns="0" tIns="0" rIns="0" bIns="0" anchor="t">
            <a:noAutofit/>
          </a:bodyPr>
          <a:lstStyle/>
          <a:p>
            <a:pPr>
              <a:defRPr sz="1800" b="0">
                <a:solidFill>
                  <a:srgbClr val="142B3B"/>
                </a:solidFill>
                <a:latin typeface="Arial"/>
                <a:ea typeface="Arial"/>
                <a:cs typeface="Arial"/>
              </a:defRPr>
            </a:pPr>
            <a:r>
              <a:rPr sz="1800" b="0">
                <a:solidFill>
                  <a:srgbClr val="142B3B"/>
                </a:solidFill>
                <a:latin typeface="Arial"/>
                <a:ea typeface="Arial"/>
                <a:cs typeface="Arial"/>
              </a:rPr>
              <a:t>Top-down disruption research combined with bottom-up company analysis. The portfolio can change meaningfully as conviction changes.</a:t>
            </a:r>
          </a:p>
        </p:txBody>
      </p:sp>
      <p:sp>
        <p:nvSpPr>
          <p:cNvPr id="9" name="Rectangle 8">
            <a:extLst>
              <a:ext uri="{FF2B5EF4-FFF2-40B4-BE49-F238E27FC236}">
                <a16:creationId xmlns:a16="http://schemas.microsoft.com/office/drawing/2014/main" id="{A97E90E3-127B-44DE-946B-0E2F6BD380B0}"/>
              </a:ext>
            </a:extLst>
          </p:cNvPr>
          <p:cNvSpPr>
            <a:spLocks noGrp="1"/>
          </p:cNvSpPr>
          <p:nvPr/>
        </p:nvSpPr>
        <p:spPr>
          <a:xfrm>
            <a:off x="457200" y="4743450"/>
            <a:ext cx="5486400" cy="292608"/>
          </a:xfrm>
          <a:prstGeom prst="rect">
            <a:avLst/>
          </a:prstGeom>
          <a:noFill/>
          <a:ln w="0">
            <a:noFill/>
          </a:ln>
        </p:spPr>
        <p:txBody>
          <a:bodyPr wrap="square" lIns="0" tIns="0" rIns="0" bIns="0" anchor="t">
            <a:noAutofit/>
          </a:bodyPr>
          <a:lstStyle/>
          <a:p>
            <a:pPr>
              <a:defRPr sz="1800" b="1">
                <a:solidFill>
                  <a:srgbClr val="007D80"/>
                </a:solidFill>
                <a:latin typeface="Arial"/>
                <a:ea typeface="Arial"/>
                <a:cs typeface="Arial"/>
              </a:defRPr>
            </a:pPr>
            <a:r>
              <a:rPr sz="1800" b="1">
                <a:solidFill>
                  <a:srgbClr val="007D80"/>
                </a:solidFill>
                <a:latin typeface="Arial"/>
                <a:ea typeface="Arial"/>
                <a:cs typeface="Arial"/>
              </a:rPr>
              <a:t>KEY SUB-SECTORS</a:t>
            </a:r>
          </a:p>
        </p:txBody>
      </p:sp>
      <p:sp>
        <p:nvSpPr>
          <p:cNvPr id="10" name="Rectangle 9">
            <a:extLst>
              <a:ext uri="{FF2B5EF4-FFF2-40B4-BE49-F238E27FC236}">
                <a16:creationId xmlns:a16="http://schemas.microsoft.com/office/drawing/2014/main" id="{9E5D7AF2-3300-4D6F-BD41-42010FEDE1F6}"/>
              </a:ext>
            </a:extLst>
          </p:cNvPr>
          <p:cNvSpPr>
            <a:spLocks noGrp="1"/>
          </p:cNvSpPr>
          <p:nvPr/>
        </p:nvSpPr>
        <p:spPr>
          <a:xfrm>
            <a:off x="457200" y="5052060"/>
            <a:ext cx="5486400" cy="822960"/>
          </a:xfrm>
          <a:prstGeom prst="rect">
            <a:avLst/>
          </a:prstGeom>
          <a:noFill/>
          <a:ln w="0">
            <a:noFill/>
          </a:ln>
        </p:spPr>
        <p:txBody>
          <a:bodyPr wrap="square" lIns="0" tIns="0" rIns="0" bIns="0" anchor="t">
            <a:noAutofit/>
          </a:bodyPr>
          <a:lstStyle/>
          <a:p>
            <a:pPr>
              <a:defRPr sz="1800" b="0">
                <a:solidFill>
                  <a:srgbClr val="142B3B"/>
                </a:solidFill>
                <a:latin typeface="Arial"/>
                <a:ea typeface="Arial"/>
                <a:cs typeface="Arial"/>
              </a:defRPr>
            </a:pPr>
            <a:r>
              <a:rPr sz="1800" b="0">
                <a:solidFill>
                  <a:srgbClr val="142B3B"/>
                </a:solidFill>
                <a:latin typeface="Arial"/>
                <a:ea typeface="Arial"/>
                <a:cs typeface="Arial"/>
              </a:rPr>
              <a:t>Digital wallets, payments, blockchain, digital assets and enabling technology. Exposure extends beyond traditional finance.</a:t>
            </a:r>
          </a:p>
        </p:txBody>
      </p:sp>
      <p:sp>
        <p:nvSpPr>
          <p:cNvPr id="11" name="Rectangle 10">
            <a:extLst>
              <a:ext uri="{FF2B5EF4-FFF2-40B4-BE49-F238E27FC236}">
                <a16:creationId xmlns:a16="http://schemas.microsoft.com/office/drawing/2014/main" id="{DD28C892-9093-454B-A4AE-9BA7E7B1E775}"/>
              </a:ext>
            </a:extLst>
          </p:cNvPr>
          <p:cNvSpPr>
            <a:spLocks noGrp="1"/>
          </p:cNvSpPr>
          <p:nvPr/>
        </p:nvSpPr>
        <p:spPr>
          <a:xfrm>
            <a:off x="6172200" y="2114550"/>
            <a:ext cx="2514600" cy="292608"/>
          </a:xfrm>
          <a:prstGeom prst="rect">
            <a:avLst/>
          </a:prstGeom>
          <a:noFill/>
          <a:ln w="0">
            <a:noFill/>
          </a:ln>
        </p:spPr>
        <p:txBody>
          <a:bodyPr wrap="square" lIns="0" tIns="0" rIns="0" bIns="0" anchor="t">
            <a:noAutofit/>
          </a:bodyPr>
          <a:lstStyle/>
          <a:p>
            <a:pPr>
              <a:defRPr sz="1800" b="1">
                <a:solidFill>
                  <a:srgbClr val="007D80"/>
                </a:solidFill>
                <a:latin typeface="Arial"/>
                <a:ea typeface="Arial"/>
                <a:cs typeface="Arial"/>
              </a:defRPr>
            </a:pPr>
            <a:r>
              <a:rPr sz="1800" b="1">
                <a:solidFill>
                  <a:srgbClr val="007D80"/>
                </a:solidFill>
                <a:latin typeface="Arial"/>
                <a:ea typeface="Arial"/>
                <a:cs typeface="Arial"/>
              </a:rPr>
              <a:t>Catherine D. Wood</a:t>
            </a:r>
          </a:p>
        </p:txBody>
      </p:sp>
      <p:sp>
        <p:nvSpPr>
          <p:cNvPr id="12" name="Rectangle 11">
            <a:extLst>
              <a:ext uri="{FF2B5EF4-FFF2-40B4-BE49-F238E27FC236}">
                <a16:creationId xmlns:a16="http://schemas.microsoft.com/office/drawing/2014/main" id="{B1D36685-9AD3-4C93-A684-80717A8A5023}"/>
              </a:ext>
            </a:extLst>
          </p:cNvPr>
          <p:cNvSpPr>
            <a:spLocks noGrp="1"/>
          </p:cNvSpPr>
          <p:nvPr/>
        </p:nvSpPr>
        <p:spPr>
          <a:xfrm>
            <a:off x="6172200" y="2423160"/>
            <a:ext cx="2514600" cy="548640"/>
          </a:xfrm>
          <a:prstGeom prst="rect">
            <a:avLst/>
          </a:prstGeom>
          <a:noFill/>
          <a:ln w="0">
            <a:noFill/>
          </a:ln>
        </p:spPr>
        <p:txBody>
          <a:bodyPr wrap="square" lIns="0" tIns="0" rIns="0" bIns="0" anchor="t">
            <a:noAutofit/>
          </a:bodyPr>
          <a:lstStyle/>
          <a:p>
            <a:pPr>
              <a:defRPr sz="1800" b="0">
                <a:solidFill>
                  <a:srgbClr val="142B3B"/>
                </a:solidFill>
                <a:latin typeface="Arial"/>
                <a:ea typeface="Arial"/>
                <a:cs typeface="Arial"/>
              </a:defRPr>
            </a:pPr>
            <a:r>
              <a:rPr sz="1800" b="0">
                <a:solidFill>
                  <a:srgbClr val="142B3B"/>
                </a:solidFill>
                <a:latin typeface="Arial"/>
                <a:ea typeface="Arial"/>
                <a:cs typeface="Arial"/>
              </a:rPr>
              <a:t>Portfolio manager</a:t>
            </a:r>
          </a:p>
          <a:p>
            <a:pPr>
              <a:defRPr sz="1800" b="0">
                <a:solidFill>
                  <a:srgbClr val="142B3B"/>
                </a:solidFill>
                <a:latin typeface="Arial"/>
                <a:ea typeface="Arial"/>
                <a:cs typeface="Arial"/>
              </a:defRPr>
            </a:pPr>
            <a:r>
              <a:rPr sz="1800" b="0">
                <a:solidFill>
                  <a:srgbClr val="142B3B"/>
                </a:solidFill>
                <a:latin typeface="Arial"/>
                <a:ea typeface="Arial"/>
                <a:cs typeface="Arial"/>
              </a:rPr>
              <a:t>Since inception</a:t>
            </a:r>
          </a:p>
        </p:txBody>
      </p:sp>
      <p:sp>
        <p:nvSpPr>
          <p:cNvPr id="13" name="Rectangle 12">
            <a:extLst>
              <a:ext uri="{FF2B5EF4-FFF2-40B4-BE49-F238E27FC236}">
                <a16:creationId xmlns:a16="http://schemas.microsoft.com/office/drawing/2014/main" id="{15965D47-9191-4939-B2EF-57A18F5A1E56}"/>
              </a:ext>
            </a:extLst>
          </p:cNvPr>
          <p:cNvSpPr>
            <a:spLocks noGrp="1"/>
          </p:cNvSpPr>
          <p:nvPr/>
        </p:nvSpPr>
        <p:spPr>
          <a:xfrm>
            <a:off x="6172200" y="3429000"/>
            <a:ext cx="2514600" cy="548640"/>
          </a:xfrm>
          <a:prstGeom prst="rect">
            <a:avLst/>
          </a:prstGeom>
          <a:noFill/>
          <a:ln w="0">
            <a:noFill/>
          </a:ln>
        </p:spPr>
        <p:txBody>
          <a:bodyPr wrap="square" lIns="0" tIns="0" rIns="0" bIns="0" anchor="t">
            <a:noAutofit/>
          </a:bodyPr>
          <a:lstStyle/>
          <a:p>
            <a:pPr>
              <a:defRPr sz="1800" b="1">
                <a:solidFill>
                  <a:srgbClr val="142B3B"/>
                </a:solidFill>
                <a:latin typeface="Arial"/>
                <a:ea typeface="Arial"/>
                <a:cs typeface="Arial"/>
              </a:defRPr>
            </a:pPr>
            <a:r>
              <a:rPr sz="1800" b="1">
                <a:solidFill>
                  <a:srgbClr val="142B3B"/>
                </a:solidFill>
                <a:latin typeface="Arial"/>
                <a:ea typeface="Arial"/>
                <a:cs typeface="Arial"/>
              </a:rPr>
              <a:t>ARK Investment</a:t>
            </a:r>
          </a:p>
          <a:p>
            <a:pPr>
              <a:defRPr sz="1800" b="1">
                <a:solidFill>
                  <a:srgbClr val="142B3B"/>
                </a:solidFill>
                <a:latin typeface="Arial"/>
                <a:ea typeface="Arial"/>
                <a:cs typeface="Arial"/>
              </a:defRPr>
            </a:pPr>
            <a:r>
              <a:rPr sz="1800" b="1">
                <a:solidFill>
                  <a:srgbClr val="142B3B"/>
                </a:solidFill>
                <a:latin typeface="Arial"/>
                <a:ea typeface="Arial"/>
                <a:cs typeface="Arial"/>
              </a:rPr>
              <a:t>Management LLC</a:t>
            </a:r>
          </a:p>
        </p:txBody>
      </p:sp>
      <p:sp>
        <p:nvSpPr>
          <p:cNvPr id="14" name="Rectangle 13">
            <a:extLst>
              <a:ext uri="{FF2B5EF4-FFF2-40B4-BE49-F238E27FC236}">
                <a16:creationId xmlns:a16="http://schemas.microsoft.com/office/drawing/2014/main" id="{981A4EA2-86B8-49CC-A17B-F729E43029C5}"/>
              </a:ext>
            </a:extLst>
          </p:cNvPr>
          <p:cNvSpPr>
            <a:spLocks noGrp="1"/>
          </p:cNvSpPr>
          <p:nvPr/>
        </p:nvSpPr>
        <p:spPr>
          <a:xfrm>
            <a:off x="6172200" y="4743450"/>
            <a:ext cx="2514600" cy="548640"/>
          </a:xfrm>
          <a:prstGeom prst="rect">
            <a:avLst/>
          </a:prstGeom>
          <a:noFill/>
          <a:ln w="0">
            <a:noFill/>
          </a:ln>
        </p:spPr>
        <p:txBody>
          <a:bodyPr wrap="square" lIns="0" tIns="0" rIns="0" bIns="0" anchor="t">
            <a:noAutofit/>
          </a:bodyPr>
          <a:lstStyle/>
          <a:p>
            <a:pPr>
              <a:defRPr sz="1800" b="0">
                <a:solidFill>
                  <a:srgbClr val="536873"/>
                </a:solidFill>
                <a:latin typeface="Arial"/>
                <a:ea typeface="Arial"/>
                <a:cs typeface="Arial"/>
              </a:defRPr>
            </a:pPr>
            <a:r>
              <a:rPr sz="1800" b="0">
                <a:solidFill>
                  <a:srgbClr val="536873"/>
                </a:solidFill>
                <a:latin typeface="Arial"/>
                <a:ea typeface="Arial"/>
                <a:cs typeface="Arial"/>
              </a:rPr>
              <a:t>Active discretion creates</a:t>
            </a:r>
          </a:p>
          <a:p>
            <a:pPr>
              <a:defRPr sz="1800" b="0">
                <a:solidFill>
                  <a:srgbClr val="536873"/>
                </a:solidFill>
                <a:latin typeface="Arial"/>
                <a:ea typeface="Arial"/>
                <a:cs typeface="Arial"/>
              </a:defRPr>
            </a:pPr>
            <a:r>
              <a:rPr sz="1800" b="0">
                <a:solidFill>
                  <a:srgbClr val="536873"/>
                </a:solidFill>
                <a:latin typeface="Arial"/>
                <a:ea typeface="Arial"/>
                <a:cs typeface="Arial"/>
              </a:rPr>
              <a:t>manager and thesis risk.</a:t>
            </a:r>
          </a:p>
        </p:txBody>
      </p:sp>
      <p:sp>
        <p:nvSpPr>
          <p:cNvPr id="15" name="Rectangle 14">
            <a:extLst>
              <a:ext uri="{FF2B5EF4-FFF2-40B4-BE49-F238E27FC236}">
                <a16:creationId xmlns:a16="http://schemas.microsoft.com/office/drawing/2014/main" id="{518D8101-1776-4344-BDFA-A6C0D397A83B}"/>
              </a:ext>
            </a:extLst>
          </p:cNvPr>
          <p:cNvSpPr>
            <a:spLocks noGrp="1"/>
          </p:cNvSpPr>
          <p:nvPr/>
        </p:nvSpPr>
        <p:spPr>
          <a:xfrm>
            <a:off x="457200" y="6280000"/>
            <a:ext cx="7772400" cy="480000"/>
          </a:xfrm>
          <a:prstGeom prst="rect">
            <a:avLst/>
          </a:prstGeom>
          <a:noFill/>
          <a:ln w="0">
            <a:noFill/>
          </a:ln>
        </p:spPr>
        <p:txBody>
          <a:bodyPr wrap="square" lIns="0" tIns="0" rIns="0" bIns="0" anchor="t">
            <a:noAutofit/>
          </a:bodyPr>
          <a:lstStyle/>
          <a:p>
            <a:pPr>
              <a:defRPr sz="1400" b="0">
                <a:solidFill>
                  <a:srgbClr val="536873"/>
                </a:solidFill>
                <a:latin typeface="Arial"/>
                <a:ea typeface="Arial"/>
                <a:cs typeface="Arial"/>
              </a:defRPr>
            </a:pPr>
            <a:r>
              <a:rPr sz="1400" b="0">
                <a:solidFill>
                  <a:srgbClr val="536873"/>
                </a:solidFill>
                <a:latin typeface="Arial"/>
                <a:ea typeface="Arial"/>
                <a:cs typeface="Arial"/>
              </a:rPr>
              <a:t>Sources: ARKF Summary Prospectus (11/30/25), portfolio management and strategy sections; ARKF June 30, 2026 fact sheet.</a:t>
            </a:r>
          </a:p>
        </p:txBody>
      </p:sp>
      <p:pic>
        <p:nvPicPr>
          <p:cNvPr id="17" name="Picture 16" descr="Fund In Focus - ARKF">
            <a:extLst>
              <a:ext uri="{FF2B5EF4-FFF2-40B4-BE49-F238E27FC236}">
                <a16:creationId xmlns:a16="http://schemas.microsoft.com/office/drawing/2014/main" id="{F04FC63B-0BB9-518D-CEB5-BCB02D835AF4}"/>
              </a:ext>
            </a:extLst>
          </p:cNvPr>
          <p:cNvPicPr>
            <a:picLocks noChangeAspect="1"/>
          </p:cNvPicPr>
          <p:nvPr/>
        </p:nvPicPr>
        <p:blipFill>
          <a:blip r:embed="rId3"/>
          <a:srcRect t="11130" b="13727"/>
          <a:stretch>
            <a:fillRect/>
          </a:stretch>
        </p:blipFill>
        <p:spPr>
          <a:xfrm>
            <a:off x="6793992" y="0"/>
            <a:ext cx="2350008" cy="990600"/>
          </a:xfrm>
          <a:prstGeom prst="rect">
            <a:avLst/>
          </a:prstGeom>
        </p:spPr>
      </p:pic>
    </p:spTree>
    <p:extLst>
      <p:ext uri="{BB962C8B-B14F-4D97-AF65-F5344CB8AC3E}">
        <p14:creationId xmlns:p14="http://schemas.microsoft.com/office/powerpoint/2010/main" val="1701240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C2D639F-DEF7-45CA-B1F5-7F22E2587F5C}"/>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Arial"/>
                <a:ea typeface="Arial"/>
                <a:cs typeface="Arial"/>
              </a:defRPr>
            </a:pPr>
            <a:r>
              <a:rPr sz="1125" b="1">
                <a:solidFill>
                  <a:srgbClr val="007D80"/>
                </a:solidFill>
                <a:latin typeface="Arial"/>
                <a:ea typeface="Arial"/>
                <a:cs typeface="Arial"/>
              </a:rPr>
              <a:t>ARKF | PORTFOLIO COMPOSITION</a:t>
            </a:r>
          </a:p>
        </p:txBody>
      </p:sp>
      <p:sp>
        <p:nvSpPr>
          <p:cNvPr id="2" name="Rectangle 1">
            <a:extLst>
              <a:ext uri="{FF2B5EF4-FFF2-40B4-BE49-F238E27FC236}">
                <a16:creationId xmlns:a16="http://schemas.microsoft.com/office/drawing/2014/main" id="{B9554225-B16D-49A8-ACA3-AA036CE18A2D}"/>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400" b="1">
                <a:solidFill>
                  <a:srgbClr val="142B3B"/>
                </a:solidFill>
                <a:latin typeface="Arial"/>
                <a:ea typeface="Arial"/>
                <a:cs typeface="Arial"/>
              </a:defRPr>
            </a:pPr>
            <a:r>
              <a:rPr sz="2400" b="1">
                <a:solidFill>
                  <a:srgbClr val="142B3B"/>
                </a:solidFill>
                <a:latin typeface="Arial"/>
                <a:ea typeface="Arial"/>
                <a:cs typeface="Arial"/>
              </a:rPr>
              <a:t>Concentrated holdings link returns</a:t>
            </a:r>
          </a:p>
          <a:p>
            <a:pPr>
              <a:defRPr sz="2400" b="1">
                <a:solidFill>
                  <a:srgbClr val="142B3B"/>
                </a:solidFill>
                <a:latin typeface="Arial"/>
                <a:ea typeface="Arial"/>
                <a:cs typeface="Arial"/>
              </a:defRPr>
            </a:pPr>
            <a:r>
              <a:rPr sz="2400" b="1">
                <a:solidFill>
                  <a:srgbClr val="142B3B"/>
                </a:solidFill>
                <a:latin typeface="Arial"/>
                <a:ea typeface="Arial"/>
                <a:cs typeface="Arial"/>
              </a:rPr>
              <a:t>to commerce and digital assets</a:t>
            </a:r>
          </a:p>
        </p:txBody>
      </p:sp>
      <p:sp>
        <p:nvSpPr>
          <p:cNvPr id="3" name="Rectangle 2">
            <a:extLst>
              <a:ext uri="{FF2B5EF4-FFF2-40B4-BE49-F238E27FC236}">
                <a16:creationId xmlns:a16="http://schemas.microsoft.com/office/drawing/2014/main" id="{10D45F10-147B-4A87-86E3-83AB339C8F86}"/>
              </a:ext>
            </a:extLst>
          </p:cNvPr>
          <p:cNvSpPr>
            <a:spLocks noGrp="1"/>
          </p:cNvSpPr>
          <p:nvPr/>
        </p:nvSpPr>
        <p:spPr>
          <a:xfrm>
            <a:off x="457200" y="1562100"/>
            <a:ext cx="8229600" cy="352425"/>
          </a:xfrm>
          <a:prstGeom prst="rect">
            <a:avLst/>
          </a:prstGeom>
          <a:noFill/>
          <a:ln w="0">
            <a:noFill/>
          </a:ln>
        </p:spPr>
        <p:txBody>
          <a:bodyPr wrap="square" lIns="0" tIns="0" rIns="0" bIns="0" anchor="t">
            <a:noAutofit/>
          </a:bodyPr>
          <a:lstStyle/>
          <a:p>
            <a:pPr>
              <a:defRPr sz="1425" b="0">
                <a:solidFill>
                  <a:srgbClr val="536873"/>
                </a:solidFill>
                <a:latin typeface="Arial"/>
                <a:ea typeface="Arial"/>
                <a:cs typeface="Arial"/>
              </a:defRPr>
            </a:pPr>
            <a:r>
              <a:rPr sz="1425" b="0">
                <a:solidFill>
                  <a:srgbClr val="536873"/>
                </a:solidFill>
                <a:latin typeface="Arial"/>
                <a:ea typeface="Arial"/>
                <a:cs typeface="Arial"/>
              </a:rPr>
              <a:t>Issuer portfolio snapshot: June 30, 2026 | Weights are % of fund</a:t>
            </a:r>
          </a:p>
        </p:txBody>
      </p:sp>
      <p:sp>
        <p:nvSpPr>
          <p:cNvPr id="4" name="Rectangle 3">
            <a:extLst>
              <a:ext uri="{FF2B5EF4-FFF2-40B4-BE49-F238E27FC236}">
                <a16:creationId xmlns:a16="http://schemas.microsoft.com/office/drawing/2014/main" id="{8BDE835E-051A-4760-A1BE-CED67977BD8C}"/>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defRPr sz="900" b="0">
                <a:solidFill>
                  <a:srgbClr val="536873"/>
                </a:solidFill>
                <a:latin typeface="Arial"/>
                <a:ea typeface="Arial"/>
                <a:cs typeface="Arial"/>
              </a:defRPr>
            </a:pPr>
            <a:r>
              <a:rPr sz="900" b="0">
                <a:solidFill>
                  <a:srgbClr val="536873"/>
                </a:solidFill>
                <a:latin typeface="Arial"/>
                <a:ea typeface="Arial"/>
                <a:cs typeface="Arial"/>
              </a:rPr>
              <a:t>05</a:t>
            </a:r>
          </a:p>
        </p:txBody>
      </p:sp>
      <p:sp>
        <p:nvSpPr>
          <p:cNvPr id="5" name="Rectangle 4">
            <a:extLst>
              <a:ext uri="{FF2B5EF4-FFF2-40B4-BE49-F238E27FC236}">
                <a16:creationId xmlns:a16="http://schemas.microsoft.com/office/drawing/2014/main" id="{E3C5DF3A-FE93-48B2-AB7C-CFD6F93EAC61}"/>
              </a:ext>
            </a:extLst>
          </p:cNvPr>
          <p:cNvSpPr>
            <a:spLocks noGrp="1"/>
          </p:cNvSpPr>
          <p:nvPr/>
        </p:nvSpPr>
        <p:spPr>
          <a:xfrm>
            <a:off x="457200" y="2047875"/>
            <a:ext cx="4953000" cy="292608"/>
          </a:xfrm>
          <a:prstGeom prst="rect">
            <a:avLst/>
          </a:prstGeom>
          <a:noFill/>
          <a:ln w="0">
            <a:noFill/>
          </a:ln>
        </p:spPr>
        <p:txBody>
          <a:bodyPr wrap="square" lIns="0" tIns="0" rIns="0" bIns="0" anchor="t">
            <a:noAutofit/>
          </a:bodyPr>
          <a:lstStyle/>
          <a:p>
            <a:pPr>
              <a:defRPr sz="1800" b="1">
                <a:solidFill>
                  <a:srgbClr val="007D80"/>
                </a:solidFill>
                <a:latin typeface="Arial"/>
                <a:ea typeface="Arial"/>
                <a:cs typeface="Arial"/>
              </a:defRPr>
            </a:pPr>
            <a:r>
              <a:rPr sz="1800" b="1">
                <a:solidFill>
                  <a:srgbClr val="007D80"/>
                </a:solidFill>
                <a:latin typeface="Arial"/>
                <a:ea typeface="Arial"/>
                <a:cs typeface="Arial"/>
              </a:rPr>
              <a:t>LARGEST FIVE HOLDINGS</a:t>
            </a:r>
          </a:p>
        </p:txBody>
      </p:sp>
      <p:graphicFrame>
        <p:nvGraphicFramePr>
          <p:cNvPr id="18" name="Chart"/>
          <p:cNvGraphicFramePr/>
          <p:nvPr/>
        </p:nvGraphicFramePr>
        <p:xfrm>
          <a:off x="285750" y="2428875"/>
          <a:ext cx="5391150" cy="2650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A00450E6-45B1-4261-A689-DE2CBA8AD451}"/>
              </a:ext>
            </a:extLst>
          </p:cNvPr>
          <p:cNvSpPr>
            <a:spLocks noGrp="1"/>
          </p:cNvSpPr>
          <p:nvPr/>
        </p:nvSpPr>
        <p:spPr>
          <a:xfrm>
            <a:off x="5867400" y="2200275"/>
            <a:ext cx="2819400" cy="590550"/>
          </a:xfrm>
          <a:prstGeom prst="rect">
            <a:avLst/>
          </a:prstGeom>
          <a:noFill/>
          <a:ln w="0">
            <a:noFill/>
          </a:ln>
        </p:spPr>
        <p:txBody>
          <a:bodyPr wrap="square" lIns="0" tIns="0" rIns="0" bIns="0" anchor="t">
            <a:noAutofit/>
          </a:bodyPr>
          <a:lstStyle/>
          <a:p>
            <a:pPr>
              <a:defRPr sz="3750" b="1">
                <a:solidFill>
                  <a:srgbClr val="007D80"/>
                </a:solidFill>
                <a:latin typeface="Arial"/>
                <a:ea typeface="Arial"/>
                <a:cs typeface="Arial"/>
              </a:defRPr>
            </a:pPr>
            <a:r>
              <a:rPr sz="3750" b="1">
                <a:solidFill>
                  <a:srgbClr val="007D80"/>
                </a:solidFill>
                <a:latin typeface="Arial"/>
                <a:ea typeface="Arial"/>
                <a:cs typeface="Arial"/>
              </a:rPr>
              <a:t>55.0%</a:t>
            </a:r>
          </a:p>
        </p:txBody>
      </p:sp>
      <p:sp>
        <p:nvSpPr>
          <p:cNvPr id="8" name="Rectangle 7">
            <a:extLst>
              <a:ext uri="{FF2B5EF4-FFF2-40B4-BE49-F238E27FC236}">
                <a16:creationId xmlns:a16="http://schemas.microsoft.com/office/drawing/2014/main" id="{9BB8E250-E481-469F-85E7-92D0EAFD0D66}"/>
              </a:ext>
            </a:extLst>
          </p:cNvPr>
          <p:cNvSpPr>
            <a:spLocks noGrp="1"/>
          </p:cNvSpPr>
          <p:nvPr/>
        </p:nvSpPr>
        <p:spPr>
          <a:xfrm>
            <a:off x="5867400" y="2847975"/>
            <a:ext cx="2819400" cy="292608"/>
          </a:xfrm>
          <a:prstGeom prst="rect">
            <a:avLst/>
          </a:prstGeom>
          <a:noFill/>
          <a:ln w="0">
            <a:noFill/>
          </a:ln>
        </p:spPr>
        <p:txBody>
          <a:bodyPr wrap="square" lIns="0" tIns="0" rIns="0" bIns="0" anchor="t">
            <a:noAutofit/>
          </a:bodyPr>
          <a:lstStyle/>
          <a:p>
            <a:pPr>
              <a:defRPr sz="1800" b="1">
                <a:solidFill>
                  <a:srgbClr val="142B3B"/>
                </a:solidFill>
                <a:latin typeface="Arial"/>
                <a:ea typeface="Arial"/>
                <a:cs typeface="Arial"/>
              </a:defRPr>
            </a:pPr>
            <a:r>
              <a:rPr sz="1800" b="1">
                <a:solidFill>
                  <a:srgbClr val="142B3B"/>
                </a:solidFill>
                <a:latin typeface="Arial"/>
                <a:ea typeface="Arial"/>
                <a:cs typeface="Arial"/>
              </a:rPr>
              <a:t>Top 10 concentration</a:t>
            </a:r>
          </a:p>
        </p:txBody>
      </p:sp>
      <p:sp>
        <p:nvSpPr>
          <p:cNvPr id="9" name="Rectangle 8">
            <a:extLst>
              <a:ext uri="{FF2B5EF4-FFF2-40B4-BE49-F238E27FC236}">
                <a16:creationId xmlns:a16="http://schemas.microsoft.com/office/drawing/2014/main" id="{32F6F48B-9670-44AC-9EC3-D3F7BD37EFBB}"/>
              </a:ext>
            </a:extLst>
          </p:cNvPr>
          <p:cNvSpPr>
            <a:spLocks noGrp="1"/>
          </p:cNvSpPr>
          <p:nvPr/>
        </p:nvSpPr>
        <p:spPr>
          <a:xfrm>
            <a:off x="5867400" y="3448050"/>
            <a:ext cx="2819400" cy="822960"/>
          </a:xfrm>
          <a:prstGeom prst="rect">
            <a:avLst/>
          </a:prstGeom>
          <a:noFill/>
          <a:ln w="0">
            <a:noFill/>
          </a:ln>
        </p:spPr>
        <p:txBody>
          <a:bodyPr wrap="square" lIns="0" tIns="0" rIns="0" bIns="0" anchor="t">
            <a:noAutofit/>
          </a:bodyPr>
          <a:lstStyle/>
          <a:p>
            <a:pPr>
              <a:defRPr sz="1800" b="0">
                <a:solidFill>
                  <a:srgbClr val="142B3B"/>
                </a:solidFill>
                <a:latin typeface="Arial"/>
                <a:ea typeface="Arial"/>
                <a:cs typeface="Arial"/>
              </a:defRPr>
            </a:pPr>
            <a:r>
              <a:rPr sz="1800" b="0">
                <a:solidFill>
                  <a:srgbClr val="142B3B"/>
                </a:solidFill>
                <a:latin typeface="Arial"/>
                <a:ea typeface="Arial"/>
                <a:cs typeface="Arial"/>
              </a:rPr>
              <a:t>31.8% digital wallets</a:t>
            </a:r>
          </a:p>
          <a:p>
            <a:pPr>
              <a:defRPr sz="1800" b="0">
                <a:solidFill>
                  <a:srgbClr val="142B3B"/>
                </a:solidFill>
                <a:latin typeface="Arial"/>
                <a:ea typeface="Arial"/>
                <a:cs typeface="Arial"/>
              </a:defRPr>
            </a:pPr>
            <a:r>
              <a:rPr sz="1800" b="0">
                <a:solidFill>
                  <a:srgbClr val="142B3B"/>
                </a:solidFill>
                <a:latin typeface="Arial"/>
                <a:ea typeface="Arial"/>
                <a:cs typeface="Arial"/>
              </a:rPr>
              <a:t>21.4% next-gen cloud</a:t>
            </a:r>
          </a:p>
          <a:p>
            <a:pPr>
              <a:defRPr sz="1800" b="0">
                <a:solidFill>
                  <a:srgbClr val="142B3B"/>
                </a:solidFill>
                <a:latin typeface="Arial"/>
                <a:ea typeface="Arial"/>
                <a:cs typeface="Arial"/>
              </a:defRPr>
            </a:pPr>
            <a:r>
              <a:rPr sz="1800" b="0">
                <a:solidFill>
                  <a:srgbClr val="142B3B"/>
                </a:solidFill>
                <a:latin typeface="Arial"/>
                <a:ea typeface="Arial"/>
                <a:cs typeface="Arial"/>
              </a:rPr>
              <a:t>17.9% cryptocurrencies</a:t>
            </a:r>
          </a:p>
        </p:txBody>
      </p:sp>
      <p:sp>
        <p:nvSpPr>
          <p:cNvPr id="10" name="Rectangle 9">
            <a:extLst>
              <a:ext uri="{FF2B5EF4-FFF2-40B4-BE49-F238E27FC236}">
                <a16:creationId xmlns:a16="http://schemas.microsoft.com/office/drawing/2014/main" id="{B967097D-BE60-4619-8A2E-AC887E859DAC}"/>
              </a:ext>
            </a:extLst>
          </p:cNvPr>
          <p:cNvSpPr>
            <a:spLocks noGrp="1"/>
          </p:cNvSpPr>
          <p:nvPr/>
        </p:nvSpPr>
        <p:spPr>
          <a:xfrm>
            <a:off x="5867400" y="4400000"/>
            <a:ext cx="2819400" cy="548640"/>
          </a:xfrm>
          <a:prstGeom prst="rect">
            <a:avLst/>
          </a:prstGeom>
          <a:noFill/>
          <a:ln w="0">
            <a:noFill/>
          </a:ln>
        </p:spPr>
        <p:txBody>
          <a:bodyPr wrap="square" lIns="0" tIns="0" rIns="0" bIns="0" anchor="t">
            <a:noAutofit/>
          </a:bodyPr>
          <a:lstStyle/>
          <a:p>
            <a:pPr>
              <a:defRPr sz="1800" b="0">
                <a:solidFill>
                  <a:srgbClr val="536873"/>
                </a:solidFill>
                <a:latin typeface="Arial"/>
                <a:ea typeface="Arial"/>
                <a:cs typeface="Arial"/>
              </a:defRPr>
            </a:pPr>
            <a:r>
              <a:rPr sz="1800" b="0">
                <a:solidFill>
                  <a:srgbClr val="536873"/>
                </a:solidFill>
                <a:latin typeface="Arial"/>
                <a:ea typeface="Arial"/>
                <a:cs typeface="Arial"/>
              </a:rPr>
              <a:t>ARK technology themes</a:t>
            </a:r>
          </a:p>
          <a:p>
            <a:pPr>
              <a:defRPr sz="1800" b="0">
                <a:solidFill>
                  <a:srgbClr val="536873"/>
                </a:solidFill>
                <a:latin typeface="Arial"/>
                <a:ea typeface="Arial"/>
                <a:cs typeface="Arial"/>
              </a:defRPr>
            </a:pPr>
            <a:r>
              <a:rPr sz="1800" b="0">
                <a:solidFill>
                  <a:srgbClr val="536873"/>
                </a:solidFill>
                <a:latin typeface="Arial"/>
                <a:ea typeface="Arial"/>
                <a:cs typeface="Arial"/>
              </a:rPr>
              <a:t>are issuer-defined.</a:t>
            </a:r>
          </a:p>
        </p:txBody>
      </p:sp>
      <p:sp>
        <p:nvSpPr>
          <p:cNvPr id="11" name="Rectangle 10">
            <a:extLst>
              <a:ext uri="{FF2B5EF4-FFF2-40B4-BE49-F238E27FC236}">
                <a16:creationId xmlns:a16="http://schemas.microsoft.com/office/drawing/2014/main" id="{C42B8C57-6EE7-471B-89E6-0BA0E4FC4815}"/>
              </a:ext>
            </a:extLst>
          </p:cNvPr>
          <p:cNvSpPr>
            <a:spLocks noGrp="1"/>
          </p:cNvSpPr>
          <p:nvPr/>
        </p:nvSpPr>
        <p:spPr>
          <a:xfrm>
            <a:off x="457200" y="5180000"/>
            <a:ext cx="8229600" cy="822960"/>
          </a:xfrm>
          <a:prstGeom prst="rect">
            <a:avLst/>
          </a:prstGeom>
          <a:noFill/>
          <a:ln w="0">
            <a:noFill/>
          </a:ln>
        </p:spPr>
        <p:txBody>
          <a:bodyPr wrap="square" lIns="0" tIns="0" rIns="0" bIns="0" anchor="t">
            <a:noAutofit/>
          </a:bodyPr>
          <a:lstStyle/>
          <a:p>
            <a:pPr>
              <a:defRPr sz="1800" b="0">
                <a:solidFill>
                  <a:srgbClr val="536873"/>
                </a:solidFill>
                <a:latin typeface="Arial"/>
                <a:ea typeface="Arial"/>
                <a:cs typeface="Arial"/>
              </a:defRPr>
            </a:pPr>
            <a:r>
              <a:rPr sz="1800" b="0">
                <a:solidFill>
                  <a:srgbClr val="536873"/>
                </a:solidFill>
                <a:latin typeface="Arial"/>
                <a:ea typeface="Arial"/>
                <a:cs typeface="Arial"/>
              </a:rPr>
              <a:t>Other top holdings include Toast, AMD, Circle, Palantir and Amazon.</a:t>
            </a:r>
          </a:p>
          <a:p>
            <a:pPr>
              <a:defRPr sz="1800" b="0">
                <a:solidFill>
                  <a:srgbClr val="536873"/>
                </a:solidFill>
                <a:latin typeface="Arial"/>
                <a:ea typeface="Arial"/>
                <a:cs typeface="Arial"/>
              </a:defRPr>
            </a:pPr>
            <a:r>
              <a:rPr sz="1800" b="0">
                <a:solidFill>
                  <a:srgbClr val="536873"/>
                </a:solidFill>
                <a:latin typeface="Arial"/>
                <a:ea typeface="Arial"/>
                <a:cs typeface="Arial"/>
              </a:rPr>
              <a:t>Analyst view: returns can reflect AI/cloud and crypto sentiment as well as payment adoption.</a:t>
            </a:r>
          </a:p>
        </p:txBody>
      </p:sp>
      <p:sp>
        <p:nvSpPr>
          <p:cNvPr id="12" name="Rectangle 11">
            <a:extLst>
              <a:ext uri="{FF2B5EF4-FFF2-40B4-BE49-F238E27FC236}">
                <a16:creationId xmlns:a16="http://schemas.microsoft.com/office/drawing/2014/main" id="{07DAA95E-826C-4E01-B234-D28ECC8BD353}"/>
              </a:ext>
            </a:extLst>
          </p:cNvPr>
          <p:cNvSpPr>
            <a:spLocks noGrp="1"/>
          </p:cNvSpPr>
          <p:nvPr/>
        </p:nvSpPr>
        <p:spPr>
          <a:xfrm>
            <a:off x="457200" y="6280000"/>
            <a:ext cx="7772400" cy="480000"/>
          </a:xfrm>
          <a:prstGeom prst="rect">
            <a:avLst/>
          </a:prstGeom>
          <a:noFill/>
          <a:ln w="0">
            <a:noFill/>
          </a:ln>
        </p:spPr>
        <p:txBody>
          <a:bodyPr wrap="square" lIns="0" tIns="0" rIns="0" bIns="0" anchor="t">
            <a:noAutofit/>
          </a:bodyPr>
          <a:lstStyle/>
          <a:p>
            <a:pPr>
              <a:defRPr sz="1400" b="0">
                <a:solidFill>
                  <a:srgbClr val="536873"/>
                </a:solidFill>
                <a:latin typeface="Arial"/>
                <a:ea typeface="Arial"/>
                <a:cs typeface="Arial"/>
              </a:defRPr>
            </a:pPr>
            <a:r>
              <a:rPr sz="1400" b="0">
                <a:solidFill>
                  <a:srgbClr val="536873"/>
                </a:solidFill>
                <a:latin typeface="Arial"/>
                <a:ea typeface="Arial"/>
                <a:cs typeface="Arial"/>
              </a:rPr>
              <a:t>Sources: ARKF June 30, 2026 fact sheet, pp. 1–2; ark-funds.com/funds/arkf/; analyst assessment.</a:t>
            </a:r>
          </a:p>
        </p:txBody>
      </p:sp>
      <p:pic>
        <p:nvPicPr>
          <p:cNvPr id="14" name="Picture 13" descr="Fund In Focus - ARKF">
            <a:extLst>
              <a:ext uri="{FF2B5EF4-FFF2-40B4-BE49-F238E27FC236}">
                <a16:creationId xmlns:a16="http://schemas.microsoft.com/office/drawing/2014/main" id="{E03DDF79-D4D2-206F-0DC2-F8314312157D}"/>
              </a:ext>
            </a:extLst>
          </p:cNvPr>
          <p:cNvPicPr>
            <a:picLocks noChangeAspect="1"/>
          </p:cNvPicPr>
          <p:nvPr/>
        </p:nvPicPr>
        <p:blipFill>
          <a:blip r:embed="rId4"/>
          <a:srcRect t="11130" b="13727"/>
          <a:stretch>
            <a:fillRect/>
          </a:stretch>
        </p:blipFill>
        <p:spPr>
          <a:xfrm>
            <a:off x="6793992" y="0"/>
            <a:ext cx="2350008" cy="990600"/>
          </a:xfrm>
          <a:prstGeom prst="rect">
            <a:avLst/>
          </a:prstGeom>
        </p:spPr>
      </p:pic>
    </p:spTree>
    <p:extLst>
      <p:ext uri="{BB962C8B-B14F-4D97-AF65-F5344CB8AC3E}">
        <p14:creationId xmlns:p14="http://schemas.microsoft.com/office/powerpoint/2010/main" val="2561576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0DB38C-A964-4EF1-85D2-1FD47C94335D}"/>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Bitstream Charter"/>
                <a:ea typeface="Bitstream Charter"/>
                <a:cs typeface="Bitstream Charter"/>
              </a:rPr>
              <a:t>ARKF | PERFORMANCE AND RISK</a:t>
            </a:r>
          </a:p>
        </p:txBody>
      </p:sp>
      <p:sp>
        <p:nvSpPr>
          <p:cNvPr id="2" name="Rectangle 1">
            <a:extLst>
              <a:ext uri="{FF2B5EF4-FFF2-40B4-BE49-F238E27FC236}">
                <a16:creationId xmlns:a16="http://schemas.microsoft.com/office/drawing/2014/main" id="{947DCF1F-93F1-40D0-ACE4-09762EEF15D3}"/>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sz="2775" b="1">
                <a:solidFill>
                  <a:srgbClr val="142B3B"/>
                </a:solidFill>
                <a:latin typeface="Bitstream Charter"/>
                <a:ea typeface="Bitstream Charter"/>
                <a:cs typeface="Bitstream Charter"/>
              </a:rPr>
              <a:t>Strong rebounds have not erased</a:t>
            </a:r>
          </a:p>
          <a:p>
            <a:pPr>
              <a:defRPr sz="2775" b="1">
                <a:solidFill>
                  <a:srgbClr val="142B3B"/>
                </a:solidFill>
                <a:latin typeface="Bitstream Charter"/>
                <a:ea typeface="Bitstream Charter"/>
                <a:cs typeface="Bitstream Charter"/>
              </a:defRPr>
            </a:pPr>
            <a:r>
              <a:rPr sz="2775" b="1">
                <a:solidFill>
                  <a:srgbClr val="142B3B"/>
                </a:solidFill>
                <a:latin typeface="Bitstream Charter"/>
                <a:ea typeface="Bitstream Charter"/>
                <a:cs typeface="Bitstream Charter"/>
              </a:rPr>
              <a:t>the longer-term drawdown</a:t>
            </a:r>
          </a:p>
        </p:txBody>
      </p:sp>
      <p:sp>
        <p:nvSpPr>
          <p:cNvPr id="3" name="Rectangle 2">
            <a:extLst>
              <a:ext uri="{FF2B5EF4-FFF2-40B4-BE49-F238E27FC236}">
                <a16:creationId xmlns:a16="http://schemas.microsoft.com/office/drawing/2014/main" id="{39299D38-78D0-44F9-B347-1336E46F75CE}"/>
              </a:ext>
            </a:extLst>
          </p:cNvPr>
          <p:cNvSpPr>
            <a:spLocks noGrp="1"/>
          </p:cNvSpPr>
          <p:nvPr/>
        </p:nvSpPr>
        <p:spPr>
          <a:xfrm>
            <a:off x="457200" y="1562100"/>
            <a:ext cx="8229600" cy="352425"/>
          </a:xfrm>
          <a:prstGeom prst="rect">
            <a:avLst/>
          </a:prstGeom>
          <a:noFill/>
          <a:ln w="0">
            <a:noFill/>
          </a:ln>
        </p:spPr>
        <p:txBody>
          <a:bodyPr wrap="square" lIns="0" tIns="0" rIns="0" bIns="0" anchor="t">
            <a:noAutofit/>
          </a:bodyPr>
          <a:lstStyle/>
          <a:p>
            <a:pPr>
              <a:defRPr sz="1425" b="0">
                <a:solidFill>
                  <a:srgbClr val="536873"/>
                </a:solidFill>
                <a:latin typeface="Bitstream Charter"/>
                <a:ea typeface="Bitstream Charter"/>
                <a:cs typeface="Bitstream Charter"/>
              </a:defRPr>
            </a:pPr>
            <a:r>
              <a:rPr sz="1425" b="0">
                <a:solidFill>
                  <a:srgbClr val="536873"/>
                </a:solidFill>
                <a:latin typeface="Bitstream Charter"/>
                <a:ea typeface="Bitstream Charter"/>
                <a:cs typeface="Bitstream Charter"/>
              </a:rPr>
              <a:t>NAV total returns through June 30, 2026; distributions reinvested</a:t>
            </a:r>
          </a:p>
        </p:txBody>
      </p:sp>
      <p:sp>
        <p:nvSpPr>
          <p:cNvPr id="4" name="Rectangle 3">
            <a:extLst>
              <a:ext uri="{FF2B5EF4-FFF2-40B4-BE49-F238E27FC236}">
                <a16:creationId xmlns:a16="http://schemas.microsoft.com/office/drawing/2014/main" id="{68E00E85-BE6E-43A7-B751-D27A9A1C0CDB}"/>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defRPr sz="900" b="0">
                <a:solidFill>
                  <a:srgbClr val="536873"/>
                </a:solidFill>
                <a:latin typeface="Bitstream Charter"/>
                <a:ea typeface="Bitstream Charter"/>
                <a:cs typeface="Bitstream Charter"/>
              </a:defRPr>
            </a:pPr>
            <a:r>
              <a:rPr sz="900" b="0">
                <a:solidFill>
                  <a:srgbClr val="536873"/>
                </a:solidFill>
                <a:latin typeface="Bitstream Charter"/>
                <a:ea typeface="Bitstream Charter"/>
                <a:cs typeface="Bitstream Charter"/>
              </a:rPr>
              <a:t>06</a:t>
            </a:r>
          </a:p>
        </p:txBody>
      </p:sp>
      <p:graphicFrame>
        <p:nvGraphicFramePr>
          <p:cNvPr id="15" name="Table 14"/>
          <p:cNvGraphicFramePr/>
          <p:nvPr/>
        </p:nvGraphicFramePr>
        <p:xfrm>
          <a:off x="457200" y="2095500"/>
          <a:ext cx="8229600" cy="2257424"/>
        </p:xfrm>
        <a:graphic>
          <a:graphicData uri="http://schemas.openxmlformats.org/drawingml/2006/table">
            <a:tbl>
              <a:tblPr firstRow="1"/>
              <a:tblGrid>
                <a:gridCol w="38100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tblGrid>
              <a:tr h="564356">
                <a:tc>
                  <a:txBody>
                    <a:bodyPr/>
                    <a:lstStyle/>
                    <a:p>
                      <a:r>
                        <a:rPr sz="1725" b="1">
                          <a:solidFill>
                            <a:srgbClr val="FFFFFF"/>
                          </a:solidFill>
                          <a:latin typeface="Bitstream Charter"/>
                          <a:ea typeface="Bitstream Charter"/>
                          <a:cs typeface="Bitstream Charter"/>
                        </a:rPr>
                        <a:t>Period</a:t>
                      </a:r>
                    </a:p>
                  </a:txBody>
                  <a:tcPr marL="133350" marR="95250" marT="104775" marB="76200" anchor="ctr">
                    <a:solidFill>
                      <a:srgbClr val="102B3B"/>
                    </a:solidFill>
                  </a:tcPr>
                </a:tc>
                <a:tc>
                  <a:txBody>
                    <a:bodyPr/>
                    <a:lstStyle/>
                    <a:p>
                      <a:r>
                        <a:rPr sz="1725" b="1">
                          <a:solidFill>
                            <a:srgbClr val="FFFFFF"/>
                          </a:solidFill>
                          <a:latin typeface="Bitstream Charter"/>
                          <a:ea typeface="Bitstream Charter"/>
                          <a:cs typeface="Bitstream Charter"/>
                        </a:rPr>
                        <a:t>ARKF</a:t>
                      </a:r>
                    </a:p>
                  </a:txBody>
                  <a:tcPr marL="133350" marR="95250" marT="104775" marB="76200" anchor="ctr">
                    <a:solidFill>
                      <a:srgbClr val="102B3B"/>
                    </a:solidFill>
                  </a:tcPr>
                </a:tc>
                <a:tc>
                  <a:txBody>
                    <a:bodyPr/>
                    <a:lstStyle/>
                    <a:p>
                      <a:r>
                        <a:rPr sz="1725" b="1">
                          <a:solidFill>
                            <a:srgbClr val="FFFFFF"/>
                          </a:solidFill>
                          <a:latin typeface="Bitstream Charter"/>
                          <a:ea typeface="Bitstream Charter"/>
                          <a:cs typeface="Bitstream Charter"/>
                        </a:rPr>
                        <a:t>S&amp;P 500</a:t>
                      </a:r>
                    </a:p>
                  </a:txBody>
                  <a:tcPr marL="133350" marR="95250" marT="104775" marB="76200" anchor="ctr">
                    <a:solidFill>
                      <a:srgbClr val="102B3B"/>
                    </a:solidFill>
                  </a:tcPr>
                </a:tc>
                <a:extLst>
                  <a:ext uri="{0D108BD9-81ED-4DB2-BD59-A6C34878D82A}">
                    <a16:rowId xmlns:a16="http://schemas.microsoft.com/office/drawing/2014/main" val="10000"/>
                  </a:ext>
                </a:extLst>
              </a:tr>
              <a:tr h="564356">
                <a:tc>
                  <a:txBody>
                    <a:bodyPr/>
                    <a:lstStyle/>
                    <a:p>
                      <a:r>
                        <a:rPr sz="1725" b="1">
                          <a:solidFill>
                            <a:srgbClr val="142B3B"/>
                          </a:solidFill>
                          <a:latin typeface="Bitstream Charter"/>
                          <a:ea typeface="Bitstream Charter"/>
                          <a:cs typeface="Bitstream Charter"/>
                        </a:rPr>
                        <a:t>1 year</a:t>
                      </a:r>
                    </a:p>
                  </a:txBody>
                  <a:tcPr marL="133350" marR="95250" marT="104775" marB="76200" anchor="ctr">
                    <a:solidFill>
                      <a:srgbClr val="FFFFFF"/>
                    </a:solidFill>
                  </a:tcPr>
                </a:tc>
                <a:tc>
                  <a:txBody>
                    <a:bodyPr/>
                    <a:lstStyle/>
                    <a:p>
                      <a:r>
                        <a:rPr sz="1725" b="0">
                          <a:solidFill>
                            <a:srgbClr val="142B3B"/>
                          </a:solidFill>
                          <a:latin typeface="Bitstream Charter"/>
                          <a:ea typeface="Bitstream Charter"/>
                          <a:cs typeface="Bitstream Charter"/>
                        </a:rPr>
                        <a:t>−21.32%</a:t>
                      </a:r>
                    </a:p>
                  </a:txBody>
                  <a:tcPr marL="133350" marR="95250" marT="104775" marB="76200" anchor="ctr">
                    <a:solidFill>
                      <a:srgbClr val="FFFFFF"/>
                    </a:solidFill>
                  </a:tcPr>
                </a:tc>
                <a:tc>
                  <a:txBody>
                    <a:bodyPr/>
                    <a:lstStyle/>
                    <a:p>
                      <a:r>
                        <a:rPr sz="1725" b="0">
                          <a:solidFill>
                            <a:srgbClr val="142B3B"/>
                          </a:solidFill>
                          <a:latin typeface="Bitstream Charter"/>
                          <a:ea typeface="Bitstream Charter"/>
                          <a:cs typeface="Bitstream Charter"/>
                        </a:rPr>
                        <a:t>+22.32%</a:t>
                      </a:r>
                    </a:p>
                  </a:txBody>
                  <a:tcPr marL="133350" marR="95250" marT="104775" marB="76200" anchor="ctr">
                    <a:solidFill>
                      <a:srgbClr val="FFFFFF"/>
                    </a:solidFill>
                  </a:tcPr>
                </a:tc>
                <a:extLst>
                  <a:ext uri="{0D108BD9-81ED-4DB2-BD59-A6C34878D82A}">
                    <a16:rowId xmlns:a16="http://schemas.microsoft.com/office/drawing/2014/main" val="10001"/>
                  </a:ext>
                </a:extLst>
              </a:tr>
              <a:tr h="564356">
                <a:tc>
                  <a:txBody>
                    <a:bodyPr/>
                    <a:lstStyle/>
                    <a:p>
                      <a:r>
                        <a:rPr sz="1725" b="1">
                          <a:solidFill>
                            <a:srgbClr val="142B3B"/>
                          </a:solidFill>
                          <a:latin typeface="Bitstream Charter"/>
                          <a:ea typeface="Bitstream Charter"/>
                          <a:cs typeface="Bitstream Charter"/>
                        </a:rPr>
                        <a:t>3 years, annualized</a:t>
                      </a:r>
                    </a:p>
                  </a:txBody>
                  <a:tcPr marL="133350" marR="95250" marT="104775" marB="76200" anchor="ctr">
                    <a:solidFill>
                      <a:srgbClr val="F0F4F5"/>
                    </a:solidFill>
                  </a:tcPr>
                </a:tc>
                <a:tc>
                  <a:txBody>
                    <a:bodyPr/>
                    <a:lstStyle/>
                    <a:p>
                      <a:r>
                        <a:rPr sz="1725" b="0">
                          <a:solidFill>
                            <a:srgbClr val="142B3B"/>
                          </a:solidFill>
                          <a:latin typeface="Bitstream Charter"/>
                          <a:ea typeface="Bitstream Charter"/>
                          <a:cs typeface="Bitstream Charter"/>
                        </a:rPr>
                        <a:t>+23.64%</a:t>
                      </a:r>
                    </a:p>
                  </a:txBody>
                  <a:tcPr marL="133350" marR="95250" marT="104775" marB="76200" anchor="ctr">
                    <a:solidFill>
                      <a:srgbClr val="F0F4F5"/>
                    </a:solidFill>
                  </a:tcPr>
                </a:tc>
                <a:tc>
                  <a:txBody>
                    <a:bodyPr/>
                    <a:lstStyle/>
                    <a:p>
                      <a:r>
                        <a:rPr sz="1725" b="0">
                          <a:solidFill>
                            <a:srgbClr val="142B3B"/>
                          </a:solidFill>
                          <a:latin typeface="Bitstream Charter"/>
                          <a:ea typeface="Bitstream Charter"/>
                          <a:cs typeface="Bitstream Charter"/>
                        </a:rPr>
                        <a:t>+20.61%</a:t>
                      </a:r>
                    </a:p>
                  </a:txBody>
                  <a:tcPr marL="133350" marR="95250" marT="104775" marB="76200" anchor="ctr">
                    <a:solidFill>
                      <a:srgbClr val="F0F4F5"/>
                    </a:solidFill>
                  </a:tcPr>
                </a:tc>
                <a:extLst>
                  <a:ext uri="{0D108BD9-81ED-4DB2-BD59-A6C34878D82A}">
                    <a16:rowId xmlns:a16="http://schemas.microsoft.com/office/drawing/2014/main" val="10002"/>
                  </a:ext>
                </a:extLst>
              </a:tr>
              <a:tr h="564356">
                <a:tc>
                  <a:txBody>
                    <a:bodyPr/>
                    <a:lstStyle/>
                    <a:p>
                      <a:r>
                        <a:rPr sz="1725" b="1">
                          <a:solidFill>
                            <a:srgbClr val="142B3B"/>
                          </a:solidFill>
                          <a:latin typeface="Bitstream Charter"/>
                          <a:ea typeface="Bitstream Charter"/>
                          <a:cs typeface="Bitstream Charter"/>
                        </a:rPr>
                        <a:t>5 years, annualized</a:t>
                      </a:r>
                    </a:p>
                  </a:txBody>
                  <a:tcPr marL="133350" marR="95250" marT="104775" marB="76200" anchor="ctr">
                    <a:solidFill>
                      <a:srgbClr val="FFFFFF"/>
                    </a:solidFill>
                  </a:tcPr>
                </a:tc>
                <a:tc>
                  <a:txBody>
                    <a:bodyPr/>
                    <a:lstStyle/>
                    <a:p>
                      <a:r>
                        <a:rPr sz="1725" b="0">
                          <a:solidFill>
                            <a:srgbClr val="142B3B"/>
                          </a:solidFill>
                          <a:latin typeface="Bitstream Charter"/>
                          <a:ea typeface="Bitstream Charter"/>
                          <a:cs typeface="Bitstream Charter"/>
                        </a:rPr>
                        <a:t>−6.11%</a:t>
                      </a:r>
                    </a:p>
                  </a:txBody>
                  <a:tcPr marL="133350" marR="95250" marT="104775" marB="76200" anchor="ctr">
                    <a:solidFill>
                      <a:srgbClr val="FFFFFF"/>
                    </a:solidFill>
                  </a:tcPr>
                </a:tc>
                <a:tc>
                  <a:txBody>
                    <a:bodyPr/>
                    <a:lstStyle/>
                    <a:p>
                      <a:r>
                        <a:rPr sz="1725" b="0">
                          <a:solidFill>
                            <a:srgbClr val="142B3B"/>
                          </a:solidFill>
                          <a:latin typeface="Bitstream Charter"/>
                          <a:ea typeface="Bitstream Charter"/>
                          <a:cs typeface="Bitstream Charter"/>
                        </a:rPr>
                        <a:t>+13.41%</a:t>
                      </a:r>
                    </a:p>
                  </a:txBody>
                  <a:tcPr marL="133350" marR="95250" marT="104775" marB="76200" anchor="ct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A627CA07-C0AD-4A86-9437-AF88CA4C69CA}"/>
              </a:ext>
            </a:extLst>
          </p:cNvPr>
          <p:cNvSpPr>
            <a:spLocks noGrp="1"/>
          </p:cNvSpPr>
          <p:nvPr/>
        </p:nvSpPr>
        <p:spPr>
          <a:xfrm>
            <a:off x="457200" y="4667250"/>
            <a:ext cx="3886200" cy="285750"/>
          </a:xfrm>
          <a:prstGeom prst="rect">
            <a:avLst/>
          </a:prstGeom>
          <a:noFill/>
          <a:ln w="0">
            <a:noFill/>
          </a:ln>
        </p:spPr>
        <p:txBody>
          <a:bodyPr wrap="square" lIns="0" tIns="0" rIns="0" bIns="0" anchor="t">
            <a:noAutofit/>
          </a:bodyPr>
          <a:lstStyle/>
          <a:p>
            <a:pPr>
              <a:defRPr sz="1650" b="1">
                <a:solidFill>
                  <a:srgbClr val="007D80"/>
                </a:solidFill>
                <a:latin typeface="Bitstream Charter"/>
                <a:ea typeface="Bitstream Charter"/>
                <a:cs typeface="Bitstream Charter"/>
              </a:defRPr>
            </a:pPr>
            <a:r>
              <a:rPr sz="1650" b="1">
                <a:solidFill>
                  <a:srgbClr val="007D80"/>
                </a:solidFill>
                <a:latin typeface="Bitstream Charter"/>
                <a:ea typeface="Bitstream Charter"/>
                <a:cs typeface="Bitstream Charter"/>
              </a:rPr>
              <a:t>POTENTIAL RETURN DRIVERS¹</a:t>
            </a:r>
          </a:p>
        </p:txBody>
      </p:sp>
      <p:sp>
        <p:nvSpPr>
          <p:cNvPr id="7" name="Rectangle 6">
            <a:extLst>
              <a:ext uri="{FF2B5EF4-FFF2-40B4-BE49-F238E27FC236}">
                <a16:creationId xmlns:a16="http://schemas.microsoft.com/office/drawing/2014/main" id="{554CE243-C49A-4ED3-8993-6F347F0648AC}"/>
              </a:ext>
            </a:extLst>
          </p:cNvPr>
          <p:cNvSpPr>
            <a:spLocks noGrp="1"/>
          </p:cNvSpPr>
          <p:nvPr/>
        </p:nvSpPr>
        <p:spPr>
          <a:xfrm>
            <a:off x="457200" y="5029200"/>
            <a:ext cx="3886200" cy="914400"/>
          </a:xfrm>
          <a:prstGeom prst="rect">
            <a:avLst/>
          </a:prstGeom>
          <a:noFill/>
          <a:ln w="0">
            <a:noFill/>
          </a:ln>
        </p:spPr>
        <p:txBody>
          <a:bodyPr wrap="square" lIns="0" tIns="0" rIns="0" bIns="0" anchor="t">
            <a:noAutofit/>
          </a:bodyPr>
          <a:lstStyle/>
          <a:p>
            <a:pPr>
              <a:defRPr sz="1650" b="0">
                <a:solidFill>
                  <a:srgbClr val="142B3B"/>
                </a:solidFill>
                <a:latin typeface="Bitstream Charter"/>
                <a:ea typeface="Bitstream Charter"/>
                <a:cs typeface="Bitstream Charter"/>
              </a:defRPr>
            </a:pPr>
            <a:r>
              <a:rPr sz="1650" b="0">
                <a:solidFill>
                  <a:srgbClr val="142B3B"/>
                </a:solidFill>
                <a:latin typeface="Bitstream Charter"/>
                <a:ea typeface="Bitstream Charter"/>
                <a:cs typeface="Bitstream Charter"/>
              </a:rPr>
              <a:t>Commerce growth, wallet monetization, crypto activity and adoption of enabling technology.</a:t>
            </a:r>
          </a:p>
        </p:txBody>
      </p:sp>
      <p:sp>
        <p:nvSpPr>
          <p:cNvPr id="8" name="Rectangle 7">
            <a:extLst>
              <a:ext uri="{FF2B5EF4-FFF2-40B4-BE49-F238E27FC236}">
                <a16:creationId xmlns:a16="http://schemas.microsoft.com/office/drawing/2014/main" id="{0FC0EE5E-5BD0-4939-9A5A-3E88ADFEFBCE}"/>
              </a:ext>
            </a:extLst>
          </p:cNvPr>
          <p:cNvSpPr>
            <a:spLocks noGrp="1"/>
          </p:cNvSpPr>
          <p:nvPr/>
        </p:nvSpPr>
        <p:spPr>
          <a:xfrm>
            <a:off x="4914900" y="4667250"/>
            <a:ext cx="3771900" cy="285750"/>
          </a:xfrm>
          <a:prstGeom prst="rect">
            <a:avLst/>
          </a:prstGeom>
          <a:noFill/>
          <a:ln w="0">
            <a:noFill/>
          </a:ln>
        </p:spPr>
        <p:txBody>
          <a:bodyPr wrap="square" lIns="0" tIns="0" rIns="0" bIns="0" anchor="t">
            <a:noAutofit/>
          </a:bodyPr>
          <a:lstStyle/>
          <a:p>
            <a:pPr>
              <a:defRPr sz="1650" b="1">
                <a:solidFill>
                  <a:srgbClr val="007D80"/>
                </a:solidFill>
                <a:latin typeface="Bitstream Charter"/>
                <a:ea typeface="Bitstream Charter"/>
                <a:cs typeface="Bitstream Charter"/>
              </a:defRPr>
            </a:pPr>
            <a:r>
              <a:rPr sz="1650" b="1">
                <a:solidFill>
                  <a:srgbClr val="007D80"/>
                </a:solidFill>
                <a:latin typeface="Bitstream Charter"/>
                <a:ea typeface="Bitstream Charter"/>
                <a:cs typeface="Bitstream Charter"/>
              </a:rPr>
              <a:t>COMMITTEE ROLE</a:t>
            </a:r>
          </a:p>
        </p:txBody>
      </p:sp>
      <p:sp>
        <p:nvSpPr>
          <p:cNvPr id="9" name="Rectangle 8">
            <a:extLst>
              <a:ext uri="{FF2B5EF4-FFF2-40B4-BE49-F238E27FC236}">
                <a16:creationId xmlns:a16="http://schemas.microsoft.com/office/drawing/2014/main" id="{0880AB3B-CD4D-40B0-8689-384EA7485F19}"/>
              </a:ext>
            </a:extLst>
          </p:cNvPr>
          <p:cNvSpPr>
            <a:spLocks noGrp="1"/>
          </p:cNvSpPr>
          <p:nvPr/>
        </p:nvSpPr>
        <p:spPr>
          <a:xfrm>
            <a:off x="4914900" y="5029200"/>
            <a:ext cx="3771900" cy="914400"/>
          </a:xfrm>
          <a:prstGeom prst="rect">
            <a:avLst/>
          </a:prstGeom>
          <a:noFill/>
          <a:ln w="0">
            <a:noFill/>
          </a:ln>
        </p:spPr>
        <p:txBody>
          <a:bodyPr wrap="square" lIns="0" tIns="0" rIns="0" bIns="0" anchor="t">
            <a:noAutofit/>
          </a:bodyPr>
          <a:lstStyle/>
          <a:p>
            <a:pPr>
              <a:defRPr sz="1650" b="0">
                <a:solidFill>
                  <a:srgbClr val="142B3B"/>
                </a:solidFill>
                <a:latin typeface="Bitstream Charter"/>
                <a:ea typeface="Bitstream Charter"/>
                <a:cs typeface="Bitstream Charter"/>
              </a:defRPr>
            </a:pPr>
            <a:r>
              <a:rPr sz="1650" b="0">
                <a:solidFill>
                  <a:srgbClr val="142B3B"/>
                </a:solidFill>
                <a:latin typeface="Bitstream Charter"/>
                <a:ea typeface="Bitstream Charter"/>
                <a:cs typeface="Bitstream Charter"/>
              </a:rPr>
              <a:t>Small satellite. Accept concentrated equity, crypto, valuation and active-manager risk.</a:t>
            </a:r>
          </a:p>
        </p:txBody>
      </p:sp>
      <p:sp>
        <p:nvSpPr>
          <p:cNvPr id="10" name="Rectangle 9">
            <a:extLst>
              <a:ext uri="{FF2B5EF4-FFF2-40B4-BE49-F238E27FC236}">
                <a16:creationId xmlns:a16="http://schemas.microsoft.com/office/drawing/2014/main" id="{1A9B28F8-8F1F-41A3-BFED-328FF7231245}"/>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536873"/>
                </a:solidFill>
                <a:latin typeface="Bitstream Charter"/>
                <a:ea typeface="Bitstream Charter"/>
                <a:cs typeface="Bitstream Charter"/>
              </a:defRPr>
            </a:pPr>
            <a:r>
              <a:rPr sz="885" b="0">
                <a:solidFill>
                  <a:srgbClr val="536873"/>
                </a:solidFill>
                <a:latin typeface="Bitstream Charter"/>
                <a:ea typeface="Bitstream Charter"/>
                <a:cs typeface="Bitstream Charter"/>
              </a:rPr>
              <a:t>Sources: ARKF June 30, 2026 fact sheet; ARKF Summary Prospectus; ¹analyst sensitivity assessment, not measured attribution.</a:t>
            </a:r>
          </a:p>
        </p:txBody>
      </p:sp>
      <p:pic>
        <p:nvPicPr>
          <p:cNvPr id="12" name="Picture 11" descr="Fund In Focus - ARKF">
            <a:extLst>
              <a:ext uri="{FF2B5EF4-FFF2-40B4-BE49-F238E27FC236}">
                <a16:creationId xmlns:a16="http://schemas.microsoft.com/office/drawing/2014/main" id="{AC525225-7266-0236-4702-F0722AEAE819}"/>
              </a:ext>
            </a:extLst>
          </p:cNvPr>
          <p:cNvPicPr>
            <a:picLocks noChangeAspect="1"/>
          </p:cNvPicPr>
          <p:nvPr/>
        </p:nvPicPr>
        <p:blipFill>
          <a:blip r:embed="rId3"/>
          <a:srcRect t="11130" b="13727"/>
          <a:stretch>
            <a:fillRect/>
          </a:stretch>
        </p:blipFill>
        <p:spPr>
          <a:xfrm>
            <a:off x="6793992" y="0"/>
            <a:ext cx="2350008" cy="990600"/>
          </a:xfrm>
          <a:prstGeom prst="rect">
            <a:avLst/>
          </a:prstGeom>
        </p:spPr>
      </p:pic>
    </p:spTree>
    <p:extLst>
      <p:ext uri="{BB962C8B-B14F-4D97-AF65-F5344CB8AC3E}">
        <p14:creationId xmlns:p14="http://schemas.microsoft.com/office/powerpoint/2010/main" val="1231588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473DB05-8642-475E-B933-34F9B2648886}"/>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Bitstream Charter"/>
                <a:cs typeface="Arial" panose="020B0604020202020204" pitchFamily="34" charset="0"/>
              </a:rPr>
              <a:t>FINX | MANDATE AND MANAGEMENT</a:t>
            </a:r>
          </a:p>
        </p:txBody>
      </p:sp>
      <p:sp>
        <p:nvSpPr>
          <p:cNvPr id="2" name="Rectangle 1">
            <a:extLst>
              <a:ext uri="{FF2B5EF4-FFF2-40B4-BE49-F238E27FC236}">
                <a16:creationId xmlns:a16="http://schemas.microsoft.com/office/drawing/2014/main" id="{9597225D-4BA5-4C76-84F4-29CADDDDD2CF}"/>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sz="2775" b="1">
                <a:solidFill>
                  <a:srgbClr val="142B3B"/>
                </a:solidFill>
                <a:latin typeface="Arial" panose="020B0604020202020204" pitchFamily="34" charset="0"/>
                <a:ea typeface="Bitstream Charter"/>
                <a:cs typeface="Arial" panose="020B0604020202020204" pitchFamily="34" charset="0"/>
              </a:rPr>
              <a:t>FINX delivers rules-based exposure</a:t>
            </a:r>
          </a:p>
          <a:p>
            <a:pPr>
              <a:defRPr sz="2775" b="1">
                <a:solidFill>
                  <a:srgbClr val="142B3B"/>
                </a:solidFill>
                <a:latin typeface="Bitstream Charter"/>
                <a:ea typeface="Bitstream Charter"/>
                <a:cs typeface="Bitstream Charter"/>
              </a:defRPr>
            </a:pPr>
            <a:r>
              <a:rPr sz="2775" b="1">
                <a:solidFill>
                  <a:srgbClr val="142B3B"/>
                </a:solidFill>
                <a:latin typeface="Arial" panose="020B0604020202020204" pitchFamily="34" charset="0"/>
                <a:ea typeface="Bitstream Charter"/>
                <a:cs typeface="Arial" panose="020B0604020202020204" pitchFamily="34" charset="0"/>
              </a:rPr>
              <a:t>to an evolving FinTech universe</a:t>
            </a:r>
          </a:p>
        </p:txBody>
      </p:sp>
      <p:sp>
        <p:nvSpPr>
          <p:cNvPr id="3" name="Rectangle 2">
            <a:extLst>
              <a:ext uri="{FF2B5EF4-FFF2-40B4-BE49-F238E27FC236}">
                <a16:creationId xmlns:a16="http://schemas.microsoft.com/office/drawing/2014/main" id="{A84144A7-9D6C-4DCF-99C0-867A18D8A8CB}"/>
              </a:ext>
            </a:extLst>
          </p:cNvPr>
          <p:cNvSpPr>
            <a:spLocks noGrp="1"/>
          </p:cNvSpPr>
          <p:nvPr/>
        </p:nvSpPr>
        <p:spPr>
          <a:xfrm>
            <a:off x="457200" y="1562100"/>
            <a:ext cx="8229600" cy="352425"/>
          </a:xfrm>
          <a:prstGeom prst="rect">
            <a:avLst/>
          </a:prstGeom>
          <a:noFill/>
          <a:ln w="0">
            <a:noFill/>
          </a:ln>
        </p:spPr>
        <p:txBody>
          <a:bodyPr wrap="square" lIns="0" tIns="0" rIns="0" bIns="0" anchor="t">
            <a:noAutofit/>
          </a:bodyPr>
          <a:lstStyle/>
          <a:p>
            <a:pPr>
              <a:defRPr sz="1425" b="0">
                <a:solidFill>
                  <a:srgbClr val="536873"/>
                </a:solidFill>
                <a:latin typeface="Bitstream Charter"/>
                <a:ea typeface="Bitstream Charter"/>
                <a:cs typeface="Bitstream Charter"/>
              </a:defRPr>
            </a:pPr>
            <a:r>
              <a:rPr sz="1425" b="0">
                <a:solidFill>
                  <a:srgbClr val="536873"/>
                </a:solidFill>
                <a:latin typeface="Arial" panose="020B0604020202020204" pitchFamily="34" charset="0"/>
                <a:ea typeface="Bitstream Charter"/>
                <a:cs typeface="Arial" panose="020B0604020202020204" pitchFamily="34" charset="0"/>
              </a:rPr>
              <a:t>Global X FinTech ETF | Passive index tracking</a:t>
            </a:r>
          </a:p>
        </p:txBody>
      </p:sp>
      <p:sp>
        <p:nvSpPr>
          <p:cNvPr id="4" name="Rectangle 3">
            <a:extLst>
              <a:ext uri="{FF2B5EF4-FFF2-40B4-BE49-F238E27FC236}">
                <a16:creationId xmlns:a16="http://schemas.microsoft.com/office/drawing/2014/main" id="{0C20AEA9-4D27-4BAC-A8F9-9D94FA81E2E3}"/>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defRPr sz="900" b="0">
                <a:solidFill>
                  <a:srgbClr val="536873"/>
                </a:solidFill>
                <a:latin typeface="Bitstream Charter"/>
                <a:ea typeface="Bitstream Charter"/>
                <a:cs typeface="Bitstream Charter"/>
              </a:defRPr>
            </a:pPr>
            <a:r>
              <a:rPr sz="900" b="0">
                <a:solidFill>
                  <a:srgbClr val="536873"/>
                </a:solidFill>
                <a:latin typeface="Arial" panose="020B0604020202020204" pitchFamily="34" charset="0"/>
                <a:ea typeface="Bitstream Charter"/>
                <a:cs typeface="Arial" panose="020B0604020202020204" pitchFamily="34" charset="0"/>
              </a:rPr>
              <a:t>07</a:t>
            </a:r>
          </a:p>
        </p:txBody>
      </p:sp>
      <p:sp>
        <p:nvSpPr>
          <p:cNvPr id="5" name="Rectangle 4">
            <a:extLst>
              <a:ext uri="{FF2B5EF4-FFF2-40B4-BE49-F238E27FC236}">
                <a16:creationId xmlns:a16="http://schemas.microsoft.com/office/drawing/2014/main" id="{1C732C00-B586-455F-8813-A119FCA4923C}"/>
              </a:ext>
            </a:extLst>
          </p:cNvPr>
          <p:cNvSpPr>
            <a:spLocks noGrp="1"/>
          </p:cNvSpPr>
          <p:nvPr/>
        </p:nvSpPr>
        <p:spPr>
          <a:xfrm>
            <a:off x="457200" y="2114550"/>
            <a:ext cx="5143500" cy="285750"/>
          </a:xfrm>
          <a:prstGeom prst="rect">
            <a:avLst/>
          </a:prstGeom>
          <a:noFill/>
          <a:ln w="0">
            <a:noFill/>
          </a:ln>
        </p:spPr>
        <p:txBody>
          <a:bodyPr wrap="square" lIns="0" tIns="0" rIns="0" bIns="0" anchor="t">
            <a:noAutofit/>
          </a:bodyPr>
          <a:lstStyle/>
          <a:p>
            <a:pPr>
              <a:defRPr sz="1725" b="1">
                <a:solidFill>
                  <a:srgbClr val="007D80"/>
                </a:solidFill>
                <a:latin typeface="Bitstream Charter"/>
                <a:ea typeface="Bitstream Charter"/>
                <a:cs typeface="Bitstream Charter"/>
              </a:defRPr>
            </a:pPr>
            <a:r>
              <a:rPr sz="1700" b="1">
                <a:solidFill>
                  <a:srgbClr val="007D80"/>
                </a:solidFill>
                <a:latin typeface="Arial"/>
                <a:ea typeface="Bitstream Charter"/>
                <a:cs typeface="Arial"/>
              </a:rPr>
              <a:t>INDEX AND IMPLEMENTATION</a:t>
            </a:r>
            <a:endParaRPr lang="en-US"/>
          </a:p>
        </p:txBody>
      </p:sp>
      <p:sp>
        <p:nvSpPr>
          <p:cNvPr id="6" name="Rectangle 5">
            <a:extLst>
              <a:ext uri="{FF2B5EF4-FFF2-40B4-BE49-F238E27FC236}">
                <a16:creationId xmlns:a16="http://schemas.microsoft.com/office/drawing/2014/main" id="{FCC71207-07AA-4587-B3DE-151BAE67C699}"/>
              </a:ext>
            </a:extLst>
          </p:cNvPr>
          <p:cNvSpPr>
            <a:spLocks noGrp="1"/>
          </p:cNvSpPr>
          <p:nvPr/>
        </p:nvSpPr>
        <p:spPr>
          <a:xfrm>
            <a:off x="457200" y="2476500"/>
            <a:ext cx="5143500" cy="914400"/>
          </a:xfrm>
          <a:prstGeom prst="rect">
            <a:avLst/>
          </a:prstGeom>
          <a:noFill/>
          <a:ln w="0">
            <a:noFill/>
          </a:ln>
        </p:spPr>
        <p:txBody>
          <a:bodyPr wrap="square" lIns="0" tIns="0" rIns="0" bIns="0" anchor="t">
            <a:noAutofit/>
          </a:bodyPr>
          <a:lstStyle/>
          <a:p>
            <a:pPr>
              <a:defRPr sz="1725" b="0">
                <a:solidFill>
                  <a:srgbClr val="142B3B"/>
                </a:solidFill>
                <a:latin typeface="Bitstream Charter"/>
                <a:ea typeface="Bitstream Charter"/>
                <a:cs typeface="Bitstream Charter"/>
              </a:defRPr>
            </a:pPr>
            <a:r>
              <a:rPr sz="1725" b="0">
                <a:solidFill>
                  <a:srgbClr val="142B3B"/>
                </a:solidFill>
                <a:latin typeface="Arial" panose="020B0604020202020204" pitchFamily="34" charset="0"/>
                <a:ea typeface="Bitstream Charter"/>
                <a:cs typeface="Arial" panose="020B0604020202020204" pitchFamily="34" charset="0"/>
              </a:rPr>
              <a:t>Tracks the Indxx Global FinTech Thematic Index. Uses replication, with representative sampling when appropriate.</a:t>
            </a:r>
          </a:p>
        </p:txBody>
      </p:sp>
      <p:sp>
        <p:nvSpPr>
          <p:cNvPr id="7" name="Rectangle 6">
            <a:extLst>
              <a:ext uri="{FF2B5EF4-FFF2-40B4-BE49-F238E27FC236}">
                <a16:creationId xmlns:a16="http://schemas.microsoft.com/office/drawing/2014/main" id="{3899B2E0-0910-4EF3-BC67-A2DEF34EE12F}"/>
              </a:ext>
            </a:extLst>
          </p:cNvPr>
          <p:cNvSpPr>
            <a:spLocks noGrp="1"/>
          </p:cNvSpPr>
          <p:nvPr/>
        </p:nvSpPr>
        <p:spPr>
          <a:xfrm>
            <a:off x="457200" y="3476625"/>
            <a:ext cx="5143500" cy="285750"/>
          </a:xfrm>
          <a:prstGeom prst="rect">
            <a:avLst/>
          </a:prstGeom>
          <a:noFill/>
          <a:ln w="0">
            <a:noFill/>
          </a:ln>
        </p:spPr>
        <p:txBody>
          <a:bodyPr wrap="square" lIns="0" tIns="0" rIns="0" bIns="0" anchor="t">
            <a:noAutofit/>
          </a:bodyPr>
          <a:lstStyle/>
          <a:p>
            <a:pPr>
              <a:defRPr sz="1725" b="1">
                <a:solidFill>
                  <a:srgbClr val="007D80"/>
                </a:solidFill>
                <a:latin typeface="Bitstream Charter"/>
                <a:ea typeface="Bitstream Charter"/>
                <a:cs typeface="Bitstream Charter"/>
              </a:defRPr>
            </a:pPr>
            <a:r>
              <a:rPr sz="1725" b="1">
                <a:solidFill>
                  <a:srgbClr val="007D80"/>
                </a:solidFill>
                <a:latin typeface="Arial" panose="020B0604020202020204" pitchFamily="34" charset="0"/>
                <a:ea typeface="Bitstream Charter"/>
                <a:cs typeface="Arial" panose="020B0604020202020204" pitchFamily="34" charset="0"/>
              </a:rPr>
              <a:t>PORTFOLIO CONSTRUCTION</a:t>
            </a:r>
          </a:p>
        </p:txBody>
      </p:sp>
      <p:sp>
        <p:nvSpPr>
          <p:cNvPr id="8" name="Rectangle 7">
            <a:extLst>
              <a:ext uri="{FF2B5EF4-FFF2-40B4-BE49-F238E27FC236}">
                <a16:creationId xmlns:a16="http://schemas.microsoft.com/office/drawing/2014/main" id="{C90937C2-D7DC-482E-B901-A3D6878E24C8}"/>
              </a:ext>
            </a:extLst>
          </p:cNvPr>
          <p:cNvSpPr>
            <a:spLocks noGrp="1"/>
          </p:cNvSpPr>
          <p:nvPr/>
        </p:nvSpPr>
        <p:spPr>
          <a:xfrm>
            <a:off x="457200" y="3838575"/>
            <a:ext cx="5143500" cy="914400"/>
          </a:xfrm>
          <a:prstGeom prst="rect">
            <a:avLst/>
          </a:prstGeom>
          <a:noFill/>
          <a:ln w="0">
            <a:noFill/>
          </a:ln>
        </p:spPr>
        <p:txBody>
          <a:bodyPr wrap="square" lIns="0" tIns="0" rIns="0" bIns="0" anchor="t">
            <a:noAutofit/>
          </a:bodyPr>
          <a:lstStyle/>
          <a:p>
            <a:pPr>
              <a:defRPr sz="1725" b="0">
                <a:solidFill>
                  <a:srgbClr val="142B3B"/>
                </a:solidFill>
                <a:latin typeface="Bitstream Charter"/>
                <a:ea typeface="Bitstream Charter"/>
                <a:cs typeface="Bitstream Charter"/>
              </a:defRPr>
            </a:pPr>
            <a:r>
              <a:rPr sz="1725" b="0">
                <a:solidFill>
                  <a:srgbClr val="142B3B"/>
                </a:solidFill>
                <a:latin typeface="Arial" panose="020B0604020202020204" pitchFamily="34" charset="0"/>
                <a:ea typeface="Bitstream Charter"/>
                <a:cs typeface="Arial" panose="020B0604020202020204" pitchFamily="34" charset="0"/>
              </a:rPr>
              <a:t>Modified market-cap weights; annual reconstitution and rebalance. No discretionary defensive allocation when markets fall.</a:t>
            </a:r>
          </a:p>
        </p:txBody>
      </p:sp>
      <p:sp>
        <p:nvSpPr>
          <p:cNvPr id="9" name="Rectangle 8">
            <a:extLst>
              <a:ext uri="{FF2B5EF4-FFF2-40B4-BE49-F238E27FC236}">
                <a16:creationId xmlns:a16="http://schemas.microsoft.com/office/drawing/2014/main" id="{ED42FF79-9682-44C2-9A21-49CC33AD8E70}"/>
              </a:ext>
            </a:extLst>
          </p:cNvPr>
          <p:cNvSpPr>
            <a:spLocks noGrp="1"/>
          </p:cNvSpPr>
          <p:nvPr/>
        </p:nvSpPr>
        <p:spPr>
          <a:xfrm>
            <a:off x="457200" y="4810125"/>
            <a:ext cx="5143500" cy="285750"/>
          </a:xfrm>
          <a:prstGeom prst="rect">
            <a:avLst/>
          </a:prstGeom>
          <a:noFill/>
          <a:ln w="0">
            <a:noFill/>
          </a:ln>
        </p:spPr>
        <p:txBody>
          <a:bodyPr wrap="square" lIns="0" tIns="0" rIns="0" bIns="0" anchor="t">
            <a:noAutofit/>
          </a:bodyPr>
          <a:lstStyle/>
          <a:p>
            <a:pPr>
              <a:defRPr sz="1725" b="1">
                <a:solidFill>
                  <a:srgbClr val="007D80"/>
                </a:solidFill>
                <a:latin typeface="Bitstream Charter"/>
                <a:ea typeface="Bitstream Charter"/>
                <a:cs typeface="Bitstream Charter"/>
              </a:defRPr>
            </a:pPr>
            <a:r>
              <a:rPr sz="1725" b="1">
                <a:solidFill>
                  <a:srgbClr val="007D80"/>
                </a:solidFill>
                <a:latin typeface="Arial" panose="020B0604020202020204" pitchFamily="34" charset="0"/>
                <a:ea typeface="Bitstream Charter"/>
                <a:cs typeface="Arial" panose="020B0604020202020204" pitchFamily="34" charset="0"/>
              </a:rPr>
              <a:t>THEMATIC SCOPE</a:t>
            </a:r>
          </a:p>
        </p:txBody>
      </p:sp>
      <p:sp>
        <p:nvSpPr>
          <p:cNvPr id="10" name="Rectangle 9">
            <a:extLst>
              <a:ext uri="{FF2B5EF4-FFF2-40B4-BE49-F238E27FC236}">
                <a16:creationId xmlns:a16="http://schemas.microsoft.com/office/drawing/2014/main" id="{A3C8E64C-2C6A-4D12-92B3-7EB2BC7DC4E3}"/>
              </a:ext>
            </a:extLst>
          </p:cNvPr>
          <p:cNvSpPr>
            <a:spLocks noGrp="1"/>
          </p:cNvSpPr>
          <p:nvPr/>
        </p:nvSpPr>
        <p:spPr>
          <a:xfrm>
            <a:off x="457200" y="5172075"/>
            <a:ext cx="5143500" cy="914400"/>
          </a:xfrm>
          <a:prstGeom prst="rect">
            <a:avLst/>
          </a:prstGeom>
          <a:noFill/>
          <a:ln w="0">
            <a:noFill/>
          </a:ln>
        </p:spPr>
        <p:txBody>
          <a:bodyPr wrap="square" lIns="0" tIns="0" rIns="0" bIns="0" anchor="t">
            <a:noAutofit/>
          </a:bodyPr>
          <a:lstStyle/>
          <a:p>
            <a:pPr>
              <a:defRPr sz="1725" b="0">
                <a:solidFill>
                  <a:srgbClr val="142B3B"/>
                </a:solidFill>
                <a:latin typeface="Bitstream Charter"/>
                <a:ea typeface="Bitstream Charter"/>
                <a:cs typeface="Bitstream Charter"/>
              </a:defRPr>
            </a:pPr>
            <a:r>
              <a:rPr sz="1725" b="0">
                <a:solidFill>
                  <a:srgbClr val="142B3B"/>
                </a:solidFill>
                <a:latin typeface="Arial" panose="020B0604020202020204" pitchFamily="34" charset="0"/>
                <a:ea typeface="Bitstream Charter"/>
                <a:cs typeface="Arial" panose="020B0604020202020204" pitchFamily="34" charset="0"/>
              </a:rPr>
              <a:t>Payments, marketplace lending, enterprise software, blockchain, crowdfunding and technology-enabled wealth management.</a:t>
            </a:r>
          </a:p>
        </p:txBody>
      </p:sp>
      <p:sp>
        <p:nvSpPr>
          <p:cNvPr id="11" name="Rectangle 10">
            <a:extLst>
              <a:ext uri="{FF2B5EF4-FFF2-40B4-BE49-F238E27FC236}">
                <a16:creationId xmlns:a16="http://schemas.microsoft.com/office/drawing/2014/main" id="{C6CEC590-BAE0-4F13-82FE-B4033D4972C3}"/>
              </a:ext>
            </a:extLst>
          </p:cNvPr>
          <p:cNvSpPr>
            <a:spLocks noGrp="1"/>
          </p:cNvSpPr>
          <p:nvPr/>
        </p:nvSpPr>
        <p:spPr>
          <a:xfrm>
            <a:off x="6469516" y="2479902"/>
            <a:ext cx="2524125" cy="800100"/>
          </a:xfrm>
          <a:prstGeom prst="rect">
            <a:avLst/>
          </a:prstGeom>
          <a:noFill/>
          <a:ln w="0">
            <a:noFill/>
          </a:ln>
        </p:spPr>
        <p:txBody>
          <a:bodyPr wrap="square" lIns="0" tIns="0" rIns="0" bIns="0" anchor="t">
            <a:noAutofit/>
          </a:bodyPr>
          <a:lstStyle/>
          <a:p>
            <a:pPr>
              <a:defRPr sz="2175" b="1">
                <a:solidFill>
                  <a:srgbClr val="245C9D"/>
                </a:solidFill>
                <a:latin typeface="Bitstream Charter"/>
                <a:ea typeface="Bitstream Charter"/>
                <a:cs typeface="Bitstream Charter"/>
              </a:defRPr>
            </a:pPr>
            <a:r>
              <a:rPr sz="2175" b="1">
                <a:solidFill>
                  <a:srgbClr val="245C9D"/>
                </a:solidFill>
                <a:latin typeface="Arial" panose="020B0604020202020204" pitchFamily="34" charset="0"/>
                <a:ea typeface="Bitstream Charter"/>
                <a:cs typeface="Arial" panose="020B0604020202020204" pitchFamily="34" charset="0"/>
              </a:rPr>
              <a:t>Nam To, CFA</a:t>
            </a:r>
          </a:p>
          <a:p>
            <a:pPr>
              <a:defRPr sz="2175" b="1">
                <a:solidFill>
                  <a:srgbClr val="245C9D"/>
                </a:solidFill>
                <a:latin typeface="Bitstream Charter"/>
                <a:ea typeface="Bitstream Charter"/>
                <a:cs typeface="Bitstream Charter"/>
              </a:defRPr>
            </a:pPr>
            <a:r>
              <a:rPr sz="2175" b="1">
                <a:solidFill>
                  <a:srgbClr val="245C9D"/>
                </a:solidFill>
                <a:latin typeface="Arial" panose="020B0604020202020204" pitchFamily="34" charset="0"/>
                <a:ea typeface="Bitstream Charter"/>
                <a:cs typeface="Arial" panose="020B0604020202020204" pitchFamily="34" charset="0"/>
              </a:rPr>
              <a:t>Wayne Xie</a:t>
            </a:r>
          </a:p>
        </p:txBody>
      </p:sp>
      <p:sp>
        <p:nvSpPr>
          <p:cNvPr id="12" name="Rectangle 11">
            <a:extLst>
              <a:ext uri="{FF2B5EF4-FFF2-40B4-BE49-F238E27FC236}">
                <a16:creationId xmlns:a16="http://schemas.microsoft.com/office/drawing/2014/main" id="{F33D2285-04F9-4D00-9146-E08A1F9A5748}"/>
              </a:ext>
            </a:extLst>
          </p:cNvPr>
          <p:cNvSpPr>
            <a:spLocks noGrp="1"/>
          </p:cNvSpPr>
          <p:nvPr/>
        </p:nvSpPr>
        <p:spPr>
          <a:xfrm>
            <a:off x="6479721" y="3164341"/>
            <a:ext cx="2476500" cy="914400"/>
          </a:xfrm>
          <a:prstGeom prst="rect">
            <a:avLst/>
          </a:prstGeom>
          <a:noFill/>
          <a:ln w="0">
            <a:noFill/>
          </a:ln>
        </p:spPr>
        <p:txBody>
          <a:bodyPr wrap="square" lIns="0" tIns="0" rIns="0" bIns="0" anchor="t">
            <a:noAutofit/>
          </a:bodyPr>
          <a:lstStyle/>
          <a:p>
            <a:pPr>
              <a:defRPr sz="1650" b="0">
                <a:solidFill>
                  <a:srgbClr val="142B3B"/>
                </a:solidFill>
                <a:latin typeface="Bitstream Charter"/>
                <a:ea typeface="Bitstream Charter"/>
                <a:cs typeface="Bitstream Charter"/>
              </a:defRPr>
            </a:pPr>
            <a:r>
              <a:rPr sz="1650" b="0">
                <a:solidFill>
                  <a:srgbClr val="142B3B"/>
                </a:solidFill>
                <a:latin typeface="Arial" panose="020B0604020202020204" pitchFamily="34" charset="0"/>
                <a:ea typeface="Bitstream Charter"/>
                <a:cs typeface="Arial" panose="020B0604020202020204" pitchFamily="34" charset="0"/>
              </a:rPr>
              <a:t>Fund managers since</a:t>
            </a:r>
          </a:p>
          <a:p>
            <a:pPr>
              <a:defRPr sz="1650" b="0">
                <a:solidFill>
                  <a:srgbClr val="142B3B"/>
                </a:solidFill>
                <a:latin typeface="Bitstream Charter"/>
                <a:ea typeface="Bitstream Charter"/>
                <a:cs typeface="Bitstream Charter"/>
              </a:defRPr>
            </a:pPr>
            <a:r>
              <a:rPr sz="1650" b="0">
                <a:solidFill>
                  <a:srgbClr val="142B3B"/>
                </a:solidFill>
                <a:latin typeface="Arial" panose="020B0604020202020204" pitchFamily="34" charset="0"/>
                <a:ea typeface="Bitstream Charter"/>
                <a:cs typeface="Arial" panose="020B0604020202020204" pitchFamily="34" charset="0"/>
              </a:rPr>
              <a:t>2018 and 2019,</a:t>
            </a:r>
          </a:p>
          <a:p>
            <a:pPr>
              <a:defRPr sz="1650" b="0">
                <a:solidFill>
                  <a:srgbClr val="142B3B"/>
                </a:solidFill>
                <a:latin typeface="Bitstream Charter"/>
                <a:ea typeface="Bitstream Charter"/>
                <a:cs typeface="Bitstream Charter"/>
              </a:defRPr>
            </a:pPr>
            <a:r>
              <a:rPr sz="1650" b="0">
                <a:solidFill>
                  <a:srgbClr val="142B3B"/>
                </a:solidFill>
                <a:latin typeface="Arial" panose="020B0604020202020204" pitchFamily="34" charset="0"/>
                <a:ea typeface="Bitstream Charter"/>
                <a:cs typeface="Arial" panose="020B0604020202020204" pitchFamily="34" charset="0"/>
              </a:rPr>
              <a:t>respectively</a:t>
            </a:r>
          </a:p>
        </p:txBody>
      </p:sp>
      <p:sp>
        <p:nvSpPr>
          <p:cNvPr id="13" name="Rectangle 12">
            <a:extLst>
              <a:ext uri="{FF2B5EF4-FFF2-40B4-BE49-F238E27FC236}">
                <a16:creationId xmlns:a16="http://schemas.microsoft.com/office/drawing/2014/main" id="{4AC6CEA5-5077-4DA3-A852-0F45C6455EBD}"/>
              </a:ext>
            </a:extLst>
          </p:cNvPr>
          <p:cNvSpPr>
            <a:spLocks noGrp="1"/>
          </p:cNvSpPr>
          <p:nvPr/>
        </p:nvSpPr>
        <p:spPr>
          <a:xfrm>
            <a:off x="6479721" y="4521654"/>
            <a:ext cx="2505075" cy="581025"/>
          </a:xfrm>
          <a:prstGeom prst="rect">
            <a:avLst/>
          </a:prstGeom>
          <a:noFill/>
          <a:ln w="0">
            <a:noFill/>
          </a:ln>
        </p:spPr>
        <p:txBody>
          <a:bodyPr wrap="square" lIns="0" tIns="0" rIns="0" bIns="0" anchor="t">
            <a:noAutofit/>
          </a:bodyPr>
          <a:lstStyle/>
          <a:p>
            <a:pPr>
              <a:defRPr sz="1650" b="1">
                <a:solidFill>
                  <a:srgbClr val="142B3B"/>
                </a:solidFill>
                <a:latin typeface="Bitstream Charter"/>
                <a:ea typeface="Bitstream Charter"/>
                <a:cs typeface="Bitstream Charter"/>
              </a:defRPr>
            </a:pPr>
            <a:r>
              <a:rPr sz="1650" b="1">
                <a:solidFill>
                  <a:srgbClr val="142B3B"/>
                </a:solidFill>
                <a:latin typeface="Arial" panose="020B0604020202020204" pitchFamily="34" charset="0"/>
                <a:ea typeface="Bitstream Charter"/>
                <a:cs typeface="Arial" panose="020B0604020202020204" pitchFamily="34" charset="0"/>
              </a:rPr>
              <a:t>Global X Management</a:t>
            </a:r>
          </a:p>
          <a:p>
            <a:pPr>
              <a:defRPr sz="1650" b="1">
                <a:solidFill>
                  <a:srgbClr val="142B3B"/>
                </a:solidFill>
                <a:latin typeface="Bitstream Charter"/>
                <a:ea typeface="Bitstream Charter"/>
                <a:cs typeface="Bitstream Charter"/>
              </a:defRPr>
            </a:pPr>
            <a:r>
              <a:rPr sz="1650" b="1">
                <a:solidFill>
                  <a:srgbClr val="142B3B"/>
                </a:solidFill>
                <a:latin typeface="Arial" panose="020B0604020202020204" pitchFamily="34" charset="0"/>
                <a:ea typeface="Bitstream Charter"/>
                <a:cs typeface="Arial" panose="020B0604020202020204" pitchFamily="34" charset="0"/>
              </a:rPr>
              <a:t>Company LLC</a:t>
            </a:r>
          </a:p>
        </p:txBody>
      </p:sp>
      <p:sp>
        <p:nvSpPr>
          <p:cNvPr id="14" name="Rectangle 13">
            <a:extLst>
              <a:ext uri="{FF2B5EF4-FFF2-40B4-BE49-F238E27FC236}">
                <a16:creationId xmlns:a16="http://schemas.microsoft.com/office/drawing/2014/main" id="{01F0184D-30A3-4C96-80A4-645758741889}"/>
              </a:ext>
            </a:extLst>
          </p:cNvPr>
          <p:cNvSpPr>
            <a:spLocks noGrp="1"/>
          </p:cNvSpPr>
          <p:nvPr/>
        </p:nvSpPr>
        <p:spPr>
          <a:xfrm>
            <a:off x="6500132" y="5098596"/>
            <a:ext cx="2476500" cy="590550"/>
          </a:xfrm>
          <a:prstGeom prst="rect">
            <a:avLst/>
          </a:prstGeom>
          <a:noFill/>
          <a:ln w="0">
            <a:noFill/>
          </a:ln>
        </p:spPr>
        <p:txBody>
          <a:bodyPr wrap="square" lIns="0" tIns="0" rIns="0" bIns="0" anchor="t">
            <a:noAutofit/>
          </a:bodyPr>
          <a:lstStyle/>
          <a:p>
            <a:pPr>
              <a:defRPr sz="1575" b="0">
                <a:solidFill>
                  <a:srgbClr val="536873"/>
                </a:solidFill>
                <a:latin typeface="Bitstream Charter"/>
                <a:ea typeface="Bitstream Charter"/>
                <a:cs typeface="Bitstream Charter"/>
              </a:defRPr>
            </a:pPr>
            <a:r>
              <a:rPr sz="1550" b="0" err="1">
                <a:latin typeface="Arial"/>
                <a:ea typeface="Bitstream Charter"/>
                <a:cs typeface="Arial"/>
              </a:rPr>
              <a:t>Indxx</a:t>
            </a:r>
            <a:r>
              <a:rPr sz="1550" b="0">
                <a:latin typeface="Arial"/>
                <a:ea typeface="Bitstream Charter"/>
                <a:cs typeface="Arial"/>
              </a:rPr>
              <a:t> sets index</a:t>
            </a:r>
            <a:endParaRPr lang="en-US" sz="1550" b="0">
              <a:latin typeface="Arial"/>
              <a:ea typeface="Bitstream Charter"/>
              <a:cs typeface="Arial"/>
            </a:endParaRPr>
          </a:p>
          <a:p>
            <a:pPr>
              <a:defRPr sz="1575" b="0">
                <a:solidFill>
                  <a:srgbClr val="536873"/>
                </a:solidFill>
                <a:latin typeface="Bitstream Charter"/>
                <a:ea typeface="Bitstream Charter"/>
                <a:cs typeface="Bitstream Charter"/>
              </a:defRPr>
            </a:pPr>
            <a:r>
              <a:rPr sz="1550" b="0">
                <a:latin typeface="Arial"/>
                <a:ea typeface="Bitstream Charter"/>
                <a:cs typeface="Arial"/>
              </a:rPr>
              <a:t>selection and weights.</a:t>
            </a:r>
          </a:p>
        </p:txBody>
      </p:sp>
      <p:sp>
        <p:nvSpPr>
          <p:cNvPr id="15" name="Rectangle 14">
            <a:extLst>
              <a:ext uri="{FF2B5EF4-FFF2-40B4-BE49-F238E27FC236}">
                <a16:creationId xmlns:a16="http://schemas.microsoft.com/office/drawing/2014/main" id="{8A42AF68-5903-4093-92A3-25687325093C}"/>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536873"/>
                </a:solidFill>
                <a:latin typeface="Bitstream Charter"/>
                <a:ea typeface="Bitstream Charter"/>
                <a:cs typeface="Bitstream Charter"/>
              </a:defRPr>
            </a:pPr>
            <a:r>
              <a:rPr sz="885" b="0">
                <a:solidFill>
                  <a:srgbClr val="536873"/>
                </a:solidFill>
                <a:latin typeface="Arial" panose="020B0604020202020204" pitchFamily="34" charset="0"/>
                <a:ea typeface="Bitstream Charter"/>
                <a:cs typeface="Arial" panose="020B0604020202020204" pitchFamily="34" charset="0"/>
              </a:rPr>
              <a:t>Sources: Global X FINX Summary Prospectus, April 1, 2026, pp. 2–3 and 9; globalxetfs.com/funds/finx/.</a:t>
            </a:r>
          </a:p>
        </p:txBody>
      </p:sp>
      <p:grpSp>
        <p:nvGrpSpPr>
          <p:cNvPr id="21" name="Group 20">
            <a:extLst>
              <a:ext uri="{FF2B5EF4-FFF2-40B4-BE49-F238E27FC236}">
                <a16:creationId xmlns:a16="http://schemas.microsoft.com/office/drawing/2014/main" id="{43418DE2-F28A-E60E-C423-9D05DF1E1F20}"/>
              </a:ext>
            </a:extLst>
          </p:cNvPr>
          <p:cNvGrpSpPr/>
          <p:nvPr/>
        </p:nvGrpSpPr>
        <p:grpSpPr>
          <a:xfrm>
            <a:off x="6516546" y="-2272"/>
            <a:ext cx="2627453" cy="792847"/>
            <a:chOff x="5779674" y="74036"/>
            <a:chExt cx="3364326" cy="966570"/>
          </a:xfrm>
        </p:grpSpPr>
        <p:pic>
          <p:nvPicPr>
            <p:cNvPr id="18" name="Picture 17">
              <a:extLst>
                <a:ext uri="{FF2B5EF4-FFF2-40B4-BE49-F238E27FC236}">
                  <a16:creationId xmlns:a16="http://schemas.microsoft.com/office/drawing/2014/main" id="{A3541C73-A7E5-C486-4A14-62CFD4D363C7}"/>
                </a:ext>
              </a:extLst>
            </p:cNvPr>
            <p:cNvPicPr>
              <a:picLocks noChangeAspect="1"/>
            </p:cNvPicPr>
            <p:nvPr/>
          </p:nvPicPr>
          <p:blipFill>
            <a:blip r:embed="rId3"/>
            <a:srcRect r="45030" b="81218"/>
            <a:stretch>
              <a:fillRect/>
            </a:stretch>
          </p:blipFill>
          <p:spPr>
            <a:xfrm>
              <a:off x="5779676" y="74036"/>
              <a:ext cx="3364324" cy="497464"/>
            </a:xfrm>
            <a:prstGeom prst="rect">
              <a:avLst/>
            </a:prstGeom>
          </p:spPr>
        </p:pic>
        <p:pic>
          <p:nvPicPr>
            <p:cNvPr id="20" name="Picture 19">
              <a:extLst>
                <a:ext uri="{FF2B5EF4-FFF2-40B4-BE49-F238E27FC236}">
                  <a16:creationId xmlns:a16="http://schemas.microsoft.com/office/drawing/2014/main" id="{0F51C626-6983-06ED-1B7F-16FE15444161}"/>
                </a:ext>
              </a:extLst>
            </p:cNvPr>
            <p:cNvPicPr>
              <a:picLocks noChangeAspect="1"/>
            </p:cNvPicPr>
            <p:nvPr/>
          </p:nvPicPr>
          <p:blipFill>
            <a:blip r:embed="rId3"/>
            <a:srcRect t="61493" r="4516" b="4207"/>
            <a:stretch>
              <a:fillRect/>
            </a:stretch>
          </p:blipFill>
          <p:spPr>
            <a:xfrm>
              <a:off x="5779674" y="529494"/>
              <a:ext cx="3364323" cy="511112"/>
            </a:xfrm>
            <a:prstGeom prst="rect">
              <a:avLst/>
            </a:prstGeom>
          </p:spPr>
        </p:pic>
      </p:grpSp>
    </p:spTree>
    <p:extLst>
      <p:ext uri="{BB962C8B-B14F-4D97-AF65-F5344CB8AC3E}">
        <p14:creationId xmlns:p14="http://schemas.microsoft.com/office/powerpoint/2010/main" val="40626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66CB3F1-CC34-4600-957B-35003FEDB2C9}"/>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Bitstream Charter"/>
                <a:cs typeface="Arial" panose="020B0604020202020204" pitchFamily="34" charset="0"/>
              </a:rPr>
              <a:t>FINX | GEOGRAPHIC AND SECTOR EXPOSURE</a:t>
            </a:r>
          </a:p>
        </p:txBody>
      </p:sp>
      <p:sp>
        <p:nvSpPr>
          <p:cNvPr id="2" name="Rectangle 1">
            <a:extLst>
              <a:ext uri="{FF2B5EF4-FFF2-40B4-BE49-F238E27FC236}">
                <a16:creationId xmlns:a16="http://schemas.microsoft.com/office/drawing/2014/main" id="{5648CAB5-7B03-4AC0-8A8F-28D6F7EFA559}"/>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sz="2775" b="1">
                <a:solidFill>
                  <a:srgbClr val="142B3B"/>
                </a:solidFill>
                <a:latin typeface="Arial" panose="020B0604020202020204" pitchFamily="34" charset="0"/>
                <a:ea typeface="Bitstream Charter"/>
                <a:cs typeface="Arial" panose="020B0604020202020204" pitchFamily="34" charset="0"/>
              </a:rPr>
              <a:t>A global mandate remains</a:t>
            </a:r>
          </a:p>
          <a:p>
            <a:pPr>
              <a:defRPr sz="2775" b="1">
                <a:solidFill>
                  <a:srgbClr val="142B3B"/>
                </a:solidFill>
                <a:latin typeface="Bitstream Charter"/>
                <a:ea typeface="Bitstream Charter"/>
                <a:cs typeface="Bitstream Charter"/>
              </a:defRPr>
            </a:pPr>
            <a:r>
              <a:rPr sz="2775" b="1">
                <a:solidFill>
                  <a:srgbClr val="142B3B"/>
                </a:solidFill>
                <a:latin typeface="Arial" panose="020B0604020202020204" pitchFamily="34" charset="0"/>
                <a:ea typeface="Bitstream Charter"/>
                <a:cs typeface="Arial" panose="020B0604020202020204" pitchFamily="34" charset="0"/>
              </a:rPr>
              <a:t>predominantly U.S. exposure</a:t>
            </a:r>
          </a:p>
        </p:txBody>
      </p:sp>
      <p:sp>
        <p:nvSpPr>
          <p:cNvPr id="3" name="Rectangle 2">
            <a:extLst>
              <a:ext uri="{FF2B5EF4-FFF2-40B4-BE49-F238E27FC236}">
                <a16:creationId xmlns:a16="http://schemas.microsoft.com/office/drawing/2014/main" id="{FA1E87BB-1552-4B25-B61C-9E769FA5FBE9}"/>
              </a:ext>
            </a:extLst>
          </p:cNvPr>
          <p:cNvSpPr>
            <a:spLocks noGrp="1"/>
          </p:cNvSpPr>
          <p:nvPr/>
        </p:nvSpPr>
        <p:spPr>
          <a:xfrm>
            <a:off x="457200" y="1562100"/>
            <a:ext cx="8229600" cy="352425"/>
          </a:xfrm>
          <a:prstGeom prst="rect">
            <a:avLst/>
          </a:prstGeom>
          <a:noFill/>
          <a:ln w="0">
            <a:noFill/>
          </a:ln>
        </p:spPr>
        <p:txBody>
          <a:bodyPr wrap="square" lIns="0" tIns="0" rIns="0" bIns="0" anchor="t">
            <a:noAutofit/>
          </a:bodyPr>
          <a:lstStyle/>
          <a:p>
            <a:pPr>
              <a:defRPr sz="1425" b="0">
                <a:solidFill>
                  <a:srgbClr val="536873"/>
                </a:solidFill>
                <a:latin typeface="Bitstream Charter"/>
                <a:ea typeface="Bitstream Charter"/>
                <a:cs typeface="Bitstream Charter"/>
              </a:defRPr>
            </a:pPr>
            <a:r>
              <a:rPr sz="1425" b="0">
                <a:solidFill>
                  <a:srgbClr val="536873"/>
                </a:solidFill>
                <a:latin typeface="Arial" panose="020B0604020202020204" pitchFamily="34" charset="0"/>
                <a:ea typeface="Bitstream Charter"/>
                <a:cs typeface="Arial" panose="020B0604020202020204" pitchFamily="34" charset="0"/>
              </a:rPr>
              <a:t>Issuer equity exposure snapshot: August 31, 2026</a:t>
            </a:r>
          </a:p>
        </p:txBody>
      </p:sp>
      <p:sp>
        <p:nvSpPr>
          <p:cNvPr id="4" name="Rectangle 3">
            <a:extLst>
              <a:ext uri="{FF2B5EF4-FFF2-40B4-BE49-F238E27FC236}">
                <a16:creationId xmlns:a16="http://schemas.microsoft.com/office/drawing/2014/main" id="{AC2509FB-EAA3-4D12-B243-0E4679A8909D}"/>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defRPr sz="900" b="0">
                <a:solidFill>
                  <a:srgbClr val="536873"/>
                </a:solidFill>
                <a:latin typeface="Bitstream Charter"/>
                <a:ea typeface="Bitstream Charter"/>
                <a:cs typeface="Bitstream Charter"/>
              </a:defRPr>
            </a:pPr>
            <a:r>
              <a:rPr sz="900" b="0">
                <a:solidFill>
                  <a:srgbClr val="536873"/>
                </a:solidFill>
                <a:latin typeface="Arial" panose="020B0604020202020204" pitchFamily="34" charset="0"/>
                <a:ea typeface="Bitstream Charter"/>
                <a:cs typeface="Arial" panose="020B0604020202020204" pitchFamily="34" charset="0"/>
              </a:rPr>
              <a:t>08</a:t>
            </a:r>
          </a:p>
        </p:txBody>
      </p:sp>
      <p:sp>
        <p:nvSpPr>
          <p:cNvPr id="7" name="Rectangle 6">
            <a:extLst>
              <a:ext uri="{FF2B5EF4-FFF2-40B4-BE49-F238E27FC236}">
                <a16:creationId xmlns:a16="http://schemas.microsoft.com/office/drawing/2014/main" id="{B4166094-FDC3-4906-B490-9CDBC2B1CDCD}"/>
              </a:ext>
            </a:extLst>
          </p:cNvPr>
          <p:cNvSpPr>
            <a:spLocks noGrp="1"/>
          </p:cNvSpPr>
          <p:nvPr/>
        </p:nvSpPr>
        <p:spPr>
          <a:xfrm>
            <a:off x="7230706" y="3019562"/>
            <a:ext cx="2552700" cy="581025"/>
          </a:xfrm>
          <a:prstGeom prst="rect">
            <a:avLst/>
          </a:prstGeom>
          <a:noFill/>
          <a:ln w="0">
            <a:noFill/>
          </a:ln>
        </p:spPr>
        <p:txBody>
          <a:bodyPr wrap="square" lIns="0" tIns="0" rIns="0" bIns="0" anchor="t">
            <a:noAutofit/>
          </a:bodyPr>
          <a:lstStyle/>
          <a:p>
            <a:pPr>
              <a:defRPr sz="3375" b="1">
                <a:solidFill>
                  <a:srgbClr val="245C9D"/>
                </a:solidFill>
                <a:latin typeface="Bitstream Charter"/>
                <a:ea typeface="Bitstream Charter"/>
                <a:cs typeface="Bitstream Charter"/>
              </a:defRPr>
            </a:pPr>
            <a:r>
              <a:rPr sz="3375" b="1">
                <a:solidFill>
                  <a:srgbClr val="245C9D"/>
                </a:solidFill>
                <a:latin typeface="Arial" panose="020B0604020202020204" pitchFamily="34" charset="0"/>
                <a:ea typeface="Bitstream Charter"/>
                <a:cs typeface="Arial" panose="020B0604020202020204" pitchFamily="34" charset="0"/>
              </a:rPr>
              <a:t>53.65%</a:t>
            </a:r>
          </a:p>
        </p:txBody>
      </p:sp>
      <p:sp>
        <p:nvSpPr>
          <p:cNvPr id="8" name="Rectangle 7">
            <a:extLst>
              <a:ext uri="{FF2B5EF4-FFF2-40B4-BE49-F238E27FC236}">
                <a16:creationId xmlns:a16="http://schemas.microsoft.com/office/drawing/2014/main" id="{D1995BF3-23A9-4D4D-BF81-6B71EEE589BA}"/>
              </a:ext>
            </a:extLst>
          </p:cNvPr>
          <p:cNvSpPr>
            <a:spLocks noGrp="1"/>
          </p:cNvSpPr>
          <p:nvPr/>
        </p:nvSpPr>
        <p:spPr>
          <a:xfrm>
            <a:off x="7099451" y="3600587"/>
            <a:ext cx="2476500" cy="304800"/>
          </a:xfrm>
          <a:prstGeom prst="rect">
            <a:avLst/>
          </a:prstGeom>
          <a:noFill/>
          <a:ln w="0">
            <a:noFill/>
          </a:ln>
        </p:spPr>
        <p:txBody>
          <a:bodyPr wrap="square" lIns="0" tIns="0" rIns="0" bIns="0" anchor="t">
            <a:noAutofit/>
          </a:bodyPr>
          <a:lstStyle/>
          <a:p>
            <a:pPr>
              <a:defRPr sz="1650" b="0">
                <a:solidFill>
                  <a:srgbClr val="142B3B"/>
                </a:solidFill>
                <a:latin typeface="Bitstream Charter"/>
                <a:ea typeface="Bitstream Charter"/>
                <a:cs typeface="Bitstream Charter"/>
              </a:defRPr>
            </a:pPr>
            <a:r>
              <a:rPr sz="1700" b="0">
                <a:solidFill>
                  <a:srgbClr val="142B3B"/>
                </a:solidFill>
                <a:latin typeface="Arial"/>
                <a:ea typeface="Bitstream Charter"/>
                <a:cs typeface="Arial"/>
              </a:rPr>
              <a:t>Financial services</a:t>
            </a:r>
            <a:endParaRPr lang="en-US" sz="1700" b="0">
              <a:solidFill>
                <a:srgbClr val="142B3B"/>
              </a:solidFill>
              <a:latin typeface="Arial"/>
              <a:ea typeface="Bitstream Charter"/>
              <a:cs typeface="Arial"/>
            </a:endParaRPr>
          </a:p>
        </p:txBody>
      </p:sp>
      <p:sp>
        <p:nvSpPr>
          <p:cNvPr id="9" name="Rectangle 8">
            <a:extLst>
              <a:ext uri="{FF2B5EF4-FFF2-40B4-BE49-F238E27FC236}">
                <a16:creationId xmlns:a16="http://schemas.microsoft.com/office/drawing/2014/main" id="{D8592BC9-17C1-466E-A1CD-348B3834CFD3}"/>
              </a:ext>
            </a:extLst>
          </p:cNvPr>
          <p:cNvSpPr>
            <a:spLocks noGrp="1"/>
          </p:cNvSpPr>
          <p:nvPr/>
        </p:nvSpPr>
        <p:spPr>
          <a:xfrm>
            <a:off x="7099452" y="4533717"/>
            <a:ext cx="2552700" cy="581025"/>
          </a:xfrm>
          <a:prstGeom prst="rect">
            <a:avLst/>
          </a:prstGeom>
          <a:noFill/>
          <a:ln w="0">
            <a:noFill/>
          </a:ln>
        </p:spPr>
        <p:txBody>
          <a:bodyPr wrap="square" lIns="0" tIns="0" rIns="0" bIns="0" anchor="t">
            <a:noAutofit/>
          </a:bodyPr>
          <a:lstStyle/>
          <a:p>
            <a:pPr>
              <a:defRPr sz="3375" b="1">
                <a:solidFill>
                  <a:srgbClr val="245C9D"/>
                </a:solidFill>
                <a:latin typeface="Bitstream Charter"/>
                <a:ea typeface="Bitstream Charter"/>
                <a:cs typeface="Bitstream Charter"/>
              </a:defRPr>
            </a:pPr>
            <a:r>
              <a:rPr sz="3375" b="1">
                <a:solidFill>
                  <a:srgbClr val="245C9D"/>
                </a:solidFill>
                <a:latin typeface="Arial" panose="020B0604020202020204" pitchFamily="34" charset="0"/>
                <a:ea typeface="Bitstream Charter"/>
                <a:cs typeface="Arial" panose="020B0604020202020204" pitchFamily="34" charset="0"/>
              </a:rPr>
              <a:t>43.73%</a:t>
            </a:r>
          </a:p>
        </p:txBody>
      </p:sp>
      <p:sp>
        <p:nvSpPr>
          <p:cNvPr id="10" name="Rectangle 9">
            <a:extLst>
              <a:ext uri="{FF2B5EF4-FFF2-40B4-BE49-F238E27FC236}">
                <a16:creationId xmlns:a16="http://schemas.microsoft.com/office/drawing/2014/main" id="{3D8144EE-593D-4042-B0BD-266AE34C56EC}"/>
              </a:ext>
            </a:extLst>
          </p:cNvPr>
          <p:cNvSpPr>
            <a:spLocks noGrp="1"/>
          </p:cNvSpPr>
          <p:nvPr/>
        </p:nvSpPr>
        <p:spPr>
          <a:xfrm>
            <a:off x="6869758" y="5125680"/>
            <a:ext cx="2514600" cy="323850"/>
          </a:xfrm>
          <a:prstGeom prst="rect">
            <a:avLst/>
          </a:prstGeom>
          <a:noFill/>
          <a:ln w="0">
            <a:noFill/>
          </a:ln>
        </p:spPr>
        <p:txBody>
          <a:bodyPr wrap="square" lIns="0" tIns="0" rIns="0" bIns="0" anchor="t">
            <a:noAutofit/>
          </a:bodyPr>
          <a:lstStyle/>
          <a:p>
            <a:pPr>
              <a:defRPr sz="1650" b="0">
                <a:solidFill>
                  <a:srgbClr val="142B3B"/>
                </a:solidFill>
                <a:latin typeface="Bitstream Charter"/>
                <a:ea typeface="Bitstream Charter"/>
                <a:cs typeface="Bitstream Charter"/>
              </a:defRPr>
            </a:pPr>
            <a:r>
              <a:rPr sz="1700" b="0">
                <a:solidFill>
                  <a:srgbClr val="142B3B"/>
                </a:solidFill>
                <a:latin typeface="Arial"/>
                <a:ea typeface="Bitstream Charter"/>
                <a:cs typeface="Arial"/>
              </a:rPr>
              <a:t>Software &amp; services</a:t>
            </a:r>
            <a:endParaRPr lang="en-US" sz="1700" b="0">
              <a:solidFill>
                <a:srgbClr val="142B3B"/>
              </a:solidFill>
              <a:latin typeface="Arial"/>
              <a:ea typeface="Bitstream Charter"/>
              <a:cs typeface="Arial"/>
            </a:endParaRPr>
          </a:p>
        </p:txBody>
      </p:sp>
      <p:sp>
        <p:nvSpPr>
          <p:cNvPr id="13" name="Rectangle 12">
            <a:extLst>
              <a:ext uri="{FF2B5EF4-FFF2-40B4-BE49-F238E27FC236}">
                <a16:creationId xmlns:a16="http://schemas.microsoft.com/office/drawing/2014/main" id="{672FBD3A-840D-4121-BDD4-5DB5ECE7444F}"/>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536873"/>
                </a:solidFill>
                <a:latin typeface="Bitstream Charter"/>
                <a:ea typeface="Bitstream Charter"/>
                <a:cs typeface="Bitstream Charter"/>
              </a:defRPr>
            </a:pPr>
            <a:r>
              <a:rPr sz="885" b="0">
                <a:solidFill>
                  <a:srgbClr val="536873"/>
                </a:solidFill>
                <a:latin typeface="Arial" panose="020B0604020202020204" pitchFamily="34" charset="0"/>
                <a:ea typeface="Bitstream Charter"/>
                <a:cs typeface="Arial" panose="020B0604020202020204" pitchFamily="34" charset="0"/>
              </a:rPr>
              <a:t>Sources: Global X FINX fact sheet, August 31, 2026; assets.globalxetfs.com/funds/documents/finx/Fact-Sheet_FINX.pdf.</a:t>
            </a:r>
          </a:p>
        </p:txBody>
      </p:sp>
      <p:grpSp>
        <p:nvGrpSpPr>
          <p:cNvPr id="6" name="Group 5">
            <a:extLst>
              <a:ext uri="{FF2B5EF4-FFF2-40B4-BE49-F238E27FC236}">
                <a16:creationId xmlns:a16="http://schemas.microsoft.com/office/drawing/2014/main" id="{D5947A64-B0E6-BFB3-A3A5-12BFA2CECF50}"/>
              </a:ext>
            </a:extLst>
          </p:cNvPr>
          <p:cNvGrpSpPr/>
          <p:nvPr/>
        </p:nvGrpSpPr>
        <p:grpSpPr>
          <a:xfrm>
            <a:off x="6516546" y="-2272"/>
            <a:ext cx="2627453" cy="792847"/>
            <a:chOff x="5779674" y="74036"/>
            <a:chExt cx="3364326" cy="966570"/>
          </a:xfrm>
        </p:grpSpPr>
        <p:pic>
          <p:nvPicPr>
            <p:cNvPr id="15" name="Picture 14">
              <a:extLst>
                <a:ext uri="{FF2B5EF4-FFF2-40B4-BE49-F238E27FC236}">
                  <a16:creationId xmlns:a16="http://schemas.microsoft.com/office/drawing/2014/main" id="{E3778A67-68A6-BEB4-3B73-46EC4B1D724A}"/>
                </a:ext>
              </a:extLst>
            </p:cNvPr>
            <p:cNvPicPr>
              <a:picLocks noChangeAspect="1"/>
            </p:cNvPicPr>
            <p:nvPr/>
          </p:nvPicPr>
          <p:blipFill>
            <a:blip r:embed="rId3"/>
            <a:srcRect r="45030" b="81218"/>
            <a:stretch>
              <a:fillRect/>
            </a:stretch>
          </p:blipFill>
          <p:spPr>
            <a:xfrm>
              <a:off x="5779676" y="74036"/>
              <a:ext cx="3364324" cy="497464"/>
            </a:xfrm>
            <a:prstGeom prst="rect">
              <a:avLst/>
            </a:prstGeom>
          </p:spPr>
        </p:pic>
        <p:pic>
          <p:nvPicPr>
            <p:cNvPr id="16" name="Picture 15">
              <a:extLst>
                <a:ext uri="{FF2B5EF4-FFF2-40B4-BE49-F238E27FC236}">
                  <a16:creationId xmlns:a16="http://schemas.microsoft.com/office/drawing/2014/main" id="{CA63CD9B-D80C-2517-ADCC-983A2FE3D878}"/>
                </a:ext>
              </a:extLst>
            </p:cNvPr>
            <p:cNvPicPr>
              <a:picLocks noChangeAspect="1"/>
            </p:cNvPicPr>
            <p:nvPr/>
          </p:nvPicPr>
          <p:blipFill>
            <a:blip r:embed="rId3"/>
            <a:srcRect t="61493" r="4516" b="4207"/>
            <a:stretch>
              <a:fillRect/>
            </a:stretch>
          </p:blipFill>
          <p:spPr>
            <a:xfrm>
              <a:off x="5779674" y="529494"/>
              <a:ext cx="3364323" cy="511112"/>
            </a:xfrm>
            <a:prstGeom prst="rect">
              <a:avLst/>
            </a:prstGeom>
          </p:spPr>
        </p:pic>
      </p:grpSp>
      <p:pic>
        <p:nvPicPr>
          <p:cNvPr id="17" name="Picture 16" descr="A pie chart with numbers and a number of percentages&#10;&#10;AI-generated content may be incorrect.">
            <a:extLst>
              <a:ext uri="{FF2B5EF4-FFF2-40B4-BE49-F238E27FC236}">
                <a16:creationId xmlns:a16="http://schemas.microsoft.com/office/drawing/2014/main" id="{8EFBA533-9059-F37D-3855-9B8658DE64BF}"/>
              </a:ext>
            </a:extLst>
          </p:cNvPr>
          <p:cNvPicPr>
            <a:picLocks noChangeAspect="1"/>
          </p:cNvPicPr>
          <p:nvPr/>
        </p:nvPicPr>
        <p:blipFill>
          <a:blip r:embed="rId4"/>
          <a:stretch>
            <a:fillRect/>
          </a:stretch>
        </p:blipFill>
        <p:spPr>
          <a:xfrm>
            <a:off x="284383" y="2180096"/>
            <a:ext cx="6365799" cy="3132200"/>
          </a:xfrm>
          <a:prstGeom prst="rect">
            <a:avLst/>
          </a:prstGeom>
        </p:spPr>
      </p:pic>
    </p:spTree>
    <p:extLst>
      <p:ext uri="{BB962C8B-B14F-4D97-AF65-F5344CB8AC3E}">
        <p14:creationId xmlns:p14="http://schemas.microsoft.com/office/powerpoint/2010/main" val="1774253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FE70092-BEFB-437F-9C37-43E2EF2F1DED}"/>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Bitstream Charter"/>
                <a:ea typeface="Bitstream Charter"/>
                <a:cs typeface="Bitstream Charter"/>
              </a:rPr>
              <a:t>FINX | HOLDINGS AND PERFORMANCE DRIVERS</a:t>
            </a:r>
          </a:p>
        </p:txBody>
      </p:sp>
      <p:sp>
        <p:nvSpPr>
          <p:cNvPr id="2" name="Rectangle 1">
            <a:extLst>
              <a:ext uri="{FF2B5EF4-FFF2-40B4-BE49-F238E27FC236}">
                <a16:creationId xmlns:a16="http://schemas.microsoft.com/office/drawing/2014/main" id="{F9F27C05-CB5B-4440-8DCA-6856C08F8410}"/>
              </a:ext>
            </a:extLst>
          </p:cNvPr>
          <p:cNvSpPr>
            <a:spLocks noGrp="1"/>
          </p:cNvSpPr>
          <p:nvPr/>
        </p:nvSpPr>
        <p:spPr>
          <a:xfrm>
            <a:off x="457200" y="666750"/>
            <a:ext cx="8229600" cy="990600"/>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sz="2775" b="1">
                <a:solidFill>
                  <a:srgbClr val="142B3B"/>
                </a:solidFill>
                <a:latin typeface="Bitstream Charter"/>
                <a:ea typeface="Bitstream Charter"/>
                <a:cs typeface="Bitstream Charter"/>
              </a:rPr>
              <a:t>Index discipline still leaves</a:t>
            </a:r>
          </a:p>
          <a:p>
            <a:pPr>
              <a:defRPr sz="2775" b="1">
                <a:solidFill>
                  <a:srgbClr val="142B3B"/>
                </a:solidFill>
                <a:latin typeface="Bitstream Charter"/>
                <a:ea typeface="Bitstream Charter"/>
                <a:cs typeface="Bitstream Charter"/>
              </a:defRPr>
            </a:pPr>
            <a:r>
              <a:rPr sz="2775" b="1">
                <a:solidFill>
                  <a:srgbClr val="142B3B"/>
                </a:solidFill>
                <a:latin typeface="Bitstream Charter"/>
                <a:ea typeface="Bitstream Charter"/>
                <a:cs typeface="Bitstream Charter"/>
              </a:rPr>
              <a:t>substantial company concentration</a:t>
            </a:r>
          </a:p>
        </p:txBody>
      </p:sp>
      <p:sp>
        <p:nvSpPr>
          <p:cNvPr id="3" name="Rectangle 2">
            <a:extLst>
              <a:ext uri="{FF2B5EF4-FFF2-40B4-BE49-F238E27FC236}">
                <a16:creationId xmlns:a16="http://schemas.microsoft.com/office/drawing/2014/main" id="{BB9A6096-BF44-45F5-8EFF-13B9E4F7D1B6}"/>
              </a:ext>
            </a:extLst>
          </p:cNvPr>
          <p:cNvSpPr>
            <a:spLocks noGrp="1"/>
          </p:cNvSpPr>
          <p:nvPr/>
        </p:nvSpPr>
        <p:spPr>
          <a:xfrm>
            <a:off x="457200" y="1562100"/>
            <a:ext cx="8229600" cy="352425"/>
          </a:xfrm>
          <a:prstGeom prst="rect">
            <a:avLst/>
          </a:prstGeom>
          <a:noFill/>
          <a:ln w="0">
            <a:noFill/>
          </a:ln>
        </p:spPr>
        <p:txBody>
          <a:bodyPr wrap="square" lIns="0" tIns="0" rIns="0" bIns="0" anchor="t">
            <a:noAutofit/>
          </a:bodyPr>
          <a:lstStyle/>
          <a:p>
            <a:pPr>
              <a:defRPr sz="1425" b="0">
                <a:solidFill>
                  <a:srgbClr val="536873"/>
                </a:solidFill>
                <a:latin typeface="Bitstream Charter"/>
                <a:ea typeface="Bitstream Charter"/>
                <a:cs typeface="Bitstream Charter"/>
              </a:defRPr>
            </a:pPr>
            <a:r>
              <a:rPr sz="1400" b="0">
                <a:solidFill>
                  <a:srgbClr val="536873"/>
                </a:solidFill>
                <a:latin typeface="Bitstream Charter"/>
                <a:ea typeface="Bitstream Charter"/>
                <a:cs typeface="Bitstream Charter"/>
              </a:rPr>
              <a:t>Holdings as of September 29, 2026</a:t>
            </a:r>
            <a:r>
              <a:rPr lang="en-US" sz="1400">
                <a:solidFill>
                  <a:srgbClr val="536873"/>
                </a:solidFill>
                <a:latin typeface="Bitstream Charter"/>
                <a:ea typeface="Bitstream Charter"/>
                <a:cs typeface="Bitstream Charter"/>
              </a:rPr>
              <a:t> | Key Drivers per Analyst Assessment </a:t>
            </a:r>
            <a:endParaRPr lang="en-US" sz="1400" b="0">
              <a:solidFill>
                <a:srgbClr val="536873"/>
              </a:solidFill>
              <a:latin typeface="Calibri"/>
              <a:ea typeface="Calibri"/>
              <a:cs typeface="Calibri"/>
            </a:endParaRPr>
          </a:p>
        </p:txBody>
      </p:sp>
      <p:sp>
        <p:nvSpPr>
          <p:cNvPr id="4" name="Rectangle 3">
            <a:extLst>
              <a:ext uri="{FF2B5EF4-FFF2-40B4-BE49-F238E27FC236}">
                <a16:creationId xmlns:a16="http://schemas.microsoft.com/office/drawing/2014/main" id="{5270F2A3-ED39-4ECD-B89D-21DFEFB7DDC0}"/>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defRPr sz="900" b="0">
                <a:solidFill>
                  <a:srgbClr val="536873"/>
                </a:solidFill>
                <a:latin typeface="Bitstream Charter"/>
                <a:ea typeface="Bitstream Charter"/>
                <a:cs typeface="Bitstream Charter"/>
              </a:defRPr>
            </a:pPr>
            <a:r>
              <a:rPr sz="900" b="0">
                <a:solidFill>
                  <a:srgbClr val="536873"/>
                </a:solidFill>
                <a:latin typeface="Bitstream Charter"/>
                <a:ea typeface="Bitstream Charter"/>
                <a:cs typeface="Bitstream Charter"/>
              </a:rPr>
              <a:t>09</a:t>
            </a:r>
          </a:p>
        </p:txBody>
      </p:sp>
      <p:graphicFrame>
        <p:nvGraphicFramePr>
          <p:cNvPr id="14" name="Table 13"/>
          <p:cNvGraphicFramePr/>
          <p:nvPr/>
        </p:nvGraphicFramePr>
        <p:xfrm>
          <a:off x="457200" y="2114550"/>
          <a:ext cx="8229600" cy="2705100"/>
        </p:xfrm>
        <a:graphic>
          <a:graphicData uri="http://schemas.openxmlformats.org/drawingml/2006/table">
            <a:tbl>
              <a:tblPr firstRow="1"/>
              <a:tblGrid>
                <a:gridCol w="2524125">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450850">
                <a:tc>
                  <a:txBody>
                    <a:bodyPr/>
                    <a:lstStyle/>
                    <a:p>
                      <a:r>
                        <a:rPr sz="1650" b="1">
                          <a:solidFill>
                            <a:srgbClr val="FFFFFF"/>
                          </a:solidFill>
                          <a:latin typeface="Bitstream Charter"/>
                          <a:ea typeface="Bitstream Charter"/>
                          <a:cs typeface="Bitstream Charter"/>
                        </a:rPr>
                        <a:t>Largest holdings</a:t>
                      </a:r>
                    </a:p>
                  </a:txBody>
                  <a:tcPr marL="133350" marR="95250" marT="104775" marB="76200" anchor="ctr">
                    <a:solidFill>
                      <a:srgbClr val="102B3B"/>
                    </a:solidFill>
                  </a:tcPr>
                </a:tc>
                <a:tc>
                  <a:txBody>
                    <a:bodyPr/>
                    <a:lstStyle/>
                    <a:p>
                      <a:r>
                        <a:rPr sz="1650" b="1">
                          <a:solidFill>
                            <a:srgbClr val="FFFFFF"/>
                          </a:solidFill>
                          <a:latin typeface="Bitstream Charter"/>
                          <a:ea typeface="Bitstream Charter"/>
                          <a:cs typeface="Bitstream Charter"/>
                        </a:rPr>
                        <a:t>Weight</a:t>
                      </a:r>
                    </a:p>
                  </a:txBody>
                  <a:tcPr marL="133350" marR="95250" marT="104775" marB="76200" anchor="ctr">
                    <a:solidFill>
                      <a:srgbClr val="102B3B"/>
                    </a:solidFill>
                  </a:tcPr>
                </a:tc>
                <a:tc>
                  <a:txBody>
                    <a:bodyPr/>
                    <a:lstStyle/>
                    <a:p>
                      <a:r>
                        <a:rPr sz="1650" b="1">
                          <a:solidFill>
                            <a:srgbClr val="FFFFFF"/>
                          </a:solidFill>
                          <a:latin typeface="Bitstream Charter"/>
                          <a:ea typeface="Bitstream Charter"/>
                          <a:cs typeface="Bitstream Charter"/>
                        </a:rPr>
                        <a:t>Primary sensitivity¹</a:t>
                      </a:r>
                    </a:p>
                  </a:txBody>
                  <a:tcPr marL="133350" marR="95250" marT="104775" marB="76200" anchor="ctr">
                    <a:solidFill>
                      <a:srgbClr val="102B3B"/>
                    </a:solidFill>
                  </a:tcPr>
                </a:tc>
                <a:extLst>
                  <a:ext uri="{0D108BD9-81ED-4DB2-BD59-A6C34878D82A}">
                    <a16:rowId xmlns:a16="http://schemas.microsoft.com/office/drawing/2014/main" val="10000"/>
                  </a:ext>
                </a:extLst>
              </a:tr>
              <a:tr h="450850">
                <a:tc>
                  <a:txBody>
                    <a:bodyPr/>
                    <a:lstStyle/>
                    <a:p>
                      <a:r>
                        <a:rPr sz="1650" b="1">
                          <a:solidFill>
                            <a:srgbClr val="142B3B"/>
                          </a:solidFill>
                          <a:latin typeface="Bitstream Charter"/>
                          <a:ea typeface="Bitstream Charter"/>
                          <a:cs typeface="Bitstream Charter"/>
                        </a:rPr>
                        <a:t>Robinhood</a:t>
                      </a:r>
                    </a:p>
                  </a:txBody>
                  <a:tcPr marL="133350" marR="95250" marT="104775" marB="76200" anchor="ctr">
                    <a:solidFill>
                      <a:srgbClr val="FFFFFF"/>
                    </a:solidFill>
                  </a:tcPr>
                </a:tc>
                <a:tc>
                  <a:txBody>
                    <a:bodyPr/>
                    <a:lstStyle/>
                    <a:p>
                      <a:r>
                        <a:rPr sz="1650" b="0">
                          <a:solidFill>
                            <a:srgbClr val="142B3B"/>
                          </a:solidFill>
                          <a:latin typeface="Bitstream Charter"/>
                          <a:ea typeface="Bitstream Charter"/>
                          <a:cs typeface="Bitstream Charter"/>
                        </a:rPr>
                        <a:t>8.73%</a:t>
                      </a:r>
                    </a:p>
                  </a:txBody>
                  <a:tcPr marL="133350" marR="95250" marT="104775" marB="76200" anchor="ctr">
                    <a:solidFill>
                      <a:srgbClr val="FFFFFF"/>
                    </a:solidFill>
                  </a:tcPr>
                </a:tc>
                <a:tc>
                  <a:txBody>
                    <a:bodyPr/>
                    <a:lstStyle/>
                    <a:p>
                      <a:r>
                        <a:rPr sz="1650" b="0">
                          <a:solidFill>
                            <a:srgbClr val="142B3B"/>
                          </a:solidFill>
                          <a:latin typeface="Bitstream Charter"/>
                          <a:ea typeface="Bitstream Charter"/>
                          <a:cs typeface="Bitstream Charter"/>
                        </a:rPr>
                        <a:t>Trading activity and net deposits</a:t>
                      </a:r>
                    </a:p>
                  </a:txBody>
                  <a:tcPr marL="133350" marR="95250" marT="104775" marB="76200" anchor="ctr">
                    <a:solidFill>
                      <a:srgbClr val="FFFFFF"/>
                    </a:solidFill>
                  </a:tcPr>
                </a:tc>
                <a:extLst>
                  <a:ext uri="{0D108BD9-81ED-4DB2-BD59-A6C34878D82A}">
                    <a16:rowId xmlns:a16="http://schemas.microsoft.com/office/drawing/2014/main" val="10001"/>
                  </a:ext>
                </a:extLst>
              </a:tr>
              <a:tr h="450850">
                <a:tc>
                  <a:txBody>
                    <a:bodyPr/>
                    <a:lstStyle/>
                    <a:p>
                      <a:r>
                        <a:rPr sz="1650" b="1">
                          <a:solidFill>
                            <a:srgbClr val="142B3B"/>
                          </a:solidFill>
                          <a:latin typeface="Bitstream Charter"/>
                          <a:ea typeface="Bitstream Charter"/>
                          <a:cs typeface="Bitstream Charter"/>
                        </a:rPr>
                        <a:t>PayPal</a:t>
                      </a:r>
                    </a:p>
                  </a:txBody>
                  <a:tcPr marL="133350" marR="95250" marT="104775" marB="76200" anchor="ctr">
                    <a:solidFill>
                      <a:srgbClr val="F0F4F5"/>
                    </a:solidFill>
                  </a:tcPr>
                </a:tc>
                <a:tc>
                  <a:txBody>
                    <a:bodyPr/>
                    <a:lstStyle/>
                    <a:p>
                      <a:r>
                        <a:rPr sz="1650" b="0">
                          <a:solidFill>
                            <a:srgbClr val="142B3B"/>
                          </a:solidFill>
                          <a:latin typeface="Bitstream Charter"/>
                          <a:ea typeface="Bitstream Charter"/>
                          <a:cs typeface="Bitstream Charter"/>
                        </a:rPr>
                        <a:t>6.84%</a:t>
                      </a:r>
                    </a:p>
                  </a:txBody>
                  <a:tcPr marL="133350" marR="95250" marT="104775" marB="76200" anchor="ctr">
                    <a:solidFill>
                      <a:srgbClr val="F0F4F5"/>
                    </a:solidFill>
                  </a:tcPr>
                </a:tc>
                <a:tc>
                  <a:txBody>
                    <a:bodyPr/>
                    <a:lstStyle/>
                    <a:p>
                      <a:r>
                        <a:rPr sz="1650" b="0">
                          <a:solidFill>
                            <a:srgbClr val="142B3B"/>
                          </a:solidFill>
                          <a:latin typeface="Bitstream Charter"/>
                          <a:ea typeface="Bitstream Charter"/>
                          <a:cs typeface="Bitstream Charter"/>
                        </a:rPr>
                        <a:t>Payment growth and margins</a:t>
                      </a:r>
                    </a:p>
                  </a:txBody>
                  <a:tcPr marL="133350" marR="95250" marT="104775" marB="76200" anchor="ctr">
                    <a:solidFill>
                      <a:srgbClr val="F0F4F5"/>
                    </a:solidFill>
                  </a:tcPr>
                </a:tc>
                <a:extLst>
                  <a:ext uri="{0D108BD9-81ED-4DB2-BD59-A6C34878D82A}">
                    <a16:rowId xmlns:a16="http://schemas.microsoft.com/office/drawing/2014/main" val="10002"/>
                  </a:ext>
                </a:extLst>
              </a:tr>
              <a:tr h="450850">
                <a:tc>
                  <a:txBody>
                    <a:bodyPr/>
                    <a:lstStyle/>
                    <a:p>
                      <a:r>
                        <a:rPr sz="1650" b="1">
                          <a:solidFill>
                            <a:srgbClr val="142B3B"/>
                          </a:solidFill>
                          <a:latin typeface="Bitstream Charter"/>
                          <a:ea typeface="Bitstream Charter"/>
                          <a:cs typeface="Bitstream Charter"/>
                        </a:rPr>
                        <a:t>Block</a:t>
                      </a:r>
                    </a:p>
                  </a:txBody>
                  <a:tcPr marL="133350" marR="95250" marT="104775" marB="76200" anchor="ctr">
                    <a:solidFill>
                      <a:srgbClr val="FFFFFF"/>
                    </a:solidFill>
                  </a:tcPr>
                </a:tc>
                <a:tc>
                  <a:txBody>
                    <a:bodyPr/>
                    <a:lstStyle/>
                    <a:p>
                      <a:r>
                        <a:rPr sz="1650" b="0">
                          <a:solidFill>
                            <a:srgbClr val="142B3B"/>
                          </a:solidFill>
                          <a:latin typeface="Bitstream Charter"/>
                          <a:ea typeface="Bitstream Charter"/>
                          <a:cs typeface="Bitstream Charter"/>
                        </a:rPr>
                        <a:t>6.64%</a:t>
                      </a:r>
                    </a:p>
                  </a:txBody>
                  <a:tcPr marL="133350" marR="95250" marT="104775" marB="76200" anchor="ctr">
                    <a:solidFill>
                      <a:srgbClr val="FFFFFF"/>
                    </a:solidFill>
                  </a:tcPr>
                </a:tc>
                <a:tc>
                  <a:txBody>
                    <a:bodyPr/>
                    <a:lstStyle/>
                    <a:p>
                      <a:r>
                        <a:rPr sz="1650" b="0">
                          <a:solidFill>
                            <a:srgbClr val="142B3B"/>
                          </a:solidFill>
                          <a:latin typeface="Bitstream Charter"/>
                          <a:ea typeface="Bitstream Charter"/>
                          <a:cs typeface="Bitstream Charter"/>
                        </a:rPr>
                        <a:t>Merchant and Cash App economics</a:t>
                      </a:r>
                    </a:p>
                  </a:txBody>
                  <a:tcPr marL="133350" marR="95250" marT="104775" marB="76200" anchor="ctr">
                    <a:solidFill>
                      <a:srgbClr val="FFFFFF"/>
                    </a:solidFill>
                  </a:tcPr>
                </a:tc>
                <a:extLst>
                  <a:ext uri="{0D108BD9-81ED-4DB2-BD59-A6C34878D82A}">
                    <a16:rowId xmlns:a16="http://schemas.microsoft.com/office/drawing/2014/main" val="10003"/>
                  </a:ext>
                </a:extLst>
              </a:tr>
              <a:tr h="450850">
                <a:tc>
                  <a:txBody>
                    <a:bodyPr/>
                    <a:lstStyle/>
                    <a:p>
                      <a:r>
                        <a:rPr sz="1650" b="1">
                          <a:solidFill>
                            <a:srgbClr val="142B3B"/>
                          </a:solidFill>
                          <a:latin typeface="Bitstream Charter"/>
                          <a:ea typeface="Bitstream Charter"/>
                          <a:cs typeface="Bitstream Charter"/>
                        </a:rPr>
                        <a:t>Coinbase</a:t>
                      </a:r>
                    </a:p>
                  </a:txBody>
                  <a:tcPr marL="133350" marR="95250" marT="104775" marB="76200" anchor="ctr">
                    <a:solidFill>
                      <a:srgbClr val="F0F4F5"/>
                    </a:solidFill>
                  </a:tcPr>
                </a:tc>
                <a:tc>
                  <a:txBody>
                    <a:bodyPr/>
                    <a:lstStyle/>
                    <a:p>
                      <a:r>
                        <a:rPr sz="1650" b="0">
                          <a:solidFill>
                            <a:srgbClr val="142B3B"/>
                          </a:solidFill>
                          <a:latin typeface="Bitstream Charter"/>
                          <a:ea typeface="Bitstream Charter"/>
                          <a:cs typeface="Bitstream Charter"/>
                        </a:rPr>
                        <a:t>5.59%</a:t>
                      </a:r>
                    </a:p>
                  </a:txBody>
                  <a:tcPr marL="133350" marR="95250" marT="104775" marB="76200" anchor="ctr">
                    <a:solidFill>
                      <a:srgbClr val="F0F4F5"/>
                    </a:solidFill>
                  </a:tcPr>
                </a:tc>
                <a:tc>
                  <a:txBody>
                    <a:bodyPr/>
                    <a:lstStyle/>
                    <a:p>
                      <a:r>
                        <a:rPr sz="1650" b="0">
                          <a:solidFill>
                            <a:srgbClr val="142B3B"/>
                          </a:solidFill>
                          <a:latin typeface="Bitstream Charter"/>
                          <a:ea typeface="Bitstream Charter"/>
                          <a:cs typeface="Bitstream Charter"/>
                        </a:rPr>
                        <a:t>Crypto activity and regulation</a:t>
                      </a:r>
                    </a:p>
                  </a:txBody>
                  <a:tcPr marL="133350" marR="95250" marT="104775" marB="76200" anchor="ctr">
                    <a:solidFill>
                      <a:srgbClr val="F0F4F5"/>
                    </a:solidFill>
                  </a:tcPr>
                </a:tc>
                <a:extLst>
                  <a:ext uri="{0D108BD9-81ED-4DB2-BD59-A6C34878D82A}">
                    <a16:rowId xmlns:a16="http://schemas.microsoft.com/office/drawing/2014/main" val="10004"/>
                  </a:ext>
                </a:extLst>
              </a:tr>
              <a:tr h="450850">
                <a:tc>
                  <a:txBody>
                    <a:bodyPr/>
                    <a:lstStyle/>
                    <a:p>
                      <a:r>
                        <a:rPr sz="1650" b="1">
                          <a:solidFill>
                            <a:srgbClr val="142B3B"/>
                          </a:solidFill>
                          <a:latin typeface="Bitstream Charter"/>
                          <a:ea typeface="Bitstream Charter"/>
                          <a:cs typeface="Bitstream Charter"/>
                        </a:rPr>
                        <a:t>Fiserv</a:t>
                      </a:r>
                    </a:p>
                  </a:txBody>
                  <a:tcPr marL="133350" marR="95250" marT="104775" marB="76200" anchor="ctr">
                    <a:solidFill>
                      <a:srgbClr val="FFFFFF"/>
                    </a:solidFill>
                  </a:tcPr>
                </a:tc>
                <a:tc>
                  <a:txBody>
                    <a:bodyPr/>
                    <a:lstStyle/>
                    <a:p>
                      <a:r>
                        <a:rPr sz="1650" b="0">
                          <a:solidFill>
                            <a:srgbClr val="142B3B"/>
                          </a:solidFill>
                          <a:latin typeface="Bitstream Charter"/>
                          <a:ea typeface="Bitstream Charter"/>
                          <a:cs typeface="Bitstream Charter"/>
                        </a:rPr>
                        <a:t>4.29%</a:t>
                      </a:r>
                    </a:p>
                  </a:txBody>
                  <a:tcPr marL="133350" marR="95250" marT="104775" marB="76200" anchor="ctr">
                    <a:solidFill>
                      <a:srgbClr val="FFFFFF"/>
                    </a:solidFill>
                  </a:tcPr>
                </a:tc>
                <a:tc>
                  <a:txBody>
                    <a:bodyPr/>
                    <a:lstStyle/>
                    <a:p>
                      <a:r>
                        <a:rPr sz="1650" b="0">
                          <a:solidFill>
                            <a:srgbClr val="142B3B"/>
                          </a:solidFill>
                          <a:latin typeface="Bitstream Charter"/>
                          <a:ea typeface="Bitstream Charter"/>
                          <a:cs typeface="Bitstream Charter"/>
                        </a:rPr>
                        <a:t>Processing and merchant execution</a:t>
                      </a:r>
                    </a:p>
                  </a:txBody>
                  <a:tcPr marL="133350" marR="95250" marT="104775" marB="76200" anchor="ct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15A71195-B00C-4961-9EA2-A986B5017EFC}"/>
              </a:ext>
            </a:extLst>
          </p:cNvPr>
          <p:cNvSpPr>
            <a:spLocks noGrp="1"/>
          </p:cNvSpPr>
          <p:nvPr/>
        </p:nvSpPr>
        <p:spPr>
          <a:xfrm>
            <a:off x="654080" y="5146326"/>
            <a:ext cx="2038350" cy="466725"/>
          </a:xfrm>
          <a:prstGeom prst="rect">
            <a:avLst/>
          </a:prstGeom>
          <a:noFill/>
          <a:ln w="0">
            <a:noFill/>
          </a:ln>
        </p:spPr>
        <p:txBody>
          <a:bodyPr wrap="square" lIns="0" tIns="0" rIns="0" bIns="0" anchor="t">
            <a:noAutofit/>
          </a:bodyPr>
          <a:lstStyle/>
          <a:p>
            <a:pPr>
              <a:defRPr sz="2700" b="1">
                <a:solidFill>
                  <a:srgbClr val="245C9D"/>
                </a:solidFill>
                <a:latin typeface="Bitstream Charter"/>
                <a:ea typeface="Bitstream Charter"/>
                <a:cs typeface="Bitstream Charter"/>
              </a:defRPr>
            </a:pPr>
            <a:r>
              <a:rPr sz="2700" b="1">
                <a:solidFill>
                  <a:srgbClr val="245C9D"/>
                </a:solidFill>
                <a:latin typeface="Bitstream Charter"/>
                <a:ea typeface="Bitstream Charter"/>
                <a:cs typeface="Bitstream Charter"/>
              </a:rPr>
              <a:t>51.43%</a:t>
            </a:r>
          </a:p>
        </p:txBody>
      </p:sp>
      <p:sp>
        <p:nvSpPr>
          <p:cNvPr id="7" name="Rectangle 6">
            <a:extLst>
              <a:ext uri="{FF2B5EF4-FFF2-40B4-BE49-F238E27FC236}">
                <a16:creationId xmlns:a16="http://schemas.microsoft.com/office/drawing/2014/main" id="{E8FF52BA-2881-4467-AEE3-9372878B4D04}"/>
              </a:ext>
            </a:extLst>
          </p:cNvPr>
          <p:cNvSpPr>
            <a:spLocks noGrp="1"/>
          </p:cNvSpPr>
          <p:nvPr/>
        </p:nvSpPr>
        <p:spPr>
          <a:xfrm>
            <a:off x="654080" y="5610225"/>
            <a:ext cx="2228850" cy="266700"/>
          </a:xfrm>
          <a:prstGeom prst="rect">
            <a:avLst/>
          </a:prstGeom>
          <a:noFill/>
          <a:ln w="0">
            <a:noFill/>
          </a:ln>
        </p:spPr>
        <p:txBody>
          <a:bodyPr wrap="square" lIns="0" tIns="0" rIns="0" bIns="0" anchor="t">
            <a:noAutofit/>
          </a:bodyPr>
          <a:lstStyle/>
          <a:p>
            <a:pPr>
              <a:defRPr sz="1500" b="0">
                <a:solidFill>
                  <a:srgbClr val="142B3B"/>
                </a:solidFill>
                <a:latin typeface="Bitstream Charter"/>
                <a:ea typeface="Bitstream Charter"/>
                <a:cs typeface="Bitstream Charter"/>
              </a:defRPr>
            </a:pPr>
            <a:r>
              <a:rPr sz="1500" b="0">
                <a:solidFill>
                  <a:srgbClr val="142B3B"/>
                </a:solidFill>
                <a:latin typeface="Bitstream Charter"/>
                <a:ea typeface="Bitstream Charter"/>
                <a:cs typeface="Bitstream Charter"/>
              </a:rPr>
              <a:t>Top 10 weight²</a:t>
            </a:r>
          </a:p>
        </p:txBody>
      </p:sp>
      <p:sp>
        <p:nvSpPr>
          <p:cNvPr id="8" name="Rectangle 7">
            <a:extLst>
              <a:ext uri="{FF2B5EF4-FFF2-40B4-BE49-F238E27FC236}">
                <a16:creationId xmlns:a16="http://schemas.microsoft.com/office/drawing/2014/main" id="{33B81286-31C7-44A4-96EF-8A2F1EA03919}"/>
              </a:ext>
            </a:extLst>
          </p:cNvPr>
          <p:cNvSpPr>
            <a:spLocks noGrp="1"/>
          </p:cNvSpPr>
          <p:nvPr/>
        </p:nvSpPr>
        <p:spPr>
          <a:xfrm>
            <a:off x="3249438" y="5106448"/>
            <a:ext cx="5438775" cy="771525"/>
          </a:xfrm>
          <a:prstGeom prst="rect">
            <a:avLst/>
          </a:prstGeom>
          <a:noFill/>
          <a:ln w="0">
            <a:noFill/>
          </a:ln>
        </p:spPr>
        <p:txBody>
          <a:bodyPr wrap="square" lIns="0" tIns="0" rIns="0" bIns="0" anchor="t">
            <a:noAutofit/>
          </a:bodyPr>
          <a:lstStyle/>
          <a:p>
            <a:pPr marL="285750" indent="-285750">
              <a:buFont typeface="Arial"/>
              <a:buChar char="•"/>
              <a:defRPr sz="1575" b="0">
                <a:solidFill>
                  <a:srgbClr val="142B3B"/>
                </a:solidFill>
                <a:latin typeface="Bitstream Charter"/>
                <a:ea typeface="Bitstream Charter"/>
                <a:cs typeface="Bitstream Charter"/>
              </a:defRPr>
            </a:pPr>
            <a:r>
              <a:rPr sz="1550" b="0">
                <a:solidFill>
                  <a:srgbClr val="142B3B"/>
                </a:solidFill>
                <a:latin typeface="Bitstream Charter"/>
                <a:ea typeface="Bitstream Charter"/>
                <a:cs typeface="Bitstream Charter"/>
              </a:rPr>
              <a:t>1-year NAV: −27.04% vs index −26.75%</a:t>
            </a:r>
            <a:endParaRPr lang="en-US" sz="1550"/>
          </a:p>
          <a:p>
            <a:pPr marL="285750" indent="-285750">
              <a:buFont typeface="Arial"/>
              <a:buChar char="•"/>
              <a:defRPr sz="1575" b="0">
                <a:solidFill>
                  <a:srgbClr val="142B3B"/>
                </a:solidFill>
                <a:latin typeface="Bitstream Charter"/>
                <a:ea typeface="Bitstream Charter"/>
                <a:cs typeface="Bitstream Charter"/>
              </a:defRPr>
            </a:pPr>
            <a:r>
              <a:rPr sz="1550" b="0">
                <a:solidFill>
                  <a:srgbClr val="142B3B"/>
                </a:solidFill>
                <a:latin typeface="Bitstream Charter"/>
                <a:ea typeface="Bitstream Charter"/>
                <a:cs typeface="Bitstream Charter"/>
              </a:rPr>
              <a:t>Through June 30, 2026; gap: −0.29 pp.</a:t>
            </a:r>
          </a:p>
          <a:p>
            <a:pPr marL="285750" indent="-285750">
              <a:buFont typeface="Arial"/>
              <a:buChar char="•"/>
              <a:defRPr sz="1575" b="0">
                <a:solidFill>
                  <a:srgbClr val="142B3B"/>
                </a:solidFill>
                <a:latin typeface="Bitstream Charter"/>
                <a:ea typeface="Bitstream Charter"/>
                <a:cs typeface="Bitstream Charter"/>
              </a:defRPr>
            </a:pPr>
            <a:r>
              <a:rPr sz="1550" b="0">
                <a:solidFill>
                  <a:srgbClr val="142B3B"/>
                </a:solidFill>
                <a:latin typeface="Bitstream Charter"/>
                <a:ea typeface="Bitstream Charter"/>
                <a:cs typeface="Bitstream Charter"/>
              </a:rPr>
              <a:t>Theme selection matters more than tracking alone.</a:t>
            </a:r>
          </a:p>
        </p:txBody>
      </p:sp>
      <p:sp>
        <p:nvSpPr>
          <p:cNvPr id="9" name="Rectangle 8">
            <a:extLst>
              <a:ext uri="{FF2B5EF4-FFF2-40B4-BE49-F238E27FC236}">
                <a16:creationId xmlns:a16="http://schemas.microsoft.com/office/drawing/2014/main" id="{B904E5FF-C51E-4D95-A652-2B4329540FA2}"/>
              </a:ext>
            </a:extLst>
          </p:cNvPr>
          <p:cNvSpPr>
            <a:spLocks noGrp="1"/>
          </p:cNvSpPr>
          <p:nvPr/>
        </p:nvSpPr>
        <p:spPr>
          <a:xfrm>
            <a:off x="457200" y="6210300"/>
            <a:ext cx="8229600" cy="333375"/>
          </a:xfrm>
          <a:prstGeom prst="rect">
            <a:avLst/>
          </a:prstGeom>
          <a:noFill/>
          <a:ln w="0">
            <a:noFill/>
          </a:ln>
        </p:spPr>
        <p:txBody>
          <a:bodyPr wrap="square" lIns="0" tIns="0" rIns="0" bIns="0" anchor="t">
            <a:noAutofit/>
          </a:bodyPr>
          <a:lstStyle/>
          <a:p>
            <a:pPr>
              <a:defRPr sz="885" b="0">
                <a:solidFill>
                  <a:srgbClr val="536873"/>
                </a:solidFill>
                <a:latin typeface="Bitstream Charter"/>
                <a:ea typeface="Bitstream Charter"/>
                <a:cs typeface="Bitstream Charter"/>
              </a:defRPr>
            </a:pPr>
            <a:r>
              <a:rPr sz="885" b="0">
                <a:solidFill>
                  <a:srgbClr val="536873"/>
                </a:solidFill>
                <a:latin typeface="Bitstream Charter"/>
                <a:ea typeface="Bitstream Charter"/>
                <a:cs typeface="Bitstream Charter"/>
              </a:rPr>
              <a:t>Sources: Global X FINX holdings and performance: globalxetfs.com/funds/finx/; ¹analyst judgment; ²sum of disclosed top 10.</a:t>
            </a:r>
          </a:p>
        </p:txBody>
      </p:sp>
      <p:grpSp>
        <p:nvGrpSpPr>
          <p:cNvPr id="5" name="Group 4">
            <a:extLst>
              <a:ext uri="{FF2B5EF4-FFF2-40B4-BE49-F238E27FC236}">
                <a16:creationId xmlns:a16="http://schemas.microsoft.com/office/drawing/2014/main" id="{FB1EC072-154E-F19B-0BFA-3C89A63D5721}"/>
              </a:ext>
            </a:extLst>
          </p:cNvPr>
          <p:cNvGrpSpPr/>
          <p:nvPr/>
        </p:nvGrpSpPr>
        <p:grpSpPr>
          <a:xfrm>
            <a:off x="6516546" y="-2272"/>
            <a:ext cx="2627453" cy="792847"/>
            <a:chOff x="5779674" y="74036"/>
            <a:chExt cx="3364326" cy="966570"/>
          </a:xfrm>
        </p:grpSpPr>
        <p:pic>
          <p:nvPicPr>
            <p:cNvPr id="11" name="Picture 10">
              <a:extLst>
                <a:ext uri="{FF2B5EF4-FFF2-40B4-BE49-F238E27FC236}">
                  <a16:creationId xmlns:a16="http://schemas.microsoft.com/office/drawing/2014/main" id="{2D5958FC-3A11-851C-4CD6-849F1F636CD1}"/>
                </a:ext>
              </a:extLst>
            </p:cNvPr>
            <p:cNvPicPr>
              <a:picLocks noChangeAspect="1"/>
            </p:cNvPicPr>
            <p:nvPr/>
          </p:nvPicPr>
          <p:blipFill>
            <a:blip r:embed="rId3"/>
            <a:srcRect r="45030" b="81218"/>
            <a:stretch>
              <a:fillRect/>
            </a:stretch>
          </p:blipFill>
          <p:spPr>
            <a:xfrm>
              <a:off x="5779676" y="74036"/>
              <a:ext cx="3364324" cy="497464"/>
            </a:xfrm>
            <a:prstGeom prst="rect">
              <a:avLst/>
            </a:prstGeom>
          </p:spPr>
        </p:pic>
        <p:pic>
          <p:nvPicPr>
            <p:cNvPr id="12" name="Picture 11">
              <a:extLst>
                <a:ext uri="{FF2B5EF4-FFF2-40B4-BE49-F238E27FC236}">
                  <a16:creationId xmlns:a16="http://schemas.microsoft.com/office/drawing/2014/main" id="{E34FA706-DA6F-F1E8-2D62-6AC633C9A768}"/>
                </a:ext>
              </a:extLst>
            </p:cNvPr>
            <p:cNvPicPr>
              <a:picLocks noChangeAspect="1"/>
            </p:cNvPicPr>
            <p:nvPr/>
          </p:nvPicPr>
          <p:blipFill>
            <a:blip r:embed="rId3"/>
            <a:srcRect t="61493" r="4516" b="4207"/>
            <a:stretch>
              <a:fillRect/>
            </a:stretch>
          </p:blipFill>
          <p:spPr>
            <a:xfrm>
              <a:off x="5779674" y="529494"/>
              <a:ext cx="3364323" cy="511112"/>
            </a:xfrm>
            <a:prstGeom prst="rect">
              <a:avLst/>
            </a:prstGeom>
          </p:spPr>
        </p:pic>
      </p:grpSp>
    </p:spTree>
    <p:extLst>
      <p:ext uri="{BB962C8B-B14F-4D97-AF65-F5344CB8AC3E}">
        <p14:creationId xmlns:p14="http://schemas.microsoft.com/office/powerpoint/2010/main" val="1955631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BBAF72-1773-4A1A-B166-68D468BEC2A7}"/>
              </a:ext>
            </a:extLst>
          </p:cNvPr>
          <p:cNvSpPr>
            <a:spLocks noGrp="1"/>
          </p:cNvSpPr>
          <p:nvPr/>
        </p:nvSpPr>
        <p:spPr>
          <a:xfrm>
            <a:off x="433387" y="897730"/>
            <a:ext cx="8239125" cy="876300"/>
          </a:xfrm>
          <a:prstGeom prst="rect">
            <a:avLst/>
          </a:prstGeom>
          <a:noFill/>
          <a:ln w="0">
            <a:noFill/>
          </a:ln>
        </p:spPr>
        <p:txBody>
          <a:bodyPr wrap="square" lIns="0" tIns="0" rIns="0" bIns="0" anchor="t">
            <a:noAutofit/>
          </a:bodyPr>
          <a:lstStyle/>
          <a:p>
            <a:pPr>
              <a:buNone/>
              <a:defRPr sz="2775" b="1">
                <a:solidFill>
                  <a:srgbClr val="142B3B"/>
                </a:solidFill>
                <a:latin typeface="Bitstream Charter"/>
                <a:ea typeface="Bitstream Charter"/>
                <a:cs typeface="Bitstream Charter"/>
              </a:defRPr>
            </a:pPr>
            <a:r>
              <a:rPr sz="2800" b="1">
                <a:solidFill>
                  <a:schemeClr val="tx1">
                    <a:lumMod val="95000"/>
                    <a:lumOff val="5000"/>
                  </a:schemeClr>
                </a:solidFill>
                <a:latin typeface="Arial" panose="020B0604020202020204" pitchFamily="34" charset="0"/>
                <a:ea typeface="Arial"/>
                <a:cs typeface="Arial" panose="020B0604020202020204" pitchFamily="34" charset="0"/>
              </a:rPr>
              <a:t>Active exposure to</a:t>
            </a:r>
            <a:r>
              <a:rPr lang="en-US" sz="2800" b="1">
                <a:solidFill>
                  <a:schemeClr val="tx1">
                    <a:lumMod val="95000"/>
                    <a:lumOff val="5000"/>
                  </a:schemeClr>
                </a:solidFill>
                <a:latin typeface="Arial" panose="020B0604020202020204" pitchFamily="34" charset="0"/>
                <a:ea typeface="Arial"/>
                <a:cs typeface="Arial" panose="020B0604020202020204" pitchFamily="34" charset="0"/>
              </a:rPr>
              <a:t> </a:t>
            </a:r>
            <a:r>
              <a:rPr sz="2800" b="1">
                <a:solidFill>
                  <a:schemeClr val="tx1">
                    <a:lumMod val="95000"/>
                    <a:lumOff val="5000"/>
                  </a:schemeClr>
                </a:solidFill>
                <a:latin typeface="Arial" panose="020B0604020202020204" pitchFamily="34" charset="0"/>
                <a:ea typeface="Arial"/>
                <a:cs typeface="Arial" panose="020B0604020202020204" pitchFamily="34" charset="0"/>
              </a:rPr>
              <a:t>financial innovation</a:t>
            </a:r>
          </a:p>
        </p:txBody>
      </p:sp>
      <p:sp>
        <p:nvSpPr>
          <p:cNvPr id="14" name="Rectangle 13">
            <a:extLst>
              <a:ext uri="{FF2B5EF4-FFF2-40B4-BE49-F238E27FC236}">
                <a16:creationId xmlns:a16="http://schemas.microsoft.com/office/drawing/2014/main" id="{5D3E5444-7539-436F-B1A2-4F9CFA2720FB}"/>
              </a:ext>
            </a:extLst>
          </p:cNvPr>
          <p:cNvSpPr>
            <a:spLocks noGrp="1"/>
          </p:cNvSpPr>
          <p:nvPr/>
        </p:nvSpPr>
        <p:spPr>
          <a:xfrm>
            <a:off x="457200" y="6238875"/>
            <a:ext cx="7905750" cy="352425"/>
          </a:xfrm>
          <a:prstGeom prst="rect">
            <a:avLst/>
          </a:prstGeom>
          <a:noFill/>
          <a:ln w="0">
            <a:noFill/>
          </a:ln>
        </p:spPr>
        <p:txBody>
          <a:bodyPr wrap="square" lIns="0" tIns="0" rIns="0" bIns="0" anchor="t">
            <a:noAutofit/>
          </a:bodyPr>
          <a:lstStyle/>
          <a:p>
            <a:pPr>
              <a:buNone/>
              <a:defRPr sz="885" b="0">
                <a:solidFill>
                  <a:srgbClr val="536873"/>
                </a:solidFill>
                <a:latin typeface="Bitstream Charter"/>
                <a:ea typeface="Bitstream Charter"/>
                <a:cs typeface="Bitstream Charter"/>
              </a:defRPr>
            </a:pPr>
            <a:endParaRPr sz="1400">
              <a:latin typeface="Arial" panose="020B0604020202020204" pitchFamily="34" charset="0"/>
              <a:cs typeface="Arial" panose="020B0604020202020204" pitchFamily="34" charset="0"/>
            </a:endParaRPr>
          </a:p>
        </p:txBody>
      </p:sp>
      <p:pic>
        <p:nvPicPr>
          <p:cNvPr id="35" name="Picture 15"/>
          <p:cNvPicPr>
            <a:picLocks noChangeAspect="1"/>
          </p:cNvPicPr>
          <p:nvPr/>
        </p:nvPicPr>
        <p:blipFill>
          <a:blip r:embed="rId3"/>
          <a:srcRect l="5741" t="11640" r="13148" b="25397"/>
          <a:stretch>
            <a:fillRect/>
          </a:stretch>
        </p:blipFill>
        <p:spPr>
          <a:xfrm>
            <a:off x="7152640" y="0"/>
            <a:ext cx="1991360" cy="811547"/>
          </a:xfrm>
          <a:prstGeom prst="rect">
            <a:avLst/>
          </a:prstGeom>
        </p:spPr>
      </p:pic>
      <p:sp>
        <p:nvSpPr>
          <p:cNvPr id="17" name="80%+">
            <a:extLst>
              <a:ext uri="{FF2B5EF4-FFF2-40B4-BE49-F238E27FC236}">
                <a16:creationId xmlns:a16="http://schemas.microsoft.com/office/drawing/2014/main" id="{C7760634-98FC-4A16-8C11-E1054A9D46CC}"/>
              </a:ext>
            </a:extLst>
          </p:cNvPr>
          <p:cNvSpPr>
            <a:spLocks noGrp="1"/>
          </p:cNvSpPr>
          <p:nvPr/>
        </p:nvSpPr>
        <p:spPr>
          <a:xfrm>
            <a:off x="457200" y="1803394"/>
            <a:ext cx="3238500" cy="647700"/>
          </a:xfrm>
          <a:prstGeom prst="rect">
            <a:avLst/>
          </a:prstGeom>
          <a:noFill/>
          <a:ln w="0">
            <a:noFill/>
          </a:ln>
        </p:spPr>
        <p:txBody>
          <a:bodyPr wrap="none" lIns="0" tIns="0" rIns="0" bIns="0">
            <a:noAutofit/>
          </a:bodyPr>
          <a:lstStyle/>
          <a:p>
            <a:pPr>
              <a:defRPr sz="4500" b="1">
                <a:solidFill>
                  <a:srgbClr val="007D80"/>
                </a:solidFill>
                <a:latin typeface="Arial"/>
                <a:ea typeface="Arial"/>
                <a:cs typeface="Arial"/>
              </a:defRPr>
            </a:pPr>
            <a:r>
              <a:rPr sz="4500" b="1">
                <a:solidFill>
                  <a:srgbClr val="007D80"/>
                </a:solidFill>
                <a:latin typeface="Arial" panose="020B0604020202020204" pitchFamily="34" charset="0"/>
                <a:ea typeface="Arial"/>
                <a:cs typeface="Arial" panose="020B0604020202020204" pitchFamily="34" charset="0"/>
              </a:rPr>
              <a:t>80%+</a:t>
            </a:r>
          </a:p>
        </p:txBody>
      </p:sp>
      <p:sp>
        <p:nvSpPr>
          <p:cNvPr id="18" name="Normally invested in&#10;disruptive finance compa">
            <a:extLst>
              <a:ext uri="{FF2B5EF4-FFF2-40B4-BE49-F238E27FC236}">
                <a16:creationId xmlns:a16="http://schemas.microsoft.com/office/drawing/2014/main" id="{357AB3FB-1020-4BE2-8FEA-9375584FD08C}"/>
              </a:ext>
            </a:extLst>
          </p:cNvPr>
          <p:cNvSpPr>
            <a:spLocks noGrp="1"/>
          </p:cNvSpPr>
          <p:nvPr/>
        </p:nvSpPr>
        <p:spPr>
          <a:xfrm>
            <a:off x="457200" y="2489194"/>
            <a:ext cx="4143375" cy="609600"/>
          </a:xfrm>
          <a:prstGeom prst="rect">
            <a:avLst/>
          </a:prstGeom>
          <a:noFill/>
          <a:ln w="0">
            <a:noFill/>
          </a:ln>
        </p:spPr>
        <p:txBody>
          <a:bodyPr wrap="none" lIns="0" tIns="0" rIns="0" bIns="0">
            <a:noAutofit/>
          </a:bodyPr>
          <a:lstStyle/>
          <a:p>
            <a:pPr>
              <a:defRPr sz="1725" b="0">
                <a:solidFill>
                  <a:srgbClr val="142B3B"/>
                </a:solidFill>
                <a:latin typeface="Arial"/>
                <a:ea typeface="Arial"/>
                <a:cs typeface="Arial"/>
              </a:defRPr>
            </a:pPr>
            <a:r>
              <a:rPr sz="1725" b="0">
                <a:solidFill>
                  <a:schemeClr val="tx1">
                    <a:lumMod val="95000"/>
                    <a:lumOff val="5000"/>
                  </a:schemeClr>
                </a:solidFill>
                <a:latin typeface="Arial" panose="020B0604020202020204" pitchFamily="34" charset="0"/>
                <a:ea typeface="Arial"/>
                <a:cs typeface="Arial" panose="020B0604020202020204" pitchFamily="34" charset="0"/>
              </a:rPr>
              <a:t>Normally invested in</a:t>
            </a:r>
          </a:p>
          <a:p>
            <a:pPr>
              <a:defRPr sz="1725" b="0">
                <a:solidFill>
                  <a:srgbClr val="142B3B"/>
                </a:solidFill>
                <a:latin typeface="Arial"/>
                <a:ea typeface="Arial"/>
                <a:cs typeface="Arial"/>
              </a:defRPr>
            </a:pPr>
            <a:r>
              <a:rPr sz="1725" b="0">
                <a:solidFill>
                  <a:schemeClr val="tx1">
                    <a:lumMod val="95000"/>
                    <a:lumOff val="5000"/>
                  </a:schemeClr>
                </a:solidFill>
                <a:latin typeface="Arial" panose="020B0604020202020204" pitchFamily="34" charset="0"/>
                <a:ea typeface="Arial"/>
                <a:cs typeface="Arial" panose="020B0604020202020204" pitchFamily="34" charset="0"/>
              </a:rPr>
              <a:t>disruptive finance companies</a:t>
            </a:r>
          </a:p>
        </p:txBody>
      </p:sp>
      <p:sp>
        <p:nvSpPr>
          <p:cNvPr id="19" name="Our approach">
            <a:extLst>
              <a:ext uri="{FF2B5EF4-FFF2-40B4-BE49-F238E27FC236}">
                <a16:creationId xmlns:a16="http://schemas.microsoft.com/office/drawing/2014/main" id="{D9889DF0-ADE5-46F7-A26B-7244E35BD7EB}"/>
              </a:ext>
            </a:extLst>
          </p:cNvPr>
          <p:cNvSpPr>
            <a:spLocks noGrp="1"/>
          </p:cNvSpPr>
          <p:nvPr/>
        </p:nvSpPr>
        <p:spPr>
          <a:xfrm>
            <a:off x="457200" y="3336919"/>
            <a:ext cx="4000500" cy="304800"/>
          </a:xfrm>
          <a:prstGeom prst="rect">
            <a:avLst/>
          </a:prstGeom>
          <a:noFill/>
          <a:ln w="0">
            <a:noFill/>
          </a:ln>
        </p:spPr>
        <p:txBody>
          <a:bodyPr wrap="none" lIns="0" tIns="0" rIns="0" bIns="0">
            <a:noAutofit/>
          </a:bodyPr>
          <a:lstStyle/>
          <a:p>
            <a:pPr>
              <a:defRPr sz="1800" b="1">
                <a:solidFill>
                  <a:srgbClr val="007D80"/>
                </a:solidFill>
                <a:latin typeface="Arial"/>
                <a:ea typeface="Arial"/>
                <a:cs typeface="Arial"/>
              </a:defRPr>
            </a:pPr>
            <a:r>
              <a:rPr lang="en-US" b="1">
                <a:solidFill>
                  <a:srgbClr val="007D80"/>
                </a:solidFill>
                <a:latin typeface="Arial" panose="020B0604020202020204" pitchFamily="34" charset="0"/>
                <a:ea typeface="Arial"/>
                <a:cs typeface="Arial" panose="020B0604020202020204" pitchFamily="34" charset="0"/>
              </a:rPr>
              <a:t>A</a:t>
            </a:r>
            <a:r>
              <a:rPr sz="1800" b="1">
                <a:solidFill>
                  <a:srgbClr val="007D80"/>
                </a:solidFill>
                <a:latin typeface="Arial" panose="020B0604020202020204" pitchFamily="34" charset="0"/>
                <a:ea typeface="Arial"/>
                <a:cs typeface="Arial" panose="020B0604020202020204" pitchFamily="34" charset="0"/>
              </a:rPr>
              <a:t>pproach</a:t>
            </a:r>
          </a:p>
        </p:txBody>
      </p:sp>
      <p:sp>
        <p:nvSpPr>
          <p:cNvPr id="20" name="Fundamental stock selection&#10;Quantitative port">
            <a:extLst>
              <a:ext uri="{FF2B5EF4-FFF2-40B4-BE49-F238E27FC236}">
                <a16:creationId xmlns:a16="http://schemas.microsoft.com/office/drawing/2014/main" id="{3F0138C8-B3D1-4541-A979-295D2E1C5FDC}"/>
              </a:ext>
            </a:extLst>
          </p:cNvPr>
          <p:cNvSpPr>
            <a:spLocks noGrp="1"/>
          </p:cNvSpPr>
          <p:nvPr/>
        </p:nvSpPr>
        <p:spPr>
          <a:xfrm>
            <a:off x="457200" y="3736969"/>
            <a:ext cx="4362450" cy="619125"/>
          </a:xfrm>
          <a:prstGeom prst="rect">
            <a:avLst/>
          </a:prstGeom>
          <a:noFill/>
          <a:ln w="0">
            <a:noFill/>
          </a:ln>
        </p:spPr>
        <p:txBody>
          <a:bodyPr wrap="none" lIns="0" tIns="0" rIns="0" bIns="0">
            <a:noAutofit/>
          </a:bodyPr>
          <a:lstStyle/>
          <a:p>
            <a:pPr>
              <a:defRPr sz="1650" b="0">
                <a:solidFill>
                  <a:srgbClr val="142B3B"/>
                </a:solidFill>
                <a:latin typeface="Arial"/>
                <a:ea typeface="Arial"/>
                <a:cs typeface="Arial"/>
              </a:defRPr>
            </a:pPr>
            <a:r>
              <a:rPr sz="1650" b="0">
                <a:solidFill>
                  <a:schemeClr val="tx1">
                    <a:lumMod val="95000"/>
                    <a:lumOff val="5000"/>
                  </a:schemeClr>
                </a:solidFill>
                <a:latin typeface="Arial" panose="020B0604020202020204" pitchFamily="34" charset="0"/>
                <a:ea typeface="Arial"/>
                <a:cs typeface="Arial" panose="020B0604020202020204" pitchFamily="34" charset="0"/>
              </a:rPr>
              <a:t>Fundamental stock selection</a:t>
            </a:r>
          </a:p>
          <a:p>
            <a:pPr>
              <a:defRPr sz="1650" b="0">
                <a:solidFill>
                  <a:srgbClr val="142B3B"/>
                </a:solidFill>
                <a:latin typeface="Arial"/>
                <a:ea typeface="Arial"/>
                <a:cs typeface="Arial"/>
              </a:defRPr>
            </a:pPr>
            <a:r>
              <a:rPr sz="1650" b="0">
                <a:solidFill>
                  <a:schemeClr val="tx1">
                    <a:lumMod val="95000"/>
                    <a:lumOff val="5000"/>
                  </a:schemeClr>
                </a:solidFill>
                <a:latin typeface="Arial" panose="020B0604020202020204" pitchFamily="34" charset="0"/>
                <a:ea typeface="Arial"/>
                <a:cs typeface="Arial" panose="020B0604020202020204" pitchFamily="34" charset="0"/>
              </a:rPr>
              <a:t>Quantitative portfolio construction</a:t>
            </a:r>
          </a:p>
        </p:txBody>
      </p:sp>
      <p:sp>
        <p:nvSpPr>
          <p:cNvPr id="21" name="Michael Kim and Matt Reed">
            <a:extLst>
              <a:ext uri="{FF2B5EF4-FFF2-40B4-BE49-F238E27FC236}">
                <a16:creationId xmlns:a16="http://schemas.microsoft.com/office/drawing/2014/main" id="{C98F2929-4C25-4E19-A15A-76BCCA231EA0}"/>
              </a:ext>
            </a:extLst>
          </p:cNvPr>
          <p:cNvSpPr>
            <a:spLocks noGrp="1"/>
          </p:cNvSpPr>
          <p:nvPr/>
        </p:nvSpPr>
        <p:spPr>
          <a:xfrm>
            <a:off x="385762" y="4460690"/>
            <a:ext cx="4143375" cy="1200329"/>
          </a:xfrm>
          <a:prstGeom prst="rect">
            <a:avLst/>
          </a:prstGeom>
          <a:noFill/>
        </p:spPr>
        <p:txBody>
          <a:bodyPr wrap="square" rtlCol="0">
            <a:spAutoFit/>
          </a:bodyPr>
          <a:lstStyle/>
          <a:p>
            <a:r>
              <a:rPr b="1">
                <a:solidFill>
                  <a:srgbClr val="007D80"/>
                </a:solidFill>
                <a:latin typeface="Arial" panose="020B0604020202020204" pitchFamily="34" charset="0"/>
                <a:cs typeface="Arial" panose="020B0604020202020204" pitchFamily="34" charset="0"/>
              </a:rPr>
              <a:t>Michael Kim</a:t>
            </a:r>
            <a:r>
              <a:rPr lang="en-US" b="1">
                <a:solidFill>
                  <a:srgbClr val="007D80"/>
                </a:solidFill>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quantitative analyst</a:t>
            </a:r>
          </a:p>
          <a:p>
            <a:r>
              <a:rPr lang="en-US">
                <a:latin typeface="Arial" panose="020B0604020202020204" pitchFamily="34" charset="0"/>
                <a:cs typeface="Arial" panose="020B0604020202020204" pitchFamily="34" charset="0"/>
              </a:rPr>
              <a:t>and portfolio manager</a:t>
            </a:r>
            <a:br>
              <a:rPr lang="en-US">
                <a:latin typeface="Arial" panose="020B0604020202020204" pitchFamily="34" charset="0"/>
                <a:cs typeface="Arial" panose="020B0604020202020204" pitchFamily="34" charset="0"/>
              </a:rPr>
            </a:br>
            <a:r>
              <a:rPr b="1">
                <a:solidFill>
                  <a:srgbClr val="007D80"/>
                </a:solidFill>
                <a:latin typeface="Arial" panose="020B0604020202020204" pitchFamily="34" charset="0"/>
                <a:cs typeface="Arial" panose="020B0604020202020204" pitchFamily="34" charset="0"/>
              </a:rPr>
              <a:t>Matt Reed</a:t>
            </a:r>
            <a:r>
              <a:rPr lang="en-US" b="1">
                <a:solidFill>
                  <a:srgbClr val="007D80"/>
                </a:solidFill>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co-management on</a:t>
            </a:r>
          </a:p>
          <a:p>
            <a:r>
              <a:rPr lang="en-US">
                <a:latin typeface="Arial" panose="020B0604020202020204" pitchFamily="34" charset="0"/>
                <a:cs typeface="Arial" panose="020B0604020202020204" pitchFamily="34" charset="0"/>
              </a:rPr>
              <a:t>November 18, 2025</a:t>
            </a:r>
            <a:endParaRPr>
              <a:latin typeface="Arial" panose="020B0604020202020204" pitchFamily="34" charset="0"/>
              <a:cs typeface="Arial" panose="020B0604020202020204" pitchFamily="34" charset="0"/>
            </a:endParaRPr>
          </a:p>
        </p:txBody>
      </p:sp>
      <p:sp>
        <p:nvSpPr>
          <p:cNvPr id="23" name="Global opportunity set">
            <a:extLst>
              <a:ext uri="{FF2B5EF4-FFF2-40B4-BE49-F238E27FC236}">
                <a16:creationId xmlns:a16="http://schemas.microsoft.com/office/drawing/2014/main" id="{C2E8E2D5-1E1D-4C68-A63B-926FE6291FC6}"/>
              </a:ext>
            </a:extLst>
          </p:cNvPr>
          <p:cNvSpPr>
            <a:spLocks noGrp="1"/>
          </p:cNvSpPr>
          <p:nvPr/>
        </p:nvSpPr>
        <p:spPr>
          <a:xfrm>
            <a:off x="5362575" y="1859755"/>
            <a:ext cx="3476625" cy="295275"/>
          </a:xfrm>
          <a:prstGeom prst="rect">
            <a:avLst/>
          </a:prstGeom>
          <a:noFill/>
          <a:ln w="0">
            <a:noFill/>
          </a:ln>
        </p:spPr>
        <p:txBody>
          <a:bodyPr wrap="none" lIns="0" tIns="0" rIns="0" bIns="0">
            <a:noAutofit/>
          </a:bodyPr>
          <a:lstStyle/>
          <a:p>
            <a:pPr>
              <a:defRPr sz="1725" b="1">
                <a:solidFill>
                  <a:srgbClr val="007D80"/>
                </a:solidFill>
                <a:latin typeface="Arial"/>
                <a:ea typeface="Arial"/>
                <a:cs typeface="Arial"/>
              </a:defRPr>
            </a:pPr>
            <a:r>
              <a:rPr sz="1725" b="1">
                <a:solidFill>
                  <a:srgbClr val="007D80"/>
                </a:solidFill>
                <a:latin typeface="Arial" panose="020B0604020202020204" pitchFamily="34" charset="0"/>
                <a:ea typeface="Arial"/>
                <a:cs typeface="Arial" panose="020B0604020202020204" pitchFamily="34" charset="0"/>
              </a:rPr>
              <a:t>Global opportunity set</a:t>
            </a:r>
          </a:p>
        </p:txBody>
      </p:sp>
      <p:graphicFrame>
        <p:nvGraphicFramePr>
          <p:cNvPr id="43" name="Chart"/>
          <p:cNvGraphicFramePr/>
          <p:nvPr>
            <p:extLst>
              <p:ext uri="{D42A27DB-BD31-4B8C-83A1-F6EECF244321}">
                <p14:modId xmlns:p14="http://schemas.microsoft.com/office/powerpoint/2010/main" val="2850197714"/>
              </p:ext>
            </p:extLst>
          </p:nvPr>
        </p:nvGraphicFramePr>
        <p:xfrm>
          <a:off x="4819650" y="2088883"/>
          <a:ext cx="352425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5" name="46">
            <a:extLst>
              <a:ext uri="{FF2B5EF4-FFF2-40B4-BE49-F238E27FC236}">
                <a16:creationId xmlns:a16="http://schemas.microsoft.com/office/drawing/2014/main" id="{29DFE448-D0C6-4ACC-A2AD-8A20DE526829}"/>
              </a:ext>
            </a:extLst>
          </p:cNvPr>
          <p:cNvSpPr>
            <a:spLocks noGrp="1"/>
          </p:cNvSpPr>
          <p:nvPr/>
        </p:nvSpPr>
        <p:spPr>
          <a:xfrm>
            <a:off x="5240867" y="5003533"/>
            <a:ext cx="1123950" cy="352425"/>
          </a:xfrm>
          <a:prstGeom prst="rect">
            <a:avLst/>
          </a:prstGeom>
          <a:noFill/>
          <a:ln w="0">
            <a:noFill/>
          </a:ln>
        </p:spPr>
        <p:txBody>
          <a:bodyPr wrap="none" lIns="0" tIns="0" rIns="0" bIns="0">
            <a:noAutofit/>
          </a:bodyPr>
          <a:lstStyle/>
          <a:p>
            <a:pPr>
              <a:defRPr sz="2325" b="1">
                <a:solidFill>
                  <a:srgbClr val="007D80"/>
                </a:solidFill>
                <a:latin typeface="Arial"/>
                <a:ea typeface="Arial"/>
                <a:cs typeface="Arial"/>
              </a:defRPr>
            </a:pPr>
            <a:r>
              <a:rPr sz="2325" b="1">
                <a:solidFill>
                  <a:srgbClr val="007D80"/>
                </a:solidFill>
                <a:latin typeface="Arial" panose="020B0604020202020204" pitchFamily="34" charset="0"/>
                <a:ea typeface="Arial"/>
                <a:cs typeface="Arial" panose="020B0604020202020204" pitchFamily="34" charset="0"/>
              </a:rPr>
              <a:t>46</a:t>
            </a:r>
          </a:p>
        </p:txBody>
      </p:sp>
      <p:sp>
        <p:nvSpPr>
          <p:cNvPr id="26" name="holdings">
            <a:extLst>
              <a:ext uri="{FF2B5EF4-FFF2-40B4-BE49-F238E27FC236}">
                <a16:creationId xmlns:a16="http://schemas.microsoft.com/office/drawing/2014/main" id="{952C2E0E-E792-4F8D-A9FD-0323DE894DFB}"/>
              </a:ext>
            </a:extLst>
          </p:cNvPr>
          <p:cNvSpPr>
            <a:spLocks noGrp="1"/>
          </p:cNvSpPr>
          <p:nvPr/>
        </p:nvSpPr>
        <p:spPr>
          <a:xfrm>
            <a:off x="5240867" y="5355958"/>
            <a:ext cx="1123950" cy="238125"/>
          </a:xfrm>
          <a:prstGeom prst="rect">
            <a:avLst/>
          </a:prstGeom>
          <a:noFill/>
          <a:ln w="0">
            <a:noFill/>
          </a:ln>
        </p:spPr>
        <p:txBody>
          <a:bodyPr wrap="none" lIns="0" tIns="0" rIns="0" bIns="0">
            <a:noAutofit/>
          </a:bodyPr>
          <a:lstStyle/>
          <a:p>
            <a:pPr>
              <a:defRPr sz="1275" b="0">
                <a:solidFill>
                  <a:srgbClr val="536873"/>
                </a:solidFill>
                <a:latin typeface="Arial"/>
                <a:ea typeface="Arial"/>
                <a:cs typeface="Arial"/>
              </a:defRPr>
            </a:pPr>
            <a:r>
              <a:rPr sz="1275" b="0">
                <a:solidFill>
                  <a:schemeClr val="tx1">
                    <a:lumMod val="95000"/>
                    <a:lumOff val="5000"/>
                  </a:schemeClr>
                </a:solidFill>
                <a:latin typeface="Arial" panose="020B0604020202020204" pitchFamily="34" charset="0"/>
                <a:ea typeface="Arial"/>
                <a:cs typeface="Arial" panose="020B0604020202020204" pitchFamily="34" charset="0"/>
              </a:rPr>
              <a:t>holdings</a:t>
            </a:r>
          </a:p>
        </p:txBody>
      </p:sp>
      <p:sp>
        <p:nvSpPr>
          <p:cNvPr id="27" name="0.50%">
            <a:extLst>
              <a:ext uri="{FF2B5EF4-FFF2-40B4-BE49-F238E27FC236}">
                <a16:creationId xmlns:a16="http://schemas.microsoft.com/office/drawing/2014/main" id="{20F3AD16-BE2A-4245-AD77-66DE06A82C04}"/>
              </a:ext>
            </a:extLst>
          </p:cNvPr>
          <p:cNvSpPr>
            <a:spLocks noGrp="1"/>
          </p:cNvSpPr>
          <p:nvPr/>
        </p:nvSpPr>
        <p:spPr>
          <a:xfrm>
            <a:off x="6743700" y="5003533"/>
            <a:ext cx="1600200" cy="352425"/>
          </a:xfrm>
          <a:prstGeom prst="rect">
            <a:avLst/>
          </a:prstGeom>
          <a:noFill/>
          <a:ln w="0">
            <a:noFill/>
          </a:ln>
        </p:spPr>
        <p:txBody>
          <a:bodyPr wrap="none" lIns="0" tIns="0" rIns="0" bIns="0">
            <a:noAutofit/>
          </a:bodyPr>
          <a:lstStyle/>
          <a:p>
            <a:pPr>
              <a:defRPr sz="2325" b="1">
                <a:solidFill>
                  <a:srgbClr val="007D80"/>
                </a:solidFill>
                <a:latin typeface="Arial"/>
                <a:ea typeface="Arial"/>
                <a:cs typeface="Arial"/>
              </a:defRPr>
            </a:pPr>
            <a:r>
              <a:rPr sz="2325" b="1">
                <a:solidFill>
                  <a:srgbClr val="007D80"/>
                </a:solidFill>
                <a:latin typeface="Arial" panose="020B0604020202020204" pitchFamily="34" charset="0"/>
                <a:ea typeface="Arial"/>
                <a:cs typeface="Arial" panose="020B0604020202020204" pitchFamily="34" charset="0"/>
              </a:rPr>
              <a:t>0.50%</a:t>
            </a:r>
          </a:p>
        </p:txBody>
      </p:sp>
      <p:sp>
        <p:nvSpPr>
          <p:cNvPr id="28" name="expense ratio">
            <a:extLst>
              <a:ext uri="{FF2B5EF4-FFF2-40B4-BE49-F238E27FC236}">
                <a16:creationId xmlns:a16="http://schemas.microsoft.com/office/drawing/2014/main" id="{505E8E18-27E9-4605-8BA6-E4B965D60814}"/>
              </a:ext>
            </a:extLst>
          </p:cNvPr>
          <p:cNvSpPr>
            <a:spLocks noGrp="1"/>
          </p:cNvSpPr>
          <p:nvPr/>
        </p:nvSpPr>
        <p:spPr>
          <a:xfrm>
            <a:off x="6743700" y="5355958"/>
            <a:ext cx="1600200" cy="238125"/>
          </a:xfrm>
          <a:prstGeom prst="rect">
            <a:avLst/>
          </a:prstGeom>
          <a:noFill/>
          <a:ln w="0">
            <a:noFill/>
          </a:ln>
        </p:spPr>
        <p:txBody>
          <a:bodyPr wrap="none" lIns="0" tIns="0" rIns="0" bIns="0">
            <a:noAutofit/>
          </a:bodyPr>
          <a:lstStyle/>
          <a:p>
            <a:pPr>
              <a:defRPr sz="1275" b="0">
                <a:solidFill>
                  <a:srgbClr val="536873"/>
                </a:solidFill>
                <a:latin typeface="Arial"/>
                <a:ea typeface="Arial"/>
                <a:cs typeface="Arial"/>
              </a:defRPr>
            </a:pPr>
            <a:r>
              <a:rPr sz="1275" b="0">
                <a:solidFill>
                  <a:schemeClr val="tx1">
                    <a:lumMod val="95000"/>
                    <a:lumOff val="5000"/>
                  </a:schemeClr>
                </a:solidFill>
                <a:latin typeface="Arial" panose="020B0604020202020204" pitchFamily="34" charset="0"/>
                <a:ea typeface="Arial"/>
                <a:cs typeface="Arial" panose="020B0604020202020204" pitchFamily="34" charset="0"/>
              </a:rPr>
              <a:t>expense ratio</a:t>
            </a:r>
          </a:p>
        </p:txBody>
      </p:sp>
      <p:sp>
        <p:nvSpPr>
          <p:cNvPr id="29" name="Rectangle 28">
            <a:extLst>
              <a:ext uri="{FF2B5EF4-FFF2-40B4-BE49-F238E27FC236}">
                <a16:creationId xmlns:a16="http://schemas.microsoft.com/office/drawing/2014/main" id="{32F92731-8C01-4658-BA1F-D414E2761D92}"/>
              </a:ext>
            </a:extLst>
          </p:cNvPr>
          <p:cNvSpPr>
            <a:spLocks noGrp="1"/>
          </p:cNvSpPr>
          <p:nvPr/>
        </p:nvSpPr>
        <p:spPr>
          <a:xfrm>
            <a:off x="433387" y="6148915"/>
            <a:ext cx="7953375" cy="723721"/>
          </a:xfrm>
          <a:prstGeom prst="rect">
            <a:avLst/>
          </a:prstGeom>
          <a:noFill/>
          <a:ln w="0">
            <a:noFill/>
          </a:ln>
        </p:spPr>
        <p:txBody>
          <a:bodyPr wrap="none" lIns="0" tIns="0" rIns="0" bIns="0">
            <a:noAutofit/>
          </a:bodyPr>
          <a:lstStyle/>
          <a:p>
            <a:pPr>
              <a:defRPr sz="885" b="0">
                <a:solidFill>
                  <a:srgbClr val="536873"/>
                </a:solidFill>
                <a:latin typeface="Arial"/>
                <a:ea typeface="Arial"/>
                <a:cs typeface="Arial"/>
              </a:defRPr>
            </a:pPr>
            <a:r>
              <a:rPr sz="1400">
                <a:solidFill>
                  <a:schemeClr val="tx1">
                    <a:lumMod val="95000"/>
                    <a:lumOff val="5000"/>
                  </a:schemeClr>
                </a:solidFill>
                <a:latin typeface="Arial" panose="020B0604020202020204" pitchFamily="34" charset="0"/>
                <a:cs typeface="Arial" panose="020B0604020202020204" pitchFamily="34" charset="0"/>
              </a:rPr>
              <a:t>Sources: </a:t>
            </a:r>
            <a:endParaRPr lang="en-US" sz="1400">
              <a:solidFill>
                <a:schemeClr val="tx1">
                  <a:lumMod val="95000"/>
                  <a:lumOff val="5000"/>
                </a:schemeClr>
              </a:solidFill>
              <a:latin typeface="Arial" panose="020B0604020202020204" pitchFamily="34" charset="0"/>
              <a:cs typeface="Arial" panose="020B0604020202020204" pitchFamily="34" charset="0"/>
            </a:endParaRPr>
          </a:p>
          <a:p>
            <a:pPr>
              <a:defRPr sz="885" b="0">
                <a:solidFill>
                  <a:srgbClr val="536873"/>
                </a:solidFill>
                <a:latin typeface="Arial"/>
                <a:ea typeface="Arial"/>
                <a:cs typeface="Arial"/>
              </a:defRPr>
            </a:pPr>
            <a:r>
              <a:rPr lang="en-US" sz="1400">
                <a:solidFill>
                  <a:schemeClr val="tx1">
                    <a:lumMod val="95000"/>
                    <a:lumOff val="5000"/>
                  </a:schemeClr>
                </a:solidFill>
                <a:latin typeface="Arial" panose="020B0604020202020204" pitchFamily="34" charset="0"/>
                <a:cs typeface="Arial" panose="020B0604020202020204" pitchFamily="34" charset="0"/>
              </a:rPr>
              <a:t>[1] </a:t>
            </a:r>
            <a:r>
              <a:rPr lang="en-US" sz="1400">
                <a:solidFill>
                  <a:schemeClr val="tx1">
                    <a:lumMod val="95000"/>
                    <a:lumOff val="5000"/>
                  </a:schemeClr>
                </a:solidFill>
              </a:rPr>
              <a:t>https://institutional.fidelity.com/app/proxy/content?literatureURL=/9910078.PDF</a:t>
            </a:r>
          </a:p>
          <a:p>
            <a:pPr>
              <a:defRPr sz="885" b="0">
                <a:solidFill>
                  <a:srgbClr val="536873"/>
                </a:solidFill>
                <a:latin typeface="Arial"/>
                <a:ea typeface="Arial"/>
                <a:cs typeface="Arial"/>
              </a:defRPr>
            </a:pPr>
            <a:r>
              <a:rPr lang="en-US" sz="1400">
                <a:solidFill>
                  <a:schemeClr val="tx1">
                    <a:lumMod val="95000"/>
                    <a:lumOff val="5000"/>
                  </a:schemeClr>
                </a:solidFill>
                <a:latin typeface="Arial" panose="020B0604020202020204" pitchFamily="34" charset="0"/>
                <a:cs typeface="Arial" panose="020B0604020202020204" pitchFamily="34" charset="0"/>
              </a:rPr>
              <a:t>[2] </a:t>
            </a:r>
            <a:r>
              <a:rPr lang="en-US" sz="1400">
                <a:solidFill>
                  <a:schemeClr val="tx1">
                    <a:lumMod val="95000"/>
                    <a:lumOff val="5000"/>
                  </a:schemeClr>
                </a:solidFill>
              </a:rPr>
              <a:t>https://digital.fidelity.com/prgw/digital/research/quote/dashboard/summary?symbol=FDFF</a:t>
            </a:r>
            <a:endParaRPr sz="1400">
              <a:solidFill>
                <a:schemeClr val="tx1">
                  <a:lumMod val="95000"/>
                  <a:lumOff val="5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endParaRPr>
          </a:p>
        </p:txBody>
      </p:sp>
      <p:sp>
        <p:nvSpPr>
          <p:cNvPr id="8" name="Rectangle 7">
            <a:extLst>
              <a:ext uri="{FF2B5EF4-FFF2-40B4-BE49-F238E27FC236}">
                <a16:creationId xmlns:a16="http://schemas.microsoft.com/office/drawing/2014/main" id="{442F5BE6-44FD-4BA0-DE0F-69108EF18837}"/>
              </a:ext>
            </a:extLst>
          </p:cNvPr>
          <p:cNvSpPr>
            <a:spLocks noGrp="1"/>
          </p:cNvSpPr>
          <p:nvPr/>
        </p:nvSpPr>
        <p:spPr>
          <a:xfrm>
            <a:off x="457200" y="276225"/>
            <a:ext cx="8096250" cy="228600"/>
          </a:xfrm>
          <a:prstGeom prst="rect">
            <a:avLst/>
          </a:prstGeom>
          <a:noFill/>
          <a:ln w="0">
            <a:noFill/>
          </a:ln>
        </p:spPr>
        <p:txBody>
          <a:bodyPr wrap="square" lIns="0" tIns="0" rIns="0" bIns="0" anchor="t">
            <a:noAutofit/>
          </a:bodyPr>
          <a:lstStyle/>
          <a:p>
            <a:pPr>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Bitstream Charter"/>
                <a:cs typeface="Arial" panose="020B0604020202020204" pitchFamily="34" charset="0"/>
              </a:rPr>
              <a:t>FDFF | MANDATE AND MANAGEMENT</a:t>
            </a:r>
          </a:p>
        </p:txBody>
      </p:sp>
    </p:spTree>
    <p:extLst>
      <p:ext uri="{BB962C8B-B14F-4D97-AF65-F5344CB8AC3E}">
        <p14:creationId xmlns:p14="http://schemas.microsoft.com/office/powerpoint/2010/main" val="21874805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06EFA99-16EE-4B57-AC11-CC9E592F7924}"/>
              </a:ext>
            </a:extLst>
          </p:cNvPr>
          <p:cNvSpPr>
            <a:spLocks noGrp="1"/>
          </p:cNvSpPr>
          <p:nvPr/>
        </p:nvSpPr>
        <p:spPr>
          <a:xfrm>
            <a:off x="457200" y="276225"/>
            <a:ext cx="6572250" cy="228600"/>
          </a:xfrm>
          <a:prstGeom prst="rect">
            <a:avLst/>
          </a:prstGeom>
          <a:noFill/>
          <a:ln w="0">
            <a:noFill/>
          </a:ln>
        </p:spPr>
        <p:txBody>
          <a:bodyPr wrap="square" lIns="0" tIns="0" rIns="0" bIns="0" anchor="t">
            <a:noAutofit/>
          </a:bodyPr>
          <a:lstStyle/>
          <a:p>
            <a:pPr>
              <a:buNone/>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Arial"/>
                <a:cs typeface="Arial" panose="020B0604020202020204" pitchFamily="34" charset="0"/>
              </a:rPr>
              <a:t>FDFF </a:t>
            </a:r>
            <a:r>
              <a:rPr lang="en-US" sz="1125" b="1">
                <a:solidFill>
                  <a:srgbClr val="007D80"/>
                </a:solidFill>
                <a:latin typeface="Arial" panose="020B0604020202020204" pitchFamily="34" charset="0"/>
                <a:ea typeface="Arial"/>
                <a:cs typeface="Arial" panose="020B0604020202020204" pitchFamily="34" charset="0"/>
              </a:rPr>
              <a:t>|</a:t>
            </a:r>
            <a:r>
              <a:rPr sz="1125" b="1">
                <a:solidFill>
                  <a:srgbClr val="007D80"/>
                </a:solidFill>
                <a:latin typeface="Arial" panose="020B0604020202020204" pitchFamily="34" charset="0"/>
                <a:ea typeface="Arial"/>
                <a:cs typeface="Arial" panose="020B0604020202020204" pitchFamily="34" charset="0"/>
              </a:rPr>
              <a:t> PORTFOLIO COMPOSITION</a:t>
            </a:r>
          </a:p>
        </p:txBody>
      </p:sp>
      <p:sp>
        <p:nvSpPr>
          <p:cNvPr id="2" name="Rectangle 1">
            <a:extLst>
              <a:ext uri="{FF2B5EF4-FFF2-40B4-BE49-F238E27FC236}">
                <a16:creationId xmlns:a16="http://schemas.microsoft.com/office/drawing/2014/main" id="{7B80A354-6005-4D59-9965-6D5AA8905A28}"/>
              </a:ext>
            </a:extLst>
          </p:cNvPr>
          <p:cNvSpPr>
            <a:spLocks noGrp="1"/>
          </p:cNvSpPr>
          <p:nvPr/>
        </p:nvSpPr>
        <p:spPr>
          <a:xfrm>
            <a:off x="447675" y="1004888"/>
            <a:ext cx="8239125" cy="876300"/>
          </a:xfrm>
          <a:prstGeom prst="rect">
            <a:avLst/>
          </a:prstGeom>
          <a:noFill/>
          <a:ln w="0">
            <a:noFill/>
          </a:ln>
        </p:spPr>
        <p:txBody>
          <a:bodyPr wrap="square" lIns="0" tIns="0" rIns="0" bIns="0" anchor="t">
            <a:noAutofit/>
          </a:bodyPr>
          <a:lstStyle/>
          <a:p>
            <a:pPr>
              <a:buNone/>
              <a:defRPr sz="2775" b="1">
                <a:solidFill>
                  <a:srgbClr val="142B3B"/>
                </a:solidFill>
                <a:latin typeface="Bitstream Charter"/>
                <a:ea typeface="Bitstream Charter"/>
                <a:cs typeface="Bitstream Charter"/>
              </a:defRPr>
            </a:pPr>
            <a:r>
              <a:rPr sz="2800" b="1">
                <a:solidFill>
                  <a:schemeClr val="tx1">
                    <a:lumMod val="95000"/>
                    <a:lumOff val="5000"/>
                  </a:schemeClr>
                </a:solidFill>
                <a:latin typeface="Arial" panose="020B0604020202020204" pitchFamily="34" charset="0"/>
                <a:ea typeface="Arial"/>
                <a:cs typeface="Arial" panose="020B0604020202020204" pitchFamily="34" charset="0"/>
              </a:rPr>
              <a:t>Financial incumbents anchor</a:t>
            </a:r>
            <a:r>
              <a:rPr lang="en-US" sz="2800" b="1">
                <a:solidFill>
                  <a:schemeClr val="tx1">
                    <a:lumMod val="95000"/>
                    <a:lumOff val="5000"/>
                  </a:schemeClr>
                </a:solidFill>
                <a:latin typeface="Arial" panose="020B0604020202020204" pitchFamily="34" charset="0"/>
                <a:ea typeface="Arial"/>
                <a:cs typeface="Arial" panose="020B0604020202020204" pitchFamily="34" charset="0"/>
              </a:rPr>
              <a:t> </a:t>
            </a:r>
            <a:r>
              <a:rPr sz="2800" b="1">
                <a:solidFill>
                  <a:schemeClr val="tx1">
                    <a:lumMod val="95000"/>
                    <a:lumOff val="5000"/>
                  </a:schemeClr>
                </a:solidFill>
                <a:latin typeface="Arial" panose="020B0604020202020204" pitchFamily="34" charset="0"/>
                <a:ea typeface="Arial"/>
                <a:cs typeface="Arial" panose="020B0604020202020204" pitchFamily="34" charset="0"/>
              </a:rPr>
              <a:t>the portfolio</a:t>
            </a:r>
          </a:p>
        </p:txBody>
      </p:sp>
      <p:sp>
        <p:nvSpPr>
          <p:cNvPr id="4" name="Rectangle 3">
            <a:extLst>
              <a:ext uri="{FF2B5EF4-FFF2-40B4-BE49-F238E27FC236}">
                <a16:creationId xmlns:a16="http://schemas.microsoft.com/office/drawing/2014/main" id="{45D3DBDB-66F9-42CE-91A2-ED487A43484C}"/>
              </a:ext>
            </a:extLst>
          </p:cNvPr>
          <p:cNvSpPr>
            <a:spLocks noGrp="1"/>
          </p:cNvSpPr>
          <p:nvPr/>
        </p:nvSpPr>
        <p:spPr>
          <a:xfrm>
            <a:off x="8334375" y="6543675"/>
            <a:ext cx="352425" cy="161925"/>
          </a:xfrm>
          <a:prstGeom prst="rect">
            <a:avLst/>
          </a:prstGeom>
          <a:noFill/>
          <a:ln w="0">
            <a:noFill/>
          </a:ln>
        </p:spPr>
        <p:txBody>
          <a:bodyPr wrap="square" lIns="0" tIns="0" rIns="0" bIns="0" anchor="t">
            <a:noAutofit/>
          </a:bodyPr>
          <a:lstStyle/>
          <a:p>
            <a:pPr>
              <a:buNone/>
              <a:defRPr sz="900" b="0">
                <a:solidFill>
                  <a:srgbClr val="536873"/>
                </a:solidFill>
                <a:latin typeface="Bitstream Charter"/>
                <a:ea typeface="Bitstream Charter"/>
                <a:cs typeface="Bitstream Charter"/>
              </a:defRPr>
            </a:pPr>
            <a:r>
              <a:rPr sz="900" b="0">
                <a:solidFill>
                  <a:srgbClr val="536873"/>
                </a:solidFill>
                <a:latin typeface="Arial" panose="020B0604020202020204" pitchFamily="34" charset="0"/>
                <a:ea typeface="Arial"/>
                <a:cs typeface="Arial" panose="020B0604020202020204" pitchFamily="34" charset="0"/>
              </a:rPr>
              <a:t>11</a:t>
            </a:r>
          </a:p>
        </p:txBody>
      </p:sp>
      <p:sp>
        <p:nvSpPr>
          <p:cNvPr id="11" name="Rectangle 10">
            <a:extLst>
              <a:ext uri="{FF2B5EF4-FFF2-40B4-BE49-F238E27FC236}">
                <a16:creationId xmlns:a16="http://schemas.microsoft.com/office/drawing/2014/main" id="{60D2E5B1-BD9A-42C5-8372-825E8A0F2849}"/>
              </a:ext>
            </a:extLst>
          </p:cNvPr>
          <p:cNvSpPr>
            <a:spLocks noGrp="1"/>
          </p:cNvSpPr>
          <p:nvPr/>
        </p:nvSpPr>
        <p:spPr>
          <a:xfrm>
            <a:off x="457200" y="6238875"/>
            <a:ext cx="7905750" cy="352425"/>
          </a:xfrm>
          <a:prstGeom prst="rect">
            <a:avLst/>
          </a:prstGeom>
          <a:noFill/>
          <a:ln w="0">
            <a:noFill/>
          </a:ln>
        </p:spPr>
        <p:txBody>
          <a:bodyPr wrap="square" lIns="0" tIns="0" rIns="0" bIns="0" anchor="t">
            <a:noAutofit/>
          </a:bodyPr>
          <a:lstStyle/>
          <a:p>
            <a:pPr>
              <a:buNone/>
              <a:defRPr sz="885" b="0">
                <a:solidFill>
                  <a:srgbClr val="536873"/>
                </a:solidFill>
                <a:latin typeface="Bitstream Charter"/>
                <a:ea typeface="Bitstream Charter"/>
                <a:cs typeface="Bitstream Charter"/>
              </a:defRPr>
            </a:pPr>
            <a:endParaRPr>
              <a:latin typeface="Arial" panose="020B0604020202020204" pitchFamily="34" charset="0"/>
              <a:cs typeface="Arial" panose="020B0604020202020204" pitchFamily="34" charset="0"/>
            </a:endParaRPr>
          </a:p>
        </p:txBody>
      </p:sp>
      <p:pic>
        <p:nvPicPr>
          <p:cNvPr id="28" name="Picture 12"/>
          <p:cNvPicPr>
            <a:picLocks noChangeAspect="1"/>
          </p:cNvPicPr>
          <p:nvPr/>
        </p:nvPicPr>
        <p:blipFill>
          <a:blip r:embed="rId3"/>
          <a:srcRect l="5741" t="11640" r="13148" b="25397"/>
          <a:stretch>
            <a:fillRect/>
          </a:stretch>
        </p:blipFill>
        <p:spPr>
          <a:xfrm>
            <a:off x="7152640" y="0"/>
            <a:ext cx="1991360" cy="811547"/>
          </a:xfrm>
          <a:prstGeom prst="rect">
            <a:avLst/>
          </a:prstGeom>
        </p:spPr>
      </p:pic>
      <p:sp>
        <p:nvSpPr>
          <p:cNvPr id="15" name="Largest five holdings">
            <a:extLst>
              <a:ext uri="{FF2B5EF4-FFF2-40B4-BE49-F238E27FC236}">
                <a16:creationId xmlns:a16="http://schemas.microsoft.com/office/drawing/2014/main" id="{15B377FF-6409-4EF5-81F3-5A8E52AE6085}"/>
              </a:ext>
            </a:extLst>
          </p:cNvPr>
          <p:cNvSpPr>
            <a:spLocks noGrp="1"/>
          </p:cNvSpPr>
          <p:nvPr/>
        </p:nvSpPr>
        <p:spPr>
          <a:xfrm>
            <a:off x="457200" y="2114550"/>
            <a:ext cx="4029075" cy="285750"/>
          </a:xfrm>
          <a:prstGeom prst="rect">
            <a:avLst/>
          </a:prstGeom>
          <a:noFill/>
          <a:ln w="0">
            <a:noFill/>
          </a:ln>
        </p:spPr>
        <p:txBody>
          <a:bodyPr wrap="none" lIns="0" tIns="0" rIns="0" bIns="0">
            <a:noAutofit/>
          </a:bodyPr>
          <a:lstStyle/>
          <a:p>
            <a:pPr>
              <a:defRPr sz="1725" b="1">
                <a:solidFill>
                  <a:srgbClr val="A25C19"/>
                </a:solidFill>
                <a:latin typeface="Arial"/>
                <a:ea typeface="Arial"/>
                <a:cs typeface="Arial"/>
              </a:defRPr>
            </a:pPr>
            <a:r>
              <a:rPr b="1">
                <a:solidFill>
                  <a:srgbClr val="A25C19"/>
                </a:solidFill>
                <a:latin typeface="Arial" panose="020B0604020202020204" pitchFamily="34" charset="0"/>
                <a:ea typeface="Arial"/>
                <a:cs typeface="Arial" panose="020B0604020202020204" pitchFamily="34" charset="0"/>
              </a:rPr>
              <a:t>Largest five holdings</a:t>
            </a:r>
          </a:p>
        </p:txBody>
      </p:sp>
      <p:sp>
        <p:nvSpPr>
          <p:cNvPr id="16" name="Industry mix">
            <a:extLst>
              <a:ext uri="{FF2B5EF4-FFF2-40B4-BE49-F238E27FC236}">
                <a16:creationId xmlns:a16="http://schemas.microsoft.com/office/drawing/2014/main" id="{7F566AE4-6179-4F53-8B7D-19B6AF3BAAA0}"/>
              </a:ext>
            </a:extLst>
          </p:cNvPr>
          <p:cNvSpPr>
            <a:spLocks noGrp="1"/>
          </p:cNvSpPr>
          <p:nvPr/>
        </p:nvSpPr>
        <p:spPr>
          <a:xfrm>
            <a:off x="4810125" y="2114550"/>
            <a:ext cx="3876675" cy="285750"/>
          </a:xfrm>
          <a:prstGeom prst="rect">
            <a:avLst/>
          </a:prstGeom>
          <a:noFill/>
          <a:ln w="0">
            <a:noFill/>
          </a:ln>
        </p:spPr>
        <p:txBody>
          <a:bodyPr wrap="none" lIns="0" tIns="0" rIns="0" bIns="0">
            <a:noAutofit/>
          </a:bodyPr>
          <a:lstStyle/>
          <a:p>
            <a:pPr>
              <a:defRPr sz="1725" b="1">
                <a:solidFill>
                  <a:srgbClr val="007D80"/>
                </a:solidFill>
                <a:latin typeface="Arial"/>
                <a:ea typeface="Arial"/>
                <a:cs typeface="Arial"/>
              </a:defRPr>
            </a:pPr>
            <a:r>
              <a:rPr b="1">
                <a:solidFill>
                  <a:srgbClr val="007D80"/>
                </a:solidFill>
                <a:latin typeface="Arial" panose="020B0604020202020204" pitchFamily="34" charset="0"/>
                <a:ea typeface="Arial"/>
                <a:cs typeface="Arial" panose="020B0604020202020204" pitchFamily="34" charset="0"/>
              </a:rPr>
              <a:t>Industry mix</a:t>
            </a:r>
          </a:p>
        </p:txBody>
      </p:sp>
      <p:graphicFrame>
        <p:nvGraphicFramePr>
          <p:cNvPr id="31" name="Chart"/>
          <p:cNvGraphicFramePr/>
          <p:nvPr>
            <p:extLst>
              <p:ext uri="{D42A27DB-BD31-4B8C-83A1-F6EECF244321}">
                <p14:modId xmlns:p14="http://schemas.microsoft.com/office/powerpoint/2010/main" val="3329648383"/>
              </p:ext>
            </p:extLst>
          </p:nvPr>
        </p:nvGraphicFramePr>
        <p:xfrm>
          <a:off x="285750" y="2505075"/>
          <a:ext cx="4048125" cy="26955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2" name="Chart"/>
          <p:cNvGraphicFramePr/>
          <p:nvPr>
            <p:extLst>
              <p:ext uri="{D42A27DB-BD31-4B8C-83A1-F6EECF244321}">
                <p14:modId xmlns:p14="http://schemas.microsoft.com/office/powerpoint/2010/main" val="63662592"/>
              </p:ext>
            </p:extLst>
          </p:nvPr>
        </p:nvGraphicFramePr>
        <p:xfrm>
          <a:off x="4610100" y="2505075"/>
          <a:ext cx="4114800" cy="2695575"/>
        </p:xfrm>
        <a:graphic>
          <a:graphicData uri="http://schemas.openxmlformats.org/drawingml/2006/chart">
            <c:chart xmlns:c="http://schemas.openxmlformats.org/drawingml/2006/chart" xmlns:r="http://schemas.openxmlformats.org/officeDocument/2006/relationships" r:id="rId5"/>
          </a:graphicData>
        </a:graphic>
      </p:graphicFrame>
      <p:sp>
        <p:nvSpPr>
          <p:cNvPr id="19" name="48.10%">
            <a:extLst>
              <a:ext uri="{FF2B5EF4-FFF2-40B4-BE49-F238E27FC236}">
                <a16:creationId xmlns:a16="http://schemas.microsoft.com/office/drawing/2014/main" id="{F48C7816-A391-4A7D-A613-175F11F8E9DB}"/>
              </a:ext>
            </a:extLst>
          </p:cNvPr>
          <p:cNvSpPr>
            <a:spLocks noGrp="1"/>
          </p:cNvSpPr>
          <p:nvPr/>
        </p:nvSpPr>
        <p:spPr>
          <a:xfrm>
            <a:off x="457200" y="5301192"/>
            <a:ext cx="2219325" cy="457200"/>
          </a:xfrm>
          <a:prstGeom prst="rect">
            <a:avLst/>
          </a:prstGeom>
          <a:noFill/>
          <a:ln w="0">
            <a:noFill/>
          </a:ln>
        </p:spPr>
        <p:txBody>
          <a:bodyPr wrap="none" lIns="0" tIns="0" rIns="0" bIns="0">
            <a:noAutofit/>
          </a:bodyPr>
          <a:lstStyle/>
          <a:p>
            <a:pPr>
              <a:defRPr sz="3150" b="1">
                <a:solidFill>
                  <a:srgbClr val="A25C19"/>
                </a:solidFill>
                <a:latin typeface="Arial"/>
                <a:ea typeface="Arial"/>
                <a:cs typeface="Arial"/>
              </a:defRPr>
            </a:pPr>
            <a:r>
              <a:rPr sz="3150" b="1">
                <a:solidFill>
                  <a:srgbClr val="A25C19"/>
                </a:solidFill>
                <a:latin typeface="Arial" panose="020B0604020202020204" pitchFamily="34" charset="0"/>
                <a:ea typeface="Arial"/>
                <a:cs typeface="Arial" panose="020B0604020202020204" pitchFamily="34" charset="0"/>
              </a:rPr>
              <a:t>48%</a:t>
            </a:r>
          </a:p>
        </p:txBody>
      </p:sp>
      <p:sp>
        <p:nvSpPr>
          <p:cNvPr id="20" name="in the top 10 holdings">
            <a:extLst>
              <a:ext uri="{FF2B5EF4-FFF2-40B4-BE49-F238E27FC236}">
                <a16:creationId xmlns:a16="http://schemas.microsoft.com/office/drawing/2014/main" id="{DF7F51D3-C800-4615-B533-683BD8F9F365}"/>
              </a:ext>
            </a:extLst>
          </p:cNvPr>
          <p:cNvSpPr>
            <a:spLocks noGrp="1"/>
          </p:cNvSpPr>
          <p:nvPr/>
        </p:nvSpPr>
        <p:spPr>
          <a:xfrm>
            <a:off x="457200" y="5777442"/>
            <a:ext cx="2905125" cy="257175"/>
          </a:xfrm>
          <a:prstGeom prst="rect">
            <a:avLst/>
          </a:prstGeom>
          <a:noFill/>
          <a:ln w="0">
            <a:noFill/>
          </a:ln>
        </p:spPr>
        <p:txBody>
          <a:bodyPr wrap="none" lIns="0" tIns="0" rIns="0" bIns="0">
            <a:noAutofit/>
          </a:bodyPr>
          <a:lstStyle/>
          <a:p>
            <a:pPr>
              <a:defRPr sz="1500" b="0">
                <a:solidFill>
                  <a:srgbClr val="536873"/>
                </a:solidFill>
                <a:latin typeface="Arial"/>
                <a:ea typeface="Arial"/>
                <a:cs typeface="Arial"/>
              </a:defRPr>
            </a:pPr>
            <a:r>
              <a:rPr sz="1500" b="0">
                <a:solidFill>
                  <a:schemeClr val="tx1">
                    <a:lumMod val="95000"/>
                    <a:lumOff val="5000"/>
                  </a:schemeClr>
                </a:solidFill>
                <a:latin typeface="Arial" panose="020B0604020202020204" pitchFamily="34" charset="0"/>
                <a:ea typeface="Arial"/>
                <a:cs typeface="Arial" panose="020B0604020202020204" pitchFamily="34" charset="0"/>
              </a:rPr>
              <a:t>in the top 10 holdings</a:t>
            </a:r>
          </a:p>
        </p:txBody>
      </p:sp>
      <p:sp>
        <p:nvSpPr>
          <p:cNvPr id="21" name="Banks and capital markets add&#10;different earni">
            <a:extLst>
              <a:ext uri="{FF2B5EF4-FFF2-40B4-BE49-F238E27FC236}">
                <a16:creationId xmlns:a16="http://schemas.microsoft.com/office/drawing/2014/main" id="{D9DF7C33-10DD-4A97-A453-DB6DEDBABED5}"/>
              </a:ext>
            </a:extLst>
          </p:cNvPr>
          <p:cNvSpPr>
            <a:spLocks noGrp="1"/>
          </p:cNvSpPr>
          <p:nvPr/>
        </p:nvSpPr>
        <p:spPr>
          <a:xfrm>
            <a:off x="3438525" y="5467350"/>
            <a:ext cx="5162550" cy="600075"/>
          </a:xfrm>
          <a:prstGeom prst="rect">
            <a:avLst/>
          </a:prstGeom>
          <a:noFill/>
          <a:ln w="0">
            <a:noFill/>
          </a:ln>
        </p:spPr>
        <p:txBody>
          <a:bodyPr wrap="none" lIns="0" tIns="0" rIns="0" bIns="0">
            <a:noAutofit/>
          </a:bodyPr>
          <a:lstStyle/>
          <a:p>
            <a:pPr>
              <a:defRPr sz="1650" b="0">
                <a:solidFill>
                  <a:srgbClr val="142B3B"/>
                </a:solidFill>
                <a:latin typeface="Arial"/>
                <a:ea typeface="Arial"/>
                <a:cs typeface="Arial"/>
              </a:defRPr>
            </a:pPr>
            <a:r>
              <a:rPr sz="1650" b="0">
                <a:solidFill>
                  <a:schemeClr val="tx1">
                    <a:lumMod val="95000"/>
                    <a:lumOff val="5000"/>
                  </a:schemeClr>
                </a:solidFill>
                <a:latin typeface="Arial" panose="020B0604020202020204" pitchFamily="34" charset="0"/>
                <a:ea typeface="Arial"/>
                <a:cs typeface="Arial" panose="020B0604020202020204" pitchFamily="34" charset="0"/>
              </a:rPr>
              <a:t>Banks and capital markets add</a:t>
            </a:r>
          </a:p>
          <a:p>
            <a:pPr>
              <a:defRPr sz="1650" b="0">
                <a:solidFill>
                  <a:srgbClr val="142B3B"/>
                </a:solidFill>
                <a:latin typeface="Arial"/>
                <a:ea typeface="Arial"/>
                <a:cs typeface="Arial"/>
              </a:defRPr>
            </a:pPr>
            <a:r>
              <a:rPr sz="1650" b="0">
                <a:solidFill>
                  <a:schemeClr val="tx1">
                    <a:lumMod val="95000"/>
                    <a:lumOff val="5000"/>
                  </a:schemeClr>
                </a:solidFill>
                <a:latin typeface="Arial" panose="020B0604020202020204" pitchFamily="34" charset="0"/>
                <a:ea typeface="Arial"/>
                <a:cs typeface="Arial" panose="020B0604020202020204" pitchFamily="34" charset="0"/>
              </a:rPr>
              <a:t>different earnings drivers and risks.</a:t>
            </a:r>
          </a:p>
        </p:txBody>
      </p:sp>
      <p:sp>
        <p:nvSpPr>
          <p:cNvPr id="6" name="Rectangle 5">
            <a:extLst>
              <a:ext uri="{FF2B5EF4-FFF2-40B4-BE49-F238E27FC236}">
                <a16:creationId xmlns:a16="http://schemas.microsoft.com/office/drawing/2014/main" id="{175EFA16-7A45-8D63-BB11-404ACF43BF53}"/>
              </a:ext>
            </a:extLst>
          </p:cNvPr>
          <p:cNvSpPr>
            <a:spLocks noGrp="1"/>
          </p:cNvSpPr>
          <p:nvPr/>
        </p:nvSpPr>
        <p:spPr>
          <a:xfrm>
            <a:off x="388408" y="6342592"/>
            <a:ext cx="7953375" cy="352425"/>
          </a:xfrm>
          <a:prstGeom prst="rect">
            <a:avLst/>
          </a:prstGeom>
          <a:noFill/>
          <a:ln w="0">
            <a:noFill/>
          </a:ln>
        </p:spPr>
        <p:txBody>
          <a:bodyPr wrap="none" lIns="0" tIns="0" rIns="0" bIns="0">
            <a:noAutofit/>
          </a:bodyPr>
          <a:lstStyle/>
          <a:p>
            <a:pPr>
              <a:defRPr sz="885" b="0">
                <a:solidFill>
                  <a:srgbClr val="536873"/>
                </a:solidFill>
                <a:latin typeface="Arial"/>
                <a:ea typeface="Arial"/>
                <a:cs typeface="Arial"/>
              </a:defRPr>
            </a:pPr>
            <a:r>
              <a:rPr sz="1400">
                <a:solidFill>
                  <a:schemeClr val="tx1">
                    <a:lumMod val="95000"/>
                    <a:lumOff val="5000"/>
                  </a:schemeClr>
                </a:solidFill>
                <a:latin typeface="Arial" panose="020B0604020202020204" pitchFamily="34" charset="0"/>
                <a:cs typeface="Arial" panose="020B0604020202020204" pitchFamily="34" charset="0"/>
              </a:rPr>
              <a:t>Sources: </a:t>
            </a:r>
            <a:r>
              <a:rPr lang="en-US" sz="1400">
                <a:solidFill>
                  <a:schemeClr val="tx1">
                    <a:lumMod val="95000"/>
                    <a:lumOff val="5000"/>
                  </a:schemeClr>
                </a:solidFill>
              </a:rPr>
              <a:t>https://institutional.fidelity.com/app/proxy/content?literatureURL=/9910078.PDF</a:t>
            </a:r>
            <a:endParaRPr sz="1400">
              <a:solidFill>
                <a:schemeClr val="tx1">
                  <a:lumMod val="95000"/>
                  <a:lumOff val="5000"/>
                </a:schemeClr>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559955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D09CEB0-76C1-4C58-B5A4-1795E1DC7BEF}"/>
              </a:ext>
            </a:extLst>
          </p:cNvPr>
          <p:cNvSpPr>
            <a:spLocks noGrp="1"/>
          </p:cNvSpPr>
          <p:nvPr/>
        </p:nvSpPr>
        <p:spPr>
          <a:xfrm>
            <a:off x="457200" y="276225"/>
            <a:ext cx="6572250" cy="228600"/>
          </a:xfrm>
          <a:prstGeom prst="rect">
            <a:avLst/>
          </a:prstGeom>
          <a:noFill/>
          <a:ln w="0">
            <a:noFill/>
          </a:ln>
        </p:spPr>
        <p:txBody>
          <a:bodyPr wrap="square" lIns="0" tIns="0" rIns="0" bIns="0" anchor="t">
            <a:noAutofit/>
          </a:bodyPr>
          <a:lstStyle/>
          <a:p>
            <a:pPr>
              <a:buNone/>
              <a:defRPr sz="1125" b="1">
                <a:solidFill>
                  <a:srgbClr val="007D80"/>
                </a:solidFill>
                <a:latin typeface="Bitstream Charter"/>
                <a:ea typeface="Bitstream Charter"/>
                <a:cs typeface="Bitstream Charter"/>
              </a:defRPr>
            </a:pPr>
            <a:r>
              <a:rPr sz="1125" b="1">
                <a:solidFill>
                  <a:srgbClr val="007D80"/>
                </a:solidFill>
                <a:latin typeface="Arial" panose="020B0604020202020204" pitchFamily="34" charset="0"/>
                <a:ea typeface="Arial"/>
                <a:cs typeface="Arial" panose="020B0604020202020204" pitchFamily="34" charset="0"/>
              </a:rPr>
              <a:t>FDFF </a:t>
            </a:r>
            <a:r>
              <a:rPr lang="en-US" sz="1125" b="1">
                <a:solidFill>
                  <a:srgbClr val="007D80"/>
                </a:solidFill>
                <a:latin typeface="Arial" panose="020B0604020202020204" pitchFamily="34" charset="0"/>
                <a:ea typeface="Arial"/>
                <a:cs typeface="Arial" panose="020B0604020202020204" pitchFamily="34" charset="0"/>
              </a:rPr>
              <a:t>|</a:t>
            </a:r>
            <a:r>
              <a:rPr sz="1125" b="1">
                <a:solidFill>
                  <a:srgbClr val="007D80"/>
                </a:solidFill>
                <a:latin typeface="Arial" panose="020B0604020202020204" pitchFamily="34" charset="0"/>
                <a:ea typeface="Arial"/>
                <a:cs typeface="Arial" panose="020B0604020202020204" pitchFamily="34" charset="0"/>
              </a:rPr>
              <a:t> PERFORMANCE AND RESPONSE</a:t>
            </a:r>
          </a:p>
        </p:txBody>
      </p:sp>
      <p:sp>
        <p:nvSpPr>
          <p:cNvPr id="2" name="Rectangle 1">
            <a:extLst>
              <a:ext uri="{FF2B5EF4-FFF2-40B4-BE49-F238E27FC236}">
                <a16:creationId xmlns:a16="http://schemas.microsoft.com/office/drawing/2014/main" id="{4989ABB2-98D3-4701-B919-97EBE5F257E0}"/>
              </a:ext>
            </a:extLst>
          </p:cNvPr>
          <p:cNvSpPr>
            <a:spLocks noGrp="1"/>
          </p:cNvSpPr>
          <p:nvPr/>
        </p:nvSpPr>
        <p:spPr>
          <a:xfrm>
            <a:off x="457200" y="871537"/>
            <a:ext cx="8239125" cy="876300"/>
          </a:xfrm>
          <a:prstGeom prst="rect">
            <a:avLst/>
          </a:prstGeom>
          <a:noFill/>
          <a:ln w="0">
            <a:noFill/>
          </a:ln>
        </p:spPr>
        <p:txBody>
          <a:bodyPr wrap="square" lIns="0" tIns="0" rIns="0" bIns="0" anchor="t">
            <a:noAutofit/>
          </a:bodyPr>
          <a:lstStyle/>
          <a:p>
            <a:pPr>
              <a:buNone/>
              <a:defRPr sz="2775" b="1">
                <a:solidFill>
                  <a:srgbClr val="142B3B"/>
                </a:solidFill>
                <a:latin typeface="Bitstream Charter"/>
                <a:ea typeface="Bitstream Charter"/>
                <a:cs typeface="Bitstream Charter"/>
              </a:defRPr>
            </a:pPr>
            <a:r>
              <a:rPr sz="2800" b="1">
                <a:solidFill>
                  <a:schemeClr val="tx1">
                    <a:lumMod val="95000"/>
                    <a:lumOff val="5000"/>
                  </a:schemeClr>
                </a:solidFill>
                <a:latin typeface="Arial" panose="020B0604020202020204" pitchFamily="34" charset="0"/>
                <a:ea typeface="Arial"/>
                <a:cs typeface="Arial" panose="020B0604020202020204" pitchFamily="34" charset="0"/>
              </a:rPr>
              <a:t>Payment stocks drove</a:t>
            </a:r>
            <a:r>
              <a:rPr lang="en-US" sz="2800" b="1">
                <a:solidFill>
                  <a:schemeClr val="tx1">
                    <a:lumMod val="95000"/>
                    <a:lumOff val="5000"/>
                  </a:schemeClr>
                </a:solidFill>
                <a:latin typeface="Arial" panose="020B0604020202020204" pitchFamily="34" charset="0"/>
                <a:ea typeface="Arial"/>
                <a:cs typeface="Arial" panose="020B0604020202020204" pitchFamily="34" charset="0"/>
              </a:rPr>
              <a:t> </a:t>
            </a:r>
            <a:r>
              <a:rPr sz="2800" b="1">
                <a:solidFill>
                  <a:schemeClr val="tx1">
                    <a:lumMod val="95000"/>
                    <a:lumOff val="5000"/>
                  </a:schemeClr>
                </a:solidFill>
                <a:latin typeface="Arial" panose="020B0604020202020204" pitchFamily="34" charset="0"/>
                <a:ea typeface="Arial"/>
                <a:cs typeface="Arial" panose="020B0604020202020204" pitchFamily="34" charset="0"/>
              </a:rPr>
              <a:t>the performance shortfall</a:t>
            </a:r>
          </a:p>
        </p:txBody>
      </p:sp>
      <p:sp>
        <p:nvSpPr>
          <p:cNvPr id="11" name="Rectangle 10">
            <a:extLst>
              <a:ext uri="{FF2B5EF4-FFF2-40B4-BE49-F238E27FC236}">
                <a16:creationId xmlns:a16="http://schemas.microsoft.com/office/drawing/2014/main" id="{22D875E7-6695-495A-A2CB-AC58C2FB24D4}"/>
              </a:ext>
            </a:extLst>
          </p:cNvPr>
          <p:cNvSpPr>
            <a:spLocks noGrp="1"/>
          </p:cNvSpPr>
          <p:nvPr/>
        </p:nvSpPr>
        <p:spPr>
          <a:xfrm>
            <a:off x="457200" y="6238875"/>
            <a:ext cx="7905750" cy="352425"/>
          </a:xfrm>
          <a:prstGeom prst="rect">
            <a:avLst/>
          </a:prstGeom>
          <a:noFill/>
          <a:ln w="0">
            <a:noFill/>
          </a:ln>
        </p:spPr>
        <p:txBody>
          <a:bodyPr wrap="square" lIns="0" tIns="0" rIns="0" bIns="0" anchor="t">
            <a:noAutofit/>
          </a:bodyPr>
          <a:lstStyle/>
          <a:p>
            <a:pPr>
              <a:buNone/>
              <a:defRPr sz="885" b="0">
                <a:solidFill>
                  <a:srgbClr val="536873"/>
                </a:solidFill>
                <a:latin typeface="Bitstream Charter"/>
                <a:ea typeface="Bitstream Charter"/>
                <a:cs typeface="Bitstream Charter"/>
              </a:defRPr>
            </a:pPr>
            <a:endParaRPr>
              <a:latin typeface="Arial" panose="020B0604020202020204" pitchFamily="34" charset="0"/>
              <a:cs typeface="Arial" panose="020B0604020202020204" pitchFamily="34" charset="0"/>
            </a:endParaRPr>
          </a:p>
        </p:txBody>
      </p:sp>
      <p:pic>
        <p:nvPicPr>
          <p:cNvPr id="29" name="Picture 12"/>
          <p:cNvPicPr>
            <a:picLocks noChangeAspect="1"/>
          </p:cNvPicPr>
          <p:nvPr/>
        </p:nvPicPr>
        <p:blipFill>
          <a:blip r:embed="rId3"/>
          <a:srcRect l="5741" t="11640" r="13148" b="25397"/>
          <a:stretch>
            <a:fillRect/>
          </a:stretch>
        </p:blipFill>
        <p:spPr>
          <a:xfrm>
            <a:off x="7152640" y="0"/>
            <a:ext cx="1991360" cy="811547"/>
          </a:xfrm>
          <a:prstGeom prst="rect">
            <a:avLst/>
          </a:prstGeom>
        </p:spPr>
      </p:pic>
      <p:sp>
        <p:nvSpPr>
          <p:cNvPr id="15" name="Total return">
            <a:extLst>
              <a:ext uri="{FF2B5EF4-FFF2-40B4-BE49-F238E27FC236}">
                <a16:creationId xmlns:a16="http://schemas.microsoft.com/office/drawing/2014/main" id="{92CC0455-24A3-4124-BBEF-4365C34F7997}"/>
              </a:ext>
            </a:extLst>
          </p:cNvPr>
          <p:cNvSpPr>
            <a:spLocks noGrp="1"/>
          </p:cNvSpPr>
          <p:nvPr/>
        </p:nvSpPr>
        <p:spPr>
          <a:xfrm>
            <a:off x="457200" y="1971674"/>
            <a:ext cx="4029075" cy="285750"/>
          </a:xfrm>
          <a:prstGeom prst="rect">
            <a:avLst/>
          </a:prstGeom>
          <a:noFill/>
          <a:ln w="0">
            <a:noFill/>
          </a:ln>
        </p:spPr>
        <p:txBody>
          <a:bodyPr wrap="none" lIns="0" tIns="0" rIns="0" bIns="0">
            <a:noAutofit/>
          </a:bodyPr>
          <a:lstStyle/>
          <a:p>
            <a:pPr>
              <a:defRPr sz="1725" b="1">
                <a:solidFill>
                  <a:srgbClr val="007D80"/>
                </a:solidFill>
                <a:latin typeface="Arial"/>
                <a:ea typeface="Arial"/>
                <a:cs typeface="Arial"/>
              </a:defRPr>
            </a:pPr>
            <a:r>
              <a:rPr sz="1725" b="1">
                <a:solidFill>
                  <a:srgbClr val="007D80"/>
                </a:solidFill>
                <a:latin typeface="Arial" panose="020B0604020202020204" pitchFamily="34" charset="0"/>
                <a:ea typeface="Arial"/>
                <a:cs typeface="Arial" panose="020B0604020202020204" pitchFamily="34" charset="0"/>
              </a:rPr>
              <a:t>Total return</a:t>
            </a:r>
          </a:p>
        </p:txBody>
      </p:sp>
      <p:sp>
        <p:nvSpPr>
          <p:cNvPr id="16" name="Selected relative contributions">
            <a:extLst>
              <a:ext uri="{FF2B5EF4-FFF2-40B4-BE49-F238E27FC236}">
                <a16:creationId xmlns:a16="http://schemas.microsoft.com/office/drawing/2014/main" id="{6E5FEE7C-9AD5-4060-8B3B-F728E9C618E4}"/>
              </a:ext>
            </a:extLst>
          </p:cNvPr>
          <p:cNvSpPr>
            <a:spLocks noGrp="1"/>
          </p:cNvSpPr>
          <p:nvPr/>
        </p:nvSpPr>
        <p:spPr>
          <a:xfrm>
            <a:off x="4695825" y="1971674"/>
            <a:ext cx="4095750" cy="285750"/>
          </a:xfrm>
          <a:prstGeom prst="rect">
            <a:avLst/>
          </a:prstGeom>
          <a:noFill/>
          <a:ln w="0">
            <a:noFill/>
          </a:ln>
        </p:spPr>
        <p:txBody>
          <a:bodyPr wrap="none" lIns="0" tIns="0" rIns="0" bIns="0">
            <a:noAutofit/>
          </a:bodyPr>
          <a:lstStyle/>
          <a:p>
            <a:pPr>
              <a:defRPr sz="1650" b="1">
                <a:solidFill>
                  <a:srgbClr val="007D80"/>
                </a:solidFill>
                <a:latin typeface="Arial"/>
                <a:ea typeface="Arial"/>
                <a:cs typeface="Arial"/>
              </a:defRPr>
            </a:pPr>
            <a:r>
              <a:rPr sz="1650" b="1">
                <a:solidFill>
                  <a:srgbClr val="007D80"/>
                </a:solidFill>
                <a:latin typeface="Arial" panose="020B0604020202020204" pitchFamily="34" charset="0"/>
                <a:ea typeface="Arial"/>
                <a:cs typeface="Arial" panose="020B0604020202020204" pitchFamily="34" charset="0"/>
              </a:rPr>
              <a:t>Selected relative contributions</a:t>
            </a:r>
          </a:p>
        </p:txBody>
      </p:sp>
      <p:graphicFrame>
        <p:nvGraphicFramePr>
          <p:cNvPr id="32" name="Chart"/>
          <p:cNvGraphicFramePr/>
          <p:nvPr>
            <p:extLst>
              <p:ext uri="{D42A27DB-BD31-4B8C-83A1-F6EECF244321}">
                <p14:modId xmlns:p14="http://schemas.microsoft.com/office/powerpoint/2010/main" val="4173295002"/>
              </p:ext>
            </p:extLst>
          </p:nvPr>
        </p:nvGraphicFramePr>
        <p:xfrm>
          <a:off x="381000" y="2400298"/>
          <a:ext cx="3829050" cy="30432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3" name="Chart"/>
          <p:cNvGraphicFramePr/>
          <p:nvPr>
            <p:extLst>
              <p:ext uri="{D42A27DB-BD31-4B8C-83A1-F6EECF244321}">
                <p14:modId xmlns:p14="http://schemas.microsoft.com/office/powerpoint/2010/main" val="1924525920"/>
              </p:ext>
            </p:extLst>
          </p:nvPr>
        </p:nvGraphicFramePr>
        <p:xfrm>
          <a:off x="4524375" y="2400299"/>
          <a:ext cx="4171950" cy="2938462"/>
        </p:xfrm>
        <a:graphic>
          <a:graphicData uri="http://schemas.openxmlformats.org/drawingml/2006/chart">
            <c:chart xmlns:c="http://schemas.openxmlformats.org/drawingml/2006/chart" xmlns:r="http://schemas.openxmlformats.org/officeDocument/2006/relationships" r:id="rId5"/>
          </a:graphicData>
        </a:graphic>
      </p:graphicFrame>
      <p:sp>
        <p:nvSpPr>
          <p:cNvPr id="19" name="Basis points vs. the financials index¹">
            <a:extLst>
              <a:ext uri="{FF2B5EF4-FFF2-40B4-BE49-F238E27FC236}">
                <a16:creationId xmlns:a16="http://schemas.microsoft.com/office/drawing/2014/main" id="{9D8D4145-FA8C-4462-8999-31D1F8A0DFCD}"/>
              </a:ext>
            </a:extLst>
          </p:cNvPr>
          <p:cNvSpPr>
            <a:spLocks noGrp="1"/>
          </p:cNvSpPr>
          <p:nvPr/>
        </p:nvSpPr>
        <p:spPr>
          <a:xfrm>
            <a:off x="4686300" y="5338761"/>
            <a:ext cx="4010025" cy="228600"/>
          </a:xfrm>
          <a:prstGeom prst="rect">
            <a:avLst/>
          </a:prstGeom>
          <a:noFill/>
          <a:ln w="0">
            <a:noFill/>
          </a:ln>
        </p:spPr>
        <p:txBody>
          <a:bodyPr wrap="none" lIns="0" tIns="0" rIns="0" bIns="0">
            <a:noAutofit/>
          </a:bodyPr>
          <a:lstStyle/>
          <a:p>
            <a:pPr>
              <a:defRPr sz="1200" b="0">
                <a:solidFill>
                  <a:srgbClr val="536873"/>
                </a:solidFill>
                <a:latin typeface="Arial"/>
                <a:ea typeface="Arial"/>
                <a:cs typeface="Arial"/>
              </a:defRPr>
            </a:pPr>
            <a:r>
              <a:rPr sz="1200" b="0">
                <a:solidFill>
                  <a:schemeClr val="tx1">
                    <a:lumMod val="95000"/>
                    <a:lumOff val="5000"/>
                  </a:schemeClr>
                </a:solidFill>
                <a:latin typeface="Arial" panose="020B0604020202020204" pitchFamily="34" charset="0"/>
                <a:ea typeface="Arial"/>
                <a:cs typeface="Arial" panose="020B0604020202020204" pitchFamily="34" charset="0"/>
              </a:rPr>
              <a:t>Basis points vs. the financials index¹</a:t>
            </a:r>
          </a:p>
        </p:txBody>
      </p:sp>
      <p:sp>
        <p:nvSpPr>
          <p:cNvPr id="21" name="¹MSCI ACWI Financials Equal Weighted Index (N">
            <a:extLst>
              <a:ext uri="{FF2B5EF4-FFF2-40B4-BE49-F238E27FC236}">
                <a16:creationId xmlns:a16="http://schemas.microsoft.com/office/drawing/2014/main" id="{CDD80138-EA1D-4E83-8B0E-499C81BEDA95}"/>
              </a:ext>
            </a:extLst>
          </p:cNvPr>
          <p:cNvSpPr>
            <a:spLocks noGrp="1"/>
          </p:cNvSpPr>
          <p:nvPr/>
        </p:nvSpPr>
        <p:spPr>
          <a:xfrm>
            <a:off x="485775" y="6134100"/>
            <a:ext cx="8220075" cy="542925"/>
          </a:xfrm>
          <a:prstGeom prst="rect">
            <a:avLst/>
          </a:prstGeom>
          <a:noFill/>
          <a:ln w="0">
            <a:noFill/>
          </a:ln>
        </p:spPr>
        <p:txBody>
          <a:bodyPr wrap="none" lIns="0" tIns="0" rIns="0" bIns="0">
            <a:noAutofit/>
          </a:bodyPr>
          <a:lstStyle/>
          <a:p>
            <a:pPr>
              <a:defRPr sz="863" b="0">
                <a:solidFill>
                  <a:srgbClr val="536873"/>
                </a:solidFill>
                <a:latin typeface="Arial"/>
                <a:ea typeface="Arial"/>
                <a:cs typeface="Arial"/>
              </a:defRPr>
            </a:pPr>
            <a:r>
              <a:rPr lang="en-US" sz="1400">
                <a:solidFill>
                  <a:schemeClr val="tx1">
                    <a:lumMod val="95000"/>
                    <a:lumOff val="5000"/>
                  </a:schemeClr>
                </a:solidFill>
                <a:latin typeface="Arial" panose="020B0604020202020204" pitchFamily="34" charset="0"/>
                <a:ea typeface="Arial"/>
                <a:cs typeface="Arial" panose="020B0604020202020204" pitchFamily="34" charset="0"/>
              </a:rPr>
              <a:t>Note: Financials index means </a:t>
            </a:r>
            <a:r>
              <a:rPr sz="1400" b="0">
                <a:solidFill>
                  <a:schemeClr val="tx1">
                    <a:lumMod val="95000"/>
                    <a:lumOff val="5000"/>
                  </a:schemeClr>
                </a:solidFill>
                <a:latin typeface="Arial" panose="020B0604020202020204" pitchFamily="34" charset="0"/>
                <a:ea typeface="Arial"/>
                <a:cs typeface="Arial" panose="020B0604020202020204" pitchFamily="34" charset="0"/>
              </a:rPr>
              <a:t>MSCI ACWI Financials Equal Weighted Index.</a:t>
            </a:r>
            <a:endParaRPr lang="en-US" sz="1400" b="0">
              <a:solidFill>
                <a:schemeClr val="tx1">
                  <a:lumMod val="95000"/>
                  <a:lumOff val="5000"/>
                </a:schemeClr>
              </a:solidFill>
              <a:latin typeface="Arial" panose="020B0604020202020204" pitchFamily="34" charset="0"/>
              <a:ea typeface="Arial"/>
              <a:cs typeface="Arial" panose="020B0604020202020204" pitchFamily="34" charset="0"/>
            </a:endParaRPr>
          </a:p>
          <a:p>
            <a:pPr>
              <a:defRPr sz="863" b="0">
                <a:solidFill>
                  <a:srgbClr val="536873"/>
                </a:solidFill>
                <a:latin typeface="Arial"/>
                <a:ea typeface="Arial"/>
                <a:cs typeface="Arial"/>
              </a:defRPr>
            </a:pPr>
            <a:r>
              <a:rPr lang="en-US" sz="1400">
                <a:solidFill>
                  <a:schemeClr val="tx1">
                    <a:lumMod val="95000"/>
                    <a:lumOff val="5000"/>
                  </a:schemeClr>
                </a:solidFill>
                <a:latin typeface="Arial" panose="020B0604020202020204" pitchFamily="34" charset="0"/>
                <a:ea typeface="Arial"/>
                <a:cs typeface="Arial" panose="020B0604020202020204" pitchFamily="34" charset="0"/>
              </a:rPr>
              <a:t>Source: https://www.msci.com/indexes/index/106751/msci-acwi-financials-index</a:t>
            </a:r>
          </a:p>
          <a:p>
            <a:pPr>
              <a:defRPr sz="863" b="0">
                <a:solidFill>
                  <a:srgbClr val="536873"/>
                </a:solidFill>
                <a:latin typeface="Arial"/>
                <a:ea typeface="Arial"/>
                <a:cs typeface="Arial"/>
              </a:defRPr>
            </a:pPr>
            <a:endParaRPr sz="1400" b="0">
              <a:solidFill>
                <a:schemeClr val="tx1">
                  <a:lumMod val="95000"/>
                  <a:lumOff val="5000"/>
                </a:schemeClr>
              </a:solidFill>
              <a:latin typeface="Arial" panose="020B0604020202020204" pitchFamily="34" charset="0"/>
              <a:ea typeface="Arial"/>
              <a:cs typeface="Arial" panose="020B0604020202020204" pitchFamily="34" charset="0"/>
            </a:endParaRPr>
          </a:p>
        </p:txBody>
      </p:sp>
    </p:spTree>
    <p:extLst>
      <p:ext uri="{BB962C8B-B14F-4D97-AF65-F5344CB8AC3E}">
        <p14:creationId xmlns:p14="http://schemas.microsoft.com/office/powerpoint/2010/main" val="3161366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F333E00-004D-41AD-8F2F-8E25DFE1917E}"/>
              </a:ext>
            </a:extLst>
          </p:cNvPr>
          <p:cNvSpPr>
            <a:spLocks noGrp="1"/>
          </p:cNvSpPr>
          <p:nvPr/>
        </p:nvSpPr>
        <p:spPr>
          <a:xfrm>
            <a:off x="457200" y="304800"/>
            <a:ext cx="8229600" cy="209550"/>
          </a:xfrm>
          <a:prstGeom prst="rect">
            <a:avLst/>
          </a:prstGeom>
          <a:noFill/>
          <a:ln w="0">
            <a:noFill/>
          </a:ln>
        </p:spPr>
        <p:txBody>
          <a:bodyPr lIns="0" tIns="0" rIns="0" bIns="0" anchor="t">
            <a:noAutofit/>
          </a:bodyPr>
          <a:lstStyle/>
          <a:p>
            <a:pPr>
              <a:defRPr sz="1125" b="1">
                <a:solidFill>
                  <a:srgbClr val="007D80"/>
                </a:solidFill>
                <a:latin typeface="Nimbus Sans"/>
                <a:ea typeface="Nimbus Sans"/>
                <a:cs typeface="Nimbus Sans"/>
              </a:defRPr>
            </a:pPr>
            <a:r>
              <a:rPr lang="en-US" sz="1125" b="1">
                <a:solidFill>
                  <a:srgbClr val="007D80"/>
                </a:solidFill>
                <a:latin typeface="Arial" panose="020B0604020202020204" pitchFamily="34" charset="0"/>
                <a:cs typeface="Arial" panose="020B0604020202020204" pitchFamily="34" charset="0"/>
              </a:rPr>
              <a:t>CONCLUSION</a:t>
            </a:r>
            <a:r>
              <a:rPr sz="1125" b="1">
                <a:solidFill>
                  <a:srgbClr val="007D80"/>
                </a:solidFill>
                <a:latin typeface="Arial" panose="020B0604020202020204" pitchFamily="34" charset="0"/>
                <a:ea typeface="Nimbus Sans"/>
                <a:cs typeface="Arial" panose="020B0604020202020204" pitchFamily="34" charset="0"/>
              </a:rPr>
              <a:t> | </a:t>
            </a:r>
            <a:r>
              <a:rPr lang="en-US" sz="1125" b="1">
                <a:solidFill>
                  <a:srgbClr val="007D80"/>
                </a:solidFill>
                <a:latin typeface="Arial" panose="020B0604020202020204" pitchFamily="34" charset="0"/>
                <a:cs typeface="Arial" panose="020B0604020202020204" pitchFamily="34" charset="0"/>
              </a:rPr>
              <a:t>HOLDINGS</a:t>
            </a:r>
            <a:endParaRPr sz="1125" b="1">
              <a:solidFill>
                <a:srgbClr val="007D80"/>
              </a:solidFill>
              <a:latin typeface="Arial" panose="020B0604020202020204" pitchFamily="34" charset="0"/>
              <a:ea typeface="Nimbus Sans"/>
              <a:cs typeface="Arial" panose="020B0604020202020204" pitchFamily="34" charset="0"/>
            </a:endParaRPr>
          </a:p>
        </p:txBody>
      </p:sp>
      <p:sp>
        <p:nvSpPr>
          <p:cNvPr id="2" name="Rectangle 1">
            <a:extLst>
              <a:ext uri="{FF2B5EF4-FFF2-40B4-BE49-F238E27FC236}">
                <a16:creationId xmlns:a16="http://schemas.microsoft.com/office/drawing/2014/main" id="{1888AE79-7141-4D8E-A482-FB4402831EAD}"/>
              </a:ext>
            </a:extLst>
          </p:cNvPr>
          <p:cNvSpPr>
            <a:spLocks noGrp="1"/>
          </p:cNvSpPr>
          <p:nvPr/>
        </p:nvSpPr>
        <p:spPr>
          <a:xfrm>
            <a:off x="457200" y="723900"/>
            <a:ext cx="8229600" cy="476250"/>
          </a:xfrm>
          <a:prstGeom prst="rect">
            <a:avLst/>
          </a:prstGeom>
          <a:noFill/>
          <a:ln w="0">
            <a:noFill/>
          </a:ln>
        </p:spPr>
        <p:txBody>
          <a:bodyPr lIns="0" tIns="0" rIns="0" bIns="0" anchor="t">
            <a:noAutofit/>
          </a:bodyPr>
          <a:lstStyle/>
          <a:p>
            <a:r>
              <a:rPr lang="en-US" sz="2400" b="1">
                <a:solidFill>
                  <a:srgbClr val="142B3B"/>
                </a:solidFill>
                <a:latin typeface="Arial"/>
              </a:rPr>
              <a:t>Three ETFs, three different FinTech bets</a:t>
            </a:r>
          </a:p>
        </p:txBody>
      </p:sp>
      <p:graphicFrame>
        <p:nvGraphicFramePr>
          <p:cNvPr id="3" name="Table 2">
            <a:extLst>
              <a:ext uri="{FF2B5EF4-FFF2-40B4-BE49-F238E27FC236}">
                <a16:creationId xmlns:a16="http://schemas.microsoft.com/office/drawing/2014/main" id="{05B30F53-B5A7-E3AE-5D71-01DF24218F6D}"/>
              </a:ext>
            </a:extLst>
          </p:cNvPr>
          <p:cNvGraphicFramePr>
            <a:graphicFrameLocks noGrp="1"/>
          </p:cNvGraphicFramePr>
          <p:nvPr/>
        </p:nvGraphicFramePr>
        <p:xfrm>
          <a:off x="457200" y="1444752"/>
          <a:ext cx="8229600" cy="4279392"/>
        </p:xfrm>
        <a:graphic>
          <a:graphicData uri="http://schemas.openxmlformats.org/drawingml/2006/table">
            <a:tbl>
              <a:tblPr/>
              <a:tblGrid>
                <a:gridCol w="914400">
                  <a:extLst>
                    <a:ext uri="{9D8B030D-6E8A-4147-A177-3AD203B41FA5}">
                      <a16:colId xmlns:a16="http://schemas.microsoft.com/office/drawing/2014/main" val="20000"/>
                    </a:ext>
                  </a:extLst>
                </a:gridCol>
                <a:gridCol w="2441448">
                  <a:extLst>
                    <a:ext uri="{9D8B030D-6E8A-4147-A177-3AD203B41FA5}">
                      <a16:colId xmlns:a16="http://schemas.microsoft.com/office/drawing/2014/main" val="20001"/>
                    </a:ext>
                  </a:extLst>
                </a:gridCol>
                <a:gridCol w="2441448">
                  <a:extLst>
                    <a:ext uri="{9D8B030D-6E8A-4147-A177-3AD203B41FA5}">
                      <a16:colId xmlns:a16="http://schemas.microsoft.com/office/drawing/2014/main" val="20002"/>
                    </a:ext>
                  </a:extLst>
                </a:gridCol>
                <a:gridCol w="2432304">
                  <a:extLst>
                    <a:ext uri="{9D8B030D-6E8A-4147-A177-3AD203B41FA5}">
                      <a16:colId xmlns:a16="http://schemas.microsoft.com/office/drawing/2014/main" val="20003"/>
                    </a:ext>
                  </a:extLst>
                </a:gridCol>
              </a:tblGrid>
              <a:tr h="658368">
                <a:tc>
                  <a:txBody>
                    <a:bodyPr/>
                    <a:lstStyle/>
                    <a:p>
                      <a:pPr algn="ctr"/>
                      <a:r>
                        <a:rPr sz="2000" b="1">
                          <a:solidFill>
                            <a:srgbClr val="FFFFFF"/>
                          </a:solidFill>
                          <a:latin typeface="Arial"/>
                        </a:rPr>
                        <a:t>#</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ARKF</a:t>
                      </a:r>
                    </a:p>
                    <a:p>
                      <a:pPr algn="ctr"/>
                      <a:r>
                        <a:rPr sz="1400" b="0">
                          <a:solidFill>
                            <a:srgbClr val="C3D5DB"/>
                          </a:solidFill>
                          <a:latin typeface="Arial"/>
                        </a:rPr>
                        <a:t>Bitcoin &amp; commerce</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FINX</a:t>
                      </a:r>
                    </a:p>
                    <a:p>
                      <a:pPr algn="ctr"/>
                      <a:r>
                        <a:rPr sz="1400" b="0">
                          <a:solidFill>
                            <a:srgbClr val="C3D5DB"/>
                          </a:solidFill>
                          <a:latin typeface="Arial"/>
                        </a:rPr>
                        <a:t>Payments &amp; brokerage</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FDFF</a:t>
                      </a:r>
                    </a:p>
                    <a:p>
                      <a:pPr algn="ctr"/>
                      <a:r>
                        <a:rPr sz="1400" b="0">
                          <a:solidFill>
                            <a:srgbClr val="C3D5DB"/>
                          </a:solidFill>
                          <a:latin typeface="Arial"/>
                        </a:rPr>
                        <a:t>Banks &amp; asset managers</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extLst>
                  <a:ext uri="{0D108BD9-81ED-4DB2-BD59-A6C34878D82A}">
                    <a16:rowId xmlns:a16="http://schemas.microsoft.com/office/drawing/2014/main" val="10000"/>
                  </a:ext>
                </a:extLst>
              </a:tr>
              <a:tr h="301752">
                <a:tc>
                  <a:txBody>
                    <a:bodyPr/>
                    <a:lstStyle/>
                    <a:p>
                      <a:pPr algn="ctr"/>
                      <a:r>
                        <a:rPr sz="1800" b="1">
                          <a:solidFill>
                            <a:srgbClr val="142B3B"/>
                          </a:solidFill>
                          <a:latin typeface="Arial"/>
                        </a:rPr>
                        <a:t>1</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Shopify 9.9%</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Robinhood 8.56%</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DBS Group 6.00%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1"/>
                  </a:ext>
                </a:extLst>
              </a:tr>
              <a:tr h="301752">
                <a:tc>
                  <a:txBody>
                    <a:bodyPr/>
                    <a:lstStyle/>
                    <a:p>
                      <a:pPr algn="ctr"/>
                      <a:r>
                        <a:rPr sz="1800" b="1">
                          <a:solidFill>
                            <a:srgbClr val="142B3B"/>
                          </a:solidFill>
                          <a:latin typeface="Arial"/>
                        </a:rPr>
                        <a:t>2</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Robinhood 6.4%</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PayPal 6.74%</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Capital One 5.82%</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02"/>
                  </a:ext>
                </a:extLst>
              </a:tr>
              <a:tr h="301752">
                <a:tc>
                  <a:txBody>
                    <a:bodyPr/>
                    <a:lstStyle/>
                    <a:p>
                      <a:pPr algn="ctr"/>
                      <a:r>
                        <a:rPr sz="1800" b="1">
                          <a:solidFill>
                            <a:srgbClr val="142B3B"/>
                          </a:solidFill>
                          <a:latin typeface="Arial"/>
                        </a:rPr>
                        <a:t>3</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Block 6.2%</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Block 6.67%</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BlackRock 5.54%</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3"/>
                  </a:ext>
                </a:extLst>
              </a:tr>
              <a:tr h="301752">
                <a:tc>
                  <a:txBody>
                    <a:bodyPr/>
                    <a:lstStyle/>
                    <a:p>
                      <a:pPr algn="ctr"/>
                      <a:r>
                        <a:rPr sz="1800" b="1">
                          <a:solidFill>
                            <a:srgbClr val="142B3B"/>
                          </a:solidFill>
                          <a:latin typeface="Arial"/>
                        </a:rPr>
                        <a:t>4</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ARK 21Shares BTC 5.8%</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Coinbase 5.55%</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Bankinter 4.88%</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04"/>
                  </a:ext>
                </a:extLst>
              </a:tr>
              <a:tr h="301752">
                <a:tc>
                  <a:txBody>
                    <a:bodyPr/>
                    <a:lstStyle/>
                    <a:p>
                      <a:pPr algn="ctr"/>
                      <a:r>
                        <a:rPr sz="1800" b="1">
                          <a:solidFill>
                            <a:srgbClr val="142B3B"/>
                          </a:solidFill>
                          <a:latin typeface="Arial"/>
                        </a:rPr>
                        <a:t>5</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Coinbase 5.3%</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Fiserv 4.33%</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FinecoBank 4.66%</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5"/>
                  </a:ext>
                </a:extLst>
              </a:tr>
              <a:tr h="301752">
                <a:tc>
                  <a:txBody>
                    <a:bodyPr/>
                    <a:lstStyle/>
                    <a:p>
                      <a:pPr algn="ctr"/>
                      <a:r>
                        <a:rPr sz="1800" b="1">
                          <a:solidFill>
                            <a:srgbClr val="142B3B"/>
                          </a:solidFill>
                          <a:latin typeface="Arial"/>
                        </a:rPr>
                        <a:t>6</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Toast 4.6%</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Global Payments 4.25%</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Visa 4.57%</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06"/>
                  </a:ext>
                </a:extLst>
              </a:tr>
              <a:tr h="301752">
                <a:tc>
                  <a:txBody>
                    <a:bodyPr/>
                    <a:lstStyle/>
                    <a:p>
                      <a:pPr algn="ctr"/>
                      <a:r>
                        <a:rPr sz="1800" b="1">
                          <a:solidFill>
                            <a:srgbClr val="142B3B"/>
                          </a:solidFill>
                          <a:latin typeface="Arial"/>
                        </a:rPr>
                        <a:t>7</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AMD 4.4%</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Adyen 4.24%</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Mastercard 4.35%</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7"/>
                  </a:ext>
                </a:extLst>
              </a:tr>
              <a:tr h="301752">
                <a:tc>
                  <a:txBody>
                    <a:bodyPr/>
                    <a:lstStyle/>
                    <a:p>
                      <a:pPr algn="ctr"/>
                      <a:r>
                        <a:rPr sz="1800" b="1">
                          <a:solidFill>
                            <a:srgbClr val="142B3B"/>
                          </a:solidFill>
                          <a:latin typeface="Arial"/>
                        </a:rPr>
                        <a:t>8</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Circle 4.2%</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Affirm 3.76%</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Block 4.21%</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08"/>
                  </a:ext>
                </a:extLst>
              </a:tr>
              <a:tr h="301752">
                <a:tc>
                  <a:txBody>
                    <a:bodyPr/>
                    <a:lstStyle/>
                    <a:p>
                      <a:pPr algn="ctr"/>
                      <a:r>
                        <a:rPr sz="1800" b="1">
                          <a:solidFill>
                            <a:srgbClr val="142B3B"/>
                          </a:solidFill>
                          <a:latin typeface="Arial"/>
                        </a:rPr>
                        <a:t>9</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Palantir 4.2%</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SoFi 3.72%</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600" b="0">
                          <a:solidFill>
                            <a:srgbClr val="142B3B"/>
                          </a:solidFill>
                          <a:latin typeface="Arial"/>
                        </a:rPr>
                        <a:t>Apollo 4.13%</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9"/>
                  </a:ext>
                </a:extLst>
              </a:tr>
              <a:tr h="301752">
                <a:tc>
                  <a:txBody>
                    <a:bodyPr/>
                    <a:lstStyle/>
                    <a:p>
                      <a:pPr algn="ctr"/>
                      <a:r>
                        <a:rPr sz="1800" b="1">
                          <a:solidFill>
                            <a:srgbClr val="142B3B"/>
                          </a:solidFill>
                          <a:latin typeface="Arial"/>
                        </a:rPr>
                        <a:t>10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Amazon 4.0%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Intuit 3.61%</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600" b="0">
                          <a:solidFill>
                            <a:srgbClr val="142B3B"/>
                          </a:solidFill>
                          <a:latin typeface="Arial"/>
                        </a:rPr>
                        <a:t>Hiscox 3.95%</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10"/>
                  </a:ext>
                </a:extLst>
              </a:tr>
              <a:tr h="301752">
                <a:tc>
                  <a:txBody>
                    <a:bodyPr/>
                    <a:lstStyle/>
                    <a:p>
                      <a:pPr algn="ctr"/>
                      <a:r>
                        <a:rPr sz="1800" b="1">
                          <a:solidFill>
                            <a:srgbClr val="142B3B"/>
                          </a:solidFill>
                          <a:latin typeface="Arial"/>
                        </a:rPr>
                        <a:t>Top 10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1">
                          <a:solidFill>
                            <a:srgbClr val="142B3B"/>
                          </a:solidFill>
                          <a:latin typeface="Arial"/>
                        </a:rPr>
                        <a:t>55.0%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1">
                          <a:solidFill>
                            <a:srgbClr val="142B3B"/>
                          </a:solidFill>
                          <a:latin typeface="Arial"/>
                        </a:rPr>
                        <a:t>51.43%</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1">
                          <a:solidFill>
                            <a:srgbClr val="142B3B"/>
                          </a:solidFill>
                          <a:latin typeface="Arial"/>
                        </a:rPr>
                        <a:t>48.10%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4" name="Rectangle 3">
            <a:extLst>
              <a:ext uri="{FF2B5EF4-FFF2-40B4-BE49-F238E27FC236}">
                <a16:creationId xmlns:a16="http://schemas.microsoft.com/office/drawing/2014/main" id="{BEE18F56-63C9-5373-0BDF-C8BF2E2994E7}"/>
              </a:ext>
            </a:extLst>
          </p:cNvPr>
          <p:cNvSpPr>
            <a:spLocks noGrp="1"/>
          </p:cNvSpPr>
          <p:nvPr/>
        </p:nvSpPr>
        <p:spPr>
          <a:xfrm>
            <a:off x="457200" y="6329377"/>
            <a:ext cx="8229600" cy="523220"/>
          </a:xfrm>
          <a:prstGeom prst="rect">
            <a:avLst/>
          </a:prstGeom>
          <a:noFill/>
        </p:spPr>
        <p:txBody>
          <a:bodyPr wrap="square" rtlCol="0">
            <a:spAutoFit/>
          </a:bodyPr>
          <a:lstStyle/>
          <a:p>
            <a:r>
              <a:rPr sz="1400">
                <a:latin typeface="Arial" panose="020B0604020202020204" pitchFamily="34" charset="0"/>
                <a:cs typeface="Arial" panose="020B0604020202020204" pitchFamily="34" charset="0"/>
              </a:rPr>
              <a:t>Sources: </a:t>
            </a:r>
            <a:r>
              <a:rPr lang="en-US" sz="1400">
                <a:latin typeface="Arial"/>
                <a:hlinkClick r:id="rId3">
                  <a:extLst>
                    <a:ext uri="{A12FA001-AC4F-418D-AE19-62706E023703}">
                      <ahyp:hlinkClr xmlns:ahyp="http://schemas.microsoft.com/office/drawing/2018/hyperlinkcolor" val="tx"/>
                    </a:ext>
                  </a:extLst>
                </a:hlinkClick>
              </a:rPr>
              <a:t>ARK</a:t>
            </a:r>
            <a:r>
              <a:rPr lang="en-US" sz="1400">
                <a:latin typeface="Arial"/>
              </a:rPr>
              <a:t> ARKF fact sheet (6/30/26); </a:t>
            </a:r>
            <a:r>
              <a:rPr lang="en-US" sz="1400">
                <a:latin typeface="Arial"/>
                <a:hlinkClick r:id="rId4">
                  <a:extLst>
                    <a:ext uri="{A12FA001-AC4F-418D-AE19-62706E023703}">
                      <ahyp:hlinkClr xmlns:ahyp="http://schemas.microsoft.com/office/drawing/2018/hyperlinkcolor" val="tx"/>
                    </a:ext>
                  </a:extLst>
                </a:hlinkClick>
              </a:rPr>
              <a:t>Global X</a:t>
            </a:r>
            <a:r>
              <a:rPr lang="en-US" sz="1400">
                <a:latin typeface="Arial"/>
              </a:rPr>
              <a:t> FINX holdings (9/30/26); </a:t>
            </a:r>
            <a:r>
              <a:rPr lang="en-US" sz="1400">
                <a:latin typeface="Arial"/>
                <a:hlinkClick r:id="rId5">
                  <a:extLst>
                    <a:ext uri="{A12FA001-AC4F-418D-AE19-62706E023703}">
                      <ahyp:hlinkClr xmlns:ahyp="http://schemas.microsoft.com/office/drawing/2018/hyperlinkcolor" val="tx"/>
                    </a:ext>
                  </a:extLst>
                </a:hlinkClick>
              </a:rPr>
              <a:t>Fidelity</a:t>
            </a:r>
            <a:r>
              <a:rPr lang="en-US" sz="1400">
                <a:latin typeface="Arial"/>
              </a:rPr>
              <a:t> FDFF fact sheet (6/30/26)</a:t>
            </a:r>
            <a:endParaRPr lang="en-US" sz="1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25472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173124"/>
          </a:xfrm>
          <a:prstGeom prst="rect">
            <a:avLst/>
          </a:prstGeom>
          <a:noFill/>
        </p:spPr>
        <p:txBody>
          <a:bodyPr wrap="square" lIns="0" tIns="0" rIns="0" bIns="0" anchor="t">
            <a:spAutoFit/>
          </a:bodyPr>
          <a:lstStyle/>
          <a:p>
            <a:pPr algn="l"/>
            <a:r>
              <a:rPr sz="1125" b="1">
                <a:solidFill>
                  <a:srgbClr val="007D80"/>
                </a:solidFill>
                <a:latin typeface="Arial" panose="020B0604020202020204" pitchFamily="34" charset="0"/>
                <a:cs typeface="Arial" panose="020B0604020202020204" pitchFamily="34" charset="0"/>
              </a:rPr>
              <a:t>CONCLUSION | HOLDINGS OVERLAP</a:t>
            </a:r>
          </a:p>
        </p:txBody>
      </p:sp>
      <p:sp>
        <p:nvSpPr>
          <p:cNvPr id="3" name="TextBox 2"/>
          <p:cNvSpPr txBox="1"/>
          <p:nvPr/>
        </p:nvSpPr>
        <p:spPr>
          <a:xfrm>
            <a:off x="457200" y="603504"/>
            <a:ext cx="8229600" cy="369332"/>
          </a:xfrm>
          <a:prstGeom prst="rect">
            <a:avLst/>
          </a:prstGeom>
          <a:noFill/>
        </p:spPr>
        <p:txBody>
          <a:bodyPr wrap="square" lIns="0" tIns="0" rIns="0" bIns="0" anchor="t">
            <a:spAutoFit/>
          </a:bodyPr>
          <a:lstStyle/>
          <a:p>
            <a:pPr algn="l"/>
            <a:r>
              <a:rPr sz="2400" b="1">
                <a:solidFill>
                  <a:srgbClr val="142B3B"/>
                </a:solidFill>
                <a:latin typeface="Arial"/>
              </a:rPr>
              <a:t>Block is the only name</a:t>
            </a:r>
            <a:r>
              <a:rPr lang="en-US" sz="2400" b="1">
                <a:solidFill>
                  <a:srgbClr val="142B3B"/>
                </a:solidFill>
                <a:latin typeface="Arial"/>
              </a:rPr>
              <a:t> </a:t>
            </a:r>
            <a:r>
              <a:rPr sz="2400" b="1">
                <a:solidFill>
                  <a:srgbClr val="142B3B"/>
                </a:solidFill>
                <a:latin typeface="Arial"/>
              </a:rPr>
              <a:t>all three ETFs share</a:t>
            </a:r>
          </a:p>
        </p:txBody>
      </p:sp>
      <p:graphicFrame>
        <p:nvGraphicFramePr>
          <p:cNvPr id="4" name="Chart 3"/>
          <p:cNvGraphicFramePr>
            <a:graphicFrameLocks noGrp="1"/>
          </p:cNvGraphicFramePr>
          <p:nvPr/>
        </p:nvGraphicFramePr>
        <p:xfrm>
          <a:off x="274320" y="1417320"/>
          <a:ext cx="54864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897880" y="1554480"/>
            <a:ext cx="2788920" cy="822960"/>
          </a:xfrm>
          <a:prstGeom prst="rect">
            <a:avLst/>
          </a:prstGeom>
          <a:noFill/>
        </p:spPr>
        <p:txBody>
          <a:bodyPr wrap="square" lIns="0" tIns="0" rIns="0" bIns="0" anchor="t">
            <a:spAutoFit/>
          </a:bodyPr>
          <a:lstStyle/>
          <a:p>
            <a:pPr algn="l"/>
            <a:r>
              <a:rPr sz="1800" b="1">
                <a:solidFill>
                  <a:srgbClr val="142B3B"/>
                </a:solidFill>
                <a:latin typeface="Arial"/>
              </a:rPr>
              <a:t>ARKF:</a:t>
            </a:r>
            <a:r>
              <a:rPr sz="1800" b="0">
                <a:solidFill>
                  <a:srgbClr val="142B3B"/>
                </a:solidFill>
                <a:latin typeface="Arial"/>
              </a:rPr>
              <a:t> only fund with bitcoin</a:t>
            </a:r>
          </a:p>
        </p:txBody>
      </p:sp>
      <p:sp>
        <p:nvSpPr>
          <p:cNvPr id="6" name="TextBox 5"/>
          <p:cNvSpPr txBox="1"/>
          <p:nvPr/>
        </p:nvSpPr>
        <p:spPr>
          <a:xfrm>
            <a:off x="5897880" y="2514600"/>
            <a:ext cx="2788920" cy="822960"/>
          </a:xfrm>
          <a:prstGeom prst="rect">
            <a:avLst/>
          </a:prstGeom>
          <a:noFill/>
        </p:spPr>
        <p:txBody>
          <a:bodyPr wrap="square" lIns="0" tIns="0" rIns="0" bIns="0" anchor="t">
            <a:spAutoFit/>
          </a:bodyPr>
          <a:lstStyle/>
          <a:p>
            <a:pPr algn="l"/>
            <a:r>
              <a:rPr sz="1800" b="1">
                <a:solidFill>
                  <a:srgbClr val="142B3B"/>
                </a:solidFill>
                <a:latin typeface="Arial"/>
              </a:rPr>
              <a:t>FINX:</a:t>
            </a:r>
            <a:r>
              <a:rPr sz="1800" b="0">
                <a:solidFill>
                  <a:srgbClr val="142B3B"/>
                </a:solidFill>
                <a:latin typeface="Arial"/>
              </a:rPr>
              <a:t> payment processors</a:t>
            </a:r>
          </a:p>
        </p:txBody>
      </p:sp>
      <p:sp>
        <p:nvSpPr>
          <p:cNvPr id="7" name="TextBox 6"/>
          <p:cNvSpPr txBox="1"/>
          <p:nvPr/>
        </p:nvSpPr>
        <p:spPr>
          <a:xfrm>
            <a:off x="5897880" y="3474720"/>
            <a:ext cx="2788920" cy="822960"/>
          </a:xfrm>
          <a:prstGeom prst="rect">
            <a:avLst/>
          </a:prstGeom>
          <a:noFill/>
        </p:spPr>
        <p:txBody>
          <a:bodyPr wrap="square" lIns="0" tIns="0" rIns="0" bIns="0" anchor="t">
            <a:spAutoFit/>
          </a:bodyPr>
          <a:lstStyle/>
          <a:p>
            <a:pPr algn="l"/>
            <a:r>
              <a:rPr sz="1800" b="1">
                <a:solidFill>
                  <a:srgbClr val="142B3B"/>
                </a:solidFill>
                <a:latin typeface="Arial"/>
              </a:rPr>
              <a:t>FDFF:</a:t>
            </a:r>
            <a:r>
              <a:rPr sz="1800" b="0">
                <a:solidFill>
                  <a:srgbClr val="142B3B"/>
                </a:solidFill>
                <a:latin typeface="Arial"/>
              </a:rPr>
              <a:t> banks and asset managers</a:t>
            </a:r>
          </a:p>
        </p:txBody>
      </p:sp>
      <p:sp>
        <p:nvSpPr>
          <p:cNvPr id="8" name="TextBox 7"/>
          <p:cNvSpPr txBox="1"/>
          <p:nvPr/>
        </p:nvSpPr>
        <p:spPr>
          <a:xfrm>
            <a:off x="5897880" y="4434840"/>
            <a:ext cx="2788920" cy="1097280"/>
          </a:xfrm>
          <a:prstGeom prst="rect">
            <a:avLst/>
          </a:prstGeom>
          <a:noFill/>
        </p:spPr>
        <p:txBody>
          <a:bodyPr wrap="square" lIns="0" tIns="0" rIns="0" bIns="0" anchor="t">
            <a:spAutoFit/>
          </a:bodyPr>
          <a:lstStyle/>
          <a:p>
            <a:pPr algn="l"/>
            <a:r>
              <a:rPr sz="1800" b="1">
                <a:solidFill>
                  <a:srgbClr val="142B3B"/>
                </a:solidFill>
                <a:latin typeface="Arial"/>
              </a:rPr>
              <a:t>FDFF shares only Block</a:t>
            </a:r>
          </a:p>
        </p:txBody>
      </p:sp>
      <p:sp>
        <p:nvSpPr>
          <p:cNvPr id="12" name="Rectangle 11">
            <a:extLst>
              <a:ext uri="{FF2B5EF4-FFF2-40B4-BE49-F238E27FC236}">
                <a16:creationId xmlns:a16="http://schemas.microsoft.com/office/drawing/2014/main" id="{46301A49-E3B5-C9C8-AEDB-4CB31055DBC2}"/>
              </a:ext>
            </a:extLst>
          </p:cNvPr>
          <p:cNvSpPr>
            <a:spLocks noGrp="1"/>
          </p:cNvSpPr>
          <p:nvPr/>
        </p:nvSpPr>
        <p:spPr>
          <a:xfrm>
            <a:off x="457200" y="6329377"/>
            <a:ext cx="8229600" cy="523220"/>
          </a:xfrm>
          <a:prstGeom prst="rect">
            <a:avLst/>
          </a:prstGeom>
          <a:noFill/>
        </p:spPr>
        <p:txBody>
          <a:bodyPr wrap="square" rtlCol="0">
            <a:spAutoFit/>
          </a:bodyPr>
          <a:lstStyle/>
          <a:p>
            <a:r>
              <a:rPr sz="1400">
                <a:latin typeface="Arial" panose="020B0604020202020204" pitchFamily="34" charset="0"/>
                <a:cs typeface="Arial" panose="020B0604020202020204" pitchFamily="34" charset="0"/>
              </a:rPr>
              <a:t>Sources: </a:t>
            </a:r>
            <a:r>
              <a:rPr lang="en-US" sz="1400">
                <a:latin typeface="Arial"/>
                <a:hlinkClick r:id="rId4">
                  <a:extLst>
                    <a:ext uri="{A12FA001-AC4F-418D-AE19-62706E023703}">
                      <ahyp:hlinkClr xmlns:ahyp="http://schemas.microsoft.com/office/drawing/2018/hyperlinkcolor" val="tx"/>
                    </a:ext>
                  </a:extLst>
                </a:hlinkClick>
              </a:rPr>
              <a:t>ARK</a:t>
            </a:r>
            <a:r>
              <a:rPr lang="en-US" sz="1400">
                <a:latin typeface="Arial"/>
              </a:rPr>
              <a:t> ARKF fact sheet (6/30/26); </a:t>
            </a:r>
            <a:r>
              <a:rPr lang="en-US" sz="1400">
                <a:latin typeface="Arial"/>
                <a:hlinkClick r:id="rId5">
                  <a:extLst>
                    <a:ext uri="{A12FA001-AC4F-418D-AE19-62706E023703}">
                      <ahyp:hlinkClr xmlns:ahyp="http://schemas.microsoft.com/office/drawing/2018/hyperlinkcolor" val="tx"/>
                    </a:ext>
                  </a:extLst>
                </a:hlinkClick>
              </a:rPr>
              <a:t>Global X</a:t>
            </a:r>
            <a:r>
              <a:rPr lang="en-US" sz="1400">
                <a:latin typeface="Arial"/>
              </a:rPr>
              <a:t> FINX holdings (9/30/26); </a:t>
            </a:r>
            <a:r>
              <a:rPr lang="en-US" sz="1400">
                <a:latin typeface="Arial"/>
                <a:hlinkClick r:id="rId6">
                  <a:extLst>
                    <a:ext uri="{A12FA001-AC4F-418D-AE19-62706E023703}">
                      <ahyp:hlinkClr xmlns:ahyp="http://schemas.microsoft.com/office/drawing/2018/hyperlinkcolor" val="tx"/>
                    </a:ext>
                  </a:extLst>
                </a:hlinkClick>
              </a:rPr>
              <a:t>Fidelity</a:t>
            </a:r>
            <a:r>
              <a:rPr lang="en-US" sz="1400">
                <a:latin typeface="Arial"/>
              </a:rPr>
              <a:t> FDFF fact sheet (6/30/26)</a:t>
            </a:r>
            <a:endParaRPr lang="en-US" sz="1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87709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173124"/>
          </a:xfrm>
          <a:prstGeom prst="rect">
            <a:avLst/>
          </a:prstGeom>
          <a:noFill/>
        </p:spPr>
        <p:txBody>
          <a:bodyPr wrap="square" lIns="0" tIns="0" rIns="0" bIns="0" anchor="t">
            <a:spAutoFit/>
          </a:bodyPr>
          <a:lstStyle/>
          <a:p>
            <a:pPr algn="l"/>
            <a:r>
              <a:rPr sz="1125" b="1">
                <a:solidFill>
                  <a:srgbClr val="007D80"/>
                </a:solidFill>
                <a:latin typeface="Arial" panose="020B0604020202020204" pitchFamily="34" charset="0"/>
                <a:cs typeface="Arial" panose="020B0604020202020204" pitchFamily="34" charset="0"/>
              </a:rPr>
              <a:t>CONCLUSION | COMPARISON</a:t>
            </a:r>
          </a:p>
        </p:txBody>
      </p:sp>
      <p:sp>
        <p:nvSpPr>
          <p:cNvPr id="3" name="TextBox 2"/>
          <p:cNvSpPr txBox="1"/>
          <p:nvPr/>
        </p:nvSpPr>
        <p:spPr>
          <a:xfrm>
            <a:off x="457200" y="603504"/>
            <a:ext cx="8229600" cy="738664"/>
          </a:xfrm>
          <a:prstGeom prst="rect">
            <a:avLst/>
          </a:prstGeom>
          <a:noFill/>
        </p:spPr>
        <p:txBody>
          <a:bodyPr wrap="square" lIns="0" tIns="0" rIns="0" bIns="0" anchor="t">
            <a:spAutoFit/>
          </a:bodyPr>
          <a:lstStyle/>
          <a:p>
            <a:pPr algn="l"/>
            <a:r>
              <a:rPr sz="2400" b="1">
                <a:solidFill>
                  <a:srgbClr val="142B3B"/>
                </a:solidFill>
                <a:latin typeface="Arial"/>
              </a:rPr>
              <a:t>FDFF is cheapest; ARKF trades</a:t>
            </a:r>
            <a:r>
              <a:rPr lang="en-US" sz="2400" b="1">
                <a:solidFill>
                  <a:srgbClr val="142B3B"/>
                </a:solidFill>
                <a:latin typeface="Arial"/>
              </a:rPr>
              <a:t> </a:t>
            </a:r>
            <a:r>
              <a:rPr sz="2400" b="1">
                <a:solidFill>
                  <a:srgbClr val="142B3B"/>
                </a:solidFill>
                <a:latin typeface="Arial"/>
              </a:rPr>
              <a:t>most and is most volatile</a:t>
            </a:r>
          </a:p>
        </p:txBody>
      </p:sp>
      <p:graphicFrame>
        <p:nvGraphicFramePr>
          <p:cNvPr id="4" name="Chart 3"/>
          <p:cNvGraphicFramePr>
            <a:graphicFrameLocks noGrp="1"/>
          </p:cNvGraphicFramePr>
          <p:nvPr/>
        </p:nvGraphicFramePr>
        <p:xfrm>
          <a:off x="365760" y="1371600"/>
          <a:ext cx="4114800" cy="2148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a:graphicFrameLocks noGrp="1"/>
          </p:cNvGraphicFramePr>
          <p:nvPr/>
        </p:nvGraphicFramePr>
        <p:xfrm>
          <a:off x="4663440" y="1371600"/>
          <a:ext cx="4114800" cy="21488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p:cNvGraphicFramePr>
            <a:graphicFrameLocks noGrp="1"/>
          </p:cNvGraphicFramePr>
          <p:nvPr/>
        </p:nvGraphicFramePr>
        <p:xfrm>
          <a:off x="365760" y="3611880"/>
          <a:ext cx="4114800" cy="21488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p:cNvGraphicFramePr>
            <a:graphicFrameLocks noGrp="1"/>
          </p:cNvGraphicFramePr>
          <p:nvPr/>
        </p:nvGraphicFramePr>
        <p:xfrm>
          <a:off x="4663440" y="3611880"/>
          <a:ext cx="4114800" cy="2148840"/>
        </p:xfrm>
        <a:graphic>
          <a:graphicData uri="http://schemas.openxmlformats.org/drawingml/2006/chart">
            <c:chart xmlns:c="http://schemas.openxmlformats.org/drawingml/2006/chart" xmlns:r="http://schemas.openxmlformats.org/officeDocument/2006/relationships" r:id="rId6"/>
          </a:graphicData>
        </a:graphic>
      </p:graphicFrame>
      <p:sp>
        <p:nvSpPr>
          <p:cNvPr id="9" name="Rectangle 8">
            <a:extLst>
              <a:ext uri="{FF2B5EF4-FFF2-40B4-BE49-F238E27FC236}">
                <a16:creationId xmlns:a16="http://schemas.microsoft.com/office/drawing/2014/main" id="{059CF1C9-CFD8-ADC0-DF7B-715B2D0F719B}"/>
              </a:ext>
            </a:extLst>
          </p:cNvPr>
          <p:cNvSpPr>
            <a:spLocks noGrp="1"/>
          </p:cNvSpPr>
          <p:nvPr/>
        </p:nvSpPr>
        <p:spPr>
          <a:xfrm>
            <a:off x="457200" y="6329377"/>
            <a:ext cx="8229600" cy="523220"/>
          </a:xfrm>
          <a:prstGeom prst="rect">
            <a:avLst/>
          </a:prstGeom>
          <a:noFill/>
        </p:spPr>
        <p:txBody>
          <a:bodyPr wrap="square" rtlCol="0">
            <a:spAutoFit/>
          </a:bodyPr>
          <a:lstStyle/>
          <a:p>
            <a:r>
              <a:rPr sz="1400">
                <a:latin typeface="Arial" panose="020B0604020202020204" pitchFamily="34" charset="0"/>
                <a:cs typeface="Arial" panose="020B0604020202020204" pitchFamily="34" charset="0"/>
              </a:rPr>
              <a:t>Sources: </a:t>
            </a:r>
            <a:r>
              <a:rPr lang="en-US" sz="1400">
                <a:latin typeface="Arial" panose="020B0604020202020204" pitchFamily="34" charset="0"/>
                <a:cs typeface="Arial" panose="020B0604020202020204" pitchFamily="34" charset="0"/>
              </a:rPr>
              <a:t>Issuer fact sheets; </a:t>
            </a:r>
            <a:r>
              <a:rPr lang="en-US" sz="1400">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Finviz</a:t>
            </a:r>
            <a:r>
              <a:rPr lang="en-US" sz="1400">
                <a:latin typeface="Arial" panose="020B0604020202020204" pitchFamily="34" charset="0"/>
                <a:cs typeface="Arial" panose="020B0604020202020204" pitchFamily="34" charset="0"/>
              </a:rPr>
              <a:t> (9/30/26); </a:t>
            </a:r>
            <a:r>
              <a:rPr lang="en-US" sz="1400">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Portfolio Visualizer</a:t>
            </a:r>
            <a:r>
              <a:rPr lang="en-US" sz="1400">
                <a:latin typeface="Arial" panose="020B0604020202020204" pitchFamily="34" charset="0"/>
                <a:cs typeface="Arial" panose="020B0604020202020204" pitchFamily="34" charset="0"/>
              </a:rPr>
              <a:t> (Jan 2024–Sep 2026); correlation from </a:t>
            </a:r>
            <a:r>
              <a:rPr lang="en-US" sz="1400">
                <a:latin typeface="Arial" panose="020B0604020202020204" pitchFamily="34" charset="0"/>
                <a:cs typeface="Arial" panose="020B0604020202020204" pitchFamily="34" charset="0"/>
                <a:hlinkClick r:id="rId9">
                  <a:extLst>
                    <a:ext uri="{A12FA001-AC4F-418D-AE19-62706E023703}">
                      <ahyp:hlinkClr xmlns:ahyp="http://schemas.microsoft.com/office/drawing/2018/hyperlinkcolor" val="tx"/>
                    </a:ext>
                  </a:extLst>
                </a:hlinkClick>
              </a:rPr>
              <a:t>Digrin</a:t>
            </a:r>
            <a:r>
              <a:rPr lang="en-US" sz="1400">
                <a:latin typeface="Arial" panose="020B0604020202020204" pitchFamily="34" charset="0"/>
                <a:cs typeface="Arial" panose="020B0604020202020204" pitchFamily="34" charset="0"/>
              </a:rPr>
              <a:t> monthly prices</a:t>
            </a:r>
          </a:p>
        </p:txBody>
      </p:sp>
    </p:spTree>
    <p:extLst>
      <p:ext uri="{BB962C8B-B14F-4D97-AF65-F5344CB8AC3E}">
        <p14:creationId xmlns:p14="http://schemas.microsoft.com/office/powerpoint/2010/main" val="1743261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173124"/>
          </a:xfrm>
          <a:prstGeom prst="rect">
            <a:avLst/>
          </a:prstGeom>
          <a:noFill/>
        </p:spPr>
        <p:txBody>
          <a:bodyPr wrap="square" lIns="0" tIns="0" rIns="0" bIns="0" anchor="t">
            <a:spAutoFit/>
          </a:bodyPr>
          <a:lstStyle/>
          <a:p>
            <a:pPr algn="l"/>
            <a:r>
              <a:rPr sz="1125" b="1">
                <a:solidFill>
                  <a:srgbClr val="007D80"/>
                </a:solidFill>
                <a:latin typeface="Arial" panose="020B0604020202020204" pitchFamily="34" charset="0"/>
                <a:cs typeface="Arial" panose="020B0604020202020204" pitchFamily="34" charset="0"/>
              </a:rPr>
              <a:t>CONCLUSION | COMPARISON DETAIL</a:t>
            </a:r>
          </a:p>
        </p:txBody>
      </p:sp>
      <p:sp>
        <p:nvSpPr>
          <p:cNvPr id="3" name="TextBox 2"/>
          <p:cNvSpPr txBox="1"/>
          <p:nvPr/>
        </p:nvSpPr>
        <p:spPr>
          <a:xfrm>
            <a:off x="457200" y="603504"/>
            <a:ext cx="8229600" cy="738664"/>
          </a:xfrm>
          <a:prstGeom prst="rect">
            <a:avLst/>
          </a:prstGeom>
          <a:noFill/>
        </p:spPr>
        <p:txBody>
          <a:bodyPr wrap="square" lIns="0" tIns="0" rIns="0" bIns="0" anchor="t">
            <a:spAutoFit/>
          </a:bodyPr>
          <a:lstStyle/>
          <a:p>
            <a:pPr algn="l"/>
            <a:r>
              <a:rPr sz="2400" b="1">
                <a:solidFill>
                  <a:srgbClr val="142B3B"/>
                </a:solidFill>
                <a:latin typeface="Arial"/>
              </a:rPr>
              <a:t>FDFF: lowest cost, volatility and</a:t>
            </a:r>
            <a:r>
              <a:rPr lang="en-US" sz="2400" b="1">
                <a:solidFill>
                  <a:srgbClr val="142B3B"/>
                </a:solidFill>
                <a:latin typeface="Arial"/>
              </a:rPr>
              <a:t> </a:t>
            </a:r>
            <a:r>
              <a:rPr sz="2400" b="1">
                <a:solidFill>
                  <a:srgbClr val="142B3B"/>
                </a:solidFill>
                <a:latin typeface="Arial"/>
              </a:rPr>
              <a:t>correlation; highest dividend</a:t>
            </a:r>
          </a:p>
        </p:txBody>
      </p:sp>
      <p:graphicFrame>
        <p:nvGraphicFramePr>
          <p:cNvPr id="4" name="Table 3"/>
          <p:cNvGraphicFramePr>
            <a:graphicFrameLocks noGrp="1"/>
          </p:cNvGraphicFramePr>
          <p:nvPr/>
        </p:nvGraphicFramePr>
        <p:xfrm>
          <a:off x="457200" y="1463040"/>
          <a:ext cx="8229600" cy="3657600"/>
        </p:xfrm>
        <a:graphic>
          <a:graphicData uri="http://schemas.openxmlformats.org/drawingml/2006/table">
            <a:tbl>
              <a:tblPr/>
              <a:tblGrid>
                <a:gridCol w="24688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57200">
                <a:tc>
                  <a:txBody>
                    <a:bodyPr/>
                    <a:lstStyle/>
                    <a:p>
                      <a:pPr algn="l"/>
                      <a:r>
                        <a:rPr sz="2000" b="1">
                          <a:solidFill>
                            <a:srgbClr val="FFFFFF"/>
                          </a:solidFill>
                          <a:latin typeface="Arial"/>
                        </a:rPr>
                        <a:t>Metric</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ARKF</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FINX</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FDFF</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extLst>
                  <a:ext uri="{0D108BD9-81ED-4DB2-BD59-A6C34878D82A}">
                    <a16:rowId xmlns:a16="http://schemas.microsoft.com/office/drawing/2014/main" val="10000"/>
                  </a:ext>
                </a:extLst>
              </a:tr>
              <a:tr h="457200">
                <a:tc>
                  <a:txBody>
                    <a:bodyPr/>
                    <a:lstStyle/>
                    <a:p>
                      <a:pPr algn="l"/>
                      <a:r>
                        <a:rPr sz="1800" b="1">
                          <a:solidFill>
                            <a:srgbClr val="142B3B"/>
                          </a:solidFill>
                          <a:latin typeface="Arial"/>
                        </a:rPr>
                        <a:t>Expense ratio</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0.75%</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0.68%</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0.50%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1"/>
                  </a:ext>
                </a:extLst>
              </a:tr>
              <a:tr h="457200">
                <a:tc>
                  <a:txBody>
                    <a:bodyPr/>
                    <a:lstStyle/>
                    <a:p>
                      <a:pPr algn="l"/>
                      <a:r>
                        <a:rPr sz="1800" b="1">
                          <a:solidFill>
                            <a:srgbClr val="142B3B"/>
                          </a:solidFill>
                          <a:latin typeface="Arial"/>
                        </a:rPr>
                        <a:t>Avg daily volume</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128,310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63,530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4,250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02"/>
                  </a:ext>
                </a:extLst>
              </a:tr>
              <a:tr h="457200">
                <a:tc>
                  <a:txBody>
                    <a:bodyPr/>
                    <a:lstStyle/>
                    <a:p>
                      <a:pPr algn="l"/>
                      <a:r>
                        <a:rPr sz="1800" b="1">
                          <a:solidFill>
                            <a:srgbClr val="142B3B"/>
                          </a:solidFill>
                          <a:latin typeface="Arial"/>
                        </a:rPr>
                        <a:t>Volatility</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34.81%</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24.36%</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18.59%</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3"/>
                  </a:ext>
                </a:extLst>
              </a:tr>
              <a:tr h="457200">
                <a:tc>
                  <a:txBody>
                    <a:bodyPr/>
                    <a:lstStyle/>
                    <a:p>
                      <a:pPr algn="l"/>
                      <a:r>
                        <a:rPr sz="1800" b="1">
                          <a:solidFill>
                            <a:srgbClr val="142B3B"/>
                          </a:solidFill>
                          <a:latin typeface="Arial"/>
                        </a:rPr>
                        <a:t>Correlation to SPY</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0.68</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0.75</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0.64</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04"/>
                  </a:ext>
                </a:extLst>
              </a:tr>
              <a:tr h="457200">
                <a:tc>
                  <a:txBody>
                    <a:bodyPr/>
                    <a:lstStyle/>
                    <a:p>
                      <a:pPr algn="l"/>
                      <a:r>
                        <a:rPr sz="1800" b="1">
                          <a:solidFill>
                            <a:srgbClr val="142B3B"/>
                          </a:solidFill>
                          <a:latin typeface="Arial"/>
                        </a:rPr>
                        <a:t>Dividend yield</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lang="en-US" sz="1800" b="0">
                          <a:solidFill>
                            <a:srgbClr val="142B3B"/>
                          </a:solidFill>
                          <a:latin typeface="Arial"/>
                        </a:rPr>
                        <a:t>c.</a:t>
                      </a:r>
                      <a:r>
                        <a:rPr sz="1800" b="0">
                          <a:solidFill>
                            <a:srgbClr val="142B3B"/>
                          </a:solidFill>
                          <a:latin typeface="Arial"/>
                        </a:rPr>
                        <a:t>0.1%</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lang="en-US" sz="1800" b="0">
                          <a:solidFill>
                            <a:srgbClr val="142B3B"/>
                          </a:solidFill>
                          <a:latin typeface="Arial"/>
                        </a:rPr>
                        <a:t>c.</a:t>
                      </a:r>
                      <a:r>
                        <a:rPr sz="1800" b="0">
                          <a:solidFill>
                            <a:srgbClr val="142B3B"/>
                          </a:solidFill>
                          <a:latin typeface="Arial"/>
                        </a:rPr>
                        <a:t>0.8%</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lang="en-US" sz="1800" b="0">
                          <a:solidFill>
                            <a:srgbClr val="142B3B"/>
                          </a:solidFill>
                          <a:latin typeface="Arial"/>
                        </a:rPr>
                        <a:t>c.</a:t>
                      </a:r>
                      <a:r>
                        <a:rPr sz="1800" b="0">
                          <a:solidFill>
                            <a:srgbClr val="142B3B"/>
                          </a:solidFill>
                          <a:latin typeface="Arial"/>
                        </a:rPr>
                        <a:t>0.9%</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5"/>
                  </a:ext>
                </a:extLst>
              </a:tr>
              <a:tr h="457200">
                <a:tc>
                  <a:txBody>
                    <a:bodyPr/>
                    <a:lstStyle/>
                    <a:p>
                      <a:pPr algn="l"/>
                      <a:r>
                        <a:rPr sz="1800" b="1">
                          <a:solidFill>
                            <a:srgbClr val="142B3B"/>
                          </a:solidFill>
                          <a:latin typeface="Arial"/>
                        </a:rPr>
                        <a:t>Management</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Active</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Passive</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Active</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06"/>
                  </a:ext>
                </a:extLst>
              </a:tr>
              <a:tr h="457200">
                <a:tc>
                  <a:txBody>
                    <a:bodyPr/>
                    <a:lstStyle/>
                    <a:p>
                      <a:pPr algn="l"/>
                      <a:r>
                        <a:rPr sz="1800" b="1">
                          <a:solidFill>
                            <a:srgbClr val="142B3B"/>
                          </a:solidFill>
                          <a:latin typeface="Arial"/>
                        </a:rPr>
                        <a:t>AUM</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$838.7M</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$155.0M</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$43.0M</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B9B9D702-07BC-0E66-3A4D-76E89AA82852}"/>
              </a:ext>
            </a:extLst>
          </p:cNvPr>
          <p:cNvSpPr>
            <a:spLocks noGrp="1"/>
          </p:cNvSpPr>
          <p:nvPr/>
        </p:nvSpPr>
        <p:spPr>
          <a:xfrm>
            <a:off x="457200" y="6329377"/>
            <a:ext cx="8229600" cy="523220"/>
          </a:xfrm>
          <a:prstGeom prst="rect">
            <a:avLst/>
          </a:prstGeom>
          <a:noFill/>
        </p:spPr>
        <p:txBody>
          <a:bodyPr wrap="square" rtlCol="0">
            <a:spAutoFit/>
          </a:bodyPr>
          <a:lstStyle/>
          <a:p>
            <a:r>
              <a:rPr sz="1400">
                <a:latin typeface="Arial" panose="020B0604020202020204" pitchFamily="34" charset="0"/>
                <a:cs typeface="Arial" panose="020B0604020202020204" pitchFamily="34" charset="0"/>
              </a:rPr>
              <a:t>Sources: </a:t>
            </a:r>
            <a:r>
              <a:rPr lang="en-US" sz="1400">
                <a:latin typeface="Arial" panose="020B0604020202020204" pitchFamily="34" charset="0"/>
                <a:cs typeface="Arial" panose="020B0604020202020204" pitchFamily="34" charset="0"/>
              </a:rPr>
              <a:t>Issuer fact sheets; </a:t>
            </a:r>
            <a:r>
              <a:rPr lang="en-US" sz="1400" err="1">
                <a:latin typeface="Arial" panose="020B0604020202020204" pitchFamily="34" charset="0"/>
                <a:cs typeface="Arial" panose="020B0604020202020204" pitchFamily="34" charset="0"/>
              </a:rPr>
              <a:t>Finviz</a:t>
            </a:r>
            <a:r>
              <a:rPr lang="en-US" sz="1400">
                <a:latin typeface="Arial" panose="020B0604020202020204" pitchFamily="34" charset="0"/>
                <a:cs typeface="Arial" panose="020B0604020202020204" pitchFamily="34" charset="0"/>
              </a:rPr>
              <a:t> (9/30/26); </a:t>
            </a:r>
            <a:r>
              <a:rPr lang="en-US" sz="140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Portfolio Visualizer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Digrin</a:t>
            </a:r>
            <a:r>
              <a:rPr lang="en-US" sz="1400">
                <a:latin typeface="Arial" panose="020B0604020202020204" pitchFamily="34" charset="0"/>
                <a:cs typeface="Arial" panose="020B0604020202020204" pitchFamily="34" charset="0"/>
              </a:rPr>
              <a:t>; dividend yields: </a:t>
            </a:r>
            <a:r>
              <a:rPr lang="en-US" sz="1400" err="1">
                <a:latin typeface="Arial" panose="020B0604020202020204" pitchFamily="34" charset="0"/>
                <a:cs typeface="Arial" panose="020B0604020202020204" pitchFamily="34" charset="0"/>
              </a:rPr>
              <a:t>Digrin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Trackinsight</a:t>
            </a:r>
            <a:r>
              <a:rPr lang="en-US" sz="1400">
                <a:latin typeface="Arial" panose="020B0604020202020204" pitchFamily="34" charset="0"/>
                <a:cs typeface="Arial" panose="020B0604020202020204" pitchFamily="34" charset="0"/>
              </a:rPr>
              <a:t> (trailing 12 months)</a:t>
            </a:r>
          </a:p>
        </p:txBody>
      </p:sp>
    </p:spTree>
    <p:extLst>
      <p:ext uri="{BB962C8B-B14F-4D97-AF65-F5344CB8AC3E}">
        <p14:creationId xmlns:p14="http://schemas.microsoft.com/office/powerpoint/2010/main" val="1957404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173124"/>
          </a:xfrm>
          <a:prstGeom prst="rect">
            <a:avLst/>
          </a:prstGeom>
          <a:noFill/>
        </p:spPr>
        <p:txBody>
          <a:bodyPr wrap="square" lIns="0" tIns="0" rIns="0" bIns="0" anchor="t">
            <a:spAutoFit/>
          </a:bodyPr>
          <a:lstStyle/>
          <a:p>
            <a:pPr algn="l"/>
            <a:r>
              <a:rPr sz="1125" b="1">
                <a:solidFill>
                  <a:srgbClr val="007D80"/>
                </a:solidFill>
                <a:latin typeface="Arial" panose="020B0604020202020204" pitchFamily="34" charset="0"/>
                <a:cs typeface="Arial" panose="020B0604020202020204" pitchFamily="34" charset="0"/>
              </a:rPr>
              <a:t>CONCLUSION | WHAT TO WATCH</a:t>
            </a:r>
          </a:p>
        </p:txBody>
      </p:sp>
      <p:sp>
        <p:nvSpPr>
          <p:cNvPr id="3" name="TextBox 2"/>
          <p:cNvSpPr txBox="1"/>
          <p:nvPr/>
        </p:nvSpPr>
        <p:spPr>
          <a:xfrm>
            <a:off x="457200" y="603504"/>
            <a:ext cx="8229600" cy="369332"/>
          </a:xfrm>
          <a:prstGeom prst="rect">
            <a:avLst/>
          </a:prstGeom>
          <a:noFill/>
        </p:spPr>
        <p:txBody>
          <a:bodyPr wrap="square" lIns="0" tIns="0" rIns="0" bIns="0" anchor="t">
            <a:spAutoFit/>
          </a:bodyPr>
          <a:lstStyle/>
          <a:p>
            <a:pPr algn="l"/>
            <a:r>
              <a:rPr sz="2400" b="1">
                <a:solidFill>
                  <a:srgbClr val="142B3B"/>
                </a:solidFill>
                <a:latin typeface="Arial"/>
              </a:rPr>
              <a:t>What to watch for the</a:t>
            </a:r>
            <a:r>
              <a:rPr lang="en-US" sz="2400" b="1">
                <a:solidFill>
                  <a:srgbClr val="142B3B"/>
                </a:solidFill>
                <a:latin typeface="Arial"/>
              </a:rPr>
              <a:t> </a:t>
            </a:r>
            <a:r>
              <a:rPr sz="2400" b="1">
                <a:solidFill>
                  <a:srgbClr val="142B3B"/>
                </a:solidFill>
                <a:latin typeface="Arial"/>
              </a:rPr>
              <a:t>FinTech industry</a:t>
            </a:r>
          </a:p>
        </p:txBody>
      </p:sp>
      <p:sp>
        <p:nvSpPr>
          <p:cNvPr id="4" name="Rectangle 3"/>
          <p:cNvSpPr/>
          <p:nvPr/>
        </p:nvSpPr>
        <p:spPr>
          <a:xfrm>
            <a:off x="457200" y="1417320"/>
            <a:ext cx="4023360" cy="1965960"/>
          </a:xfrm>
          <a:prstGeom prst="rect">
            <a:avLst/>
          </a:prstGeom>
          <a:solidFill>
            <a:srgbClr val="F0F4F5"/>
          </a:solidFill>
          <a:ln>
            <a:noFill/>
          </a:ln>
        </p:spPr>
        <p:txBody>
          <a:bodyPr rtlCol="0" anchor="ctr"/>
          <a:lstStyle/>
          <a:p>
            <a:pPr algn="ctr"/>
            <a:endParaRPr/>
          </a:p>
        </p:txBody>
      </p:sp>
      <p:sp>
        <p:nvSpPr>
          <p:cNvPr id="5" name="TextBox 4"/>
          <p:cNvSpPr txBox="1"/>
          <p:nvPr/>
        </p:nvSpPr>
        <p:spPr>
          <a:xfrm>
            <a:off x="640080" y="1554480"/>
            <a:ext cx="3657600" cy="365760"/>
          </a:xfrm>
          <a:prstGeom prst="rect">
            <a:avLst/>
          </a:prstGeom>
          <a:noFill/>
        </p:spPr>
        <p:txBody>
          <a:bodyPr wrap="square" lIns="0" tIns="0" rIns="0" bIns="0" anchor="t">
            <a:spAutoFit/>
          </a:bodyPr>
          <a:lstStyle/>
          <a:p>
            <a:pPr algn="l"/>
            <a:r>
              <a:rPr sz="1800" b="1">
                <a:solidFill>
                  <a:srgbClr val="142B3B"/>
                </a:solidFill>
                <a:latin typeface="Arial"/>
              </a:rPr>
              <a:t>Interest rates</a:t>
            </a:r>
          </a:p>
        </p:txBody>
      </p:sp>
      <p:sp>
        <p:nvSpPr>
          <p:cNvPr id="6" name="TextBox 5"/>
          <p:cNvSpPr txBox="1"/>
          <p:nvPr/>
        </p:nvSpPr>
        <p:spPr>
          <a:xfrm>
            <a:off x="640080" y="1965960"/>
            <a:ext cx="3657600" cy="1371600"/>
          </a:xfrm>
          <a:prstGeom prst="rect">
            <a:avLst/>
          </a:prstGeom>
          <a:noFill/>
        </p:spPr>
        <p:txBody>
          <a:bodyPr wrap="square" lIns="0" tIns="0" rIns="0" bIns="0" anchor="t">
            <a:spAutoFit/>
          </a:bodyPr>
          <a:lstStyle/>
          <a:p>
            <a:pPr algn="l"/>
            <a:r>
              <a:rPr sz="1800" b="0">
                <a:solidFill>
                  <a:srgbClr val="142B3B"/>
                </a:solidFill>
                <a:latin typeface="Arial"/>
              </a:rPr>
              <a:t>Fed at 3.75–4.00% after the Sep 16 hike; higher rates raise funding costs</a:t>
            </a:r>
          </a:p>
        </p:txBody>
      </p:sp>
      <p:sp>
        <p:nvSpPr>
          <p:cNvPr id="7" name="Rectangle 6"/>
          <p:cNvSpPr/>
          <p:nvPr/>
        </p:nvSpPr>
        <p:spPr>
          <a:xfrm>
            <a:off x="4663440" y="1417320"/>
            <a:ext cx="4023360" cy="1965960"/>
          </a:xfrm>
          <a:prstGeom prst="rect">
            <a:avLst/>
          </a:prstGeom>
          <a:solidFill>
            <a:srgbClr val="F0F4F5"/>
          </a:solidFill>
          <a:ln>
            <a:noFill/>
          </a:ln>
        </p:spPr>
        <p:txBody>
          <a:bodyPr rtlCol="0" anchor="ctr"/>
          <a:lstStyle/>
          <a:p>
            <a:pPr algn="ctr"/>
            <a:endParaRPr/>
          </a:p>
        </p:txBody>
      </p:sp>
      <p:sp>
        <p:nvSpPr>
          <p:cNvPr id="8" name="TextBox 7"/>
          <p:cNvSpPr txBox="1"/>
          <p:nvPr/>
        </p:nvSpPr>
        <p:spPr>
          <a:xfrm>
            <a:off x="4846320" y="1554480"/>
            <a:ext cx="3657600" cy="365760"/>
          </a:xfrm>
          <a:prstGeom prst="rect">
            <a:avLst/>
          </a:prstGeom>
          <a:noFill/>
        </p:spPr>
        <p:txBody>
          <a:bodyPr wrap="square" lIns="0" tIns="0" rIns="0" bIns="0" anchor="t">
            <a:spAutoFit/>
          </a:bodyPr>
          <a:lstStyle/>
          <a:p>
            <a:pPr algn="l"/>
            <a:r>
              <a:rPr sz="1800" b="1">
                <a:solidFill>
                  <a:srgbClr val="142B3B"/>
                </a:solidFill>
                <a:latin typeface="Arial"/>
              </a:rPr>
              <a:t>Regulation</a:t>
            </a:r>
          </a:p>
        </p:txBody>
      </p:sp>
      <p:sp>
        <p:nvSpPr>
          <p:cNvPr id="9" name="TextBox 8"/>
          <p:cNvSpPr txBox="1"/>
          <p:nvPr/>
        </p:nvSpPr>
        <p:spPr>
          <a:xfrm>
            <a:off x="4846320" y="1965960"/>
            <a:ext cx="3657600" cy="1371600"/>
          </a:xfrm>
          <a:prstGeom prst="rect">
            <a:avLst/>
          </a:prstGeom>
          <a:noFill/>
        </p:spPr>
        <p:txBody>
          <a:bodyPr wrap="square" lIns="0" tIns="0" rIns="0" bIns="0" anchor="t">
            <a:spAutoFit/>
          </a:bodyPr>
          <a:lstStyle/>
          <a:p>
            <a:pPr algn="l"/>
            <a:r>
              <a:rPr sz="1800" b="0">
                <a:solidFill>
                  <a:srgbClr val="142B3B"/>
                </a:solidFill>
                <a:latin typeface="Arial"/>
              </a:rPr>
              <a:t>GENIUS stablecoin licensing from Jan 18, 2027; open-banking rules</a:t>
            </a:r>
          </a:p>
        </p:txBody>
      </p:sp>
      <p:sp>
        <p:nvSpPr>
          <p:cNvPr id="10" name="Rectangle 9"/>
          <p:cNvSpPr/>
          <p:nvPr/>
        </p:nvSpPr>
        <p:spPr>
          <a:xfrm>
            <a:off x="457200" y="3566160"/>
            <a:ext cx="4023360" cy="1965960"/>
          </a:xfrm>
          <a:prstGeom prst="rect">
            <a:avLst/>
          </a:prstGeom>
          <a:solidFill>
            <a:srgbClr val="F0F4F5"/>
          </a:solidFill>
          <a:ln>
            <a:noFill/>
          </a:ln>
        </p:spPr>
        <p:txBody>
          <a:bodyPr rtlCol="0" anchor="ctr"/>
          <a:lstStyle/>
          <a:p>
            <a:pPr algn="ctr"/>
            <a:endParaRPr/>
          </a:p>
        </p:txBody>
      </p:sp>
      <p:sp>
        <p:nvSpPr>
          <p:cNvPr id="11" name="TextBox 10"/>
          <p:cNvSpPr txBox="1"/>
          <p:nvPr/>
        </p:nvSpPr>
        <p:spPr>
          <a:xfrm>
            <a:off x="640080" y="3703320"/>
            <a:ext cx="3657600" cy="365760"/>
          </a:xfrm>
          <a:prstGeom prst="rect">
            <a:avLst/>
          </a:prstGeom>
          <a:noFill/>
        </p:spPr>
        <p:txBody>
          <a:bodyPr wrap="square" lIns="0" tIns="0" rIns="0" bIns="0" anchor="t">
            <a:spAutoFit/>
          </a:bodyPr>
          <a:lstStyle/>
          <a:p>
            <a:pPr algn="l"/>
            <a:r>
              <a:rPr sz="1800" b="1">
                <a:solidFill>
                  <a:srgbClr val="142B3B"/>
                </a:solidFill>
                <a:latin typeface="Arial"/>
              </a:rPr>
              <a:t>Payment volumes</a:t>
            </a:r>
          </a:p>
        </p:txBody>
      </p:sp>
      <p:sp>
        <p:nvSpPr>
          <p:cNvPr id="12" name="TextBox 11"/>
          <p:cNvSpPr txBox="1"/>
          <p:nvPr/>
        </p:nvSpPr>
        <p:spPr>
          <a:xfrm>
            <a:off x="640080" y="4114800"/>
            <a:ext cx="3657600" cy="1371600"/>
          </a:xfrm>
          <a:prstGeom prst="rect">
            <a:avLst/>
          </a:prstGeom>
          <a:noFill/>
        </p:spPr>
        <p:txBody>
          <a:bodyPr wrap="square" lIns="0" tIns="0" rIns="0" bIns="0" anchor="t">
            <a:spAutoFit/>
          </a:bodyPr>
          <a:lstStyle/>
          <a:p>
            <a:pPr algn="l"/>
            <a:r>
              <a:rPr sz="1800" b="0">
                <a:solidFill>
                  <a:srgbClr val="142B3B"/>
                </a:solidFill>
                <a:latin typeface="Arial"/>
              </a:rPr>
              <a:t>Visa payments volume +10% y/y; watch Q3 guidance</a:t>
            </a:r>
          </a:p>
        </p:txBody>
      </p:sp>
      <p:sp>
        <p:nvSpPr>
          <p:cNvPr id="13" name="Rectangle 12"/>
          <p:cNvSpPr/>
          <p:nvPr/>
        </p:nvSpPr>
        <p:spPr>
          <a:xfrm>
            <a:off x="4663440" y="3566160"/>
            <a:ext cx="4023360" cy="1965960"/>
          </a:xfrm>
          <a:prstGeom prst="rect">
            <a:avLst/>
          </a:prstGeom>
          <a:solidFill>
            <a:srgbClr val="F0F4F5"/>
          </a:solidFill>
          <a:ln>
            <a:noFill/>
          </a:ln>
        </p:spPr>
        <p:txBody>
          <a:bodyPr rtlCol="0" anchor="ctr"/>
          <a:lstStyle/>
          <a:p>
            <a:pPr algn="ctr"/>
            <a:endParaRPr/>
          </a:p>
        </p:txBody>
      </p:sp>
      <p:sp>
        <p:nvSpPr>
          <p:cNvPr id="14" name="TextBox 13"/>
          <p:cNvSpPr txBox="1"/>
          <p:nvPr/>
        </p:nvSpPr>
        <p:spPr>
          <a:xfrm>
            <a:off x="4846320" y="3703320"/>
            <a:ext cx="3657600" cy="365760"/>
          </a:xfrm>
          <a:prstGeom prst="rect">
            <a:avLst/>
          </a:prstGeom>
          <a:noFill/>
        </p:spPr>
        <p:txBody>
          <a:bodyPr wrap="square" lIns="0" tIns="0" rIns="0" bIns="0" anchor="t">
            <a:spAutoFit/>
          </a:bodyPr>
          <a:lstStyle/>
          <a:p>
            <a:pPr algn="l"/>
            <a:r>
              <a:rPr sz="1800" b="1">
                <a:solidFill>
                  <a:srgbClr val="142B3B"/>
                </a:solidFill>
                <a:latin typeface="Arial"/>
              </a:rPr>
              <a:t>Consumer credit</a:t>
            </a:r>
          </a:p>
        </p:txBody>
      </p:sp>
      <p:sp>
        <p:nvSpPr>
          <p:cNvPr id="15" name="TextBox 14"/>
          <p:cNvSpPr txBox="1"/>
          <p:nvPr/>
        </p:nvSpPr>
        <p:spPr>
          <a:xfrm>
            <a:off x="4846320" y="4114800"/>
            <a:ext cx="3657600" cy="1371600"/>
          </a:xfrm>
          <a:prstGeom prst="rect">
            <a:avLst/>
          </a:prstGeom>
          <a:noFill/>
        </p:spPr>
        <p:txBody>
          <a:bodyPr wrap="square" lIns="0" tIns="0" rIns="0" bIns="0" anchor="t">
            <a:spAutoFit/>
          </a:bodyPr>
          <a:lstStyle/>
          <a:p>
            <a:pPr algn="l"/>
            <a:r>
              <a:rPr sz="1800" b="0">
                <a:solidFill>
                  <a:srgbClr val="142B3B"/>
                </a:solidFill>
                <a:latin typeface="Arial"/>
              </a:rPr>
              <a:t>Credit losses at lenders and BNPL providers</a:t>
            </a:r>
          </a:p>
        </p:txBody>
      </p:sp>
      <p:sp>
        <p:nvSpPr>
          <p:cNvPr id="16" name="TextBox 15"/>
          <p:cNvSpPr txBox="1"/>
          <p:nvPr/>
        </p:nvSpPr>
        <p:spPr>
          <a:xfrm>
            <a:off x="457200" y="6459676"/>
            <a:ext cx="8229600" cy="215444"/>
          </a:xfrm>
          <a:prstGeom prst="rect">
            <a:avLst/>
          </a:prstGeom>
          <a:noFill/>
        </p:spPr>
        <p:txBody>
          <a:bodyPr wrap="square" lIns="0" tIns="0" rIns="0" bIns="0" anchor="b">
            <a:spAutoFit/>
          </a:bodyPr>
          <a:lstStyle/>
          <a:p>
            <a:r>
              <a:rPr sz="1400">
                <a:latin typeface="Arial" panose="020B0604020202020204" pitchFamily="34" charset="0"/>
                <a:cs typeface="Arial" panose="020B0604020202020204" pitchFamily="34" charset="0"/>
              </a:rPr>
              <a:t>Sources: </a:t>
            </a:r>
            <a:r>
              <a:rPr sz="140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Federal Reserve</a:t>
            </a:r>
            <a:r>
              <a:rPr sz="1400">
                <a:latin typeface="Arial" panose="020B0604020202020204" pitchFamily="34" charset="0"/>
                <a:cs typeface="Arial" panose="020B0604020202020204" pitchFamily="34" charset="0"/>
              </a:rPr>
              <a:t> (9/16/26); U.S. Treasury (GENIUS); CFPB; </a:t>
            </a:r>
            <a:r>
              <a:rPr sz="140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Visa</a:t>
            </a:r>
            <a:r>
              <a:rPr sz="1400">
                <a:latin typeface="Arial" panose="020B0604020202020204" pitchFamily="34" charset="0"/>
                <a:cs typeface="Arial" panose="020B0604020202020204" pitchFamily="34" charset="0"/>
              </a:rPr>
              <a:t> FYQ3 2026.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173124"/>
          </a:xfrm>
          <a:prstGeom prst="rect">
            <a:avLst/>
          </a:prstGeom>
          <a:noFill/>
        </p:spPr>
        <p:txBody>
          <a:bodyPr wrap="square" lIns="0" tIns="0" rIns="0" bIns="0" anchor="t">
            <a:spAutoFit/>
          </a:bodyPr>
          <a:lstStyle/>
          <a:p>
            <a:pPr algn="l"/>
            <a:r>
              <a:rPr sz="1125" b="1">
                <a:solidFill>
                  <a:srgbClr val="007D80"/>
                </a:solidFill>
                <a:latin typeface="Arial" panose="020B0604020202020204" pitchFamily="34" charset="0"/>
                <a:cs typeface="Arial" panose="020B0604020202020204" pitchFamily="34" charset="0"/>
              </a:rPr>
              <a:t>CONCLUSION | BULL AND BEAR DRIVERS</a:t>
            </a:r>
          </a:p>
        </p:txBody>
      </p:sp>
      <p:sp>
        <p:nvSpPr>
          <p:cNvPr id="3" name="TextBox 2"/>
          <p:cNvSpPr txBox="1"/>
          <p:nvPr/>
        </p:nvSpPr>
        <p:spPr>
          <a:xfrm>
            <a:off x="457200" y="603504"/>
            <a:ext cx="8229600" cy="369332"/>
          </a:xfrm>
          <a:prstGeom prst="rect">
            <a:avLst/>
          </a:prstGeom>
          <a:noFill/>
        </p:spPr>
        <p:txBody>
          <a:bodyPr wrap="square" lIns="0" tIns="0" rIns="0" bIns="0" anchor="t">
            <a:spAutoFit/>
          </a:bodyPr>
          <a:lstStyle/>
          <a:p>
            <a:pPr algn="l"/>
            <a:r>
              <a:rPr sz="2400" b="1">
                <a:solidFill>
                  <a:srgbClr val="142B3B"/>
                </a:solidFill>
                <a:latin typeface="Arial"/>
              </a:rPr>
              <a:t>What would push each ETF</a:t>
            </a:r>
            <a:r>
              <a:rPr lang="en-US" sz="2400" b="1">
                <a:solidFill>
                  <a:srgbClr val="142B3B"/>
                </a:solidFill>
                <a:latin typeface="Arial"/>
              </a:rPr>
              <a:t> </a:t>
            </a:r>
            <a:r>
              <a:rPr sz="2400" b="1">
                <a:solidFill>
                  <a:srgbClr val="142B3B"/>
                </a:solidFill>
                <a:latin typeface="Arial"/>
              </a:rPr>
              <a:t>to bull or bear</a:t>
            </a:r>
          </a:p>
        </p:txBody>
      </p:sp>
      <p:graphicFrame>
        <p:nvGraphicFramePr>
          <p:cNvPr id="4" name="Table 3"/>
          <p:cNvGraphicFramePr>
            <a:graphicFrameLocks noGrp="1"/>
          </p:cNvGraphicFramePr>
          <p:nvPr/>
        </p:nvGraphicFramePr>
        <p:xfrm>
          <a:off x="457200" y="1463040"/>
          <a:ext cx="8229600" cy="3474720"/>
        </p:xfrm>
        <a:graphic>
          <a:graphicData uri="http://schemas.openxmlformats.org/drawingml/2006/table">
            <a:tbl>
              <a:tblPr/>
              <a:tblGrid>
                <a:gridCol w="118872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868680">
                <a:tc>
                  <a:txBody>
                    <a:bodyPr/>
                    <a:lstStyle/>
                    <a:p>
                      <a:pPr algn="ctr"/>
                      <a:r>
                        <a:rPr sz="2000" b="1">
                          <a:solidFill>
                            <a:srgbClr val="FFFFFF"/>
                          </a:solidFill>
                          <a:latin typeface="Arial"/>
                        </a:rPr>
                        <a:t>ETF</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Bull driver</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Bear driver</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extLst>
                  <a:ext uri="{0D108BD9-81ED-4DB2-BD59-A6C34878D82A}">
                    <a16:rowId xmlns:a16="http://schemas.microsoft.com/office/drawing/2014/main" val="10000"/>
                  </a:ext>
                </a:extLst>
              </a:tr>
              <a:tr h="868680">
                <a:tc>
                  <a:txBody>
                    <a:bodyPr/>
                    <a:lstStyle/>
                    <a:p>
                      <a:pPr algn="ctr"/>
                      <a:r>
                        <a:rPr sz="1800" b="1">
                          <a:solidFill>
                            <a:srgbClr val="142B3B"/>
                          </a:solidFill>
                          <a:latin typeface="Arial"/>
                        </a:rPr>
                        <a:t>ARKF</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Bitcoin rally; clear stablecoin rules</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Crypto sell-off; growth de-rating</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1"/>
                  </a:ext>
                </a:extLst>
              </a:tr>
              <a:tr h="868680">
                <a:tc>
                  <a:txBody>
                    <a:bodyPr/>
                    <a:lstStyle/>
                    <a:p>
                      <a:pPr algn="ctr"/>
                      <a:r>
                        <a:rPr sz="1800" b="1">
                          <a:solidFill>
                            <a:srgbClr val="142B3B"/>
                          </a:solidFill>
                          <a:latin typeface="Arial"/>
                        </a:rPr>
                        <a:t>FINX</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Payment volumes and trading activity hold</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Payment fee pressure; consumer credit losses</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02"/>
                  </a:ext>
                </a:extLst>
              </a:tr>
              <a:tr h="868680">
                <a:tc>
                  <a:txBody>
                    <a:bodyPr/>
                    <a:lstStyle/>
                    <a:p>
                      <a:pPr algn="ctr"/>
                      <a:r>
                        <a:rPr sz="1800" b="1">
                          <a:solidFill>
                            <a:srgbClr val="142B3B"/>
                          </a:solidFill>
                          <a:latin typeface="Arial"/>
                        </a:rPr>
                        <a:t>FDFF</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Higher-for-longer rates lift bank income</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Credit cycle turns; rate cuts squeeze banks</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6459676"/>
            <a:ext cx="8229600" cy="215444"/>
          </a:xfrm>
          <a:prstGeom prst="rect">
            <a:avLst/>
          </a:prstGeom>
          <a:noFill/>
        </p:spPr>
        <p:txBody>
          <a:bodyPr wrap="square" lIns="0" tIns="0" rIns="0" bIns="0" anchor="b">
            <a:spAutoFit/>
          </a:bodyPr>
          <a:lstStyle/>
          <a:p>
            <a:r>
              <a:rPr sz="1400">
                <a:latin typeface="Arial" panose="020B0604020202020204" pitchFamily="34" charset="0"/>
                <a:cs typeface="Arial" panose="020B0604020202020204" pitchFamily="34" charset="0"/>
              </a:rPr>
              <a:t>Sources: Issuer fact sheets: </a:t>
            </a:r>
            <a:r>
              <a:rPr sz="140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ARK</a:t>
            </a:r>
            <a:r>
              <a:rPr sz="1400">
                <a:latin typeface="Arial" panose="020B0604020202020204" pitchFamily="34" charset="0"/>
                <a:cs typeface="Arial" panose="020B0604020202020204" pitchFamily="34" charset="0"/>
              </a:rPr>
              <a:t> ARKF (6/30/26), </a:t>
            </a:r>
            <a:r>
              <a:rPr sz="140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Global X</a:t>
            </a:r>
            <a:r>
              <a:rPr sz="1400">
                <a:latin typeface="Arial" panose="020B0604020202020204" pitchFamily="34" charset="0"/>
                <a:cs typeface="Arial" panose="020B0604020202020204" pitchFamily="34" charset="0"/>
              </a:rPr>
              <a:t> FINX (9/30/26), </a:t>
            </a:r>
            <a:r>
              <a:rPr sz="1400">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Fidelity</a:t>
            </a:r>
            <a:r>
              <a:rPr sz="1400">
                <a:latin typeface="Arial" panose="020B0604020202020204" pitchFamily="34" charset="0"/>
                <a:cs typeface="Arial" panose="020B0604020202020204" pitchFamily="34" charset="0"/>
              </a:rPr>
              <a:t> FDFF (6/30/26).</a:t>
            </a:r>
          </a:p>
        </p:txBody>
      </p:sp>
    </p:spTree>
    <p:extLst>
      <p:ext uri="{BB962C8B-B14F-4D97-AF65-F5344CB8AC3E}">
        <p14:creationId xmlns:p14="http://schemas.microsoft.com/office/powerpoint/2010/main" val="2790478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173124"/>
          </a:xfrm>
          <a:prstGeom prst="rect">
            <a:avLst/>
          </a:prstGeom>
          <a:noFill/>
        </p:spPr>
        <p:txBody>
          <a:bodyPr wrap="square" lIns="0" tIns="0" rIns="0" bIns="0" anchor="t">
            <a:spAutoFit/>
          </a:bodyPr>
          <a:lstStyle/>
          <a:p>
            <a:r>
              <a:rPr sz="1125" b="1">
                <a:solidFill>
                  <a:srgbClr val="007D80"/>
                </a:solidFill>
                <a:latin typeface="Arial" panose="020B0604020202020204" pitchFamily="34" charset="0"/>
                <a:cs typeface="Arial" panose="020B0604020202020204" pitchFamily="34" charset="0"/>
              </a:rPr>
              <a:t>CONCLUSION | PORTFOLIO SOLUTION</a:t>
            </a:r>
          </a:p>
        </p:txBody>
      </p:sp>
      <p:sp>
        <p:nvSpPr>
          <p:cNvPr id="3" name="TextBox 2"/>
          <p:cNvSpPr txBox="1"/>
          <p:nvPr/>
        </p:nvSpPr>
        <p:spPr>
          <a:xfrm>
            <a:off x="457200" y="603504"/>
            <a:ext cx="8229600" cy="738664"/>
          </a:xfrm>
          <a:prstGeom prst="rect">
            <a:avLst/>
          </a:prstGeom>
          <a:noFill/>
        </p:spPr>
        <p:txBody>
          <a:bodyPr wrap="square" lIns="0" tIns="0" rIns="0" bIns="0" anchor="t">
            <a:spAutoFit/>
          </a:bodyPr>
          <a:lstStyle/>
          <a:p>
            <a:pPr algn="l"/>
            <a:r>
              <a:rPr sz="2400" b="1">
                <a:solidFill>
                  <a:srgbClr val="142B3B"/>
                </a:solidFill>
                <a:latin typeface="Arial"/>
              </a:rPr>
              <a:t>FinTech: 10% of equity for diversification,</a:t>
            </a:r>
            <a:r>
              <a:rPr lang="en-US" sz="2400" b="1">
                <a:solidFill>
                  <a:srgbClr val="142B3B"/>
                </a:solidFill>
                <a:latin typeface="Arial"/>
              </a:rPr>
              <a:t> </a:t>
            </a:r>
            <a:r>
              <a:rPr sz="2400" b="1">
                <a:solidFill>
                  <a:srgbClr val="142B3B"/>
                </a:solidFill>
                <a:latin typeface="Arial"/>
              </a:rPr>
              <a:t>FDFF majority, ARKF least</a:t>
            </a:r>
          </a:p>
        </p:txBody>
      </p:sp>
      <p:graphicFrame>
        <p:nvGraphicFramePr>
          <p:cNvPr id="4" name="Table 3"/>
          <p:cNvGraphicFramePr>
            <a:graphicFrameLocks noGrp="1"/>
          </p:cNvGraphicFramePr>
          <p:nvPr/>
        </p:nvGraphicFramePr>
        <p:xfrm>
          <a:off x="457200" y="1463040"/>
          <a:ext cx="8229600" cy="1755648"/>
        </p:xfrm>
        <a:graphic>
          <a:graphicData uri="http://schemas.openxmlformats.org/drawingml/2006/table">
            <a:tbl>
              <a:tblPr/>
              <a:tblGrid>
                <a:gridCol w="11887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438912">
                <a:tc>
                  <a:txBody>
                    <a:bodyPr/>
                    <a:lstStyle/>
                    <a:p>
                      <a:pPr algn="ctr"/>
                      <a:r>
                        <a:rPr sz="2000" b="1">
                          <a:solidFill>
                            <a:srgbClr val="FFFFFF"/>
                          </a:solidFill>
                          <a:latin typeface="Arial"/>
                        </a:rPr>
                        <a:t>Weight</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ETF</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tc>
                  <a:txBody>
                    <a:bodyPr/>
                    <a:lstStyle/>
                    <a:p>
                      <a:pPr algn="ctr"/>
                      <a:r>
                        <a:rPr sz="2000" b="1">
                          <a:solidFill>
                            <a:srgbClr val="FFFFFF"/>
                          </a:solidFill>
                          <a:latin typeface="Arial"/>
                        </a:rPr>
                        <a:t>Why</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102B3B"/>
                    </a:solidFill>
                  </a:tcPr>
                </a:tc>
                <a:extLst>
                  <a:ext uri="{0D108BD9-81ED-4DB2-BD59-A6C34878D82A}">
                    <a16:rowId xmlns:a16="http://schemas.microsoft.com/office/drawing/2014/main" val="10000"/>
                  </a:ext>
                </a:extLst>
              </a:tr>
              <a:tr h="438912">
                <a:tc>
                  <a:txBody>
                    <a:bodyPr/>
                    <a:lstStyle/>
                    <a:p>
                      <a:pPr algn="ctr"/>
                      <a:r>
                        <a:rPr sz="1800" b="1">
                          <a:solidFill>
                            <a:srgbClr val="142B3B"/>
                          </a:solidFill>
                          <a:latin typeface="Arial"/>
                        </a:rPr>
                        <a:t>60%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FDFF</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Financial institutions, low volatility, high dividend</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1"/>
                  </a:ext>
                </a:extLst>
              </a:tr>
              <a:tr h="438912">
                <a:tc>
                  <a:txBody>
                    <a:bodyPr/>
                    <a:lstStyle/>
                    <a:p>
                      <a:pPr algn="ctr"/>
                      <a:r>
                        <a:rPr sz="1800" b="1">
                          <a:solidFill>
                            <a:srgbClr val="142B3B"/>
                          </a:solidFill>
                          <a:latin typeface="Arial"/>
                        </a:rPr>
                        <a:t>30%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FINX</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tc>
                  <a:txBody>
                    <a:bodyPr/>
                    <a:lstStyle/>
                    <a:p>
                      <a:pPr algn="ctr"/>
                      <a:r>
                        <a:rPr sz="1800" b="0">
                          <a:solidFill>
                            <a:srgbClr val="142B3B"/>
                          </a:solidFill>
                          <a:latin typeface="Arial"/>
                        </a:rPr>
                        <a:t>Payments exposure</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0F4F5"/>
                    </a:solidFill>
                  </a:tcPr>
                </a:tc>
                <a:extLst>
                  <a:ext uri="{0D108BD9-81ED-4DB2-BD59-A6C34878D82A}">
                    <a16:rowId xmlns:a16="http://schemas.microsoft.com/office/drawing/2014/main" val="10002"/>
                  </a:ext>
                </a:extLst>
              </a:tr>
              <a:tr h="438912">
                <a:tc>
                  <a:txBody>
                    <a:bodyPr/>
                    <a:lstStyle/>
                    <a:p>
                      <a:pPr algn="ctr"/>
                      <a:r>
                        <a:rPr sz="1800" b="1">
                          <a:solidFill>
                            <a:srgbClr val="142B3B"/>
                          </a:solidFill>
                          <a:latin typeface="Arial"/>
                        </a:rPr>
                        <a:t>10%</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ARKF</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tc>
                  <a:txBody>
                    <a:bodyPr/>
                    <a:lstStyle/>
                    <a:p>
                      <a:pPr algn="ctr"/>
                      <a:r>
                        <a:rPr sz="1800" b="0">
                          <a:solidFill>
                            <a:srgbClr val="142B3B"/>
                          </a:solidFill>
                          <a:latin typeface="Arial"/>
                        </a:rPr>
                        <a:t>Most risky: least exposure</a:t>
                      </a:r>
                    </a:p>
                  </a:txBody>
                  <a:tcPr marL="54864" marR="54864" marT="27432" marB="27432" anchor="ctr">
                    <a:lnL w="9525" cap="flat" cmpd="sng" algn="ctr">
                      <a:solidFill>
                        <a:srgbClr val="3A4A55"/>
                      </a:solidFill>
                      <a:prstDash val="solid"/>
                    </a:lnL>
                    <a:lnR w="9525" cap="flat" cmpd="sng" algn="ctr">
                      <a:solidFill>
                        <a:srgbClr val="3A4A55"/>
                      </a:solidFill>
                      <a:prstDash val="solid"/>
                    </a:lnR>
                    <a:lnT w="9525" cap="flat" cmpd="sng" algn="ctr">
                      <a:solidFill>
                        <a:srgbClr val="3A4A55"/>
                      </a:solidFill>
                      <a:prstDash val="solid"/>
                    </a:lnT>
                    <a:lnB w="9525" cap="flat" cmpd="sng" algn="ctr">
                      <a:solidFill>
                        <a:srgbClr val="3A4A5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p:cNvSpPr/>
          <p:nvPr/>
        </p:nvSpPr>
        <p:spPr>
          <a:xfrm>
            <a:off x="457200" y="3474720"/>
            <a:ext cx="1920240" cy="1828800"/>
          </a:xfrm>
          <a:prstGeom prst="rect">
            <a:avLst/>
          </a:prstGeom>
          <a:solidFill>
            <a:srgbClr val="F0F4F5"/>
          </a:solidFill>
          <a:ln>
            <a:noFill/>
          </a:ln>
        </p:spPr>
        <p:txBody>
          <a:bodyPr rtlCol="0" anchor="ctr"/>
          <a:lstStyle/>
          <a:p>
            <a:pPr algn="ctr"/>
            <a:endParaRPr/>
          </a:p>
        </p:txBody>
      </p:sp>
      <p:sp>
        <p:nvSpPr>
          <p:cNvPr id="6" name="TextBox 5"/>
          <p:cNvSpPr txBox="1"/>
          <p:nvPr/>
        </p:nvSpPr>
        <p:spPr>
          <a:xfrm>
            <a:off x="566928" y="3566160"/>
            <a:ext cx="1737360" cy="369332"/>
          </a:xfrm>
          <a:prstGeom prst="rect">
            <a:avLst/>
          </a:prstGeom>
          <a:noFill/>
        </p:spPr>
        <p:txBody>
          <a:bodyPr wrap="square" lIns="0" tIns="0" rIns="0" bIns="0" anchor="t">
            <a:spAutoFit/>
          </a:bodyPr>
          <a:lstStyle/>
          <a:p>
            <a:pPr algn="ctr"/>
            <a:r>
              <a:rPr sz="2400" b="1">
                <a:solidFill>
                  <a:srgbClr val="142B3B"/>
                </a:solidFill>
                <a:latin typeface="Arial"/>
              </a:rPr>
              <a:t>10%</a:t>
            </a:r>
          </a:p>
        </p:txBody>
      </p:sp>
      <p:sp>
        <p:nvSpPr>
          <p:cNvPr id="7" name="TextBox 6"/>
          <p:cNvSpPr txBox="1"/>
          <p:nvPr/>
        </p:nvSpPr>
        <p:spPr>
          <a:xfrm>
            <a:off x="566928" y="4069080"/>
            <a:ext cx="1737360" cy="276999"/>
          </a:xfrm>
          <a:prstGeom prst="rect">
            <a:avLst/>
          </a:prstGeom>
          <a:noFill/>
        </p:spPr>
        <p:txBody>
          <a:bodyPr wrap="square" lIns="0" tIns="0" rIns="0" bIns="0" anchor="t">
            <a:spAutoFit/>
          </a:bodyPr>
          <a:lstStyle/>
          <a:p>
            <a:pPr algn="ctr"/>
            <a:r>
              <a:rPr sz="1800" b="0">
                <a:solidFill>
                  <a:srgbClr val="536873"/>
                </a:solidFill>
                <a:latin typeface="Arial"/>
              </a:rPr>
              <a:t>of total equity</a:t>
            </a:r>
          </a:p>
        </p:txBody>
      </p:sp>
      <p:sp>
        <p:nvSpPr>
          <p:cNvPr id="8" name="Rectangle 7"/>
          <p:cNvSpPr/>
          <p:nvPr/>
        </p:nvSpPr>
        <p:spPr>
          <a:xfrm>
            <a:off x="2542032" y="3474720"/>
            <a:ext cx="1920240" cy="1828800"/>
          </a:xfrm>
          <a:prstGeom prst="rect">
            <a:avLst/>
          </a:prstGeom>
          <a:solidFill>
            <a:srgbClr val="F0F4F5"/>
          </a:solidFill>
          <a:ln>
            <a:noFill/>
          </a:ln>
        </p:spPr>
        <p:txBody>
          <a:bodyPr rtlCol="0" anchor="ctr"/>
          <a:lstStyle/>
          <a:p>
            <a:pPr algn="ctr"/>
            <a:endParaRPr/>
          </a:p>
        </p:txBody>
      </p:sp>
      <p:sp>
        <p:nvSpPr>
          <p:cNvPr id="9" name="TextBox 8"/>
          <p:cNvSpPr txBox="1"/>
          <p:nvPr/>
        </p:nvSpPr>
        <p:spPr>
          <a:xfrm>
            <a:off x="2651760" y="3566160"/>
            <a:ext cx="1737360" cy="369332"/>
          </a:xfrm>
          <a:prstGeom prst="rect">
            <a:avLst/>
          </a:prstGeom>
          <a:noFill/>
        </p:spPr>
        <p:txBody>
          <a:bodyPr wrap="square" lIns="0" tIns="0" rIns="0" bIns="0" anchor="t">
            <a:spAutoFit/>
          </a:bodyPr>
          <a:lstStyle/>
          <a:p>
            <a:pPr algn="ctr"/>
            <a:r>
              <a:rPr sz="2400" b="1">
                <a:solidFill>
                  <a:srgbClr val="142B3B"/>
                </a:solidFill>
                <a:latin typeface="Arial"/>
              </a:rPr>
              <a:t>0.72</a:t>
            </a:r>
          </a:p>
        </p:txBody>
      </p:sp>
      <p:sp>
        <p:nvSpPr>
          <p:cNvPr id="10" name="TextBox 9"/>
          <p:cNvSpPr txBox="1"/>
          <p:nvPr/>
        </p:nvSpPr>
        <p:spPr>
          <a:xfrm>
            <a:off x="2651760" y="4069080"/>
            <a:ext cx="1737360" cy="553998"/>
          </a:xfrm>
          <a:prstGeom prst="rect">
            <a:avLst/>
          </a:prstGeom>
          <a:noFill/>
        </p:spPr>
        <p:txBody>
          <a:bodyPr wrap="square" lIns="0" tIns="0" rIns="0" bIns="0" anchor="t">
            <a:spAutoFit/>
          </a:bodyPr>
          <a:lstStyle/>
          <a:p>
            <a:pPr algn="ctr"/>
            <a:r>
              <a:rPr sz="1800" b="0">
                <a:solidFill>
                  <a:srgbClr val="536873"/>
                </a:solidFill>
                <a:latin typeface="Arial"/>
              </a:rPr>
              <a:t>correlation to SPY: diversifies</a:t>
            </a:r>
          </a:p>
        </p:txBody>
      </p:sp>
      <p:sp>
        <p:nvSpPr>
          <p:cNvPr id="11" name="Rectangle 10"/>
          <p:cNvSpPr/>
          <p:nvPr/>
        </p:nvSpPr>
        <p:spPr>
          <a:xfrm>
            <a:off x="4626864" y="3474720"/>
            <a:ext cx="1920240" cy="1828800"/>
          </a:xfrm>
          <a:prstGeom prst="rect">
            <a:avLst/>
          </a:prstGeom>
          <a:solidFill>
            <a:srgbClr val="F0F4F5"/>
          </a:solidFill>
          <a:ln>
            <a:noFill/>
          </a:ln>
        </p:spPr>
        <p:txBody>
          <a:bodyPr rtlCol="0" anchor="ctr"/>
          <a:lstStyle/>
          <a:p>
            <a:pPr algn="ctr"/>
            <a:endParaRPr/>
          </a:p>
        </p:txBody>
      </p:sp>
      <p:sp>
        <p:nvSpPr>
          <p:cNvPr id="12" name="TextBox 11"/>
          <p:cNvSpPr txBox="1"/>
          <p:nvPr/>
        </p:nvSpPr>
        <p:spPr>
          <a:xfrm>
            <a:off x="4736592" y="3566160"/>
            <a:ext cx="1737360" cy="369332"/>
          </a:xfrm>
          <a:prstGeom prst="rect">
            <a:avLst/>
          </a:prstGeom>
          <a:noFill/>
        </p:spPr>
        <p:txBody>
          <a:bodyPr wrap="square" lIns="0" tIns="0" rIns="0" bIns="0" anchor="t">
            <a:spAutoFit/>
          </a:bodyPr>
          <a:lstStyle/>
          <a:p>
            <a:pPr algn="ctr"/>
            <a:r>
              <a:rPr lang="en-US" sz="2400" b="1">
                <a:solidFill>
                  <a:srgbClr val="142B3B"/>
                </a:solidFill>
                <a:latin typeface="Arial"/>
              </a:rPr>
              <a:t>c.</a:t>
            </a:r>
            <a:r>
              <a:rPr sz="2400" b="1">
                <a:solidFill>
                  <a:srgbClr val="142B3B"/>
                </a:solidFill>
                <a:latin typeface="Arial"/>
              </a:rPr>
              <a:t>0.8%</a:t>
            </a:r>
          </a:p>
        </p:txBody>
      </p:sp>
      <p:sp>
        <p:nvSpPr>
          <p:cNvPr id="13" name="TextBox 12"/>
          <p:cNvSpPr txBox="1"/>
          <p:nvPr/>
        </p:nvSpPr>
        <p:spPr>
          <a:xfrm>
            <a:off x="4736592" y="4069080"/>
            <a:ext cx="1737360" cy="553998"/>
          </a:xfrm>
          <a:prstGeom prst="rect">
            <a:avLst/>
          </a:prstGeom>
          <a:noFill/>
        </p:spPr>
        <p:txBody>
          <a:bodyPr wrap="square" lIns="0" tIns="0" rIns="0" bIns="0" anchor="t">
            <a:spAutoFit/>
          </a:bodyPr>
          <a:lstStyle/>
          <a:p>
            <a:pPr algn="ctr"/>
            <a:r>
              <a:rPr sz="1800" b="0">
                <a:solidFill>
                  <a:srgbClr val="536873"/>
                </a:solidFill>
                <a:latin typeface="Arial"/>
              </a:rPr>
              <a:t>sleeve dividend yield</a:t>
            </a:r>
          </a:p>
        </p:txBody>
      </p:sp>
      <p:sp>
        <p:nvSpPr>
          <p:cNvPr id="14" name="Rectangle 13"/>
          <p:cNvSpPr/>
          <p:nvPr/>
        </p:nvSpPr>
        <p:spPr>
          <a:xfrm>
            <a:off x="6711696" y="3474720"/>
            <a:ext cx="1920240" cy="1828800"/>
          </a:xfrm>
          <a:prstGeom prst="rect">
            <a:avLst/>
          </a:prstGeom>
          <a:solidFill>
            <a:srgbClr val="F0F4F5"/>
          </a:solidFill>
          <a:ln>
            <a:noFill/>
          </a:ln>
        </p:spPr>
        <p:txBody>
          <a:bodyPr rtlCol="0" anchor="ctr"/>
          <a:lstStyle/>
          <a:p>
            <a:pPr algn="ctr"/>
            <a:endParaRPr/>
          </a:p>
        </p:txBody>
      </p:sp>
      <p:sp>
        <p:nvSpPr>
          <p:cNvPr id="15" name="TextBox 14"/>
          <p:cNvSpPr txBox="1"/>
          <p:nvPr/>
        </p:nvSpPr>
        <p:spPr>
          <a:xfrm>
            <a:off x="6821424" y="3566160"/>
            <a:ext cx="1737360" cy="369332"/>
          </a:xfrm>
          <a:prstGeom prst="rect">
            <a:avLst/>
          </a:prstGeom>
          <a:noFill/>
        </p:spPr>
        <p:txBody>
          <a:bodyPr wrap="square" lIns="0" tIns="0" rIns="0" bIns="0" anchor="t">
            <a:spAutoFit/>
          </a:bodyPr>
          <a:lstStyle/>
          <a:p>
            <a:pPr algn="ctr"/>
            <a:r>
              <a:rPr sz="2400" b="1">
                <a:solidFill>
                  <a:srgbClr val="142B3B"/>
                </a:solidFill>
                <a:latin typeface="Arial"/>
              </a:rPr>
              <a:t>21.5%</a:t>
            </a:r>
          </a:p>
        </p:txBody>
      </p:sp>
      <p:sp>
        <p:nvSpPr>
          <p:cNvPr id="16" name="TextBox 15"/>
          <p:cNvSpPr txBox="1"/>
          <p:nvPr/>
        </p:nvSpPr>
        <p:spPr>
          <a:xfrm>
            <a:off x="6821424" y="4069080"/>
            <a:ext cx="1737360" cy="553998"/>
          </a:xfrm>
          <a:prstGeom prst="rect">
            <a:avLst/>
          </a:prstGeom>
          <a:noFill/>
        </p:spPr>
        <p:txBody>
          <a:bodyPr wrap="square" lIns="0" tIns="0" rIns="0" bIns="0" anchor="t">
            <a:spAutoFit/>
          </a:bodyPr>
          <a:lstStyle/>
          <a:p>
            <a:pPr algn="ctr"/>
            <a:r>
              <a:rPr sz="1800" b="0">
                <a:solidFill>
                  <a:srgbClr val="536873"/>
                </a:solidFill>
                <a:latin typeface="Arial"/>
              </a:rPr>
              <a:t>sleeve volatility vs ARKF 34.8%</a:t>
            </a:r>
          </a:p>
        </p:txBody>
      </p:sp>
      <p:sp>
        <p:nvSpPr>
          <p:cNvPr id="17" name="TextBox 16"/>
          <p:cNvSpPr txBox="1"/>
          <p:nvPr/>
        </p:nvSpPr>
        <p:spPr>
          <a:xfrm>
            <a:off x="457200" y="6244233"/>
            <a:ext cx="8229600" cy="430887"/>
          </a:xfrm>
          <a:prstGeom prst="rect">
            <a:avLst/>
          </a:prstGeom>
          <a:noFill/>
        </p:spPr>
        <p:txBody>
          <a:bodyPr wrap="square" lIns="0" tIns="0" rIns="0" bIns="0" anchor="b">
            <a:spAutoFit/>
          </a:bodyPr>
          <a:lstStyle/>
          <a:p>
            <a:r>
              <a:rPr sz="1400">
                <a:latin typeface="Arial" panose="020B0604020202020204" pitchFamily="34" charset="0"/>
                <a:cs typeface="Arial" panose="020B0604020202020204" pitchFamily="34" charset="0"/>
              </a:rPr>
              <a:t>Sources: </a:t>
            </a:r>
            <a:r>
              <a:rPr sz="140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Portfolio Visualizer</a:t>
            </a:r>
            <a:r>
              <a:rPr sz="1400">
                <a:latin typeface="Arial" panose="020B0604020202020204" pitchFamily="34" charset="0"/>
                <a:cs typeface="Arial" panose="020B0604020202020204" pitchFamily="34" charset="0"/>
              </a:rPr>
              <a:t> (Jan 2024–Sep 2026); </a:t>
            </a:r>
            <a:r>
              <a:rPr sz="140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Digrin</a:t>
            </a:r>
            <a:r>
              <a:rPr sz="1400">
                <a:latin typeface="Arial" panose="020B0604020202020204" pitchFamily="34" charset="0"/>
                <a:cs typeface="Arial" panose="020B0604020202020204" pitchFamily="34" charset="0"/>
              </a:rPr>
              <a:t> monthly prices; dividend yields: </a:t>
            </a:r>
            <a:r>
              <a:rPr sz="1400" err="1">
                <a:latin typeface="Arial" panose="020B0604020202020204" pitchFamily="34" charset="0"/>
                <a:cs typeface="Arial" panose="020B0604020202020204" pitchFamily="34" charset="0"/>
              </a:rPr>
              <a:t>Digrin</a:t>
            </a:r>
            <a:r>
              <a:rPr sz="1400">
                <a:latin typeface="Arial" panose="020B0604020202020204" pitchFamily="34" charset="0"/>
                <a:cs typeface="Arial" panose="020B0604020202020204" pitchFamily="34" charset="0"/>
              </a:rPr>
              <a:t>, </a:t>
            </a:r>
            <a:r>
              <a:rPr sz="1400" err="1">
                <a:latin typeface="Arial" panose="020B0604020202020204" pitchFamily="34" charset="0"/>
                <a:cs typeface="Arial" panose="020B0604020202020204" pitchFamily="34" charset="0"/>
              </a:rPr>
              <a:t>Trackinsight</a:t>
            </a:r>
            <a:r>
              <a:rPr sz="1400">
                <a:latin typeface="Arial" panose="020B0604020202020204" pitchFamily="34" charset="0"/>
                <a:cs typeface="Arial" panose="020B0604020202020204" pitchFamily="34" charset="0"/>
              </a:rPr>
              <a:t> (trailing 12 months).</a:t>
            </a:r>
          </a:p>
        </p:txBody>
      </p:sp>
    </p:spTree>
    <p:extLst>
      <p:ext uri="{BB962C8B-B14F-4D97-AF65-F5344CB8AC3E}">
        <p14:creationId xmlns:p14="http://schemas.microsoft.com/office/powerpoint/2010/main" val="1863551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D3094-36A4-1AC5-E1FE-BA37E884646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C831F9F-58C2-CF09-E5CC-445A84608C40}"/>
              </a:ext>
            </a:extLst>
          </p:cNvPr>
          <p:cNvSpPr>
            <a:spLocks noGrp="1"/>
          </p:cNvSpPr>
          <p:nvPr/>
        </p:nvSpPr>
        <p:spPr>
          <a:xfrm>
            <a:off x="457200" y="666750"/>
            <a:ext cx="8229600" cy="518583"/>
          </a:xfrm>
          <a:prstGeom prst="rect">
            <a:avLst/>
          </a:prstGeom>
          <a:noFill/>
          <a:ln w="0">
            <a:noFill/>
          </a:ln>
        </p:spPr>
        <p:txBody>
          <a:bodyPr wrap="square" lIns="0" tIns="0" rIns="0" bIns="0" anchor="t">
            <a:noAutofit/>
          </a:bodyPr>
          <a:lstStyle/>
          <a:p>
            <a:pPr>
              <a:defRPr sz="2775" b="1">
                <a:solidFill>
                  <a:srgbClr val="142B3B"/>
                </a:solidFill>
                <a:latin typeface="Bitstream Charter"/>
                <a:ea typeface="Bitstream Charter"/>
                <a:cs typeface="Bitstream Charter"/>
              </a:defRPr>
            </a:pPr>
            <a:r>
              <a:rPr lang="en-US" sz="2775" b="1">
                <a:solidFill>
                  <a:srgbClr val="142B3B"/>
                </a:solidFill>
                <a:latin typeface="Arial" panose="020B0604020202020204" pitchFamily="34" charset="0"/>
                <a:ea typeface="Bitstream Charter"/>
                <a:cs typeface="Arial" panose="020B0604020202020204" pitchFamily="34" charset="0"/>
              </a:rPr>
              <a:t>AI References:</a:t>
            </a:r>
            <a:endParaRPr sz="2775" b="1">
              <a:solidFill>
                <a:srgbClr val="142B3B"/>
              </a:solidFill>
              <a:latin typeface="Arial" panose="020B0604020202020204" pitchFamily="34" charset="0"/>
              <a:ea typeface="Bitstream Charter"/>
              <a:cs typeface="Arial" panose="020B0604020202020204" pitchFamily="34" charset="0"/>
            </a:endParaRPr>
          </a:p>
        </p:txBody>
      </p:sp>
      <p:sp>
        <p:nvSpPr>
          <p:cNvPr id="5" name="TextBox 4">
            <a:extLst>
              <a:ext uri="{FF2B5EF4-FFF2-40B4-BE49-F238E27FC236}">
                <a16:creationId xmlns:a16="http://schemas.microsoft.com/office/drawing/2014/main" id="{360275AD-A2D4-481C-0981-9AD63B2B55D4}"/>
              </a:ext>
            </a:extLst>
          </p:cNvPr>
          <p:cNvSpPr txBox="1"/>
          <p:nvPr/>
        </p:nvSpPr>
        <p:spPr>
          <a:xfrm>
            <a:off x="550333" y="1413933"/>
            <a:ext cx="8382000" cy="1477328"/>
          </a:xfrm>
          <a:prstGeom prst="rect">
            <a:avLst/>
          </a:prstGeom>
          <a:noFill/>
        </p:spPr>
        <p:txBody>
          <a:bodyPr wrap="square" lIns="91440" tIns="45720" rIns="91440" bIns="45720" rtlCol="0" anchor="t">
            <a:spAutoFit/>
          </a:bodyPr>
          <a:lstStyle/>
          <a:p>
            <a:r>
              <a:rPr lang="en-US" dirty="0"/>
              <a:t>[1] </a:t>
            </a:r>
            <a:r>
              <a:rPr lang="en-US" dirty="0">
                <a:hlinkClick r:id="rId3"/>
              </a:rPr>
              <a:t>https://chatgpt.com/share/6abde06d-be30-83ea-9bd9-0de8be05529c</a:t>
            </a:r>
            <a:r>
              <a:rPr lang="en-US" dirty="0"/>
              <a:t> </a:t>
            </a:r>
          </a:p>
          <a:p>
            <a:r>
              <a:rPr lang="en-US" dirty="0"/>
              <a:t>[2] </a:t>
            </a:r>
            <a:r>
              <a:rPr lang="en-US" dirty="0">
                <a:hlinkClick r:id="rId4"/>
              </a:rPr>
              <a:t>https://chatgpt.com/share/6abde4a6-b754-83ea-a34a-facc5ca2dbcb</a:t>
            </a:r>
            <a:r>
              <a:rPr lang="en-US" dirty="0"/>
              <a:t> </a:t>
            </a:r>
            <a:endParaRPr lang="en-US" dirty="0">
              <a:ea typeface="Calibri"/>
              <a:cs typeface="Calibri"/>
            </a:endParaRPr>
          </a:p>
          <a:p>
            <a:r>
              <a:rPr lang="en-US" dirty="0"/>
              <a:t>[3] </a:t>
            </a:r>
            <a:r>
              <a:rPr lang="en-US" dirty="0">
                <a:hlinkClick r:id="rId5"/>
              </a:rPr>
              <a:t>https://chatgpt.com/share/6abe70d1-d01c-83ea-8862-8ef30963e771</a:t>
            </a:r>
            <a:endParaRPr lang="en-US" dirty="0">
              <a:ea typeface="Calibri"/>
              <a:cs typeface="Calibri"/>
              <a:hlinkClick r:id="rId5"/>
            </a:endParaRPr>
          </a:p>
          <a:p>
            <a:r>
              <a:rPr lang="en-US" dirty="0">
                <a:ea typeface="Calibri"/>
                <a:cs typeface="Calibri"/>
              </a:rPr>
              <a:t>[4] </a:t>
            </a:r>
            <a:r>
              <a:rPr lang="en-US" dirty="0">
                <a:ea typeface="+mn-lt"/>
                <a:cs typeface="+mn-lt"/>
              </a:rPr>
              <a:t>Perplexity Finance Primary Source Information: </a:t>
            </a:r>
            <a:r>
              <a:rPr lang="en-US" dirty="0">
                <a:ea typeface="+mn-lt"/>
                <a:cs typeface="+mn-lt"/>
                <a:hlinkClick r:id="rId6"/>
              </a:rPr>
              <a:t>https://www.perplexity.ai/search/7f3c8996-67ec-48df-b13b-d583821f0b4b</a:t>
            </a:r>
            <a:r>
              <a:rPr lang="en-US" dirty="0">
                <a:ea typeface="+mn-lt"/>
                <a:cs typeface="+mn-lt"/>
              </a:rPr>
              <a:t> </a:t>
            </a:r>
          </a:p>
        </p:txBody>
      </p:sp>
    </p:spTree>
    <p:extLst>
      <p:ext uri="{BB962C8B-B14F-4D97-AF65-F5344CB8AC3E}">
        <p14:creationId xmlns:p14="http://schemas.microsoft.com/office/powerpoint/2010/main" val="4165151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9240</Words>
  <Application>Microsoft Office PowerPoint</Application>
  <PresentationFormat>On-screen Show (4:3)</PresentationFormat>
  <Paragraphs>873</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Bitstream Charter</vt: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xavier chen</dc:creator>
  <cp:keywords/>
  <dc:description>generated using python-pptx</dc:description>
  <cp:lastModifiedBy>Chen, Xavier</cp:lastModifiedBy>
  <cp:revision>16</cp:revision>
  <dcterms:created xsi:type="dcterms:W3CDTF">2013-01-27T09:14:16Z</dcterms:created>
  <dcterms:modified xsi:type="dcterms:W3CDTF">2026-10-04T02:15:59Z</dcterms:modified>
  <cp:category/>
</cp:coreProperties>
</file>