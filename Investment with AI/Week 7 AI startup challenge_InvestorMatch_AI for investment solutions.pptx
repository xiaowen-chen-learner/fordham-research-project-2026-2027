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1" autoAdjust="0"/>
    <p:restoredTop sz="94610"/>
  </p:normalViewPr>
  <p:slideViewPr>
    <p:cSldViewPr snapToGrid="0" snapToObjects="1">
      <p:cViewPr>
        <p:scale>
          <a:sx n="100" d="100"/>
          <a:sy n="100" d="100"/>
        </p:scale>
        <p:origin x="744"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951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InvestorMatch starts with a simple question: what kind of investor are you? The product helps people understand their risk comfort, time horizon and decision style before showing stock and ETF ideas. The proposed experience is a profile, a clear report and an informed choice. “Tinder for Investing” is a shorthand for matching, while the product is designed around long-term fit rather than frequent trading. Our vision combines mass customization with low-cost investing.
SOURCE &amp; ASSUMPTIONS
Source: supplied InvestorMatch pitch, slides 1, 3 and 7. This is a concept-stage product proposal. The interface and investor profile are illustrative, not a live customer screen.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The problem is not a shortage of investment ideas. It is the difficulty of translating those ideas into a choice that fits the individual. The source deck identifies three related problems: noisy discovery, tools centered on security metrics, and mismatches between an investment and a person’s comfort with risk. The consequence we want to explore is weak conviction when markets move against the investor. InvestorMatch enters at the discovery and self-understanding stage, rather than trying to replace a brokerage or optimize an entire portfolio.
SOURCE &amp; ASSUMPTIONS
Source: supplied deck, slide 2. These are problem hypotheses from the source, not findings from a completed customer study. No competitive market-coverage claim or quantified investor harm is asserted.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The proposed product has three steps. First, a quick profile uses 15 broad questions, with 35 additional behavioral questions that are fully optional. Second, the user receives an Investor DNA report covering risk appetite, horizon and decision style. Third, the platform filters and ranks stock and ETF ideas around that profile. Each match should explain both the reasons for fit and relevant watch-outs. Daily updates describe the freshness of the idea list, not an instruction to trade every day. The user remains responsible for the final choice.
SOURCE &amp; ASSUMPTIONS
Source: supplied deck, slides 1, 3 and 6. The product sequence, daily ideas and explainability are proposed features; development status and operating performance are not established by the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The first layer is designed to feel approachable rather than technical. The sample screen asks about time horizon, while the adjacent examples cover priorities, response to a drawdown and preference for active decisions versus a set plan. Other sample questions in the source ask: “How important is income from your portfolio today?” and “How confident are you choosing investments on your own?” Together, the core questions are intended to establish horizon, risk comfort, confidence and style. The source’s roughly two-minute onboarding should be tested, not presented as a measured completion time.
SOURCE &amp; ASSUMPTIONS
Source: supplied deck, slide 4. The question topics are preserved. Answer choices and the interface arrangement are illustrative design elements, not a finalized questionnaire. No financial suitability assessment or psychometric validation is claimed.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The second layer is optional from beginning to end. It explores how the investor responds to social pressure, losses and market headlines. The source also offers these sample questions: “When a position falls, do you average down, wait, or exit quickly?”; “Do you trust rules more than instinct when markets get volatile?”; and “Would you trade lower returns for a smoother ride?” These questions are intended to add behavioral context to the profile. During beta, we should test whether users find that added detail useful and whether it changes their understanding of a match.
SOURCE &amp; ASSUMPTIONS
Source: supplied deck, slide 5. Samples retain the source’s behavioral framing. Additional questions are not shown as a validated measure of psychology, predictive holding power or improved investment performance.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There are two information streams. Questionnaire answers create the proposed Investor DNA profile: goals, time horizon, risk appetite and decision style. Stock and ETF characteristics then provide the investment side of the match. The source identifies volatility or risk, industry or sector, and beta as key dimensions. The matching layer filters constraints and ranks ideas by profile fit, while the user-facing output is a report and an explainable idea list. The value proposition is a human-readable explanation of fit, including what may not fit, rather than an unexplained numeric score.
SOURCE &amp; ASSUMPTIONS
Source: supplied deck, slide 6, and the product framing on slides 1 and 3. This diagram is a proposed architecture, not evidence of a deployed or validated model. The source does not specify training data, scoring weights, data vendors or model-validation results.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This is an illustration of the output, not a real recommendation. The sample investor is moderate in risk appetite, has a horizon of more than five years and prefers a rules-based style. The report also makes discomfort with sharp drawdowns visible as a watch-out. The source gives a broad-market ETF and a dividend ETF as possible match categories. In a real product, their fit would depend on the full profile and the actual fund characteristics. A dividend strategy should not be treated as automatically smoother or safer, so the visual emphasizes its income focus rather than promising a return pattern.
SOURCE &amp; ASSUMPTIONS
Source: supplied deck, slide 7. No ticker, return forecast, fit score or validated recommendation is asserted. Mockups are illustrative. The wording preserves the sample’s preferences while avoiding any suggestion that the product prevents drawdowns.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We propose a 30-day beta with 50 recruited users. The source targets are 40 completed core profiles, 25 report opens and 10 users paying for the detailed version. These are targets, not recorded traction. The two conversion rates shown are simple arithmetic: 40 divided by 50 is 80 percent, and 10 divided by 50 is 20 percent. Distribution begins with university and alumni communities, investing clubs, referrals and short content featuring sample reports. We also want qualitative feedback on question design and whether the report provides useful clarity.
SOURCE &amp; ASSUMPTIONS
Source: supplied deck, slides 8 and 10. No users, sales or measured conversion are reported in the source. “Open report” condenses the source’s “Open full report”; the precise preview/unlock event and purchase gate must be defined before measuring the beta funnel. The 50-user sample is for directional product learning, not statistical validation of an investment algorithm.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The proposed model begins with a free basic profile summary and a $19 detailed investor report. A premium refresh or subscription is a future option, not a current revenue stream. The $1,000 budget follows the source exactly: $300 for AI and compute, $350 for marketing and sales, $100 for hosting and data, and $250 for quality assurance and reserve. At the target of 10 report purchases, gross beta revenue would be $190. That figure is an illustration of the pilot, not a margin forecast or proof of scalable economics. The immediate question is whether users value the report enough to pay.
SOURCE &amp; ASSUMPTIONS
Source: supplied deck, slide 9, with the 10-payer target from slide 8. All prices and spend amounts are proposed. Derived arithmetic: $300 + $350 + $100 + $250 = $1,000; 10 × $19 = $190. No acquisition-cost, retention or profitability data is supplied.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NOTES
We are asking for $1,000 to run a 30-day beta with a target of 50 users. The deliverables are evidence about the user experience, willingness to pay for a $19 report, and the next product decision. The beta should tell us which questions and explanations work, where users lose interest, and whether the paid offer earns a response. Only after that evidence should the product deepen the model or widen distribution. The ask is intentionally limited to a validation sprint; it is not a claim that the product, recommendation engine or business economics are already proven.
SOURCE &amp; ASSUMPTIONS
Source: supplied deck, slides 8–10. The funding request and beta length are preserved. No equity stake, valuation, investment terms, market size or existing traction is invented.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D36"/>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67DCC5">
              <a:alpha val="0"/>
            </a:srgbClr>
          </a:solidFill>
          <a:ln w="21590">
            <a:solidFill>
              <a:srgbClr val="67DCC5"/>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67DCC5">
              <a:alpha val="0"/>
            </a:srgbClr>
          </a:solidFill>
          <a:ln w="21590">
            <a:solidFill>
              <a:srgbClr val="67DCC5"/>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B7D0D0"/>
                </a:solidFill>
                <a:latin typeface="Calibri" pitchFamily="34" charset="0"/>
                <a:ea typeface="Calibri" pitchFamily="34" charset="-122"/>
                <a:cs typeface="Calibri" pitchFamily="34" charset="-120"/>
              </a:rPr>
              <a:t>01</a:t>
            </a:r>
            <a:endParaRPr lang="en-US" sz="1800" dirty="0"/>
          </a:p>
        </p:txBody>
      </p:sp>
      <p:sp>
        <p:nvSpPr>
          <p:cNvPr id="6" name="Shape 4"/>
          <p:cNvSpPr/>
          <p:nvPr/>
        </p:nvSpPr>
        <p:spPr>
          <a:xfrm>
            <a:off x="502920" y="6318504"/>
            <a:ext cx="8138160" cy="0"/>
          </a:xfrm>
          <a:prstGeom prst="line">
            <a:avLst/>
          </a:prstGeom>
          <a:noFill/>
          <a:ln w="10160">
            <a:solidFill>
              <a:srgbClr val="294B54"/>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B7D0D0"/>
                </a:solidFill>
                <a:latin typeface="Calibri" pitchFamily="34" charset="0"/>
                <a:ea typeface="Calibri" pitchFamily="34" charset="-122"/>
                <a:cs typeface="Calibri" pitchFamily="34" charset="-120"/>
              </a:rPr>
              <a:t>MASS CUSTOMIZATION × LOW-COST INVESTING</a:t>
            </a:r>
            <a:endParaRPr lang="en-US" sz="1800" dirty="0"/>
          </a:p>
        </p:txBody>
      </p:sp>
      <p:sp>
        <p:nvSpPr>
          <p:cNvPr id="8" name="Text 6"/>
          <p:cNvSpPr/>
          <p:nvPr/>
        </p:nvSpPr>
        <p:spPr>
          <a:xfrm>
            <a:off x="5824728" y="320040"/>
            <a:ext cx="2148840" cy="301752"/>
          </a:xfrm>
          <a:prstGeom prst="rect">
            <a:avLst/>
          </a:prstGeom>
          <a:noFill/>
          <a:ln/>
        </p:spPr>
        <p:txBody>
          <a:bodyPr wrap="square" lIns="0" tIns="0" rIns="0" bIns="0" rtlCol="0" anchor="ctr"/>
          <a:lstStyle/>
          <a:p>
            <a:pPr marL="0" indent="0" algn="r">
              <a:buNone/>
            </a:pPr>
            <a:r>
              <a:rPr lang="en-US" sz="1800" dirty="0">
                <a:solidFill>
                  <a:srgbClr val="B7D0D0"/>
                </a:solidFill>
                <a:latin typeface="Calibri" pitchFamily="34" charset="0"/>
                <a:ea typeface="Calibri" pitchFamily="34" charset="-122"/>
                <a:cs typeface="Calibri" pitchFamily="34" charset="-120"/>
              </a:rPr>
              <a:t>BETA PROPOSAL</a:t>
            </a:r>
            <a:endParaRPr lang="en-US" sz="1800" dirty="0"/>
          </a:p>
        </p:txBody>
      </p:sp>
      <p:sp>
        <p:nvSpPr>
          <p:cNvPr id="9" name="Text 7"/>
          <p:cNvSpPr/>
          <p:nvPr/>
        </p:nvSpPr>
        <p:spPr>
          <a:xfrm>
            <a:off x="502920" y="1069848"/>
            <a:ext cx="4389120" cy="438912"/>
          </a:xfrm>
          <a:prstGeom prst="rect">
            <a:avLst/>
          </a:prstGeom>
          <a:noFill/>
          <a:ln/>
        </p:spPr>
        <p:txBody>
          <a:bodyPr wrap="square" lIns="0" tIns="0" rIns="0" bIns="0" rtlCol="0" anchor="ctr"/>
          <a:lstStyle/>
          <a:p>
            <a:pPr marL="0" indent="0">
              <a:buNone/>
            </a:pPr>
            <a:r>
              <a:rPr lang="en-US" sz="2400" b="1" dirty="0">
                <a:solidFill>
                  <a:srgbClr val="67DCC5"/>
                </a:solidFill>
                <a:latin typeface="Calibri" pitchFamily="34" charset="0"/>
                <a:ea typeface="Calibri" pitchFamily="34" charset="-122"/>
                <a:cs typeface="Calibri" pitchFamily="34" charset="-120"/>
              </a:rPr>
              <a:t>Tinder for Investing</a:t>
            </a:r>
            <a:endParaRPr lang="en-US" sz="2400" dirty="0"/>
          </a:p>
        </p:txBody>
      </p:sp>
      <p:sp>
        <p:nvSpPr>
          <p:cNvPr id="10" name="Text 8"/>
          <p:cNvSpPr/>
          <p:nvPr/>
        </p:nvSpPr>
        <p:spPr>
          <a:xfrm>
            <a:off x="502920" y="1746504"/>
            <a:ext cx="4572000" cy="1335024"/>
          </a:xfrm>
          <a:prstGeom prst="rect">
            <a:avLst/>
          </a:prstGeom>
          <a:noFill/>
          <a:ln/>
        </p:spPr>
        <p:txBody>
          <a:bodyPr wrap="square" lIns="0" tIns="0" rIns="0" bIns="0" rtlCol="0" anchor="t"/>
          <a:lstStyle/>
          <a:p>
            <a:pPr marL="0" indent="0">
              <a:lnSpc>
                <a:spcPct val="100000"/>
              </a:lnSpc>
              <a:buNone/>
            </a:pPr>
            <a:r>
              <a:rPr lang="en-US" sz="4000" b="1" dirty="0">
                <a:solidFill>
                  <a:srgbClr val="FFFFFF"/>
                </a:solidFill>
                <a:latin typeface="Calibri" pitchFamily="34" charset="0"/>
                <a:ea typeface="Calibri" pitchFamily="34" charset="-122"/>
                <a:cs typeface="Calibri" pitchFamily="34" charset="-120"/>
              </a:rPr>
              <a:t>Know yourself.</a:t>
            </a:r>
            <a:endParaRPr lang="en-US" sz="4000" dirty="0"/>
          </a:p>
          <a:p>
            <a:pPr marL="0" indent="0">
              <a:lnSpc>
                <a:spcPct val="100000"/>
              </a:lnSpc>
              <a:buNone/>
            </a:pPr>
            <a:r>
              <a:rPr lang="en-US" sz="4000" b="1" dirty="0">
                <a:solidFill>
                  <a:srgbClr val="FFFFFF"/>
                </a:solidFill>
                <a:latin typeface="Calibri" pitchFamily="34" charset="0"/>
                <a:ea typeface="Calibri" pitchFamily="34" charset="-122"/>
                <a:cs typeface="Calibri" pitchFamily="34" charset="-120"/>
              </a:rPr>
              <a:t>Match your money.</a:t>
            </a:r>
            <a:endParaRPr lang="en-US" sz="4000" dirty="0"/>
          </a:p>
        </p:txBody>
      </p:sp>
      <p:sp>
        <p:nvSpPr>
          <p:cNvPr id="11" name="Text 9"/>
          <p:cNvSpPr/>
          <p:nvPr/>
        </p:nvSpPr>
        <p:spPr>
          <a:xfrm>
            <a:off x="502920" y="3374136"/>
            <a:ext cx="4434840" cy="841248"/>
          </a:xfrm>
          <a:prstGeom prst="rect">
            <a:avLst/>
          </a:prstGeom>
          <a:noFill/>
          <a:ln/>
        </p:spPr>
        <p:txBody>
          <a:bodyPr wrap="square" lIns="0" tIns="0" rIns="0" bIns="0" rtlCol="0" anchor="t"/>
          <a:lstStyle/>
          <a:p>
            <a:pPr marL="0" indent="0">
              <a:buNone/>
            </a:pPr>
            <a:r>
              <a:rPr lang="en-US" sz="2200" dirty="0">
                <a:solidFill>
                  <a:srgbClr val="B7D0D0"/>
                </a:solidFill>
                <a:latin typeface="Calibri" pitchFamily="34" charset="0"/>
                <a:ea typeface="Calibri" pitchFamily="34" charset="-122"/>
                <a:cs typeface="Calibri" pitchFamily="34" charset="-120"/>
              </a:rPr>
              <a:t>AI-powered stock and ETF discovery,</a:t>
            </a:r>
            <a:endParaRPr lang="en-US" sz="2200" dirty="0"/>
          </a:p>
          <a:p>
            <a:pPr marL="0" indent="0">
              <a:buNone/>
            </a:pPr>
            <a:r>
              <a:rPr lang="en-US" sz="2200" dirty="0">
                <a:solidFill>
                  <a:srgbClr val="B7D0D0"/>
                </a:solidFill>
                <a:latin typeface="Calibri" pitchFamily="34" charset="0"/>
                <a:ea typeface="Calibri" pitchFamily="34" charset="-122"/>
                <a:cs typeface="Calibri" pitchFamily="34" charset="-120"/>
              </a:rPr>
              <a:t>built around the person investing.</a:t>
            </a:r>
            <a:endParaRPr lang="en-US" sz="2200" dirty="0"/>
          </a:p>
        </p:txBody>
      </p:sp>
      <p:sp>
        <p:nvSpPr>
          <p:cNvPr id="12" name="Shape 10"/>
          <p:cNvSpPr/>
          <p:nvPr/>
        </p:nvSpPr>
        <p:spPr>
          <a:xfrm>
            <a:off x="502920" y="4663440"/>
            <a:ext cx="3886200" cy="0"/>
          </a:xfrm>
          <a:prstGeom prst="line">
            <a:avLst/>
          </a:prstGeom>
          <a:noFill/>
          <a:ln w="12700">
            <a:solidFill>
              <a:srgbClr val="294B54"/>
            </a:solidFill>
            <a:prstDash val="solid"/>
            <a:headEnd type="none"/>
            <a:tailEnd type="none"/>
          </a:ln>
        </p:spPr>
        <p:txBody>
          <a:bodyPr/>
          <a:lstStyle/>
          <a:p>
            <a:endParaRPr lang="en-US"/>
          </a:p>
        </p:txBody>
      </p:sp>
      <p:sp>
        <p:nvSpPr>
          <p:cNvPr id="13" name="Text 11"/>
          <p:cNvSpPr/>
          <p:nvPr/>
        </p:nvSpPr>
        <p:spPr>
          <a:xfrm>
            <a:off x="502920" y="4901184"/>
            <a:ext cx="4297680" cy="859536"/>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A profile. A clear report.</a:t>
            </a:r>
            <a:endParaRPr lang="en-US" sz="2600" dirty="0"/>
          </a:p>
          <a:p>
            <a:pPr marL="0" indent="0">
              <a:buNone/>
            </a:pPr>
            <a:r>
              <a:rPr lang="en-US" sz="2600" b="1" dirty="0">
                <a:solidFill>
                  <a:srgbClr val="FFFFFF"/>
                </a:solidFill>
                <a:latin typeface="Calibri" pitchFamily="34" charset="0"/>
                <a:ea typeface="Calibri" pitchFamily="34" charset="-122"/>
                <a:cs typeface="Calibri" pitchFamily="34" charset="-120"/>
              </a:rPr>
              <a:t>An informed choice.</a:t>
            </a:r>
            <a:endParaRPr lang="en-US" sz="2600" dirty="0"/>
          </a:p>
        </p:txBody>
      </p:sp>
      <p:sp>
        <p:nvSpPr>
          <p:cNvPr id="14" name="Shape 12"/>
          <p:cNvSpPr/>
          <p:nvPr/>
        </p:nvSpPr>
        <p:spPr>
          <a:xfrm rot="180000">
            <a:off x="5394960" y="1325880"/>
            <a:ext cx="3227832" cy="4407408"/>
          </a:xfrm>
          <a:prstGeom prst="roundRect">
            <a:avLst>
              <a:gd name="adj" fmla="val 3966"/>
            </a:avLst>
          </a:prstGeom>
          <a:solidFill>
            <a:srgbClr val="294B54"/>
          </a:solidFill>
          <a:ln w="12700">
            <a:solidFill>
              <a:srgbClr val="294B54"/>
            </a:solidFill>
            <a:prstDash val="solid"/>
          </a:ln>
        </p:spPr>
        <p:txBody>
          <a:bodyPr/>
          <a:lstStyle/>
          <a:p>
            <a:endParaRPr lang="en-US"/>
          </a:p>
        </p:txBody>
      </p:sp>
      <p:sp>
        <p:nvSpPr>
          <p:cNvPr id="15" name="Shape 13"/>
          <p:cNvSpPr/>
          <p:nvPr/>
        </p:nvSpPr>
        <p:spPr>
          <a:xfrm rot="-180000">
            <a:off x="5230368" y="1271016"/>
            <a:ext cx="3246120" cy="4407408"/>
          </a:xfrm>
          <a:prstGeom prst="roundRect">
            <a:avLst>
              <a:gd name="adj" fmla="val 3944"/>
            </a:avLst>
          </a:prstGeom>
          <a:solidFill>
            <a:srgbClr val="007F74"/>
          </a:solidFill>
          <a:ln w="12700">
            <a:solidFill>
              <a:srgbClr val="007F74"/>
            </a:solidFill>
            <a:prstDash val="solid"/>
          </a:ln>
        </p:spPr>
        <p:txBody>
          <a:bodyPr/>
          <a:lstStyle/>
          <a:p>
            <a:endParaRPr lang="en-US"/>
          </a:p>
        </p:txBody>
      </p:sp>
      <p:sp>
        <p:nvSpPr>
          <p:cNvPr id="16" name="Shape 14"/>
          <p:cNvSpPr/>
          <p:nvPr/>
        </p:nvSpPr>
        <p:spPr>
          <a:xfrm>
            <a:off x="5166360" y="1362456"/>
            <a:ext cx="3374136" cy="4416552"/>
          </a:xfrm>
          <a:prstGeom prst="roundRect">
            <a:avLst>
              <a:gd name="adj" fmla="val 3794"/>
            </a:avLst>
          </a:prstGeom>
          <a:solidFill>
            <a:srgbClr val="FFFFFF"/>
          </a:solidFill>
          <a:ln w="12700">
            <a:solidFill>
              <a:srgbClr val="FFFFFF"/>
            </a:solidFill>
            <a:prstDash val="solid"/>
          </a:ln>
        </p:spPr>
        <p:txBody>
          <a:bodyPr/>
          <a:lstStyle/>
          <a:p>
            <a:endParaRPr lang="en-US"/>
          </a:p>
        </p:txBody>
      </p:sp>
      <p:sp>
        <p:nvSpPr>
          <p:cNvPr id="17" name="Text 15"/>
          <p:cNvSpPr/>
          <p:nvPr/>
        </p:nvSpPr>
        <p:spPr>
          <a:xfrm>
            <a:off x="5431536" y="1636776"/>
            <a:ext cx="2825496" cy="310896"/>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YOUR INVESTOR DNA</a:t>
            </a:r>
            <a:endParaRPr lang="en-US" sz="1800" dirty="0"/>
          </a:p>
        </p:txBody>
      </p:sp>
      <p:sp>
        <p:nvSpPr>
          <p:cNvPr id="18" name="Shape 16"/>
          <p:cNvSpPr/>
          <p:nvPr/>
        </p:nvSpPr>
        <p:spPr>
          <a:xfrm>
            <a:off x="5440680" y="2176272"/>
            <a:ext cx="749808" cy="749808"/>
          </a:xfrm>
          <a:prstGeom prst="ellipse">
            <a:avLst/>
          </a:prstGeom>
          <a:solidFill>
            <a:srgbClr val="E1F3ED"/>
          </a:solidFill>
          <a:ln w="12700">
            <a:solidFill>
              <a:srgbClr val="E1F3ED"/>
            </a:solidFill>
            <a:prstDash val="solid"/>
          </a:ln>
        </p:spPr>
        <p:txBody>
          <a:bodyPr/>
          <a:lstStyle/>
          <a:p>
            <a:endParaRPr lang="en-US"/>
          </a:p>
        </p:txBody>
      </p:sp>
      <p:sp>
        <p:nvSpPr>
          <p:cNvPr id="19" name="Shape 17"/>
          <p:cNvSpPr/>
          <p:nvPr/>
        </p:nvSpPr>
        <p:spPr>
          <a:xfrm>
            <a:off x="5702016" y="2305751"/>
            <a:ext cx="172822" cy="172822"/>
          </a:xfrm>
          <a:prstGeom prst="ellipse">
            <a:avLst/>
          </a:prstGeom>
          <a:solidFill>
            <a:srgbClr val="007F74"/>
          </a:solidFill>
          <a:ln w="12700">
            <a:solidFill>
              <a:srgbClr val="007F74"/>
            </a:solidFill>
            <a:prstDash val="solid"/>
          </a:ln>
        </p:spPr>
        <p:txBody>
          <a:bodyPr/>
          <a:lstStyle/>
          <a:p>
            <a:endParaRPr lang="en-US"/>
          </a:p>
        </p:txBody>
      </p:sp>
      <p:sp>
        <p:nvSpPr>
          <p:cNvPr id="20" name="Shape 18"/>
          <p:cNvSpPr/>
          <p:nvPr/>
        </p:nvSpPr>
        <p:spPr>
          <a:xfrm>
            <a:off x="5623011" y="2513137"/>
            <a:ext cx="330830" cy="217261"/>
          </a:xfrm>
          <a:prstGeom prst="roundRect">
            <a:avLst>
              <a:gd name="adj" fmla="val 58923"/>
            </a:avLst>
          </a:prstGeom>
          <a:solidFill>
            <a:srgbClr val="007F74"/>
          </a:solidFill>
          <a:ln w="12700">
            <a:solidFill>
              <a:srgbClr val="007F74"/>
            </a:solidFill>
            <a:prstDash val="solid"/>
          </a:ln>
        </p:spPr>
        <p:txBody>
          <a:bodyPr/>
          <a:lstStyle/>
          <a:p>
            <a:endParaRPr lang="en-US"/>
          </a:p>
        </p:txBody>
      </p:sp>
      <p:sp>
        <p:nvSpPr>
          <p:cNvPr id="21" name="Text 19"/>
          <p:cNvSpPr/>
          <p:nvPr/>
        </p:nvSpPr>
        <p:spPr>
          <a:xfrm>
            <a:off x="6355080" y="2176272"/>
            <a:ext cx="1920240" cy="393192"/>
          </a:xfrm>
          <a:prstGeom prst="rect">
            <a:avLst/>
          </a:prstGeom>
          <a:noFill/>
          <a:ln/>
        </p:spPr>
        <p:txBody>
          <a:bodyPr wrap="square" lIns="0" tIns="0" rIns="0" bIns="0" rtlCol="0" anchor="ctr"/>
          <a:lstStyle/>
          <a:p>
            <a:pPr marL="0" indent="0">
              <a:buNone/>
            </a:pPr>
            <a:r>
              <a:rPr lang="en-US" sz="2600" b="1" dirty="0">
                <a:solidFill>
                  <a:srgbClr val="16333A"/>
                </a:solidFill>
                <a:latin typeface="Calibri" pitchFamily="34" charset="0"/>
                <a:ea typeface="Calibri" pitchFamily="34" charset="-122"/>
                <a:cs typeface="Calibri" pitchFamily="34" charset="-120"/>
              </a:rPr>
              <a:t>Moderate</a:t>
            </a:r>
            <a:endParaRPr lang="en-US" sz="2600" dirty="0"/>
          </a:p>
        </p:txBody>
      </p:sp>
      <p:sp>
        <p:nvSpPr>
          <p:cNvPr id="22" name="Text 20"/>
          <p:cNvSpPr/>
          <p:nvPr/>
        </p:nvSpPr>
        <p:spPr>
          <a:xfrm>
            <a:off x="6355080" y="2615184"/>
            <a:ext cx="1920240" cy="292608"/>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Rules-based</a:t>
            </a:r>
            <a:endParaRPr lang="en-US" sz="1800" dirty="0"/>
          </a:p>
        </p:txBody>
      </p:sp>
      <p:sp>
        <p:nvSpPr>
          <p:cNvPr id="23" name="Shape 21"/>
          <p:cNvSpPr/>
          <p:nvPr/>
        </p:nvSpPr>
        <p:spPr>
          <a:xfrm>
            <a:off x="5449824" y="3090672"/>
            <a:ext cx="2286000" cy="393192"/>
          </a:xfrm>
          <a:prstGeom prst="roundRect">
            <a:avLst>
              <a:gd name="adj" fmla="val 32558"/>
            </a:avLst>
          </a:prstGeom>
          <a:solidFill>
            <a:srgbClr val="E1F3ED"/>
          </a:solidFill>
          <a:ln w="12700">
            <a:solidFill>
              <a:srgbClr val="E1F3ED"/>
            </a:solidFill>
            <a:prstDash val="solid"/>
          </a:ln>
        </p:spPr>
        <p:txBody>
          <a:bodyPr/>
          <a:lstStyle/>
          <a:p>
            <a:endParaRPr lang="en-US"/>
          </a:p>
        </p:txBody>
      </p:sp>
      <p:sp>
        <p:nvSpPr>
          <p:cNvPr id="24" name="Text 22"/>
          <p:cNvSpPr/>
          <p:nvPr/>
        </p:nvSpPr>
        <p:spPr>
          <a:xfrm>
            <a:off x="5559552" y="3131820"/>
            <a:ext cx="2066544" cy="301752"/>
          </a:xfrm>
          <a:prstGeom prst="rect">
            <a:avLst/>
          </a:prstGeom>
          <a:noFill/>
          <a:ln/>
        </p:spPr>
        <p:txBody>
          <a:bodyPr wrap="square" lIns="0" tIns="0" rIns="0" bIns="0" rtlCol="0" anchor="ctr"/>
          <a:lstStyle/>
          <a:p>
            <a:pPr marL="0" indent="0" algn="ctr">
              <a:buNone/>
            </a:pPr>
            <a:r>
              <a:rPr lang="en-US" sz="1800" b="1" dirty="0">
                <a:solidFill>
                  <a:srgbClr val="007F74"/>
                </a:solidFill>
                <a:latin typeface="Calibri" pitchFamily="34" charset="0"/>
                <a:ea typeface="Calibri" pitchFamily="34" charset="-122"/>
                <a:cs typeface="Calibri" pitchFamily="34" charset="-120"/>
              </a:rPr>
              <a:t>5+ year horizon</a:t>
            </a:r>
            <a:endParaRPr lang="en-US" sz="1800" dirty="0"/>
          </a:p>
        </p:txBody>
      </p:sp>
      <p:sp>
        <p:nvSpPr>
          <p:cNvPr id="25" name="Shape 23"/>
          <p:cNvSpPr/>
          <p:nvPr/>
        </p:nvSpPr>
        <p:spPr>
          <a:xfrm>
            <a:off x="5449824" y="3730752"/>
            <a:ext cx="2779776" cy="0"/>
          </a:xfrm>
          <a:prstGeom prst="line">
            <a:avLst/>
          </a:prstGeom>
          <a:noFill/>
          <a:ln w="12700">
            <a:solidFill>
              <a:srgbClr val="D6E1DF"/>
            </a:solidFill>
            <a:prstDash val="solid"/>
            <a:headEnd type="none"/>
            <a:tailEnd type="none"/>
          </a:ln>
        </p:spPr>
        <p:txBody>
          <a:bodyPr/>
          <a:lstStyle/>
          <a:p>
            <a:endParaRPr lang="en-US"/>
          </a:p>
        </p:txBody>
      </p:sp>
      <p:sp>
        <p:nvSpPr>
          <p:cNvPr id="26" name="Text 24"/>
          <p:cNvSpPr/>
          <p:nvPr/>
        </p:nvSpPr>
        <p:spPr>
          <a:xfrm>
            <a:off x="5449824" y="3941064"/>
            <a:ext cx="2752344" cy="301752"/>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Illustrative match</a:t>
            </a:r>
            <a:endParaRPr lang="en-US" sz="1800" dirty="0"/>
          </a:p>
        </p:txBody>
      </p:sp>
      <p:sp>
        <p:nvSpPr>
          <p:cNvPr id="27" name="Text 25"/>
          <p:cNvSpPr/>
          <p:nvPr/>
        </p:nvSpPr>
        <p:spPr>
          <a:xfrm>
            <a:off x="5449824" y="4398264"/>
            <a:ext cx="2770632" cy="429768"/>
          </a:xfrm>
          <a:prstGeom prst="rect">
            <a:avLst/>
          </a:prstGeom>
          <a:noFill/>
          <a:ln/>
        </p:spPr>
        <p:txBody>
          <a:bodyPr wrap="square" lIns="0" tIns="0" rIns="0" bIns="0" rtlCol="0" anchor="ctr"/>
          <a:lstStyle/>
          <a:p>
            <a:pPr marL="0" indent="0">
              <a:buNone/>
            </a:pPr>
            <a:r>
              <a:rPr lang="en-US" sz="2400" b="1" dirty="0">
                <a:solidFill>
                  <a:srgbClr val="16333A"/>
                </a:solidFill>
                <a:latin typeface="Calibri" pitchFamily="34" charset="0"/>
                <a:ea typeface="Calibri" pitchFamily="34" charset="-122"/>
                <a:cs typeface="Calibri" pitchFamily="34" charset="-120"/>
              </a:rPr>
              <a:t>Broad-market ETF</a:t>
            </a:r>
            <a:endParaRPr lang="en-US" sz="2400" dirty="0"/>
          </a:p>
        </p:txBody>
      </p:sp>
      <p:sp>
        <p:nvSpPr>
          <p:cNvPr id="28" name="Text 26"/>
          <p:cNvSpPr/>
          <p:nvPr/>
        </p:nvSpPr>
        <p:spPr>
          <a:xfrm>
            <a:off x="5449824" y="4882896"/>
            <a:ext cx="2770632" cy="310896"/>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Potential core holding</a:t>
            </a:r>
            <a:endParaRPr lang="en-US" sz="1800" dirty="0"/>
          </a:p>
        </p:txBody>
      </p:sp>
      <p:sp>
        <p:nvSpPr>
          <p:cNvPr id="29" name="Text 27"/>
          <p:cNvSpPr/>
          <p:nvPr/>
        </p:nvSpPr>
        <p:spPr>
          <a:xfrm>
            <a:off x="5449824" y="5321808"/>
            <a:ext cx="2350008" cy="301752"/>
          </a:xfrm>
          <a:prstGeom prst="rect">
            <a:avLst/>
          </a:prstGeom>
          <a:noFill/>
          <a:ln/>
        </p:spPr>
        <p:txBody>
          <a:bodyPr wrap="square" lIns="0" tIns="0" rIns="0" bIns="0" rtlCol="0" anchor="ctr"/>
          <a:lstStyle/>
          <a:p>
            <a:pPr marL="0" indent="0">
              <a:buNone/>
            </a:pPr>
            <a:r>
              <a:rPr lang="en-US" sz="2000" b="1" dirty="0">
                <a:solidFill>
                  <a:srgbClr val="007F74"/>
                </a:solidFill>
                <a:latin typeface="Calibri" pitchFamily="34" charset="0"/>
                <a:ea typeface="Calibri" pitchFamily="34" charset="-122"/>
                <a:cs typeface="Calibri" pitchFamily="34" charset="-120"/>
              </a:rPr>
              <a:t>See why it fits</a:t>
            </a:r>
            <a:endParaRPr lang="en-US" sz="2000" dirty="0"/>
          </a:p>
        </p:txBody>
      </p:sp>
      <p:sp>
        <p:nvSpPr>
          <p:cNvPr id="30" name="Shape 28"/>
          <p:cNvSpPr/>
          <p:nvPr/>
        </p:nvSpPr>
        <p:spPr>
          <a:xfrm>
            <a:off x="7882128" y="5477256"/>
            <a:ext cx="320040" cy="0"/>
          </a:xfrm>
          <a:prstGeom prst="line">
            <a:avLst/>
          </a:prstGeom>
          <a:noFill/>
          <a:ln w="20320">
            <a:solidFill>
              <a:srgbClr val="007F74"/>
            </a:solidFill>
            <a:prstDash val="solid"/>
            <a:headEnd type="none"/>
            <a:tailEnd type="triangle"/>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5"/>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007F74">
              <a:alpha val="0"/>
            </a:srgbClr>
          </a:solidFill>
          <a:ln w="21590">
            <a:solidFill>
              <a:srgbClr val="007F74"/>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007F74">
              <a:alpha val="0"/>
            </a:srgbClr>
          </a:solidFill>
          <a:ln w="21590">
            <a:solidFill>
              <a:srgbClr val="007F74"/>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16333A"/>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5A7277"/>
                </a:solidFill>
                <a:latin typeface="Calibri" pitchFamily="34" charset="0"/>
                <a:ea typeface="Calibri" pitchFamily="34" charset="-122"/>
                <a:cs typeface="Calibri" pitchFamily="34" charset="-120"/>
              </a:rPr>
              <a:t>02</a:t>
            </a:r>
            <a:endParaRPr lang="en-US" sz="1800" dirty="0"/>
          </a:p>
        </p:txBody>
      </p:sp>
      <p:sp>
        <p:nvSpPr>
          <p:cNvPr id="6" name="Shape 4"/>
          <p:cNvSpPr/>
          <p:nvPr/>
        </p:nvSpPr>
        <p:spPr>
          <a:xfrm>
            <a:off x="502920" y="6318504"/>
            <a:ext cx="8138160" cy="0"/>
          </a:xfrm>
          <a:prstGeom prst="line">
            <a:avLst/>
          </a:prstGeom>
          <a:noFill/>
          <a:ln w="10160">
            <a:solidFill>
              <a:srgbClr val="D6E1DF"/>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THE PROBLEM</a:t>
            </a:r>
            <a:endParaRPr lang="en-US" sz="1800" dirty="0"/>
          </a:p>
        </p:txBody>
      </p:sp>
      <p:sp>
        <p:nvSpPr>
          <p:cNvPr id="8" name="Text 6"/>
          <p:cNvSpPr/>
          <p:nvPr/>
        </p:nvSpPr>
        <p:spPr>
          <a:xfrm>
            <a:off x="502920" y="896112"/>
            <a:ext cx="8183880" cy="594360"/>
          </a:xfrm>
          <a:prstGeom prst="rect">
            <a:avLst/>
          </a:prstGeom>
          <a:noFill/>
          <a:ln/>
        </p:spPr>
        <p:txBody>
          <a:bodyPr wrap="square" lIns="0" tIns="0" rIns="0" bIns="0" rtlCol="0" anchor="ctr"/>
          <a:lstStyle/>
          <a:p>
            <a:pPr marL="0" indent="0">
              <a:buNone/>
            </a:pPr>
            <a:r>
              <a:rPr lang="en-US" sz="3400" b="1" dirty="0">
                <a:solidFill>
                  <a:srgbClr val="16333A"/>
                </a:solidFill>
                <a:latin typeface="Calibri" pitchFamily="34" charset="0"/>
                <a:ea typeface="Calibri" pitchFamily="34" charset="-122"/>
                <a:cs typeface="Calibri" pitchFamily="34" charset="-120"/>
              </a:rPr>
              <a:t>More ideas. Less personal fit.</a:t>
            </a:r>
            <a:endParaRPr lang="en-US" sz="3400" dirty="0"/>
          </a:p>
        </p:txBody>
      </p:sp>
      <p:sp>
        <p:nvSpPr>
          <p:cNvPr id="9" name="Text 7"/>
          <p:cNvSpPr/>
          <p:nvPr/>
        </p:nvSpPr>
        <p:spPr>
          <a:xfrm>
            <a:off x="502920" y="1517904"/>
            <a:ext cx="8138160" cy="384048"/>
          </a:xfrm>
          <a:prstGeom prst="rect">
            <a:avLst/>
          </a:prstGeom>
          <a:noFill/>
          <a:ln/>
        </p:spPr>
        <p:txBody>
          <a:bodyPr wrap="square" lIns="0" tIns="0" rIns="0" bIns="0" rtlCol="0" anchor="ctr"/>
          <a:lstStyle/>
          <a:p>
            <a:pPr marL="0" indent="0">
              <a:buNone/>
            </a:pPr>
            <a:r>
              <a:rPr lang="en-US" sz="2000" dirty="0">
                <a:solidFill>
                  <a:srgbClr val="5A7277"/>
                </a:solidFill>
                <a:latin typeface="Calibri" pitchFamily="34" charset="0"/>
                <a:ea typeface="Calibri" pitchFamily="34" charset="-122"/>
                <a:cs typeface="Calibri" pitchFamily="34" charset="-120"/>
              </a:rPr>
              <a:t>Investment discovery starts with the ticker.</a:t>
            </a:r>
            <a:endParaRPr lang="en-US" sz="2000" dirty="0"/>
          </a:p>
        </p:txBody>
      </p:sp>
      <p:sp>
        <p:nvSpPr>
          <p:cNvPr id="10" name="Shape 8"/>
          <p:cNvSpPr/>
          <p:nvPr/>
        </p:nvSpPr>
        <p:spPr>
          <a:xfrm>
            <a:off x="502920" y="2148840"/>
            <a:ext cx="2578608" cy="3191256"/>
          </a:xfrm>
          <a:prstGeom prst="roundRect">
            <a:avLst>
              <a:gd name="adj" fmla="val 4965"/>
            </a:avLst>
          </a:prstGeom>
          <a:solidFill>
            <a:srgbClr val="FFFFFF"/>
          </a:solidFill>
          <a:ln w="10160">
            <a:solidFill>
              <a:srgbClr val="D6E1DF"/>
            </a:solidFill>
            <a:prstDash val="solid"/>
          </a:ln>
        </p:spPr>
        <p:txBody>
          <a:bodyPr/>
          <a:lstStyle/>
          <a:p>
            <a:endParaRPr lang="en-US"/>
          </a:p>
        </p:txBody>
      </p:sp>
      <p:sp>
        <p:nvSpPr>
          <p:cNvPr id="11" name="Shape 9"/>
          <p:cNvSpPr/>
          <p:nvPr/>
        </p:nvSpPr>
        <p:spPr>
          <a:xfrm>
            <a:off x="1298448" y="2450592"/>
            <a:ext cx="1005840" cy="1005840"/>
          </a:xfrm>
          <a:prstGeom prst="ellipse">
            <a:avLst/>
          </a:prstGeom>
          <a:solidFill>
            <a:srgbClr val="E1F3ED"/>
          </a:solidFill>
          <a:ln w="12700">
            <a:solidFill>
              <a:srgbClr val="E1F3ED"/>
            </a:solidFill>
            <a:prstDash val="solid"/>
          </a:ln>
        </p:spPr>
        <p:txBody>
          <a:bodyPr/>
          <a:lstStyle/>
          <a:p>
            <a:endParaRPr lang="en-US"/>
          </a:p>
        </p:txBody>
      </p:sp>
      <p:sp>
        <p:nvSpPr>
          <p:cNvPr id="12" name="Shape 10"/>
          <p:cNvSpPr/>
          <p:nvPr/>
        </p:nvSpPr>
        <p:spPr>
          <a:xfrm>
            <a:off x="1513332" y="2700223"/>
            <a:ext cx="438912" cy="555955"/>
          </a:xfrm>
          <a:prstGeom prst="roundRect">
            <a:avLst>
              <a:gd name="adj" fmla="val 29167"/>
            </a:avLst>
          </a:prstGeom>
          <a:solidFill>
            <a:srgbClr val="E1F3ED"/>
          </a:solidFill>
          <a:ln w="10160">
            <a:solidFill>
              <a:srgbClr val="007F74"/>
            </a:solidFill>
            <a:prstDash val="solid"/>
          </a:ln>
        </p:spPr>
        <p:txBody>
          <a:bodyPr/>
          <a:lstStyle/>
          <a:p>
            <a:endParaRPr lang="en-US"/>
          </a:p>
        </p:txBody>
      </p:sp>
      <p:sp>
        <p:nvSpPr>
          <p:cNvPr id="13" name="Shape 11"/>
          <p:cNvSpPr/>
          <p:nvPr/>
        </p:nvSpPr>
        <p:spPr>
          <a:xfrm>
            <a:off x="1652321" y="2597810"/>
            <a:ext cx="438912" cy="555955"/>
          </a:xfrm>
          <a:prstGeom prst="roundRect">
            <a:avLst>
              <a:gd name="adj" fmla="val 29167"/>
            </a:avLst>
          </a:prstGeom>
          <a:solidFill>
            <a:srgbClr val="E1F3ED"/>
          </a:solidFill>
          <a:ln w="10160">
            <a:solidFill>
              <a:srgbClr val="007F74"/>
            </a:solidFill>
            <a:prstDash val="solid"/>
          </a:ln>
        </p:spPr>
        <p:txBody>
          <a:bodyPr/>
          <a:lstStyle/>
          <a:p>
            <a:endParaRPr lang="en-US"/>
          </a:p>
        </p:txBody>
      </p:sp>
      <p:sp>
        <p:nvSpPr>
          <p:cNvPr id="14" name="Shape 12"/>
          <p:cNvSpPr/>
          <p:nvPr/>
        </p:nvSpPr>
        <p:spPr>
          <a:xfrm>
            <a:off x="1754734" y="2773375"/>
            <a:ext cx="234086" cy="0"/>
          </a:xfrm>
          <a:prstGeom prst="line">
            <a:avLst/>
          </a:prstGeom>
          <a:noFill/>
          <a:ln w="25400">
            <a:solidFill>
              <a:srgbClr val="007F74"/>
            </a:solidFill>
            <a:prstDash val="solid"/>
            <a:headEnd type="none"/>
            <a:tailEnd type="none"/>
          </a:ln>
        </p:spPr>
        <p:txBody>
          <a:bodyPr/>
          <a:lstStyle/>
          <a:p>
            <a:endParaRPr lang="en-US"/>
          </a:p>
        </p:txBody>
      </p:sp>
      <p:sp>
        <p:nvSpPr>
          <p:cNvPr id="15" name="Shape 13"/>
          <p:cNvSpPr/>
          <p:nvPr/>
        </p:nvSpPr>
        <p:spPr>
          <a:xfrm>
            <a:off x="1754734" y="2883103"/>
            <a:ext cx="175565" cy="0"/>
          </a:xfrm>
          <a:prstGeom prst="line">
            <a:avLst/>
          </a:prstGeom>
          <a:noFill/>
          <a:ln w="25400">
            <a:solidFill>
              <a:srgbClr val="007F74"/>
            </a:solidFill>
            <a:prstDash val="solid"/>
            <a:headEnd type="none"/>
            <a:tailEnd type="none"/>
          </a:ln>
        </p:spPr>
        <p:txBody>
          <a:bodyPr/>
          <a:lstStyle/>
          <a:p>
            <a:endParaRPr lang="en-US"/>
          </a:p>
        </p:txBody>
      </p:sp>
      <p:sp>
        <p:nvSpPr>
          <p:cNvPr id="16" name="Shape 14"/>
          <p:cNvSpPr/>
          <p:nvPr/>
        </p:nvSpPr>
        <p:spPr>
          <a:xfrm>
            <a:off x="1901038" y="3000146"/>
            <a:ext cx="80467" cy="80467"/>
          </a:xfrm>
          <a:prstGeom prst="ellipse">
            <a:avLst/>
          </a:prstGeom>
          <a:solidFill>
            <a:srgbClr val="007F74"/>
          </a:solidFill>
          <a:ln w="12700">
            <a:solidFill>
              <a:srgbClr val="007F74"/>
            </a:solidFill>
            <a:prstDash val="solid"/>
          </a:ln>
        </p:spPr>
        <p:txBody>
          <a:bodyPr/>
          <a:lstStyle/>
          <a:p>
            <a:endParaRPr lang="en-US"/>
          </a:p>
        </p:txBody>
      </p:sp>
      <p:sp>
        <p:nvSpPr>
          <p:cNvPr id="17" name="Text 15"/>
          <p:cNvSpPr/>
          <p:nvPr/>
        </p:nvSpPr>
        <p:spPr>
          <a:xfrm>
            <a:off x="713232" y="3785616"/>
            <a:ext cx="2157984" cy="420624"/>
          </a:xfrm>
          <a:prstGeom prst="rect">
            <a:avLst/>
          </a:prstGeom>
          <a:noFill/>
          <a:ln/>
        </p:spPr>
        <p:txBody>
          <a:bodyPr wrap="square" lIns="0" tIns="0" rIns="0" bIns="0" rtlCol="0" anchor="ctr"/>
          <a:lstStyle/>
          <a:p>
            <a:pPr marL="0" indent="0">
              <a:buNone/>
            </a:pPr>
            <a:r>
              <a:rPr lang="en-US" sz="2500" b="1" dirty="0">
                <a:solidFill>
                  <a:srgbClr val="16333A"/>
                </a:solidFill>
                <a:latin typeface="Calibri" pitchFamily="34" charset="0"/>
                <a:ea typeface="Calibri" pitchFamily="34" charset="-122"/>
                <a:cs typeface="Calibri" pitchFamily="34" charset="-120"/>
              </a:rPr>
              <a:t>Noise</a:t>
            </a:r>
            <a:endParaRPr lang="en-US" sz="2500" dirty="0"/>
          </a:p>
        </p:txBody>
      </p:sp>
      <p:sp>
        <p:nvSpPr>
          <p:cNvPr id="18" name="Text 16"/>
          <p:cNvSpPr/>
          <p:nvPr/>
        </p:nvSpPr>
        <p:spPr>
          <a:xfrm>
            <a:off x="713232" y="4361688"/>
            <a:ext cx="2157984" cy="850392"/>
          </a:xfrm>
          <a:prstGeom prst="rect">
            <a:avLst/>
          </a:prstGeom>
          <a:noFill/>
          <a:ln/>
        </p:spPr>
        <p:txBody>
          <a:bodyPr wrap="square" lIns="0" tIns="0" rIns="0" bIns="0" rtlCol="0" anchor="t"/>
          <a:lstStyle/>
          <a:p>
            <a:pPr marL="0" indent="0">
              <a:buNone/>
            </a:pPr>
            <a:r>
              <a:rPr lang="en-US" sz="2000" dirty="0">
                <a:solidFill>
                  <a:srgbClr val="5A7277"/>
                </a:solidFill>
                <a:latin typeface="Calibri" pitchFamily="34" charset="0"/>
                <a:ea typeface="Calibri" pitchFamily="34" charset="-122"/>
                <a:cs typeface="Calibri" pitchFamily="34" charset="-120"/>
              </a:rPr>
              <a:t>Too many tickers.</a:t>
            </a:r>
            <a:endParaRPr lang="en-US" sz="2000" dirty="0"/>
          </a:p>
          <a:p>
            <a:pPr marL="0" indent="0">
              <a:buNone/>
            </a:pPr>
            <a:r>
              <a:rPr lang="en-US" sz="2000" dirty="0">
                <a:solidFill>
                  <a:srgbClr val="5A7277"/>
                </a:solidFill>
                <a:latin typeface="Calibri" pitchFamily="34" charset="0"/>
                <a:ea typeface="Calibri" pitchFamily="34" charset="-122"/>
                <a:cs typeface="Calibri" pitchFamily="34" charset="-120"/>
              </a:rPr>
              <a:t>Too much content.</a:t>
            </a:r>
            <a:endParaRPr lang="en-US" sz="2000" dirty="0"/>
          </a:p>
        </p:txBody>
      </p:sp>
      <p:sp>
        <p:nvSpPr>
          <p:cNvPr id="19" name="Shape 17"/>
          <p:cNvSpPr/>
          <p:nvPr/>
        </p:nvSpPr>
        <p:spPr>
          <a:xfrm>
            <a:off x="3282696" y="2148840"/>
            <a:ext cx="2578608" cy="3191256"/>
          </a:xfrm>
          <a:prstGeom prst="roundRect">
            <a:avLst>
              <a:gd name="adj" fmla="val 4965"/>
            </a:avLst>
          </a:prstGeom>
          <a:solidFill>
            <a:srgbClr val="FFFFFF"/>
          </a:solidFill>
          <a:ln w="10160">
            <a:solidFill>
              <a:srgbClr val="D6E1DF"/>
            </a:solidFill>
            <a:prstDash val="solid"/>
          </a:ln>
        </p:spPr>
        <p:txBody>
          <a:bodyPr/>
          <a:lstStyle/>
          <a:p>
            <a:endParaRPr lang="en-US"/>
          </a:p>
        </p:txBody>
      </p:sp>
      <p:sp>
        <p:nvSpPr>
          <p:cNvPr id="20" name="Shape 18"/>
          <p:cNvSpPr/>
          <p:nvPr/>
        </p:nvSpPr>
        <p:spPr>
          <a:xfrm>
            <a:off x="4078224" y="2450592"/>
            <a:ext cx="1005840" cy="1005840"/>
          </a:xfrm>
          <a:prstGeom prst="ellipse">
            <a:avLst/>
          </a:prstGeom>
          <a:solidFill>
            <a:srgbClr val="E1F3ED"/>
          </a:solidFill>
          <a:ln w="12700">
            <a:solidFill>
              <a:srgbClr val="E1F3ED"/>
            </a:solidFill>
            <a:prstDash val="solid"/>
          </a:ln>
        </p:spPr>
        <p:txBody>
          <a:bodyPr/>
          <a:lstStyle/>
          <a:p>
            <a:endParaRPr lang="en-US"/>
          </a:p>
        </p:txBody>
      </p:sp>
      <p:sp>
        <p:nvSpPr>
          <p:cNvPr id="21" name="Shape 19"/>
          <p:cNvSpPr/>
          <p:nvPr/>
        </p:nvSpPr>
        <p:spPr>
          <a:xfrm>
            <a:off x="4278478" y="2766060"/>
            <a:ext cx="607162" cy="0"/>
          </a:xfrm>
          <a:prstGeom prst="line">
            <a:avLst/>
          </a:prstGeom>
          <a:noFill/>
          <a:ln w="31750">
            <a:solidFill>
              <a:srgbClr val="007F74"/>
            </a:solidFill>
            <a:prstDash val="solid"/>
            <a:headEnd type="none"/>
            <a:tailEnd type="none"/>
          </a:ln>
        </p:spPr>
        <p:txBody>
          <a:bodyPr/>
          <a:lstStyle/>
          <a:p>
            <a:endParaRPr lang="en-US"/>
          </a:p>
        </p:txBody>
      </p:sp>
      <p:sp>
        <p:nvSpPr>
          <p:cNvPr id="22" name="Shape 20"/>
          <p:cNvSpPr/>
          <p:nvPr/>
        </p:nvSpPr>
        <p:spPr>
          <a:xfrm>
            <a:off x="4380890" y="2714854"/>
            <a:ext cx="102413" cy="102413"/>
          </a:xfrm>
          <a:prstGeom prst="ellipse">
            <a:avLst/>
          </a:prstGeom>
          <a:solidFill>
            <a:srgbClr val="E1F3ED"/>
          </a:solidFill>
          <a:ln w="22860">
            <a:solidFill>
              <a:srgbClr val="007F74"/>
            </a:solidFill>
            <a:prstDash val="solid"/>
          </a:ln>
        </p:spPr>
        <p:txBody>
          <a:bodyPr/>
          <a:lstStyle/>
          <a:p>
            <a:endParaRPr lang="en-US"/>
          </a:p>
        </p:txBody>
      </p:sp>
      <p:sp>
        <p:nvSpPr>
          <p:cNvPr id="23" name="Shape 21"/>
          <p:cNvSpPr/>
          <p:nvPr/>
        </p:nvSpPr>
        <p:spPr>
          <a:xfrm>
            <a:off x="4278478" y="2948940"/>
            <a:ext cx="607162" cy="0"/>
          </a:xfrm>
          <a:prstGeom prst="line">
            <a:avLst/>
          </a:prstGeom>
          <a:noFill/>
          <a:ln w="31750">
            <a:solidFill>
              <a:srgbClr val="007F74"/>
            </a:solidFill>
            <a:prstDash val="solid"/>
            <a:headEnd type="none"/>
            <a:tailEnd type="none"/>
          </a:ln>
        </p:spPr>
        <p:txBody>
          <a:bodyPr/>
          <a:lstStyle/>
          <a:p>
            <a:endParaRPr lang="en-US"/>
          </a:p>
        </p:txBody>
      </p:sp>
      <p:sp>
        <p:nvSpPr>
          <p:cNvPr id="24" name="Shape 22"/>
          <p:cNvSpPr/>
          <p:nvPr/>
        </p:nvSpPr>
        <p:spPr>
          <a:xfrm>
            <a:off x="4673498" y="2897734"/>
            <a:ext cx="102413" cy="102413"/>
          </a:xfrm>
          <a:prstGeom prst="ellipse">
            <a:avLst/>
          </a:prstGeom>
          <a:solidFill>
            <a:srgbClr val="E1F3ED"/>
          </a:solidFill>
          <a:ln w="22860">
            <a:solidFill>
              <a:srgbClr val="007F74"/>
            </a:solidFill>
            <a:prstDash val="solid"/>
          </a:ln>
        </p:spPr>
        <p:txBody>
          <a:bodyPr/>
          <a:lstStyle/>
          <a:p>
            <a:endParaRPr lang="en-US"/>
          </a:p>
        </p:txBody>
      </p:sp>
      <p:sp>
        <p:nvSpPr>
          <p:cNvPr id="25" name="Shape 23"/>
          <p:cNvSpPr/>
          <p:nvPr/>
        </p:nvSpPr>
        <p:spPr>
          <a:xfrm>
            <a:off x="4278478" y="3131820"/>
            <a:ext cx="607162" cy="0"/>
          </a:xfrm>
          <a:prstGeom prst="line">
            <a:avLst/>
          </a:prstGeom>
          <a:noFill/>
          <a:ln w="31750">
            <a:solidFill>
              <a:srgbClr val="007F74"/>
            </a:solidFill>
            <a:prstDash val="solid"/>
            <a:headEnd type="none"/>
            <a:tailEnd type="none"/>
          </a:ln>
        </p:spPr>
        <p:txBody>
          <a:bodyPr/>
          <a:lstStyle/>
          <a:p>
            <a:endParaRPr lang="en-US"/>
          </a:p>
        </p:txBody>
      </p:sp>
      <p:sp>
        <p:nvSpPr>
          <p:cNvPr id="26" name="Shape 24"/>
          <p:cNvSpPr/>
          <p:nvPr/>
        </p:nvSpPr>
        <p:spPr>
          <a:xfrm>
            <a:off x="4483303" y="3080614"/>
            <a:ext cx="102413" cy="102413"/>
          </a:xfrm>
          <a:prstGeom prst="ellipse">
            <a:avLst/>
          </a:prstGeom>
          <a:solidFill>
            <a:srgbClr val="E1F3ED"/>
          </a:solidFill>
          <a:ln w="22860">
            <a:solidFill>
              <a:srgbClr val="007F74"/>
            </a:solidFill>
            <a:prstDash val="solid"/>
          </a:ln>
        </p:spPr>
        <p:txBody>
          <a:bodyPr/>
          <a:lstStyle/>
          <a:p>
            <a:endParaRPr lang="en-US"/>
          </a:p>
        </p:txBody>
      </p:sp>
      <p:sp>
        <p:nvSpPr>
          <p:cNvPr id="27" name="Text 25"/>
          <p:cNvSpPr/>
          <p:nvPr/>
        </p:nvSpPr>
        <p:spPr>
          <a:xfrm>
            <a:off x="3493008" y="3785616"/>
            <a:ext cx="2157984" cy="420624"/>
          </a:xfrm>
          <a:prstGeom prst="rect">
            <a:avLst/>
          </a:prstGeom>
          <a:noFill/>
          <a:ln/>
        </p:spPr>
        <p:txBody>
          <a:bodyPr wrap="square" lIns="0" tIns="0" rIns="0" bIns="0" rtlCol="0" anchor="ctr"/>
          <a:lstStyle/>
          <a:p>
            <a:pPr marL="0" indent="0">
              <a:buNone/>
            </a:pPr>
            <a:r>
              <a:rPr lang="en-US" sz="2500" b="1" dirty="0">
                <a:solidFill>
                  <a:srgbClr val="16333A"/>
                </a:solidFill>
                <a:latin typeface="Calibri" pitchFamily="34" charset="0"/>
                <a:ea typeface="Calibri" pitchFamily="34" charset="-122"/>
                <a:cs typeface="Calibri" pitchFamily="34" charset="-120"/>
              </a:rPr>
              <a:t>Generic filters</a:t>
            </a:r>
            <a:endParaRPr lang="en-US" sz="2500" dirty="0"/>
          </a:p>
        </p:txBody>
      </p:sp>
      <p:sp>
        <p:nvSpPr>
          <p:cNvPr id="28" name="Text 26"/>
          <p:cNvSpPr/>
          <p:nvPr/>
        </p:nvSpPr>
        <p:spPr>
          <a:xfrm>
            <a:off x="3493008" y="4361688"/>
            <a:ext cx="2157984" cy="850392"/>
          </a:xfrm>
          <a:prstGeom prst="rect">
            <a:avLst/>
          </a:prstGeom>
          <a:noFill/>
          <a:ln/>
        </p:spPr>
        <p:txBody>
          <a:bodyPr wrap="square" lIns="0" tIns="0" rIns="0" bIns="0" rtlCol="0" anchor="t"/>
          <a:lstStyle/>
          <a:p>
            <a:pPr marL="0" indent="0">
              <a:buNone/>
            </a:pPr>
            <a:r>
              <a:rPr lang="en-US" sz="2000" dirty="0">
                <a:solidFill>
                  <a:srgbClr val="5A7277"/>
                </a:solidFill>
                <a:latin typeface="Calibri" pitchFamily="34" charset="0"/>
                <a:ea typeface="Calibri" pitchFamily="34" charset="-122"/>
                <a:cs typeface="Calibri" pitchFamily="34" charset="-120"/>
              </a:rPr>
              <a:t>Security metrics.</a:t>
            </a:r>
            <a:endParaRPr lang="en-US" sz="2000" dirty="0"/>
          </a:p>
          <a:p>
            <a:pPr marL="0" indent="0">
              <a:buNone/>
            </a:pPr>
            <a:r>
              <a:rPr lang="en-US" sz="2000" dirty="0">
                <a:solidFill>
                  <a:srgbClr val="5A7277"/>
                </a:solidFill>
                <a:latin typeface="Calibri" pitchFamily="34" charset="0"/>
                <a:ea typeface="Calibri" pitchFamily="34" charset="-122"/>
                <a:cs typeface="Calibri" pitchFamily="34" charset="-120"/>
              </a:rPr>
              <a:t>Little personal</a:t>
            </a:r>
            <a:endParaRPr lang="en-US" sz="2000" dirty="0"/>
          </a:p>
          <a:p>
            <a:pPr marL="0" indent="0">
              <a:buNone/>
            </a:pPr>
            <a:r>
              <a:rPr lang="en-US" sz="2000" dirty="0">
                <a:solidFill>
                  <a:srgbClr val="5A7277"/>
                </a:solidFill>
                <a:latin typeface="Calibri" pitchFamily="34" charset="0"/>
                <a:ea typeface="Calibri" pitchFamily="34" charset="-122"/>
                <a:cs typeface="Calibri" pitchFamily="34" charset="-120"/>
              </a:rPr>
              <a:t>context.</a:t>
            </a:r>
            <a:endParaRPr lang="en-US" sz="2000" dirty="0"/>
          </a:p>
        </p:txBody>
      </p:sp>
      <p:sp>
        <p:nvSpPr>
          <p:cNvPr id="29" name="Shape 27"/>
          <p:cNvSpPr/>
          <p:nvPr/>
        </p:nvSpPr>
        <p:spPr>
          <a:xfrm>
            <a:off x="6062472" y="2148840"/>
            <a:ext cx="2578608" cy="3191256"/>
          </a:xfrm>
          <a:prstGeom prst="roundRect">
            <a:avLst>
              <a:gd name="adj" fmla="val 4965"/>
            </a:avLst>
          </a:prstGeom>
          <a:solidFill>
            <a:srgbClr val="FFFFFF"/>
          </a:solidFill>
          <a:ln w="10160">
            <a:solidFill>
              <a:srgbClr val="D6E1DF"/>
            </a:solidFill>
            <a:prstDash val="solid"/>
          </a:ln>
        </p:spPr>
        <p:txBody>
          <a:bodyPr/>
          <a:lstStyle/>
          <a:p>
            <a:endParaRPr lang="en-US"/>
          </a:p>
        </p:txBody>
      </p:sp>
      <p:sp>
        <p:nvSpPr>
          <p:cNvPr id="30" name="Shape 28"/>
          <p:cNvSpPr/>
          <p:nvPr/>
        </p:nvSpPr>
        <p:spPr>
          <a:xfrm>
            <a:off x="6858000" y="2450592"/>
            <a:ext cx="1005840" cy="1005840"/>
          </a:xfrm>
          <a:prstGeom prst="ellipse">
            <a:avLst/>
          </a:prstGeom>
          <a:solidFill>
            <a:srgbClr val="FBF0E6"/>
          </a:solidFill>
          <a:ln w="12700">
            <a:solidFill>
              <a:srgbClr val="FBF0E6"/>
            </a:solidFill>
            <a:prstDash val="solid"/>
          </a:ln>
        </p:spPr>
        <p:txBody>
          <a:bodyPr/>
          <a:lstStyle/>
          <a:p>
            <a:endParaRPr lang="en-US"/>
          </a:p>
        </p:txBody>
      </p:sp>
      <p:sp>
        <p:nvSpPr>
          <p:cNvPr id="31" name="Shape 29"/>
          <p:cNvSpPr/>
          <p:nvPr/>
        </p:nvSpPr>
        <p:spPr>
          <a:xfrm>
            <a:off x="7043623" y="3190342"/>
            <a:ext cx="0" cy="0"/>
          </a:xfrm>
          <a:prstGeom prst="line">
            <a:avLst/>
          </a:prstGeom>
          <a:noFill/>
          <a:ln w="19050">
            <a:solidFill>
              <a:srgbClr val="C88841"/>
            </a:solidFill>
            <a:prstDash val="solid"/>
            <a:headEnd type="none"/>
            <a:tailEnd type="none"/>
          </a:ln>
        </p:spPr>
        <p:txBody>
          <a:bodyPr/>
          <a:lstStyle/>
          <a:p>
            <a:endParaRPr lang="en-US"/>
          </a:p>
        </p:txBody>
      </p:sp>
      <p:sp>
        <p:nvSpPr>
          <p:cNvPr id="32" name="Shape 30"/>
          <p:cNvSpPr/>
          <p:nvPr/>
        </p:nvSpPr>
        <p:spPr>
          <a:xfrm>
            <a:off x="7043623" y="3190342"/>
            <a:ext cx="651053" cy="0"/>
          </a:xfrm>
          <a:prstGeom prst="line">
            <a:avLst/>
          </a:prstGeom>
          <a:noFill/>
          <a:ln w="19050">
            <a:solidFill>
              <a:srgbClr val="C88841"/>
            </a:solidFill>
            <a:prstDash val="solid"/>
            <a:headEnd type="none"/>
            <a:tailEnd type="none"/>
          </a:ln>
        </p:spPr>
        <p:txBody>
          <a:bodyPr/>
          <a:lstStyle/>
          <a:p>
            <a:endParaRPr lang="en-US"/>
          </a:p>
        </p:txBody>
      </p:sp>
      <p:sp>
        <p:nvSpPr>
          <p:cNvPr id="33" name="Shape 31"/>
          <p:cNvSpPr/>
          <p:nvPr/>
        </p:nvSpPr>
        <p:spPr>
          <a:xfrm>
            <a:off x="7094830" y="2751430"/>
            <a:ext cx="138989" cy="65837"/>
          </a:xfrm>
          <a:prstGeom prst="line">
            <a:avLst/>
          </a:prstGeom>
          <a:noFill/>
          <a:ln w="31750">
            <a:solidFill>
              <a:srgbClr val="C88841"/>
            </a:solidFill>
            <a:prstDash val="solid"/>
            <a:headEnd type="none"/>
            <a:tailEnd type="none"/>
          </a:ln>
        </p:spPr>
        <p:txBody>
          <a:bodyPr/>
          <a:lstStyle/>
          <a:p>
            <a:endParaRPr lang="en-US"/>
          </a:p>
        </p:txBody>
      </p:sp>
      <p:sp>
        <p:nvSpPr>
          <p:cNvPr id="34" name="Shape 32"/>
          <p:cNvSpPr/>
          <p:nvPr/>
        </p:nvSpPr>
        <p:spPr>
          <a:xfrm>
            <a:off x="7233818" y="2817266"/>
            <a:ext cx="95098" cy="0"/>
          </a:xfrm>
          <a:prstGeom prst="line">
            <a:avLst/>
          </a:prstGeom>
          <a:noFill/>
          <a:ln w="31750">
            <a:solidFill>
              <a:srgbClr val="C88841"/>
            </a:solidFill>
            <a:prstDash val="solid"/>
            <a:headEnd type="none"/>
            <a:tailEnd type="none"/>
          </a:ln>
        </p:spPr>
        <p:txBody>
          <a:bodyPr/>
          <a:lstStyle/>
          <a:p>
            <a:endParaRPr lang="en-US"/>
          </a:p>
        </p:txBody>
      </p:sp>
      <p:sp>
        <p:nvSpPr>
          <p:cNvPr id="35" name="Shape 33"/>
          <p:cNvSpPr/>
          <p:nvPr/>
        </p:nvSpPr>
        <p:spPr>
          <a:xfrm>
            <a:off x="7328916" y="2714854"/>
            <a:ext cx="117043" cy="292608"/>
          </a:xfrm>
          <a:prstGeom prst="line">
            <a:avLst/>
          </a:prstGeom>
          <a:noFill/>
          <a:ln w="31750">
            <a:solidFill>
              <a:srgbClr val="C88841"/>
            </a:solidFill>
            <a:prstDash val="solid"/>
            <a:headEnd type="none"/>
            <a:tailEnd type="none"/>
          </a:ln>
        </p:spPr>
        <p:txBody>
          <a:bodyPr/>
          <a:lstStyle/>
          <a:p>
            <a:endParaRPr lang="en-US"/>
          </a:p>
        </p:txBody>
      </p:sp>
      <p:sp>
        <p:nvSpPr>
          <p:cNvPr id="36" name="Shape 34"/>
          <p:cNvSpPr/>
          <p:nvPr/>
        </p:nvSpPr>
        <p:spPr>
          <a:xfrm>
            <a:off x="7445959" y="3007462"/>
            <a:ext cx="95098" cy="0"/>
          </a:xfrm>
          <a:prstGeom prst="line">
            <a:avLst/>
          </a:prstGeom>
          <a:noFill/>
          <a:ln w="31750">
            <a:solidFill>
              <a:srgbClr val="C88841"/>
            </a:solidFill>
            <a:prstDash val="solid"/>
            <a:headEnd type="none"/>
            <a:tailEnd type="none"/>
          </a:ln>
        </p:spPr>
        <p:txBody>
          <a:bodyPr/>
          <a:lstStyle/>
          <a:p>
            <a:endParaRPr lang="en-US"/>
          </a:p>
        </p:txBody>
      </p:sp>
      <p:sp>
        <p:nvSpPr>
          <p:cNvPr id="37" name="Shape 35"/>
          <p:cNvSpPr/>
          <p:nvPr/>
        </p:nvSpPr>
        <p:spPr>
          <a:xfrm>
            <a:off x="7541057" y="2926994"/>
            <a:ext cx="117043" cy="190195"/>
          </a:xfrm>
          <a:prstGeom prst="line">
            <a:avLst/>
          </a:prstGeom>
          <a:noFill/>
          <a:ln w="31750">
            <a:solidFill>
              <a:srgbClr val="C88841"/>
            </a:solidFill>
            <a:prstDash val="solid"/>
            <a:headEnd type="none"/>
            <a:tailEnd type="none"/>
          </a:ln>
        </p:spPr>
        <p:txBody>
          <a:bodyPr/>
          <a:lstStyle/>
          <a:p>
            <a:endParaRPr lang="en-US"/>
          </a:p>
        </p:txBody>
      </p:sp>
      <p:sp>
        <p:nvSpPr>
          <p:cNvPr id="38" name="Shape 36"/>
          <p:cNvSpPr/>
          <p:nvPr/>
        </p:nvSpPr>
        <p:spPr>
          <a:xfrm>
            <a:off x="7625182" y="3084271"/>
            <a:ext cx="65837" cy="65837"/>
          </a:xfrm>
          <a:prstGeom prst="ellipse">
            <a:avLst/>
          </a:prstGeom>
          <a:solidFill>
            <a:srgbClr val="C88841"/>
          </a:solidFill>
          <a:ln w="12700">
            <a:solidFill>
              <a:srgbClr val="C88841"/>
            </a:solidFill>
            <a:prstDash val="solid"/>
          </a:ln>
        </p:spPr>
        <p:txBody>
          <a:bodyPr/>
          <a:lstStyle/>
          <a:p>
            <a:endParaRPr lang="en-US"/>
          </a:p>
        </p:txBody>
      </p:sp>
      <p:sp>
        <p:nvSpPr>
          <p:cNvPr id="39" name="Text 37"/>
          <p:cNvSpPr/>
          <p:nvPr/>
        </p:nvSpPr>
        <p:spPr>
          <a:xfrm>
            <a:off x="6272784" y="3785616"/>
            <a:ext cx="2157984" cy="420624"/>
          </a:xfrm>
          <a:prstGeom prst="rect">
            <a:avLst/>
          </a:prstGeom>
          <a:noFill/>
          <a:ln/>
        </p:spPr>
        <p:txBody>
          <a:bodyPr wrap="square" lIns="0" tIns="0" rIns="0" bIns="0" rtlCol="0" anchor="ctr"/>
          <a:lstStyle/>
          <a:p>
            <a:pPr marL="0" indent="0">
              <a:buNone/>
            </a:pPr>
            <a:r>
              <a:rPr lang="en-US" sz="2500" b="1" dirty="0">
                <a:solidFill>
                  <a:srgbClr val="16333A"/>
                </a:solidFill>
                <a:latin typeface="Calibri" pitchFamily="34" charset="0"/>
                <a:ea typeface="Calibri" pitchFamily="34" charset="-122"/>
                <a:cs typeface="Calibri" pitchFamily="34" charset="-120"/>
              </a:rPr>
              <a:t>Mismatch</a:t>
            </a:r>
            <a:endParaRPr lang="en-US" sz="2500" dirty="0"/>
          </a:p>
        </p:txBody>
      </p:sp>
      <p:sp>
        <p:nvSpPr>
          <p:cNvPr id="40" name="Text 38"/>
          <p:cNvSpPr/>
          <p:nvPr/>
        </p:nvSpPr>
        <p:spPr>
          <a:xfrm>
            <a:off x="6272784" y="4361688"/>
            <a:ext cx="2157984" cy="850392"/>
          </a:xfrm>
          <a:prstGeom prst="rect">
            <a:avLst/>
          </a:prstGeom>
          <a:noFill/>
          <a:ln/>
        </p:spPr>
        <p:txBody>
          <a:bodyPr wrap="square" lIns="0" tIns="0" rIns="0" bIns="0" rtlCol="0" anchor="t"/>
          <a:lstStyle/>
          <a:p>
            <a:pPr marL="0" indent="0">
              <a:buNone/>
            </a:pPr>
            <a:r>
              <a:rPr lang="en-US" sz="2000" dirty="0">
                <a:solidFill>
                  <a:srgbClr val="5A7277"/>
                </a:solidFill>
                <a:latin typeface="Calibri" pitchFamily="34" charset="0"/>
                <a:ea typeface="Calibri" pitchFamily="34" charset="-122"/>
                <a:cs typeface="Calibri" pitchFamily="34" charset="-120"/>
              </a:rPr>
              <a:t>Risk discomfort.</a:t>
            </a:r>
            <a:endParaRPr lang="en-US" sz="2000" dirty="0"/>
          </a:p>
          <a:p>
            <a:pPr marL="0" indent="0">
              <a:buNone/>
            </a:pPr>
            <a:r>
              <a:rPr lang="en-US" sz="2000" dirty="0">
                <a:solidFill>
                  <a:srgbClr val="5A7277"/>
                </a:solidFill>
                <a:latin typeface="Calibri" pitchFamily="34" charset="0"/>
                <a:ea typeface="Calibri" pitchFamily="34" charset="-122"/>
                <a:cs typeface="Calibri" pitchFamily="34" charset="-120"/>
              </a:rPr>
              <a:t>Low conviction</a:t>
            </a:r>
            <a:endParaRPr lang="en-US" sz="2000" dirty="0"/>
          </a:p>
          <a:p>
            <a:pPr marL="0" indent="0">
              <a:buNone/>
            </a:pPr>
            <a:r>
              <a:rPr lang="en-US" sz="2000" dirty="0">
                <a:solidFill>
                  <a:srgbClr val="5A7277"/>
                </a:solidFill>
                <a:latin typeface="Calibri" pitchFamily="34" charset="0"/>
                <a:ea typeface="Calibri" pitchFamily="34" charset="-122"/>
                <a:cs typeface="Calibri" pitchFamily="34" charset="-120"/>
              </a:rPr>
              <a:t>to hold.</a:t>
            </a:r>
            <a:endParaRPr lang="en-US" sz="2000" dirty="0"/>
          </a:p>
        </p:txBody>
      </p:sp>
      <p:sp>
        <p:nvSpPr>
          <p:cNvPr id="41" name="Shape 39"/>
          <p:cNvSpPr/>
          <p:nvPr/>
        </p:nvSpPr>
        <p:spPr>
          <a:xfrm>
            <a:off x="3108960" y="2944368"/>
            <a:ext cx="146304" cy="0"/>
          </a:xfrm>
          <a:prstGeom prst="line">
            <a:avLst/>
          </a:prstGeom>
          <a:noFill/>
          <a:ln w="22860">
            <a:solidFill>
              <a:srgbClr val="007F74"/>
            </a:solidFill>
            <a:prstDash val="solid"/>
            <a:headEnd type="none"/>
            <a:tailEnd type="triangle"/>
          </a:ln>
        </p:spPr>
        <p:txBody>
          <a:bodyPr/>
          <a:lstStyle/>
          <a:p>
            <a:endParaRPr lang="en-US"/>
          </a:p>
        </p:txBody>
      </p:sp>
      <p:sp>
        <p:nvSpPr>
          <p:cNvPr id="42" name="Shape 40"/>
          <p:cNvSpPr/>
          <p:nvPr/>
        </p:nvSpPr>
        <p:spPr>
          <a:xfrm>
            <a:off x="5888736" y="2944368"/>
            <a:ext cx="146304" cy="0"/>
          </a:xfrm>
          <a:prstGeom prst="line">
            <a:avLst/>
          </a:prstGeom>
          <a:noFill/>
          <a:ln w="22860">
            <a:solidFill>
              <a:srgbClr val="007F74"/>
            </a:solidFill>
            <a:prstDash val="solid"/>
            <a:headEnd type="none"/>
            <a:tailEnd type="triangle"/>
          </a:ln>
        </p:spPr>
        <p:txBody>
          <a:bodyPr/>
          <a:lstStyle/>
          <a:p>
            <a:endParaRPr lang="en-US"/>
          </a:p>
        </p:txBody>
      </p:sp>
      <p:sp>
        <p:nvSpPr>
          <p:cNvPr id="43" name="Shape 41"/>
          <p:cNvSpPr/>
          <p:nvPr/>
        </p:nvSpPr>
        <p:spPr>
          <a:xfrm>
            <a:off x="502920" y="5614416"/>
            <a:ext cx="8138160" cy="475488"/>
          </a:xfrm>
          <a:prstGeom prst="roundRect">
            <a:avLst>
              <a:gd name="adj" fmla="val 26923"/>
            </a:avLst>
          </a:prstGeom>
          <a:solidFill>
            <a:srgbClr val="E1F3ED"/>
          </a:solidFill>
          <a:ln w="12700">
            <a:solidFill>
              <a:srgbClr val="E1F3ED"/>
            </a:solidFill>
            <a:prstDash val="solid"/>
          </a:ln>
        </p:spPr>
        <p:txBody>
          <a:bodyPr/>
          <a:lstStyle/>
          <a:p>
            <a:endParaRPr lang="en-US"/>
          </a:p>
        </p:txBody>
      </p:sp>
      <p:sp>
        <p:nvSpPr>
          <p:cNvPr id="44" name="Text 42"/>
          <p:cNvSpPr/>
          <p:nvPr/>
        </p:nvSpPr>
        <p:spPr>
          <a:xfrm>
            <a:off x="722376" y="5692140"/>
            <a:ext cx="7699248" cy="292608"/>
          </a:xfrm>
          <a:prstGeom prst="rect">
            <a:avLst/>
          </a:prstGeom>
          <a:noFill/>
          <a:ln/>
        </p:spPr>
        <p:txBody>
          <a:bodyPr wrap="square" lIns="0" tIns="0" rIns="0" bIns="0" rtlCol="0" anchor="ctr"/>
          <a:lstStyle/>
          <a:p>
            <a:pPr marL="0" indent="0">
              <a:buNone/>
            </a:pPr>
            <a:r>
              <a:rPr lang="en-US" sz="2100" b="1" dirty="0">
                <a:solidFill>
                  <a:srgbClr val="007F74"/>
                </a:solidFill>
                <a:latin typeface="Calibri" pitchFamily="34" charset="0"/>
                <a:ea typeface="Calibri" pitchFamily="34" charset="-122"/>
                <a:cs typeface="Calibri" pitchFamily="34" charset="-120"/>
              </a:rPr>
              <a:t>The opportunity: investments people can live with.</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D36"/>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67DCC5">
              <a:alpha val="0"/>
            </a:srgbClr>
          </a:solidFill>
          <a:ln w="21590">
            <a:solidFill>
              <a:srgbClr val="67DCC5"/>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67DCC5">
              <a:alpha val="0"/>
            </a:srgbClr>
          </a:solidFill>
          <a:ln w="21590">
            <a:solidFill>
              <a:srgbClr val="67DCC5"/>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B7D0D0"/>
                </a:solidFill>
                <a:latin typeface="Calibri" pitchFamily="34" charset="0"/>
                <a:ea typeface="Calibri" pitchFamily="34" charset="-122"/>
                <a:cs typeface="Calibri" pitchFamily="34" charset="-120"/>
              </a:rPr>
              <a:t>03</a:t>
            </a:r>
            <a:endParaRPr lang="en-US" sz="1800" dirty="0"/>
          </a:p>
        </p:txBody>
      </p:sp>
      <p:sp>
        <p:nvSpPr>
          <p:cNvPr id="6" name="Shape 4"/>
          <p:cNvSpPr/>
          <p:nvPr/>
        </p:nvSpPr>
        <p:spPr>
          <a:xfrm>
            <a:off x="502920" y="6318504"/>
            <a:ext cx="8138160" cy="0"/>
          </a:xfrm>
          <a:prstGeom prst="line">
            <a:avLst/>
          </a:prstGeom>
          <a:noFill/>
          <a:ln w="10160">
            <a:solidFill>
              <a:srgbClr val="294B54"/>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B7D0D0"/>
                </a:solidFill>
                <a:latin typeface="Calibri" pitchFamily="34" charset="0"/>
                <a:ea typeface="Calibri" pitchFamily="34" charset="-122"/>
                <a:cs typeface="Calibri" pitchFamily="34" charset="-120"/>
              </a:rPr>
              <a:t>THE PRODUCT JOURNEY</a:t>
            </a:r>
            <a:endParaRPr lang="en-US" sz="1800" dirty="0"/>
          </a:p>
        </p:txBody>
      </p:sp>
      <p:sp>
        <p:nvSpPr>
          <p:cNvPr id="8" name="Text 6"/>
          <p:cNvSpPr/>
          <p:nvPr/>
        </p:nvSpPr>
        <p:spPr>
          <a:xfrm>
            <a:off x="502920" y="896112"/>
            <a:ext cx="8183880" cy="594360"/>
          </a:xfrm>
          <a:prstGeom prst="rect">
            <a:avLst/>
          </a:prstGeom>
          <a:noFill/>
          <a:ln/>
        </p:spPr>
        <p:txBody>
          <a:bodyPr wrap="square" lIns="0" tIns="0" rIns="0" bIns="0" rtlCol="0" anchor="ctr"/>
          <a:lstStyle/>
          <a:p>
            <a:pPr marL="0" indent="0">
              <a:buNone/>
            </a:pPr>
            <a:r>
              <a:rPr lang="en-US" sz="3300" b="1" dirty="0">
                <a:solidFill>
                  <a:srgbClr val="FFFFFF"/>
                </a:solidFill>
                <a:latin typeface="Calibri" pitchFamily="34" charset="0"/>
                <a:ea typeface="Calibri" pitchFamily="34" charset="-122"/>
                <a:cs typeface="Calibri" pitchFamily="34" charset="-120"/>
              </a:rPr>
              <a:t>A report before a recommendation.</a:t>
            </a:r>
            <a:endParaRPr lang="en-US" sz="3300" dirty="0"/>
          </a:p>
        </p:txBody>
      </p:sp>
      <p:sp>
        <p:nvSpPr>
          <p:cNvPr id="9" name="Text 7"/>
          <p:cNvSpPr/>
          <p:nvPr/>
        </p:nvSpPr>
        <p:spPr>
          <a:xfrm>
            <a:off x="502920" y="1517904"/>
            <a:ext cx="8138160" cy="384048"/>
          </a:xfrm>
          <a:prstGeom prst="rect">
            <a:avLst/>
          </a:prstGeom>
          <a:noFill/>
          <a:ln/>
        </p:spPr>
        <p:txBody>
          <a:bodyPr wrap="square" lIns="0" tIns="0" rIns="0" bIns="0" rtlCol="0" anchor="ctr"/>
          <a:lstStyle/>
          <a:p>
            <a:pPr marL="0" indent="0">
              <a:buNone/>
            </a:pPr>
            <a:r>
              <a:rPr lang="en-US" sz="2000" dirty="0">
                <a:solidFill>
                  <a:srgbClr val="B7D0D0"/>
                </a:solidFill>
                <a:latin typeface="Calibri" pitchFamily="34" charset="0"/>
                <a:ea typeface="Calibri" pitchFamily="34" charset="-122"/>
                <a:cs typeface="Calibri" pitchFamily="34" charset="-120"/>
              </a:rPr>
              <a:t>Self-knowledge becomes an explainable investment filter.</a:t>
            </a:r>
            <a:endParaRPr lang="en-US" sz="2000" dirty="0"/>
          </a:p>
        </p:txBody>
      </p:sp>
      <p:sp>
        <p:nvSpPr>
          <p:cNvPr id="10" name="Shape 8"/>
          <p:cNvSpPr/>
          <p:nvPr/>
        </p:nvSpPr>
        <p:spPr>
          <a:xfrm>
            <a:off x="502920" y="2194560"/>
            <a:ext cx="2578608" cy="3328416"/>
          </a:xfrm>
          <a:prstGeom prst="roundRect">
            <a:avLst>
              <a:gd name="adj" fmla="val 4965"/>
            </a:avLst>
          </a:prstGeom>
          <a:solidFill>
            <a:srgbClr val="193D46"/>
          </a:solidFill>
          <a:ln w="10160">
            <a:solidFill>
              <a:srgbClr val="294B54"/>
            </a:solidFill>
            <a:prstDash val="solid"/>
          </a:ln>
        </p:spPr>
        <p:txBody>
          <a:bodyPr/>
          <a:lstStyle/>
          <a:p>
            <a:endParaRPr lang="en-US"/>
          </a:p>
        </p:txBody>
      </p:sp>
      <p:sp>
        <p:nvSpPr>
          <p:cNvPr id="11" name="Text 9"/>
          <p:cNvSpPr/>
          <p:nvPr/>
        </p:nvSpPr>
        <p:spPr>
          <a:xfrm>
            <a:off x="704088" y="2450592"/>
            <a:ext cx="2176272" cy="310896"/>
          </a:xfrm>
          <a:prstGeom prst="rect">
            <a:avLst/>
          </a:prstGeom>
          <a:noFill/>
          <a:ln/>
        </p:spPr>
        <p:txBody>
          <a:bodyPr wrap="square" lIns="0" tIns="0" rIns="0" bIns="0" rtlCol="0" anchor="ctr"/>
          <a:lstStyle/>
          <a:p>
            <a:pPr marL="0" indent="0">
              <a:buNone/>
            </a:pPr>
            <a:r>
              <a:rPr lang="en-US" sz="1800" b="1" dirty="0">
                <a:solidFill>
                  <a:srgbClr val="67DCC5"/>
                </a:solidFill>
                <a:latin typeface="Calibri" pitchFamily="34" charset="0"/>
                <a:ea typeface="Calibri" pitchFamily="34" charset="-122"/>
                <a:cs typeface="Calibri" pitchFamily="34" charset="-120"/>
              </a:rPr>
              <a:t>01  KNOW YOURSELF</a:t>
            </a:r>
            <a:endParaRPr lang="en-US" sz="1800" dirty="0"/>
          </a:p>
        </p:txBody>
      </p:sp>
      <p:sp>
        <p:nvSpPr>
          <p:cNvPr id="12" name="Shape 10"/>
          <p:cNvSpPr/>
          <p:nvPr/>
        </p:nvSpPr>
        <p:spPr>
          <a:xfrm>
            <a:off x="1444752" y="2999232"/>
            <a:ext cx="685800" cy="850392"/>
          </a:xfrm>
          <a:prstGeom prst="roundRect">
            <a:avLst>
              <a:gd name="adj" fmla="val 18667"/>
            </a:avLst>
          </a:prstGeom>
          <a:solidFill>
            <a:srgbClr val="193D46"/>
          </a:solidFill>
          <a:ln w="10160">
            <a:solidFill>
              <a:srgbClr val="67DCC5"/>
            </a:solidFill>
            <a:prstDash val="solid"/>
          </a:ln>
        </p:spPr>
        <p:txBody>
          <a:bodyPr/>
          <a:lstStyle/>
          <a:p>
            <a:endParaRPr lang="en-US"/>
          </a:p>
        </p:txBody>
      </p:sp>
      <p:sp>
        <p:nvSpPr>
          <p:cNvPr id="13" name="Shape 11"/>
          <p:cNvSpPr/>
          <p:nvPr/>
        </p:nvSpPr>
        <p:spPr>
          <a:xfrm>
            <a:off x="1563624" y="3218688"/>
            <a:ext cx="77724" cy="77724"/>
          </a:xfrm>
          <a:prstGeom prst="ellipse">
            <a:avLst/>
          </a:prstGeom>
          <a:solidFill>
            <a:srgbClr val="67DCC5"/>
          </a:solidFill>
          <a:ln w="12700">
            <a:solidFill>
              <a:srgbClr val="67DCC5"/>
            </a:solidFill>
            <a:prstDash val="solid"/>
          </a:ln>
        </p:spPr>
        <p:txBody>
          <a:bodyPr/>
          <a:lstStyle/>
          <a:p>
            <a:endParaRPr lang="en-US"/>
          </a:p>
        </p:txBody>
      </p:sp>
      <p:sp>
        <p:nvSpPr>
          <p:cNvPr id="14" name="Shape 12"/>
          <p:cNvSpPr/>
          <p:nvPr/>
        </p:nvSpPr>
        <p:spPr>
          <a:xfrm>
            <a:off x="1728216" y="3259836"/>
            <a:ext cx="246888" cy="0"/>
          </a:xfrm>
          <a:prstGeom prst="line">
            <a:avLst/>
          </a:prstGeom>
          <a:noFill/>
          <a:ln w="25400">
            <a:solidFill>
              <a:srgbClr val="67DCC5"/>
            </a:solidFill>
            <a:prstDash val="solid"/>
            <a:headEnd type="none"/>
            <a:tailEnd type="none"/>
          </a:ln>
        </p:spPr>
        <p:txBody>
          <a:bodyPr/>
          <a:lstStyle/>
          <a:p>
            <a:endParaRPr lang="en-US"/>
          </a:p>
        </p:txBody>
      </p:sp>
      <p:sp>
        <p:nvSpPr>
          <p:cNvPr id="15" name="Shape 13"/>
          <p:cNvSpPr/>
          <p:nvPr/>
        </p:nvSpPr>
        <p:spPr>
          <a:xfrm>
            <a:off x="1563624" y="3419856"/>
            <a:ext cx="77724" cy="77724"/>
          </a:xfrm>
          <a:prstGeom prst="ellipse">
            <a:avLst/>
          </a:prstGeom>
          <a:solidFill>
            <a:srgbClr val="67DCC5"/>
          </a:solidFill>
          <a:ln w="12700">
            <a:solidFill>
              <a:srgbClr val="67DCC5"/>
            </a:solidFill>
            <a:prstDash val="solid"/>
          </a:ln>
        </p:spPr>
        <p:txBody>
          <a:bodyPr/>
          <a:lstStyle/>
          <a:p>
            <a:endParaRPr lang="en-US"/>
          </a:p>
        </p:txBody>
      </p:sp>
      <p:sp>
        <p:nvSpPr>
          <p:cNvPr id="16" name="Shape 14"/>
          <p:cNvSpPr/>
          <p:nvPr/>
        </p:nvSpPr>
        <p:spPr>
          <a:xfrm>
            <a:off x="1728216" y="3461004"/>
            <a:ext cx="246888" cy="0"/>
          </a:xfrm>
          <a:prstGeom prst="line">
            <a:avLst/>
          </a:prstGeom>
          <a:noFill/>
          <a:ln w="25400">
            <a:solidFill>
              <a:srgbClr val="67DCC5"/>
            </a:solidFill>
            <a:prstDash val="solid"/>
            <a:headEnd type="none"/>
            <a:tailEnd type="none"/>
          </a:ln>
        </p:spPr>
        <p:txBody>
          <a:bodyPr/>
          <a:lstStyle/>
          <a:p>
            <a:endParaRPr lang="en-US"/>
          </a:p>
        </p:txBody>
      </p:sp>
      <p:sp>
        <p:nvSpPr>
          <p:cNvPr id="17" name="Shape 15"/>
          <p:cNvSpPr/>
          <p:nvPr/>
        </p:nvSpPr>
        <p:spPr>
          <a:xfrm>
            <a:off x="1563624" y="3621024"/>
            <a:ext cx="77724" cy="77724"/>
          </a:xfrm>
          <a:prstGeom prst="ellipse">
            <a:avLst/>
          </a:prstGeom>
          <a:solidFill>
            <a:srgbClr val="67DCC5"/>
          </a:solidFill>
          <a:ln w="12700">
            <a:solidFill>
              <a:srgbClr val="67DCC5"/>
            </a:solidFill>
            <a:prstDash val="solid"/>
          </a:ln>
        </p:spPr>
        <p:txBody>
          <a:bodyPr/>
          <a:lstStyle/>
          <a:p>
            <a:endParaRPr lang="en-US"/>
          </a:p>
        </p:txBody>
      </p:sp>
      <p:sp>
        <p:nvSpPr>
          <p:cNvPr id="18" name="Shape 16"/>
          <p:cNvSpPr/>
          <p:nvPr/>
        </p:nvSpPr>
        <p:spPr>
          <a:xfrm>
            <a:off x="1728216" y="3662172"/>
            <a:ext cx="246888" cy="0"/>
          </a:xfrm>
          <a:prstGeom prst="line">
            <a:avLst/>
          </a:prstGeom>
          <a:noFill/>
          <a:ln w="25400">
            <a:solidFill>
              <a:srgbClr val="67DCC5"/>
            </a:solidFill>
            <a:prstDash val="solid"/>
            <a:headEnd type="none"/>
            <a:tailEnd type="none"/>
          </a:ln>
        </p:spPr>
        <p:txBody>
          <a:bodyPr/>
          <a:lstStyle/>
          <a:p>
            <a:endParaRPr lang="en-US"/>
          </a:p>
        </p:txBody>
      </p:sp>
      <p:sp>
        <p:nvSpPr>
          <p:cNvPr id="19" name="Text 17"/>
          <p:cNvSpPr/>
          <p:nvPr/>
        </p:nvSpPr>
        <p:spPr>
          <a:xfrm>
            <a:off x="704088" y="4133088"/>
            <a:ext cx="2176272" cy="448056"/>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Answer</a:t>
            </a:r>
            <a:endParaRPr lang="en-US" sz="2600" dirty="0"/>
          </a:p>
        </p:txBody>
      </p:sp>
      <p:sp>
        <p:nvSpPr>
          <p:cNvPr id="20" name="Text 18"/>
          <p:cNvSpPr/>
          <p:nvPr/>
        </p:nvSpPr>
        <p:spPr>
          <a:xfrm>
            <a:off x="704088" y="4709160"/>
            <a:ext cx="2176272" cy="612648"/>
          </a:xfrm>
          <a:prstGeom prst="rect">
            <a:avLst/>
          </a:prstGeom>
          <a:noFill/>
          <a:ln/>
        </p:spPr>
        <p:txBody>
          <a:bodyPr wrap="square" lIns="0" tIns="0" rIns="0" bIns="0" rtlCol="0" anchor="t"/>
          <a:lstStyle/>
          <a:p>
            <a:pPr marL="0" indent="0">
              <a:buNone/>
            </a:pPr>
            <a:r>
              <a:rPr lang="en-US" sz="2000" dirty="0">
                <a:solidFill>
                  <a:srgbClr val="B7D0D0"/>
                </a:solidFill>
                <a:latin typeface="Calibri" pitchFamily="34" charset="0"/>
                <a:ea typeface="Calibri" pitchFamily="34" charset="-122"/>
                <a:cs typeface="Calibri" pitchFamily="34" charset="-120"/>
              </a:rPr>
              <a:t>15 core questions</a:t>
            </a:r>
            <a:endParaRPr lang="en-US" sz="2000" dirty="0"/>
          </a:p>
          <a:p>
            <a:pPr marL="0" indent="0">
              <a:buNone/>
            </a:pPr>
            <a:r>
              <a:rPr lang="en-US" sz="2000" dirty="0">
                <a:solidFill>
                  <a:srgbClr val="B7D0D0"/>
                </a:solidFill>
                <a:latin typeface="Calibri" pitchFamily="34" charset="0"/>
                <a:ea typeface="Calibri" pitchFamily="34" charset="-122"/>
                <a:cs typeface="Calibri" pitchFamily="34" charset="-120"/>
              </a:rPr>
              <a:t>35 fully optional</a:t>
            </a:r>
            <a:endParaRPr lang="en-US" sz="2000" dirty="0"/>
          </a:p>
        </p:txBody>
      </p:sp>
      <p:sp>
        <p:nvSpPr>
          <p:cNvPr id="21" name="Shape 19"/>
          <p:cNvSpPr/>
          <p:nvPr/>
        </p:nvSpPr>
        <p:spPr>
          <a:xfrm>
            <a:off x="3282696" y="2194560"/>
            <a:ext cx="2578608" cy="3328416"/>
          </a:xfrm>
          <a:prstGeom prst="roundRect">
            <a:avLst>
              <a:gd name="adj" fmla="val 4965"/>
            </a:avLst>
          </a:prstGeom>
          <a:solidFill>
            <a:srgbClr val="193D46"/>
          </a:solidFill>
          <a:ln w="10160">
            <a:solidFill>
              <a:srgbClr val="294B54"/>
            </a:solidFill>
            <a:prstDash val="solid"/>
          </a:ln>
        </p:spPr>
        <p:txBody>
          <a:bodyPr/>
          <a:lstStyle/>
          <a:p>
            <a:endParaRPr lang="en-US"/>
          </a:p>
        </p:txBody>
      </p:sp>
      <p:sp>
        <p:nvSpPr>
          <p:cNvPr id="22" name="Text 20"/>
          <p:cNvSpPr/>
          <p:nvPr/>
        </p:nvSpPr>
        <p:spPr>
          <a:xfrm>
            <a:off x="3483864" y="2450592"/>
            <a:ext cx="2176272" cy="310896"/>
          </a:xfrm>
          <a:prstGeom prst="rect">
            <a:avLst/>
          </a:prstGeom>
          <a:noFill/>
          <a:ln/>
        </p:spPr>
        <p:txBody>
          <a:bodyPr wrap="square" lIns="0" tIns="0" rIns="0" bIns="0" rtlCol="0" anchor="ctr"/>
          <a:lstStyle/>
          <a:p>
            <a:pPr marL="0" indent="0">
              <a:buNone/>
            </a:pPr>
            <a:r>
              <a:rPr lang="en-US" sz="1800" b="1" dirty="0">
                <a:solidFill>
                  <a:srgbClr val="67DCC5"/>
                </a:solidFill>
                <a:latin typeface="Calibri" pitchFamily="34" charset="0"/>
                <a:ea typeface="Calibri" pitchFamily="34" charset="-122"/>
                <a:cs typeface="Calibri" pitchFamily="34" charset="-120"/>
              </a:rPr>
              <a:t>02  UNDERSTAND</a:t>
            </a:r>
            <a:endParaRPr lang="en-US" sz="1800" dirty="0"/>
          </a:p>
        </p:txBody>
      </p:sp>
      <p:sp>
        <p:nvSpPr>
          <p:cNvPr id="23" name="Shape 21"/>
          <p:cNvSpPr/>
          <p:nvPr/>
        </p:nvSpPr>
        <p:spPr>
          <a:xfrm>
            <a:off x="4233672" y="2980944"/>
            <a:ext cx="667512" cy="877824"/>
          </a:xfrm>
          <a:prstGeom prst="roundRect">
            <a:avLst>
              <a:gd name="adj" fmla="val 19178"/>
            </a:avLst>
          </a:prstGeom>
          <a:solidFill>
            <a:srgbClr val="193D46"/>
          </a:solidFill>
          <a:ln w="10160">
            <a:solidFill>
              <a:srgbClr val="67DCC5"/>
            </a:solidFill>
            <a:prstDash val="solid"/>
          </a:ln>
        </p:spPr>
        <p:txBody>
          <a:bodyPr/>
          <a:lstStyle/>
          <a:p>
            <a:endParaRPr lang="en-US"/>
          </a:p>
        </p:txBody>
      </p:sp>
      <p:sp>
        <p:nvSpPr>
          <p:cNvPr id="24" name="Shape 22"/>
          <p:cNvSpPr/>
          <p:nvPr/>
        </p:nvSpPr>
        <p:spPr>
          <a:xfrm>
            <a:off x="4379976" y="3154680"/>
            <a:ext cx="347472" cy="0"/>
          </a:xfrm>
          <a:prstGeom prst="line">
            <a:avLst/>
          </a:prstGeom>
          <a:noFill/>
          <a:ln w="25400">
            <a:solidFill>
              <a:srgbClr val="67DCC5"/>
            </a:solidFill>
            <a:prstDash val="solid"/>
            <a:headEnd type="none"/>
            <a:tailEnd type="none"/>
          </a:ln>
        </p:spPr>
        <p:txBody>
          <a:bodyPr/>
          <a:lstStyle/>
          <a:p>
            <a:endParaRPr lang="en-US"/>
          </a:p>
        </p:txBody>
      </p:sp>
      <p:sp>
        <p:nvSpPr>
          <p:cNvPr id="25" name="Shape 23"/>
          <p:cNvSpPr/>
          <p:nvPr/>
        </p:nvSpPr>
        <p:spPr>
          <a:xfrm>
            <a:off x="4379976" y="3282696"/>
            <a:ext cx="265176" cy="0"/>
          </a:xfrm>
          <a:prstGeom prst="line">
            <a:avLst/>
          </a:prstGeom>
          <a:noFill/>
          <a:ln w="25400">
            <a:solidFill>
              <a:srgbClr val="67DCC5"/>
            </a:solidFill>
            <a:prstDash val="solid"/>
            <a:headEnd type="none"/>
            <a:tailEnd type="none"/>
          </a:ln>
        </p:spPr>
        <p:txBody>
          <a:bodyPr/>
          <a:lstStyle/>
          <a:p>
            <a:endParaRPr lang="en-US"/>
          </a:p>
        </p:txBody>
      </p:sp>
      <p:sp>
        <p:nvSpPr>
          <p:cNvPr id="26" name="Shape 24"/>
          <p:cNvSpPr/>
          <p:nvPr/>
        </p:nvSpPr>
        <p:spPr>
          <a:xfrm>
            <a:off x="4370832" y="3566160"/>
            <a:ext cx="91440" cy="146304"/>
          </a:xfrm>
          <a:prstGeom prst="rect">
            <a:avLst/>
          </a:prstGeom>
          <a:solidFill>
            <a:srgbClr val="67DCC5"/>
          </a:solidFill>
          <a:ln w="12700">
            <a:solidFill>
              <a:srgbClr val="67DCC5"/>
            </a:solidFill>
            <a:prstDash val="solid"/>
          </a:ln>
        </p:spPr>
        <p:txBody>
          <a:bodyPr/>
          <a:lstStyle/>
          <a:p>
            <a:endParaRPr lang="en-US"/>
          </a:p>
        </p:txBody>
      </p:sp>
      <p:sp>
        <p:nvSpPr>
          <p:cNvPr id="27" name="Shape 25"/>
          <p:cNvSpPr/>
          <p:nvPr/>
        </p:nvSpPr>
        <p:spPr>
          <a:xfrm>
            <a:off x="4517136" y="3465576"/>
            <a:ext cx="91440" cy="246888"/>
          </a:xfrm>
          <a:prstGeom prst="rect">
            <a:avLst/>
          </a:prstGeom>
          <a:solidFill>
            <a:srgbClr val="67DCC5"/>
          </a:solidFill>
          <a:ln w="12700">
            <a:solidFill>
              <a:srgbClr val="67DCC5"/>
            </a:solidFill>
            <a:prstDash val="solid"/>
          </a:ln>
        </p:spPr>
        <p:txBody>
          <a:bodyPr/>
          <a:lstStyle/>
          <a:p>
            <a:endParaRPr lang="en-US"/>
          </a:p>
        </p:txBody>
      </p:sp>
      <p:sp>
        <p:nvSpPr>
          <p:cNvPr id="28" name="Shape 26"/>
          <p:cNvSpPr/>
          <p:nvPr/>
        </p:nvSpPr>
        <p:spPr>
          <a:xfrm>
            <a:off x="4663440" y="3374136"/>
            <a:ext cx="91440" cy="338328"/>
          </a:xfrm>
          <a:prstGeom prst="rect">
            <a:avLst/>
          </a:prstGeom>
          <a:solidFill>
            <a:srgbClr val="67DCC5"/>
          </a:solidFill>
          <a:ln w="12700">
            <a:solidFill>
              <a:srgbClr val="67DCC5"/>
            </a:solidFill>
            <a:prstDash val="solid"/>
          </a:ln>
        </p:spPr>
        <p:txBody>
          <a:bodyPr/>
          <a:lstStyle/>
          <a:p>
            <a:endParaRPr lang="en-US"/>
          </a:p>
        </p:txBody>
      </p:sp>
      <p:sp>
        <p:nvSpPr>
          <p:cNvPr id="29" name="Text 27"/>
          <p:cNvSpPr/>
          <p:nvPr/>
        </p:nvSpPr>
        <p:spPr>
          <a:xfrm>
            <a:off x="3483864" y="4133088"/>
            <a:ext cx="2176272" cy="448056"/>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Investor DNA</a:t>
            </a:r>
            <a:endParaRPr lang="en-US" sz="2600" dirty="0"/>
          </a:p>
        </p:txBody>
      </p:sp>
      <p:sp>
        <p:nvSpPr>
          <p:cNvPr id="30" name="Text 28"/>
          <p:cNvSpPr/>
          <p:nvPr/>
        </p:nvSpPr>
        <p:spPr>
          <a:xfrm>
            <a:off x="3483864" y="4709160"/>
            <a:ext cx="2176272" cy="612648"/>
          </a:xfrm>
          <a:prstGeom prst="rect">
            <a:avLst/>
          </a:prstGeom>
          <a:noFill/>
          <a:ln/>
        </p:spPr>
        <p:txBody>
          <a:bodyPr wrap="square" lIns="0" tIns="0" rIns="0" bIns="0" rtlCol="0" anchor="t"/>
          <a:lstStyle/>
          <a:p>
            <a:pPr marL="0" indent="0">
              <a:buNone/>
            </a:pPr>
            <a:r>
              <a:rPr lang="en-US" sz="2000" dirty="0">
                <a:solidFill>
                  <a:srgbClr val="B7D0D0"/>
                </a:solidFill>
                <a:latin typeface="Calibri" pitchFamily="34" charset="0"/>
                <a:ea typeface="Calibri" pitchFamily="34" charset="-122"/>
                <a:cs typeface="Calibri" pitchFamily="34" charset="-120"/>
              </a:rPr>
              <a:t>Risk, horizon</a:t>
            </a:r>
            <a:endParaRPr lang="en-US" sz="2000" dirty="0"/>
          </a:p>
          <a:p>
            <a:pPr marL="0" indent="0">
              <a:buNone/>
            </a:pPr>
            <a:r>
              <a:rPr lang="en-US" sz="2000" dirty="0">
                <a:solidFill>
                  <a:srgbClr val="B7D0D0"/>
                </a:solidFill>
                <a:latin typeface="Calibri" pitchFamily="34" charset="0"/>
                <a:ea typeface="Calibri" pitchFamily="34" charset="-122"/>
                <a:cs typeface="Calibri" pitchFamily="34" charset="-120"/>
              </a:rPr>
              <a:t>and decision style</a:t>
            </a:r>
            <a:endParaRPr lang="en-US" sz="2000" dirty="0"/>
          </a:p>
        </p:txBody>
      </p:sp>
      <p:sp>
        <p:nvSpPr>
          <p:cNvPr id="31" name="Shape 29"/>
          <p:cNvSpPr/>
          <p:nvPr/>
        </p:nvSpPr>
        <p:spPr>
          <a:xfrm>
            <a:off x="6062472" y="2194560"/>
            <a:ext cx="2578608" cy="3328416"/>
          </a:xfrm>
          <a:prstGeom prst="roundRect">
            <a:avLst>
              <a:gd name="adj" fmla="val 4965"/>
            </a:avLst>
          </a:prstGeom>
          <a:solidFill>
            <a:srgbClr val="193D46"/>
          </a:solidFill>
          <a:ln w="10160">
            <a:solidFill>
              <a:srgbClr val="294B54"/>
            </a:solidFill>
            <a:prstDash val="solid"/>
          </a:ln>
        </p:spPr>
        <p:txBody>
          <a:bodyPr/>
          <a:lstStyle/>
          <a:p>
            <a:endParaRPr lang="en-US"/>
          </a:p>
        </p:txBody>
      </p:sp>
      <p:sp>
        <p:nvSpPr>
          <p:cNvPr id="32" name="Text 30"/>
          <p:cNvSpPr/>
          <p:nvPr/>
        </p:nvSpPr>
        <p:spPr>
          <a:xfrm>
            <a:off x="6263640" y="2450592"/>
            <a:ext cx="2176272" cy="310896"/>
          </a:xfrm>
          <a:prstGeom prst="rect">
            <a:avLst/>
          </a:prstGeom>
          <a:noFill/>
          <a:ln/>
        </p:spPr>
        <p:txBody>
          <a:bodyPr wrap="square" lIns="0" tIns="0" rIns="0" bIns="0" rtlCol="0" anchor="ctr"/>
          <a:lstStyle/>
          <a:p>
            <a:pPr marL="0" indent="0">
              <a:buNone/>
            </a:pPr>
            <a:r>
              <a:rPr lang="en-US" sz="1800" b="1" dirty="0">
                <a:solidFill>
                  <a:srgbClr val="67DCC5"/>
                </a:solidFill>
                <a:latin typeface="Calibri" pitchFamily="34" charset="0"/>
                <a:ea typeface="Calibri" pitchFamily="34" charset="-122"/>
                <a:cs typeface="Calibri" pitchFamily="34" charset="-120"/>
              </a:rPr>
              <a:t>03  CHOOSE</a:t>
            </a:r>
            <a:endParaRPr lang="en-US" sz="1800" dirty="0"/>
          </a:p>
        </p:txBody>
      </p:sp>
      <p:sp>
        <p:nvSpPr>
          <p:cNvPr id="33" name="Shape 31"/>
          <p:cNvSpPr/>
          <p:nvPr/>
        </p:nvSpPr>
        <p:spPr>
          <a:xfrm>
            <a:off x="6986016" y="3108960"/>
            <a:ext cx="548640" cy="694944"/>
          </a:xfrm>
          <a:prstGeom prst="roundRect">
            <a:avLst>
              <a:gd name="adj" fmla="val 23333"/>
            </a:avLst>
          </a:prstGeom>
          <a:solidFill>
            <a:srgbClr val="193D46"/>
          </a:solidFill>
          <a:ln w="10160">
            <a:solidFill>
              <a:srgbClr val="67DCC5"/>
            </a:solidFill>
            <a:prstDash val="solid"/>
          </a:ln>
        </p:spPr>
        <p:txBody>
          <a:bodyPr/>
          <a:lstStyle/>
          <a:p>
            <a:endParaRPr lang="en-US"/>
          </a:p>
        </p:txBody>
      </p:sp>
      <p:sp>
        <p:nvSpPr>
          <p:cNvPr id="34" name="Shape 32"/>
          <p:cNvSpPr/>
          <p:nvPr/>
        </p:nvSpPr>
        <p:spPr>
          <a:xfrm>
            <a:off x="7159752" y="2980944"/>
            <a:ext cx="548640" cy="694944"/>
          </a:xfrm>
          <a:prstGeom prst="roundRect">
            <a:avLst>
              <a:gd name="adj" fmla="val 23333"/>
            </a:avLst>
          </a:prstGeom>
          <a:solidFill>
            <a:srgbClr val="193D46"/>
          </a:solidFill>
          <a:ln w="10160">
            <a:solidFill>
              <a:srgbClr val="67DCC5"/>
            </a:solidFill>
            <a:prstDash val="solid"/>
          </a:ln>
        </p:spPr>
        <p:txBody>
          <a:bodyPr/>
          <a:lstStyle/>
          <a:p>
            <a:endParaRPr lang="en-US"/>
          </a:p>
        </p:txBody>
      </p:sp>
      <p:sp>
        <p:nvSpPr>
          <p:cNvPr id="35" name="Shape 33"/>
          <p:cNvSpPr/>
          <p:nvPr/>
        </p:nvSpPr>
        <p:spPr>
          <a:xfrm>
            <a:off x="7287768" y="3200400"/>
            <a:ext cx="292608" cy="0"/>
          </a:xfrm>
          <a:prstGeom prst="line">
            <a:avLst/>
          </a:prstGeom>
          <a:noFill/>
          <a:ln w="25400">
            <a:solidFill>
              <a:srgbClr val="67DCC5"/>
            </a:solidFill>
            <a:prstDash val="solid"/>
            <a:headEnd type="none"/>
            <a:tailEnd type="none"/>
          </a:ln>
        </p:spPr>
        <p:txBody>
          <a:bodyPr/>
          <a:lstStyle/>
          <a:p>
            <a:endParaRPr lang="en-US"/>
          </a:p>
        </p:txBody>
      </p:sp>
      <p:sp>
        <p:nvSpPr>
          <p:cNvPr id="36" name="Shape 34"/>
          <p:cNvSpPr/>
          <p:nvPr/>
        </p:nvSpPr>
        <p:spPr>
          <a:xfrm>
            <a:off x="7287768" y="3337560"/>
            <a:ext cx="219456" cy="0"/>
          </a:xfrm>
          <a:prstGeom prst="line">
            <a:avLst/>
          </a:prstGeom>
          <a:noFill/>
          <a:ln w="25400">
            <a:solidFill>
              <a:srgbClr val="67DCC5"/>
            </a:solidFill>
            <a:prstDash val="solid"/>
            <a:headEnd type="none"/>
            <a:tailEnd type="none"/>
          </a:ln>
        </p:spPr>
        <p:txBody>
          <a:bodyPr/>
          <a:lstStyle/>
          <a:p>
            <a:endParaRPr lang="en-US"/>
          </a:p>
        </p:txBody>
      </p:sp>
      <p:sp>
        <p:nvSpPr>
          <p:cNvPr id="37" name="Shape 35"/>
          <p:cNvSpPr/>
          <p:nvPr/>
        </p:nvSpPr>
        <p:spPr>
          <a:xfrm>
            <a:off x="7470648" y="3483864"/>
            <a:ext cx="100584" cy="100584"/>
          </a:xfrm>
          <a:prstGeom prst="ellipse">
            <a:avLst/>
          </a:prstGeom>
          <a:solidFill>
            <a:srgbClr val="67DCC5"/>
          </a:solidFill>
          <a:ln w="12700">
            <a:solidFill>
              <a:srgbClr val="67DCC5"/>
            </a:solidFill>
            <a:prstDash val="solid"/>
          </a:ln>
        </p:spPr>
        <p:txBody>
          <a:bodyPr/>
          <a:lstStyle/>
          <a:p>
            <a:endParaRPr lang="en-US"/>
          </a:p>
        </p:txBody>
      </p:sp>
      <p:sp>
        <p:nvSpPr>
          <p:cNvPr id="38" name="Text 36"/>
          <p:cNvSpPr/>
          <p:nvPr/>
        </p:nvSpPr>
        <p:spPr>
          <a:xfrm>
            <a:off x="6263640" y="4133088"/>
            <a:ext cx="2176272" cy="448056"/>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Stocks + ETFs</a:t>
            </a:r>
            <a:endParaRPr lang="en-US" sz="2600" dirty="0"/>
          </a:p>
        </p:txBody>
      </p:sp>
      <p:sp>
        <p:nvSpPr>
          <p:cNvPr id="39" name="Text 37"/>
          <p:cNvSpPr/>
          <p:nvPr/>
        </p:nvSpPr>
        <p:spPr>
          <a:xfrm>
            <a:off x="6263640" y="4709160"/>
            <a:ext cx="2176272" cy="612648"/>
          </a:xfrm>
          <a:prstGeom prst="rect">
            <a:avLst/>
          </a:prstGeom>
          <a:noFill/>
          <a:ln/>
        </p:spPr>
        <p:txBody>
          <a:bodyPr wrap="square" lIns="0" tIns="0" rIns="0" bIns="0" rtlCol="0" anchor="t"/>
          <a:lstStyle/>
          <a:p>
            <a:pPr marL="0" indent="0">
              <a:buNone/>
            </a:pPr>
            <a:r>
              <a:rPr lang="en-US" sz="2000" dirty="0">
                <a:solidFill>
                  <a:srgbClr val="B7D0D0"/>
                </a:solidFill>
                <a:latin typeface="Calibri" pitchFamily="34" charset="0"/>
                <a:ea typeface="Calibri" pitchFamily="34" charset="-122"/>
                <a:cs typeface="Calibri" pitchFamily="34" charset="-120"/>
              </a:rPr>
              <a:t>Daily ideas.</a:t>
            </a:r>
            <a:endParaRPr lang="en-US" sz="2000" dirty="0"/>
          </a:p>
          <a:p>
            <a:pPr marL="0" indent="0">
              <a:buNone/>
            </a:pPr>
            <a:r>
              <a:rPr lang="en-US" sz="2000" dirty="0">
                <a:solidFill>
                  <a:srgbClr val="B7D0D0"/>
                </a:solidFill>
                <a:latin typeface="Calibri" pitchFamily="34" charset="0"/>
                <a:ea typeface="Calibri" pitchFamily="34" charset="-122"/>
                <a:cs typeface="Calibri" pitchFamily="34" charset="-120"/>
              </a:rPr>
              <a:t>The user decides.</a:t>
            </a:r>
            <a:endParaRPr lang="en-US" sz="2000" dirty="0"/>
          </a:p>
        </p:txBody>
      </p:sp>
      <p:sp>
        <p:nvSpPr>
          <p:cNvPr id="40" name="Shape 38"/>
          <p:cNvSpPr/>
          <p:nvPr/>
        </p:nvSpPr>
        <p:spPr>
          <a:xfrm>
            <a:off x="3108960" y="3730752"/>
            <a:ext cx="146304" cy="0"/>
          </a:xfrm>
          <a:prstGeom prst="line">
            <a:avLst/>
          </a:prstGeom>
          <a:noFill/>
          <a:ln w="22860">
            <a:solidFill>
              <a:srgbClr val="67DCC5"/>
            </a:solidFill>
            <a:prstDash val="solid"/>
            <a:headEnd type="none"/>
            <a:tailEnd type="triangle"/>
          </a:ln>
        </p:spPr>
        <p:txBody>
          <a:bodyPr/>
          <a:lstStyle/>
          <a:p>
            <a:endParaRPr lang="en-US"/>
          </a:p>
        </p:txBody>
      </p:sp>
      <p:sp>
        <p:nvSpPr>
          <p:cNvPr id="41" name="Shape 39"/>
          <p:cNvSpPr/>
          <p:nvPr/>
        </p:nvSpPr>
        <p:spPr>
          <a:xfrm>
            <a:off x="5888736" y="3730752"/>
            <a:ext cx="146304" cy="0"/>
          </a:xfrm>
          <a:prstGeom prst="line">
            <a:avLst/>
          </a:prstGeom>
          <a:noFill/>
          <a:ln w="22860">
            <a:solidFill>
              <a:srgbClr val="67DCC5"/>
            </a:solidFill>
            <a:prstDash val="solid"/>
            <a:headEnd type="none"/>
            <a:tailEnd type="triangle"/>
          </a:ln>
        </p:spPr>
        <p:txBody>
          <a:bodyPr/>
          <a:lstStyle/>
          <a:p>
            <a:endParaRPr lang="en-US"/>
          </a:p>
        </p:txBody>
      </p:sp>
      <p:sp>
        <p:nvSpPr>
          <p:cNvPr id="42" name="Text 40"/>
          <p:cNvSpPr/>
          <p:nvPr/>
        </p:nvSpPr>
        <p:spPr>
          <a:xfrm>
            <a:off x="502920" y="5806440"/>
            <a:ext cx="8138160" cy="356616"/>
          </a:xfrm>
          <a:prstGeom prst="rect">
            <a:avLst/>
          </a:prstGeom>
          <a:noFill/>
          <a:ln/>
        </p:spPr>
        <p:txBody>
          <a:bodyPr wrap="square" lIns="0" tIns="0" rIns="0" bIns="0" rtlCol="0" anchor="ctr"/>
          <a:lstStyle/>
          <a:p>
            <a:pPr marL="0" indent="0">
              <a:buNone/>
            </a:pPr>
            <a:r>
              <a:rPr lang="en-US" sz="2300" b="1" dirty="0">
                <a:solidFill>
                  <a:srgbClr val="67DCC5"/>
                </a:solidFill>
                <a:latin typeface="Calibri" pitchFamily="34" charset="0"/>
                <a:ea typeface="Calibri" pitchFamily="34" charset="-122"/>
                <a:cs typeface="Calibri" pitchFamily="34" charset="-120"/>
              </a:rPr>
              <a:t>Why it fits. Why it might not. Your choice.</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5"/>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007F74">
              <a:alpha val="0"/>
            </a:srgbClr>
          </a:solidFill>
          <a:ln w="21590">
            <a:solidFill>
              <a:srgbClr val="007F74"/>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007F74">
              <a:alpha val="0"/>
            </a:srgbClr>
          </a:solidFill>
          <a:ln w="21590">
            <a:solidFill>
              <a:srgbClr val="007F74"/>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16333A"/>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5A7277"/>
                </a:solidFill>
                <a:latin typeface="Calibri" pitchFamily="34" charset="0"/>
                <a:ea typeface="Calibri" pitchFamily="34" charset="-122"/>
                <a:cs typeface="Calibri" pitchFamily="34" charset="-120"/>
              </a:rPr>
              <a:t>04</a:t>
            </a:r>
            <a:endParaRPr lang="en-US" sz="1800" dirty="0"/>
          </a:p>
        </p:txBody>
      </p:sp>
      <p:sp>
        <p:nvSpPr>
          <p:cNvPr id="6" name="Shape 4"/>
          <p:cNvSpPr/>
          <p:nvPr/>
        </p:nvSpPr>
        <p:spPr>
          <a:xfrm>
            <a:off x="502920" y="6318504"/>
            <a:ext cx="8138160" cy="0"/>
          </a:xfrm>
          <a:prstGeom prst="line">
            <a:avLst/>
          </a:prstGeom>
          <a:noFill/>
          <a:ln w="10160">
            <a:solidFill>
              <a:srgbClr val="D6E1DF"/>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CORE PROFILE  /  ILLUSTRATIVE INTERFACE</a:t>
            </a:r>
            <a:endParaRPr lang="en-US" sz="1800" dirty="0"/>
          </a:p>
        </p:txBody>
      </p:sp>
      <p:sp>
        <p:nvSpPr>
          <p:cNvPr id="8" name="Text 6"/>
          <p:cNvSpPr/>
          <p:nvPr/>
        </p:nvSpPr>
        <p:spPr>
          <a:xfrm>
            <a:off x="502920" y="896112"/>
            <a:ext cx="8183880" cy="594360"/>
          </a:xfrm>
          <a:prstGeom prst="rect">
            <a:avLst/>
          </a:prstGeom>
          <a:noFill/>
          <a:ln/>
        </p:spPr>
        <p:txBody>
          <a:bodyPr wrap="square" lIns="0" tIns="0" rIns="0" bIns="0" rtlCol="0" anchor="ctr"/>
          <a:lstStyle/>
          <a:p>
            <a:pPr marL="0" indent="0">
              <a:buNone/>
            </a:pPr>
            <a:r>
              <a:rPr lang="en-US" sz="3400" b="1" dirty="0">
                <a:solidFill>
                  <a:srgbClr val="16333A"/>
                </a:solidFill>
                <a:latin typeface="Calibri" pitchFamily="34" charset="0"/>
                <a:ea typeface="Calibri" pitchFamily="34" charset="-122"/>
                <a:cs typeface="Calibri" pitchFamily="34" charset="-120"/>
              </a:rPr>
              <a:t>Start with 15 simple questions.</a:t>
            </a:r>
            <a:endParaRPr lang="en-US" sz="3400" dirty="0"/>
          </a:p>
        </p:txBody>
      </p:sp>
      <p:sp>
        <p:nvSpPr>
          <p:cNvPr id="9" name="Text 7"/>
          <p:cNvSpPr/>
          <p:nvPr/>
        </p:nvSpPr>
        <p:spPr>
          <a:xfrm>
            <a:off x="502920" y="1517904"/>
            <a:ext cx="8138160" cy="384048"/>
          </a:xfrm>
          <a:prstGeom prst="rect">
            <a:avLst/>
          </a:prstGeom>
          <a:noFill/>
          <a:ln/>
        </p:spPr>
        <p:txBody>
          <a:bodyPr wrap="square" lIns="0" tIns="0" rIns="0" bIns="0" rtlCol="0" anchor="ctr"/>
          <a:lstStyle/>
          <a:p>
            <a:pPr marL="0" indent="0">
              <a:buNone/>
            </a:pPr>
            <a:r>
              <a:rPr lang="en-US" sz="2000" dirty="0">
                <a:solidFill>
                  <a:srgbClr val="5A7277"/>
                </a:solidFill>
                <a:latin typeface="Calibri" pitchFamily="34" charset="0"/>
                <a:ea typeface="Calibri" pitchFamily="34" charset="-122"/>
                <a:cs typeface="Calibri" pitchFamily="34" charset="-120"/>
              </a:rPr>
              <a:t>Broad, low-friction questions. No finance jargon.</a:t>
            </a:r>
            <a:endParaRPr lang="en-US" sz="2000" dirty="0"/>
          </a:p>
        </p:txBody>
      </p:sp>
      <p:sp>
        <p:nvSpPr>
          <p:cNvPr id="10" name="Shape 8"/>
          <p:cNvSpPr/>
          <p:nvPr/>
        </p:nvSpPr>
        <p:spPr>
          <a:xfrm>
            <a:off x="502920" y="2066544"/>
            <a:ext cx="4818888" cy="3630168"/>
          </a:xfrm>
          <a:prstGeom prst="roundRect">
            <a:avLst>
              <a:gd name="adj" fmla="val 3526"/>
            </a:avLst>
          </a:prstGeom>
          <a:solidFill>
            <a:srgbClr val="FFFFFF"/>
          </a:solidFill>
          <a:ln w="10160">
            <a:solidFill>
              <a:srgbClr val="D6E1DF"/>
            </a:solidFill>
            <a:prstDash val="solid"/>
          </a:ln>
        </p:spPr>
        <p:txBody>
          <a:bodyPr/>
          <a:lstStyle/>
          <a:p>
            <a:endParaRPr lang="en-US"/>
          </a:p>
        </p:txBody>
      </p:sp>
      <p:sp>
        <p:nvSpPr>
          <p:cNvPr id="11" name="Text 9"/>
          <p:cNvSpPr/>
          <p:nvPr/>
        </p:nvSpPr>
        <p:spPr>
          <a:xfrm>
            <a:off x="758952" y="2304288"/>
            <a:ext cx="2779776" cy="292608"/>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SAMPLE QUESTION</a:t>
            </a:r>
            <a:endParaRPr lang="en-US" sz="1800" dirty="0"/>
          </a:p>
        </p:txBody>
      </p:sp>
      <p:sp>
        <p:nvSpPr>
          <p:cNvPr id="12" name="Text 10"/>
          <p:cNvSpPr/>
          <p:nvPr/>
        </p:nvSpPr>
        <p:spPr>
          <a:xfrm>
            <a:off x="4187952" y="2304288"/>
            <a:ext cx="868680" cy="292608"/>
          </a:xfrm>
          <a:prstGeom prst="rect">
            <a:avLst/>
          </a:prstGeom>
          <a:noFill/>
          <a:ln/>
        </p:spPr>
        <p:txBody>
          <a:bodyPr wrap="square" lIns="0" tIns="0" rIns="0" bIns="0" rtlCol="0" anchor="ctr"/>
          <a:lstStyle/>
          <a:p>
            <a:pPr marL="0" indent="0" algn="r">
              <a:buNone/>
            </a:pPr>
            <a:r>
              <a:rPr lang="en-US" sz="1800" dirty="0">
                <a:solidFill>
                  <a:srgbClr val="5A7277"/>
                </a:solidFill>
                <a:latin typeface="Calibri" pitchFamily="34" charset="0"/>
                <a:ea typeface="Calibri" pitchFamily="34" charset="-122"/>
                <a:cs typeface="Calibri" pitchFamily="34" charset="-120"/>
              </a:rPr>
              <a:t>03 / 15</a:t>
            </a:r>
            <a:endParaRPr lang="en-US" sz="1800" dirty="0"/>
          </a:p>
        </p:txBody>
      </p:sp>
      <p:sp>
        <p:nvSpPr>
          <p:cNvPr id="13" name="Shape 11"/>
          <p:cNvSpPr/>
          <p:nvPr/>
        </p:nvSpPr>
        <p:spPr>
          <a:xfrm>
            <a:off x="768096" y="2779776"/>
            <a:ext cx="222199" cy="47549"/>
          </a:xfrm>
          <a:prstGeom prst="rect">
            <a:avLst/>
          </a:prstGeom>
          <a:solidFill>
            <a:srgbClr val="007F74"/>
          </a:solidFill>
          <a:ln w="12700">
            <a:solidFill>
              <a:srgbClr val="007F74"/>
            </a:solidFill>
            <a:prstDash val="solid"/>
          </a:ln>
        </p:spPr>
        <p:txBody>
          <a:bodyPr/>
          <a:lstStyle/>
          <a:p>
            <a:endParaRPr lang="en-US"/>
          </a:p>
        </p:txBody>
      </p:sp>
      <p:sp>
        <p:nvSpPr>
          <p:cNvPr id="14" name="Shape 12"/>
          <p:cNvSpPr/>
          <p:nvPr/>
        </p:nvSpPr>
        <p:spPr>
          <a:xfrm>
            <a:off x="1052474" y="2779776"/>
            <a:ext cx="222199" cy="47549"/>
          </a:xfrm>
          <a:prstGeom prst="rect">
            <a:avLst/>
          </a:prstGeom>
          <a:solidFill>
            <a:srgbClr val="007F74"/>
          </a:solidFill>
          <a:ln w="12700">
            <a:solidFill>
              <a:srgbClr val="007F74"/>
            </a:solidFill>
            <a:prstDash val="solid"/>
          </a:ln>
        </p:spPr>
        <p:txBody>
          <a:bodyPr/>
          <a:lstStyle/>
          <a:p>
            <a:endParaRPr lang="en-US"/>
          </a:p>
        </p:txBody>
      </p:sp>
      <p:sp>
        <p:nvSpPr>
          <p:cNvPr id="15" name="Shape 13"/>
          <p:cNvSpPr/>
          <p:nvPr/>
        </p:nvSpPr>
        <p:spPr>
          <a:xfrm>
            <a:off x="1336853" y="2779776"/>
            <a:ext cx="222199" cy="47549"/>
          </a:xfrm>
          <a:prstGeom prst="rect">
            <a:avLst/>
          </a:prstGeom>
          <a:solidFill>
            <a:srgbClr val="007F74"/>
          </a:solidFill>
          <a:ln w="12700">
            <a:solidFill>
              <a:srgbClr val="007F74"/>
            </a:solidFill>
            <a:prstDash val="solid"/>
          </a:ln>
        </p:spPr>
        <p:txBody>
          <a:bodyPr/>
          <a:lstStyle/>
          <a:p>
            <a:endParaRPr lang="en-US"/>
          </a:p>
        </p:txBody>
      </p:sp>
      <p:sp>
        <p:nvSpPr>
          <p:cNvPr id="16" name="Shape 14"/>
          <p:cNvSpPr/>
          <p:nvPr/>
        </p:nvSpPr>
        <p:spPr>
          <a:xfrm>
            <a:off x="1621231"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17" name="Shape 15"/>
          <p:cNvSpPr/>
          <p:nvPr/>
        </p:nvSpPr>
        <p:spPr>
          <a:xfrm>
            <a:off x="1905610"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18" name="Shape 16"/>
          <p:cNvSpPr/>
          <p:nvPr/>
        </p:nvSpPr>
        <p:spPr>
          <a:xfrm>
            <a:off x="2189988"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19" name="Shape 17"/>
          <p:cNvSpPr/>
          <p:nvPr/>
        </p:nvSpPr>
        <p:spPr>
          <a:xfrm>
            <a:off x="2474366"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20" name="Shape 18"/>
          <p:cNvSpPr/>
          <p:nvPr/>
        </p:nvSpPr>
        <p:spPr>
          <a:xfrm>
            <a:off x="2758745"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21" name="Shape 19"/>
          <p:cNvSpPr/>
          <p:nvPr/>
        </p:nvSpPr>
        <p:spPr>
          <a:xfrm>
            <a:off x="3043123"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22" name="Shape 20"/>
          <p:cNvSpPr/>
          <p:nvPr/>
        </p:nvSpPr>
        <p:spPr>
          <a:xfrm>
            <a:off x="3327502"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23" name="Shape 21"/>
          <p:cNvSpPr/>
          <p:nvPr/>
        </p:nvSpPr>
        <p:spPr>
          <a:xfrm>
            <a:off x="3611880"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24" name="Shape 22"/>
          <p:cNvSpPr/>
          <p:nvPr/>
        </p:nvSpPr>
        <p:spPr>
          <a:xfrm>
            <a:off x="3896258"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25" name="Shape 23"/>
          <p:cNvSpPr/>
          <p:nvPr/>
        </p:nvSpPr>
        <p:spPr>
          <a:xfrm>
            <a:off x="4180637"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26" name="Shape 24"/>
          <p:cNvSpPr/>
          <p:nvPr/>
        </p:nvSpPr>
        <p:spPr>
          <a:xfrm>
            <a:off x="4465015"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27" name="Shape 25"/>
          <p:cNvSpPr/>
          <p:nvPr/>
        </p:nvSpPr>
        <p:spPr>
          <a:xfrm>
            <a:off x="4749394" y="2779776"/>
            <a:ext cx="222199" cy="47549"/>
          </a:xfrm>
          <a:prstGeom prst="rect">
            <a:avLst/>
          </a:prstGeom>
          <a:solidFill>
            <a:srgbClr val="E6EDEA"/>
          </a:solidFill>
          <a:ln w="12700">
            <a:solidFill>
              <a:srgbClr val="E6EDEA"/>
            </a:solidFill>
            <a:prstDash val="solid"/>
          </a:ln>
        </p:spPr>
        <p:txBody>
          <a:bodyPr/>
          <a:lstStyle/>
          <a:p>
            <a:endParaRPr lang="en-US"/>
          </a:p>
        </p:txBody>
      </p:sp>
      <p:sp>
        <p:nvSpPr>
          <p:cNvPr id="28" name="Text 26"/>
          <p:cNvSpPr/>
          <p:nvPr/>
        </p:nvSpPr>
        <p:spPr>
          <a:xfrm>
            <a:off x="768096" y="3026664"/>
            <a:ext cx="4297680" cy="804672"/>
          </a:xfrm>
          <a:prstGeom prst="rect">
            <a:avLst/>
          </a:prstGeom>
          <a:noFill/>
          <a:ln/>
        </p:spPr>
        <p:txBody>
          <a:bodyPr wrap="square" lIns="0" tIns="0" rIns="0" bIns="0" rtlCol="0" anchor="t"/>
          <a:lstStyle/>
          <a:p>
            <a:pPr marL="0" indent="0">
              <a:buNone/>
            </a:pPr>
            <a:r>
              <a:rPr lang="en-US" sz="2500" b="1" dirty="0">
                <a:solidFill>
                  <a:srgbClr val="16333A"/>
                </a:solidFill>
                <a:latin typeface="Calibri" pitchFamily="34" charset="0"/>
                <a:ea typeface="Calibri" pitchFamily="34" charset="-122"/>
                <a:cs typeface="Calibri" pitchFamily="34" charset="-120"/>
              </a:rPr>
              <a:t>How long can you leave</a:t>
            </a:r>
            <a:endParaRPr lang="en-US" sz="2500" dirty="0"/>
          </a:p>
          <a:p>
            <a:pPr marL="0" indent="0">
              <a:buNone/>
            </a:pPr>
            <a:r>
              <a:rPr lang="en-US" sz="2500" b="1" dirty="0">
                <a:solidFill>
                  <a:srgbClr val="16333A"/>
                </a:solidFill>
                <a:latin typeface="Calibri" pitchFamily="34" charset="0"/>
                <a:ea typeface="Calibri" pitchFamily="34" charset="-122"/>
                <a:cs typeface="Calibri" pitchFamily="34" charset="-120"/>
              </a:rPr>
              <a:t>money invested?</a:t>
            </a:r>
            <a:endParaRPr lang="en-US" sz="2500" dirty="0"/>
          </a:p>
        </p:txBody>
      </p:sp>
      <p:sp>
        <p:nvSpPr>
          <p:cNvPr id="29" name="Shape 27"/>
          <p:cNvSpPr/>
          <p:nvPr/>
        </p:nvSpPr>
        <p:spPr>
          <a:xfrm>
            <a:off x="768096" y="4023360"/>
            <a:ext cx="4297680" cy="370332"/>
          </a:xfrm>
          <a:prstGeom prst="roundRect">
            <a:avLst>
              <a:gd name="adj" fmla="val 34568"/>
            </a:avLst>
          </a:prstGeom>
          <a:solidFill>
            <a:srgbClr val="F5F7F5"/>
          </a:solidFill>
          <a:ln w="10160">
            <a:solidFill>
              <a:srgbClr val="D6E1DF"/>
            </a:solidFill>
            <a:prstDash val="solid"/>
          </a:ln>
        </p:spPr>
        <p:txBody>
          <a:bodyPr/>
          <a:lstStyle/>
          <a:p>
            <a:endParaRPr lang="en-US"/>
          </a:p>
        </p:txBody>
      </p:sp>
      <p:sp>
        <p:nvSpPr>
          <p:cNvPr id="30" name="Shape 28"/>
          <p:cNvSpPr/>
          <p:nvPr/>
        </p:nvSpPr>
        <p:spPr>
          <a:xfrm>
            <a:off x="937260" y="4121201"/>
            <a:ext cx="169164" cy="169164"/>
          </a:xfrm>
          <a:prstGeom prst="ellipse">
            <a:avLst/>
          </a:prstGeom>
          <a:solidFill>
            <a:srgbClr val="FFFFFF"/>
          </a:solidFill>
          <a:ln w="12700">
            <a:solidFill>
              <a:srgbClr val="5A7277"/>
            </a:solidFill>
            <a:prstDash val="solid"/>
          </a:ln>
        </p:spPr>
        <p:txBody>
          <a:bodyPr/>
          <a:lstStyle/>
          <a:p>
            <a:endParaRPr lang="en-US"/>
          </a:p>
        </p:txBody>
      </p:sp>
      <p:sp>
        <p:nvSpPr>
          <p:cNvPr id="31" name="Text 29"/>
          <p:cNvSpPr/>
          <p:nvPr/>
        </p:nvSpPr>
        <p:spPr>
          <a:xfrm>
            <a:off x="1280160" y="4059022"/>
            <a:ext cx="3566160" cy="283464"/>
          </a:xfrm>
          <a:prstGeom prst="rect">
            <a:avLst/>
          </a:prstGeom>
          <a:noFill/>
          <a:ln/>
        </p:spPr>
        <p:txBody>
          <a:bodyPr wrap="square" lIns="0" tIns="0" rIns="0" bIns="0" rtlCol="0" anchor="ctr"/>
          <a:lstStyle/>
          <a:p>
            <a:pPr marL="0" indent="0">
              <a:buNone/>
            </a:pPr>
            <a:r>
              <a:rPr lang="en-US" sz="1800" dirty="0">
                <a:solidFill>
                  <a:srgbClr val="16333A"/>
                </a:solidFill>
                <a:latin typeface="Calibri" pitchFamily="34" charset="0"/>
                <a:ea typeface="Calibri" pitchFamily="34" charset="-122"/>
                <a:cs typeface="Calibri" pitchFamily="34" charset="-120"/>
              </a:rPr>
              <a:t>Under 1 year</a:t>
            </a:r>
            <a:endParaRPr lang="en-US" sz="1800" dirty="0"/>
          </a:p>
        </p:txBody>
      </p:sp>
      <p:sp>
        <p:nvSpPr>
          <p:cNvPr id="32" name="Shape 30"/>
          <p:cNvSpPr/>
          <p:nvPr/>
        </p:nvSpPr>
        <p:spPr>
          <a:xfrm>
            <a:off x="768096" y="4471416"/>
            <a:ext cx="4297680" cy="370332"/>
          </a:xfrm>
          <a:prstGeom prst="roundRect">
            <a:avLst>
              <a:gd name="adj" fmla="val 34568"/>
            </a:avLst>
          </a:prstGeom>
          <a:solidFill>
            <a:srgbClr val="F5F7F5"/>
          </a:solidFill>
          <a:ln w="10160">
            <a:solidFill>
              <a:srgbClr val="D6E1DF"/>
            </a:solidFill>
            <a:prstDash val="solid"/>
          </a:ln>
        </p:spPr>
        <p:txBody>
          <a:bodyPr/>
          <a:lstStyle/>
          <a:p>
            <a:endParaRPr lang="en-US"/>
          </a:p>
        </p:txBody>
      </p:sp>
      <p:sp>
        <p:nvSpPr>
          <p:cNvPr id="33" name="Shape 31"/>
          <p:cNvSpPr/>
          <p:nvPr/>
        </p:nvSpPr>
        <p:spPr>
          <a:xfrm>
            <a:off x="937260" y="4569257"/>
            <a:ext cx="169164" cy="169164"/>
          </a:xfrm>
          <a:prstGeom prst="ellipse">
            <a:avLst/>
          </a:prstGeom>
          <a:solidFill>
            <a:srgbClr val="FFFFFF"/>
          </a:solidFill>
          <a:ln w="12700">
            <a:solidFill>
              <a:srgbClr val="5A7277"/>
            </a:solidFill>
            <a:prstDash val="solid"/>
          </a:ln>
        </p:spPr>
        <p:txBody>
          <a:bodyPr/>
          <a:lstStyle/>
          <a:p>
            <a:endParaRPr lang="en-US"/>
          </a:p>
        </p:txBody>
      </p:sp>
      <p:sp>
        <p:nvSpPr>
          <p:cNvPr id="34" name="Text 32"/>
          <p:cNvSpPr/>
          <p:nvPr/>
        </p:nvSpPr>
        <p:spPr>
          <a:xfrm>
            <a:off x="1280160" y="4507078"/>
            <a:ext cx="3566160" cy="283464"/>
          </a:xfrm>
          <a:prstGeom prst="rect">
            <a:avLst/>
          </a:prstGeom>
          <a:noFill/>
          <a:ln/>
        </p:spPr>
        <p:txBody>
          <a:bodyPr wrap="square" lIns="0" tIns="0" rIns="0" bIns="0" rtlCol="0" anchor="ctr"/>
          <a:lstStyle/>
          <a:p>
            <a:pPr marL="0" indent="0">
              <a:buNone/>
            </a:pPr>
            <a:r>
              <a:rPr lang="en-US" sz="1800" dirty="0">
                <a:solidFill>
                  <a:srgbClr val="16333A"/>
                </a:solidFill>
                <a:latin typeface="Calibri" pitchFamily="34" charset="0"/>
                <a:ea typeface="Calibri" pitchFamily="34" charset="-122"/>
                <a:cs typeface="Calibri" pitchFamily="34" charset="-120"/>
              </a:rPr>
              <a:t>1–5 years</a:t>
            </a:r>
            <a:endParaRPr lang="en-US" sz="1800" dirty="0"/>
          </a:p>
        </p:txBody>
      </p:sp>
      <p:sp>
        <p:nvSpPr>
          <p:cNvPr id="35" name="Shape 33"/>
          <p:cNvSpPr/>
          <p:nvPr/>
        </p:nvSpPr>
        <p:spPr>
          <a:xfrm>
            <a:off x="768096" y="4919472"/>
            <a:ext cx="4297680" cy="370332"/>
          </a:xfrm>
          <a:prstGeom prst="roundRect">
            <a:avLst>
              <a:gd name="adj" fmla="val 34568"/>
            </a:avLst>
          </a:prstGeom>
          <a:solidFill>
            <a:srgbClr val="E1F3ED"/>
          </a:solidFill>
          <a:ln w="10160">
            <a:solidFill>
              <a:srgbClr val="007F74"/>
            </a:solidFill>
            <a:prstDash val="solid"/>
          </a:ln>
        </p:spPr>
        <p:txBody>
          <a:bodyPr/>
          <a:lstStyle/>
          <a:p>
            <a:endParaRPr lang="en-US"/>
          </a:p>
        </p:txBody>
      </p:sp>
      <p:sp>
        <p:nvSpPr>
          <p:cNvPr id="36" name="Shape 34"/>
          <p:cNvSpPr/>
          <p:nvPr/>
        </p:nvSpPr>
        <p:spPr>
          <a:xfrm>
            <a:off x="937260" y="5017313"/>
            <a:ext cx="169164" cy="169164"/>
          </a:xfrm>
          <a:prstGeom prst="ellipse">
            <a:avLst/>
          </a:prstGeom>
          <a:solidFill>
            <a:srgbClr val="007F74"/>
          </a:solidFill>
          <a:ln w="12700">
            <a:solidFill>
              <a:srgbClr val="007F74"/>
            </a:solidFill>
            <a:prstDash val="solid"/>
          </a:ln>
        </p:spPr>
        <p:txBody>
          <a:bodyPr/>
          <a:lstStyle/>
          <a:p>
            <a:endParaRPr lang="en-US"/>
          </a:p>
        </p:txBody>
      </p:sp>
      <p:sp>
        <p:nvSpPr>
          <p:cNvPr id="37" name="Shape 35"/>
          <p:cNvSpPr/>
          <p:nvPr/>
        </p:nvSpPr>
        <p:spPr>
          <a:xfrm>
            <a:off x="982980" y="5062118"/>
            <a:ext cx="77724" cy="77724"/>
          </a:xfrm>
          <a:prstGeom prst="ellipse">
            <a:avLst/>
          </a:prstGeom>
          <a:solidFill>
            <a:srgbClr val="FFFFFF"/>
          </a:solidFill>
          <a:ln w="12700">
            <a:solidFill>
              <a:srgbClr val="FFFFFF"/>
            </a:solidFill>
            <a:prstDash val="solid"/>
          </a:ln>
        </p:spPr>
        <p:txBody>
          <a:bodyPr/>
          <a:lstStyle/>
          <a:p>
            <a:endParaRPr lang="en-US"/>
          </a:p>
        </p:txBody>
      </p:sp>
      <p:sp>
        <p:nvSpPr>
          <p:cNvPr id="38" name="Text 36"/>
          <p:cNvSpPr/>
          <p:nvPr/>
        </p:nvSpPr>
        <p:spPr>
          <a:xfrm>
            <a:off x="1280160" y="4955134"/>
            <a:ext cx="3566160" cy="283464"/>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5+ years</a:t>
            </a:r>
            <a:endParaRPr lang="en-US" sz="1800" dirty="0"/>
          </a:p>
        </p:txBody>
      </p:sp>
      <p:sp>
        <p:nvSpPr>
          <p:cNvPr id="39" name="Text 37"/>
          <p:cNvSpPr/>
          <p:nvPr/>
        </p:nvSpPr>
        <p:spPr>
          <a:xfrm>
            <a:off x="5650992" y="2148840"/>
            <a:ext cx="2980944" cy="283464"/>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PRIORITIES</a:t>
            </a:r>
            <a:endParaRPr lang="en-US" sz="1800" dirty="0"/>
          </a:p>
        </p:txBody>
      </p:sp>
      <p:sp>
        <p:nvSpPr>
          <p:cNvPr id="40" name="Text 38"/>
          <p:cNvSpPr/>
          <p:nvPr/>
        </p:nvSpPr>
        <p:spPr>
          <a:xfrm>
            <a:off x="5650992" y="2542032"/>
            <a:ext cx="2980944" cy="649224"/>
          </a:xfrm>
          <a:prstGeom prst="rect">
            <a:avLst/>
          </a:prstGeom>
          <a:noFill/>
          <a:ln/>
        </p:spPr>
        <p:txBody>
          <a:bodyPr wrap="square" lIns="0" tIns="0" rIns="0" bIns="0" rtlCol="0" anchor="t"/>
          <a:lstStyle/>
          <a:p>
            <a:pPr marL="0" indent="0">
              <a:buNone/>
            </a:pPr>
            <a:r>
              <a:rPr lang="en-US" sz="2200" b="1" dirty="0">
                <a:solidFill>
                  <a:srgbClr val="16333A"/>
                </a:solidFill>
                <a:latin typeface="Calibri" pitchFamily="34" charset="0"/>
                <a:ea typeface="Calibri" pitchFamily="34" charset="-122"/>
                <a:cs typeface="Calibri" pitchFamily="34" charset="-120"/>
              </a:rPr>
              <a:t>Steady growth or</a:t>
            </a:r>
            <a:endParaRPr lang="en-US" sz="2200" dirty="0"/>
          </a:p>
          <a:p>
            <a:pPr marL="0" indent="0">
              <a:buNone/>
            </a:pPr>
            <a:r>
              <a:rPr lang="en-US" sz="2200" b="1" dirty="0">
                <a:solidFill>
                  <a:srgbClr val="16333A"/>
                </a:solidFill>
                <a:latin typeface="Calibri" pitchFamily="34" charset="0"/>
                <a:ea typeface="Calibri" pitchFamily="34" charset="-122"/>
                <a:cs typeface="Calibri" pitchFamily="34" charset="-120"/>
              </a:rPr>
              <a:t>upside potential?</a:t>
            </a:r>
            <a:endParaRPr lang="en-US" sz="2200" dirty="0"/>
          </a:p>
        </p:txBody>
      </p:sp>
      <p:sp>
        <p:nvSpPr>
          <p:cNvPr id="41" name="Shape 39"/>
          <p:cNvSpPr/>
          <p:nvPr/>
        </p:nvSpPr>
        <p:spPr>
          <a:xfrm>
            <a:off x="5650992" y="3374136"/>
            <a:ext cx="2980944" cy="0"/>
          </a:xfrm>
          <a:prstGeom prst="line">
            <a:avLst/>
          </a:prstGeom>
          <a:noFill/>
          <a:ln w="11430">
            <a:solidFill>
              <a:srgbClr val="D6E1DF"/>
            </a:solidFill>
            <a:prstDash val="solid"/>
            <a:headEnd type="none"/>
            <a:tailEnd type="none"/>
          </a:ln>
        </p:spPr>
        <p:txBody>
          <a:bodyPr/>
          <a:lstStyle/>
          <a:p>
            <a:endParaRPr lang="en-US"/>
          </a:p>
        </p:txBody>
      </p:sp>
      <p:sp>
        <p:nvSpPr>
          <p:cNvPr id="42" name="Text 40"/>
          <p:cNvSpPr/>
          <p:nvPr/>
        </p:nvSpPr>
        <p:spPr>
          <a:xfrm>
            <a:off x="5650992" y="3575304"/>
            <a:ext cx="2980944" cy="283464"/>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RISK COMFORT</a:t>
            </a:r>
            <a:endParaRPr lang="en-US" sz="1800" dirty="0"/>
          </a:p>
        </p:txBody>
      </p:sp>
      <p:sp>
        <p:nvSpPr>
          <p:cNvPr id="43" name="Text 41"/>
          <p:cNvSpPr/>
          <p:nvPr/>
        </p:nvSpPr>
        <p:spPr>
          <a:xfrm>
            <a:off x="5650992" y="3968496"/>
            <a:ext cx="2980944" cy="694944"/>
          </a:xfrm>
          <a:prstGeom prst="rect">
            <a:avLst/>
          </a:prstGeom>
          <a:noFill/>
          <a:ln/>
        </p:spPr>
        <p:txBody>
          <a:bodyPr wrap="square" lIns="0" tIns="0" rIns="0" bIns="0" rtlCol="0" anchor="t"/>
          <a:lstStyle/>
          <a:p>
            <a:pPr marL="0" indent="0">
              <a:buNone/>
            </a:pPr>
            <a:r>
              <a:rPr lang="en-US" sz="2100" b="1" dirty="0">
                <a:solidFill>
                  <a:srgbClr val="16333A"/>
                </a:solidFill>
                <a:latin typeface="Calibri" pitchFamily="34" charset="0"/>
                <a:ea typeface="Calibri" pitchFamily="34" charset="-122"/>
                <a:cs typeface="Calibri" pitchFamily="34" charset="-120"/>
              </a:rPr>
              <a:t>How would you react to a</a:t>
            </a:r>
            <a:endParaRPr lang="en-US" sz="2100" dirty="0"/>
          </a:p>
          <a:p>
            <a:pPr marL="0" indent="0">
              <a:buNone/>
            </a:pPr>
            <a:r>
              <a:rPr lang="en-US" sz="2100" b="1" dirty="0">
                <a:solidFill>
                  <a:srgbClr val="16333A"/>
                </a:solidFill>
                <a:latin typeface="Calibri" pitchFamily="34" charset="0"/>
                <a:ea typeface="Calibri" pitchFamily="34" charset="-122"/>
                <a:cs typeface="Calibri" pitchFamily="34" charset="-120"/>
              </a:rPr>
              <a:t>10% drop in one month?</a:t>
            </a:r>
            <a:endParaRPr lang="en-US" sz="2100" dirty="0"/>
          </a:p>
        </p:txBody>
      </p:sp>
      <p:sp>
        <p:nvSpPr>
          <p:cNvPr id="44" name="Shape 42"/>
          <p:cNvSpPr/>
          <p:nvPr/>
        </p:nvSpPr>
        <p:spPr>
          <a:xfrm>
            <a:off x="5650992" y="4773168"/>
            <a:ext cx="2980944" cy="0"/>
          </a:xfrm>
          <a:prstGeom prst="line">
            <a:avLst/>
          </a:prstGeom>
          <a:noFill/>
          <a:ln w="11430">
            <a:solidFill>
              <a:srgbClr val="D6E1DF"/>
            </a:solidFill>
            <a:prstDash val="solid"/>
            <a:headEnd type="none"/>
            <a:tailEnd type="none"/>
          </a:ln>
        </p:spPr>
        <p:txBody>
          <a:bodyPr/>
          <a:lstStyle/>
          <a:p>
            <a:endParaRPr lang="en-US"/>
          </a:p>
        </p:txBody>
      </p:sp>
      <p:sp>
        <p:nvSpPr>
          <p:cNvPr id="45" name="Text 43"/>
          <p:cNvSpPr/>
          <p:nvPr/>
        </p:nvSpPr>
        <p:spPr>
          <a:xfrm>
            <a:off x="5650992" y="4956048"/>
            <a:ext cx="2980944" cy="283464"/>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DECISION STYLE</a:t>
            </a:r>
            <a:endParaRPr lang="en-US" sz="1800" dirty="0"/>
          </a:p>
        </p:txBody>
      </p:sp>
      <p:sp>
        <p:nvSpPr>
          <p:cNvPr id="46" name="Text 44"/>
          <p:cNvSpPr/>
          <p:nvPr/>
        </p:nvSpPr>
        <p:spPr>
          <a:xfrm>
            <a:off x="5650992" y="5349240"/>
            <a:ext cx="2980944" cy="694944"/>
          </a:xfrm>
          <a:prstGeom prst="rect">
            <a:avLst/>
          </a:prstGeom>
          <a:noFill/>
          <a:ln/>
        </p:spPr>
        <p:txBody>
          <a:bodyPr wrap="square" lIns="0" tIns="0" rIns="0" bIns="0" rtlCol="0" anchor="t"/>
          <a:lstStyle/>
          <a:p>
            <a:pPr marL="0" indent="0">
              <a:buNone/>
            </a:pPr>
            <a:r>
              <a:rPr lang="en-US" sz="2200" b="1" dirty="0">
                <a:solidFill>
                  <a:srgbClr val="16333A"/>
                </a:solidFill>
                <a:latin typeface="Calibri" pitchFamily="34" charset="0"/>
                <a:ea typeface="Calibri" pitchFamily="34" charset="-122"/>
                <a:cs typeface="Calibri" pitchFamily="34" charset="-120"/>
              </a:rPr>
              <a:t>Frequent decisions</a:t>
            </a:r>
            <a:endParaRPr lang="en-US" sz="2200" dirty="0"/>
          </a:p>
          <a:p>
            <a:pPr marL="0" indent="0">
              <a:buNone/>
            </a:pPr>
            <a:r>
              <a:rPr lang="en-US" sz="2200" b="1" dirty="0">
                <a:solidFill>
                  <a:srgbClr val="16333A"/>
                </a:solidFill>
                <a:latin typeface="Calibri" pitchFamily="34" charset="0"/>
                <a:ea typeface="Calibri" pitchFamily="34" charset="-122"/>
                <a:cs typeface="Calibri" pitchFamily="34" charset="-120"/>
              </a:rPr>
              <a:t>or set a plan?</a:t>
            </a:r>
            <a:endParaRPr lang="en-US" sz="2200" dirty="0"/>
          </a:p>
        </p:txBody>
      </p:sp>
      <p:sp>
        <p:nvSpPr>
          <p:cNvPr id="47" name="Shape 45"/>
          <p:cNvSpPr/>
          <p:nvPr/>
        </p:nvSpPr>
        <p:spPr>
          <a:xfrm>
            <a:off x="502920" y="5879592"/>
            <a:ext cx="3282696" cy="393192"/>
          </a:xfrm>
          <a:prstGeom prst="roundRect">
            <a:avLst>
              <a:gd name="adj" fmla="val 32558"/>
            </a:avLst>
          </a:prstGeom>
          <a:solidFill>
            <a:srgbClr val="E1F3ED"/>
          </a:solidFill>
          <a:ln w="12700">
            <a:solidFill>
              <a:srgbClr val="E1F3ED"/>
            </a:solidFill>
            <a:prstDash val="solid"/>
          </a:ln>
        </p:spPr>
        <p:txBody>
          <a:bodyPr/>
          <a:lstStyle/>
          <a:p>
            <a:endParaRPr lang="en-US"/>
          </a:p>
        </p:txBody>
      </p:sp>
      <p:sp>
        <p:nvSpPr>
          <p:cNvPr id="48" name="Text 46"/>
          <p:cNvSpPr/>
          <p:nvPr/>
        </p:nvSpPr>
        <p:spPr>
          <a:xfrm>
            <a:off x="612648" y="5920740"/>
            <a:ext cx="3063240" cy="301752"/>
          </a:xfrm>
          <a:prstGeom prst="rect">
            <a:avLst/>
          </a:prstGeom>
          <a:noFill/>
          <a:ln/>
        </p:spPr>
        <p:txBody>
          <a:bodyPr wrap="square" lIns="0" tIns="0" rIns="0" bIns="0" rtlCol="0" anchor="ctr"/>
          <a:lstStyle/>
          <a:p>
            <a:pPr marL="0" indent="0" algn="ctr">
              <a:buNone/>
            </a:pPr>
            <a:r>
              <a:rPr lang="en-US" sz="1800" b="1" dirty="0">
                <a:solidFill>
                  <a:srgbClr val="007F74"/>
                </a:solidFill>
                <a:latin typeface="Calibri" pitchFamily="34" charset="0"/>
                <a:ea typeface="Calibri" pitchFamily="34" charset="-122"/>
                <a:cs typeface="Calibri" pitchFamily="34" charset="-120"/>
              </a:rPr>
              <a:t>~2-minute design target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D36"/>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67DCC5">
              <a:alpha val="0"/>
            </a:srgbClr>
          </a:solidFill>
          <a:ln w="21590">
            <a:solidFill>
              <a:srgbClr val="67DCC5"/>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67DCC5">
              <a:alpha val="0"/>
            </a:srgbClr>
          </a:solidFill>
          <a:ln w="21590">
            <a:solidFill>
              <a:srgbClr val="67DCC5"/>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B7D0D0"/>
                </a:solidFill>
                <a:latin typeface="Calibri" pitchFamily="34" charset="0"/>
                <a:ea typeface="Calibri" pitchFamily="34" charset="-122"/>
                <a:cs typeface="Calibri" pitchFamily="34" charset="-120"/>
              </a:rPr>
              <a:t>05</a:t>
            </a:r>
            <a:endParaRPr lang="en-US" sz="1800" dirty="0"/>
          </a:p>
        </p:txBody>
      </p:sp>
      <p:sp>
        <p:nvSpPr>
          <p:cNvPr id="6" name="Shape 4"/>
          <p:cNvSpPr/>
          <p:nvPr/>
        </p:nvSpPr>
        <p:spPr>
          <a:xfrm>
            <a:off x="502920" y="6318504"/>
            <a:ext cx="8138160" cy="0"/>
          </a:xfrm>
          <a:prstGeom prst="line">
            <a:avLst/>
          </a:prstGeom>
          <a:noFill/>
          <a:ln w="10160">
            <a:solidFill>
              <a:srgbClr val="294B54"/>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B7D0D0"/>
                </a:solidFill>
                <a:latin typeface="Calibri" pitchFamily="34" charset="0"/>
                <a:ea typeface="Calibri" pitchFamily="34" charset="-122"/>
                <a:cs typeface="Calibri" pitchFamily="34" charset="-120"/>
              </a:rPr>
              <a:t>OPTIONAL BEHAVIORAL LAYER</a:t>
            </a:r>
            <a:endParaRPr lang="en-US" sz="1800" dirty="0"/>
          </a:p>
        </p:txBody>
      </p:sp>
      <p:sp>
        <p:nvSpPr>
          <p:cNvPr id="8" name="Text 6"/>
          <p:cNvSpPr/>
          <p:nvPr/>
        </p:nvSpPr>
        <p:spPr>
          <a:xfrm>
            <a:off x="502920" y="896112"/>
            <a:ext cx="818388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35 optional questions. Deeper context.</a:t>
            </a:r>
            <a:endParaRPr lang="en-US" sz="3200" dirty="0"/>
          </a:p>
        </p:txBody>
      </p:sp>
      <p:sp>
        <p:nvSpPr>
          <p:cNvPr id="9" name="Text 7"/>
          <p:cNvSpPr/>
          <p:nvPr/>
        </p:nvSpPr>
        <p:spPr>
          <a:xfrm>
            <a:off x="502920" y="1517904"/>
            <a:ext cx="8138160" cy="384048"/>
          </a:xfrm>
          <a:prstGeom prst="rect">
            <a:avLst/>
          </a:prstGeom>
          <a:noFill/>
          <a:ln/>
        </p:spPr>
        <p:txBody>
          <a:bodyPr wrap="square" lIns="0" tIns="0" rIns="0" bIns="0" rtlCol="0" anchor="ctr"/>
          <a:lstStyle/>
          <a:p>
            <a:pPr marL="0" indent="0">
              <a:buNone/>
            </a:pPr>
            <a:r>
              <a:rPr lang="en-US" sz="2000" dirty="0">
                <a:solidFill>
                  <a:srgbClr val="B7D0D0"/>
                </a:solidFill>
                <a:latin typeface="Calibri" pitchFamily="34" charset="0"/>
                <a:ea typeface="Calibri" pitchFamily="34" charset="-122"/>
                <a:cs typeface="Calibri" pitchFamily="34" charset="-120"/>
              </a:rPr>
              <a:t>Explore behavior under stress without forcing a longer onboarding.</a:t>
            </a:r>
            <a:endParaRPr lang="en-US" sz="2000" dirty="0"/>
          </a:p>
        </p:txBody>
      </p:sp>
      <p:sp>
        <p:nvSpPr>
          <p:cNvPr id="10" name="Shape 8"/>
          <p:cNvSpPr/>
          <p:nvPr/>
        </p:nvSpPr>
        <p:spPr>
          <a:xfrm>
            <a:off x="502920" y="2020824"/>
            <a:ext cx="1965960" cy="393192"/>
          </a:xfrm>
          <a:prstGeom prst="roundRect">
            <a:avLst>
              <a:gd name="adj" fmla="val 32558"/>
            </a:avLst>
          </a:prstGeom>
          <a:solidFill>
            <a:srgbClr val="294B54"/>
          </a:solidFill>
          <a:ln w="12700">
            <a:solidFill>
              <a:srgbClr val="294B54"/>
            </a:solidFill>
            <a:prstDash val="solid"/>
          </a:ln>
        </p:spPr>
        <p:txBody>
          <a:bodyPr/>
          <a:lstStyle/>
          <a:p>
            <a:endParaRPr lang="en-US"/>
          </a:p>
        </p:txBody>
      </p:sp>
      <p:sp>
        <p:nvSpPr>
          <p:cNvPr id="11" name="Text 9"/>
          <p:cNvSpPr/>
          <p:nvPr/>
        </p:nvSpPr>
        <p:spPr>
          <a:xfrm>
            <a:off x="612648" y="2061972"/>
            <a:ext cx="1746504" cy="301752"/>
          </a:xfrm>
          <a:prstGeom prst="rect">
            <a:avLst/>
          </a:prstGeom>
          <a:noFill/>
          <a:ln/>
        </p:spPr>
        <p:txBody>
          <a:bodyPr wrap="square" lIns="0" tIns="0" rIns="0" bIns="0" rtlCol="0" anchor="ctr"/>
          <a:lstStyle/>
          <a:p>
            <a:pPr marL="0" indent="0" algn="ctr">
              <a:buNone/>
            </a:pPr>
            <a:r>
              <a:rPr lang="en-US" sz="1800" b="1" dirty="0">
                <a:solidFill>
                  <a:srgbClr val="67DCC5"/>
                </a:solidFill>
                <a:latin typeface="Calibri" pitchFamily="34" charset="0"/>
                <a:ea typeface="Calibri" pitchFamily="34" charset="-122"/>
                <a:cs typeface="Calibri" pitchFamily="34" charset="-120"/>
              </a:rPr>
              <a:t>Fully optional</a:t>
            </a:r>
            <a:endParaRPr lang="en-US" sz="1800" dirty="0"/>
          </a:p>
        </p:txBody>
      </p:sp>
      <p:sp>
        <p:nvSpPr>
          <p:cNvPr id="12" name="Shape 10"/>
          <p:cNvSpPr/>
          <p:nvPr/>
        </p:nvSpPr>
        <p:spPr>
          <a:xfrm>
            <a:off x="2651760" y="2020824"/>
            <a:ext cx="1947672" cy="393192"/>
          </a:xfrm>
          <a:prstGeom prst="roundRect">
            <a:avLst>
              <a:gd name="adj" fmla="val 32558"/>
            </a:avLst>
          </a:prstGeom>
          <a:solidFill>
            <a:srgbClr val="294B54"/>
          </a:solidFill>
          <a:ln w="12700">
            <a:solidFill>
              <a:srgbClr val="294B54"/>
            </a:solidFill>
            <a:prstDash val="solid"/>
          </a:ln>
        </p:spPr>
        <p:txBody>
          <a:bodyPr/>
          <a:lstStyle/>
          <a:p>
            <a:endParaRPr lang="en-US"/>
          </a:p>
        </p:txBody>
      </p:sp>
      <p:sp>
        <p:nvSpPr>
          <p:cNvPr id="13" name="Text 11"/>
          <p:cNvSpPr/>
          <p:nvPr/>
        </p:nvSpPr>
        <p:spPr>
          <a:xfrm>
            <a:off x="2761488" y="2061972"/>
            <a:ext cx="1728216" cy="301752"/>
          </a:xfrm>
          <a:prstGeom prst="rect">
            <a:avLst/>
          </a:prstGeom>
          <a:noFill/>
          <a:ln/>
        </p:spPr>
        <p:txBody>
          <a:bodyPr wrap="square" lIns="0" tIns="0" rIns="0" bIns="0" rtlCol="0" anchor="ctr"/>
          <a:lstStyle/>
          <a:p>
            <a:pPr marL="0" indent="0" algn="ctr">
              <a:buNone/>
            </a:pPr>
            <a:r>
              <a:rPr lang="en-US" sz="1800" b="1" dirty="0">
                <a:solidFill>
                  <a:srgbClr val="67DCC5"/>
                </a:solidFill>
                <a:latin typeface="Calibri" pitchFamily="34" charset="0"/>
                <a:ea typeface="Calibri" pitchFamily="34" charset="-122"/>
                <a:cs typeface="Calibri" pitchFamily="34" charset="-120"/>
              </a:rPr>
              <a:t>Skip anytime</a:t>
            </a:r>
            <a:endParaRPr lang="en-US" sz="1800" dirty="0"/>
          </a:p>
        </p:txBody>
      </p:sp>
      <p:sp>
        <p:nvSpPr>
          <p:cNvPr id="14" name="Shape 12"/>
          <p:cNvSpPr/>
          <p:nvPr/>
        </p:nvSpPr>
        <p:spPr>
          <a:xfrm>
            <a:off x="502920" y="2679192"/>
            <a:ext cx="2578608" cy="3291840"/>
          </a:xfrm>
          <a:prstGeom prst="roundRect">
            <a:avLst>
              <a:gd name="adj" fmla="val 4965"/>
            </a:avLst>
          </a:prstGeom>
          <a:solidFill>
            <a:srgbClr val="193D46"/>
          </a:solidFill>
          <a:ln w="10160">
            <a:solidFill>
              <a:srgbClr val="294B54"/>
            </a:solidFill>
            <a:prstDash val="solid"/>
          </a:ln>
        </p:spPr>
        <p:txBody>
          <a:bodyPr/>
          <a:lstStyle/>
          <a:p>
            <a:endParaRPr lang="en-US"/>
          </a:p>
        </p:txBody>
      </p:sp>
      <p:sp>
        <p:nvSpPr>
          <p:cNvPr id="15" name="Text 13"/>
          <p:cNvSpPr/>
          <p:nvPr/>
        </p:nvSpPr>
        <p:spPr>
          <a:xfrm>
            <a:off x="713232" y="2907792"/>
            <a:ext cx="2157984" cy="283464"/>
          </a:xfrm>
          <a:prstGeom prst="rect">
            <a:avLst/>
          </a:prstGeom>
          <a:noFill/>
          <a:ln/>
        </p:spPr>
        <p:txBody>
          <a:bodyPr wrap="square" lIns="0" tIns="0" rIns="0" bIns="0" rtlCol="0" anchor="ctr"/>
          <a:lstStyle/>
          <a:p>
            <a:pPr marL="0" indent="0">
              <a:buNone/>
            </a:pPr>
            <a:r>
              <a:rPr lang="en-US" sz="1800" b="1" dirty="0">
                <a:solidFill>
                  <a:srgbClr val="67DCC5"/>
                </a:solidFill>
                <a:latin typeface="Calibri" pitchFamily="34" charset="0"/>
                <a:ea typeface="Calibri" pitchFamily="34" charset="-122"/>
                <a:cs typeface="Calibri" pitchFamily="34" charset="-120"/>
              </a:rPr>
              <a:t>SOCIAL INFLUENCE</a:t>
            </a:r>
            <a:endParaRPr lang="en-US" sz="1800" dirty="0"/>
          </a:p>
        </p:txBody>
      </p:sp>
      <p:sp>
        <p:nvSpPr>
          <p:cNvPr id="16" name="Shape 14"/>
          <p:cNvSpPr/>
          <p:nvPr/>
        </p:nvSpPr>
        <p:spPr>
          <a:xfrm>
            <a:off x="1678107" y="3554639"/>
            <a:ext cx="194950" cy="194950"/>
          </a:xfrm>
          <a:prstGeom prst="ellipse">
            <a:avLst/>
          </a:prstGeom>
          <a:solidFill>
            <a:srgbClr val="67DCC5"/>
          </a:solidFill>
          <a:ln w="12700">
            <a:solidFill>
              <a:srgbClr val="67DCC5"/>
            </a:solidFill>
            <a:prstDash val="solid"/>
          </a:ln>
        </p:spPr>
        <p:txBody>
          <a:bodyPr/>
          <a:lstStyle/>
          <a:p>
            <a:endParaRPr lang="en-US"/>
          </a:p>
        </p:txBody>
      </p:sp>
      <p:sp>
        <p:nvSpPr>
          <p:cNvPr id="17" name="Shape 15"/>
          <p:cNvSpPr/>
          <p:nvPr/>
        </p:nvSpPr>
        <p:spPr>
          <a:xfrm>
            <a:off x="1430670" y="3682106"/>
            <a:ext cx="157460" cy="157460"/>
          </a:xfrm>
          <a:prstGeom prst="ellipse">
            <a:avLst/>
          </a:prstGeom>
          <a:solidFill>
            <a:srgbClr val="67DCC5"/>
          </a:solidFill>
          <a:ln w="12700">
            <a:solidFill>
              <a:srgbClr val="67DCC5"/>
            </a:solidFill>
            <a:prstDash val="solid"/>
          </a:ln>
        </p:spPr>
        <p:txBody>
          <a:bodyPr/>
          <a:lstStyle/>
          <a:p>
            <a:endParaRPr lang="en-US"/>
          </a:p>
        </p:txBody>
      </p:sp>
      <p:sp>
        <p:nvSpPr>
          <p:cNvPr id="18" name="Shape 16"/>
          <p:cNvSpPr/>
          <p:nvPr/>
        </p:nvSpPr>
        <p:spPr>
          <a:xfrm>
            <a:off x="1948038" y="3682106"/>
            <a:ext cx="157460" cy="157460"/>
          </a:xfrm>
          <a:prstGeom prst="ellipse">
            <a:avLst/>
          </a:prstGeom>
          <a:solidFill>
            <a:srgbClr val="67DCC5"/>
          </a:solidFill>
          <a:ln w="12700">
            <a:solidFill>
              <a:srgbClr val="67DCC5"/>
            </a:solidFill>
            <a:prstDash val="solid"/>
          </a:ln>
        </p:spPr>
        <p:txBody>
          <a:bodyPr/>
          <a:lstStyle/>
          <a:p>
            <a:endParaRPr lang="en-US"/>
          </a:p>
        </p:txBody>
      </p:sp>
      <p:sp>
        <p:nvSpPr>
          <p:cNvPr id="19" name="Shape 17"/>
          <p:cNvSpPr/>
          <p:nvPr/>
        </p:nvSpPr>
        <p:spPr>
          <a:xfrm>
            <a:off x="1618122" y="3802075"/>
            <a:ext cx="322417" cy="307421"/>
          </a:xfrm>
          <a:prstGeom prst="roundRect">
            <a:avLst>
              <a:gd name="adj" fmla="val 41642"/>
            </a:avLst>
          </a:prstGeom>
          <a:solidFill>
            <a:srgbClr val="67DCC5"/>
          </a:solidFill>
          <a:ln w="12700">
            <a:solidFill>
              <a:srgbClr val="67DCC5"/>
            </a:solidFill>
            <a:prstDash val="solid"/>
          </a:ln>
        </p:spPr>
        <p:txBody>
          <a:bodyPr/>
          <a:lstStyle/>
          <a:p>
            <a:endParaRPr lang="en-US"/>
          </a:p>
        </p:txBody>
      </p:sp>
      <p:sp>
        <p:nvSpPr>
          <p:cNvPr id="20" name="Shape 18"/>
          <p:cNvSpPr/>
          <p:nvPr/>
        </p:nvSpPr>
        <p:spPr>
          <a:xfrm>
            <a:off x="1408176" y="3884554"/>
            <a:ext cx="172456" cy="217444"/>
          </a:xfrm>
          <a:prstGeom prst="roundRect">
            <a:avLst>
              <a:gd name="adj" fmla="val 74231"/>
            </a:avLst>
          </a:prstGeom>
          <a:solidFill>
            <a:srgbClr val="67DCC5"/>
          </a:solidFill>
          <a:ln w="12700">
            <a:solidFill>
              <a:srgbClr val="67DCC5"/>
            </a:solidFill>
            <a:prstDash val="solid"/>
          </a:ln>
        </p:spPr>
        <p:txBody>
          <a:bodyPr/>
          <a:lstStyle/>
          <a:p>
            <a:endParaRPr lang="en-US"/>
          </a:p>
        </p:txBody>
      </p:sp>
      <p:sp>
        <p:nvSpPr>
          <p:cNvPr id="21" name="Shape 19"/>
          <p:cNvSpPr/>
          <p:nvPr/>
        </p:nvSpPr>
        <p:spPr>
          <a:xfrm>
            <a:off x="1970532" y="3884554"/>
            <a:ext cx="172456" cy="217444"/>
          </a:xfrm>
          <a:prstGeom prst="roundRect">
            <a:avLst>
              <a:gd name="adj" fmla="val 74231"/>
            </a:avLst>
          </a:prstGeom>
          <a:solidFill>
            <a:srgbClr val="67DCC5"/>
          </a:solidFill>
          <a:ln w="12700">
            <a:solidFill>
              <a:srgbClr val="67DCC5"/>
            </a:solidFill>
            <a:prstDash val="solid"/>
          </a:ln>
        </p:spPr>
        <p:txBody>
          <a:bodyPr/>
          <a:lstStyle/>
          <a:p>
            <a:endParaRPr lang="en-US"/>
          </a:p>
        </p:txBody>
      </p:sp>
      <p:sp>
        <p:nvSpPr>
          <p:cNvPr id="22" name="Text 20"/>
          <p:cNvSpPr/>
          <p:nvPr/>
        </p:nvSpPr>
        <p:spPr>
          <a:xfrm>
            <a:off x="685800" y="4535424"/>
            <a:ext cx="2212848" cy="1216152"/>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Friends profit from</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a hot theme.</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Do you feel pressure</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to join?</a:t>
            </a:r>
            <a:endParaRPr lang="en-US" sz="2000" dirty="0"/>
          </a:p>
        </p:txBody>
      </p:sp>
      <p:sp>
        <p:nvSpPr>
          <p:cNvPr id="23" name="Shape 21"/>
          <p:cNvSpPr/>
          <p:nvPr/>
        </p:nvSpPr>
        <p:spPr>
          <a:xfrm>
            <a:off x="3282696" y="2679192"/>
            <a:ext cx="2578608" cy="3291840"/>
          </a:xfrm>
          <a:prstGeom prst="roundRect">
            <a:avLst>
              <a:gd name="adj" fmla="val 4965"/>
            </a:avLst>
          </a:prstGeom>
          <a:solidFill>
            <a:srgbClr val="193D46"/>
          </a:solidFill>
          <a:ln w="10160">
            <a:solidFill>
              <a:srgbClr val="294B54"/>
            </a:solidFill>
            <a:prstDash val="solid"/>
          </a:ln>
        </p:spPr>
        <p:txBody>
          <a:bodyPr/>
          <a:lstStyle/>
          <a:p>
            <a:endParaRPr lang="en-US"/>
          </a:p>
        </p:txBody>
      </p:sp>
      <p:sp>
        <p:nvSpPr>
          <p:cNvPr id="24" name="Text 22"/>
          <p:cNvSpPr/>
          <p:nvPr/>
        </p:nvSpPr>
        <p:spPr>
          <a:xfrm>
            <a:off x="3493008" y="2907792"/>
            <a:ext cx="2157984" cy="283464"/>
          </a:xfrm>
          <a:prstGeom prst="rect">
            <a:avLst/>
          </a:prstGeom>
          <a:noFill/>
          <a:ln/>
        </p:spPr>
        <p:txBody>
          <a:bodyPr wrap="square" lIns="0" tIns="0" rIns="0" bIns="0" rtlCol="0" anchor="ctr"/>
          <a:lstStyle/>
          <a:p>
            <a:pPr marL="0" indent="0">
              <a:buNone/>
            </a:pPr>
            <a:r>
              <a:rPr lang="en-US" sz="1800" b="1" dirty="0">
                <a:solidFill>
                  <a:srgbClr val="67DCC5"/>
                </a:solidFill>
                <a:latin typeface="Calibri" pitchFamily="34" charset="0"/>
                <a:ea typeface="Calibri" pitchFamily="34" charset="-122"/>
                <a:cs typeface="Calibri" pitchFamily="34" charset="-120"/>
              </a:rPr>
              <a:t>LOSS AVERSION</a:t>
            </a:r>
            <a:endParaRPr lang="en-US" sz="1800" dirty="0"/>
          </a:p>
        </p:txBody>
      </p:sp>
      <p:sp>
        <p:nvSpPr>
          <p:cNvPr id="25" name="Shape 23"/>
          <p:cNvSpPr/>
          <p:nvPr/>
        </p:nvSpPr>
        <p:spPr>
          <a:xfrm>
            <a:off x="4562856" y="3592129"/>
            <a:ext cx="0" cy="592348"/>
          </a:xfrm>
          <a:prstGeom prst="line">
            <a:avLst/>
          </a:prstGeom>
          <a:noFill/>
          <a:ln w="27940">
            <a:solidFill>
              <a:srgbClr val="67DCC5"/>
            </a:solidFill>
            <a:prstDash val="solid"/>
            <a:headEnd type="none"/>
            <a:tailEnd type="none"/>
          </a:ln>
        </p:spPr>
        <p:txBody>
          <a:bodyPr/>
          <a:lstStyle/>
          <a:p>
            <a:endParaRPr lang="en-US"/>
          </a:p>
        </p:txBody>
      </p:sp>
      <p:sp>
        <p:nvSpPr>
          <p:cNvPr id="26" name="Shape 24"/>
          <p:cNvSpPr/>
          <p:nvPr/>
        </p:nvSpPr>
        <p:spPr>
          <a:xfrm>
            <a:off x="4330416" y="4176979"/>
            <a:ext cx="472379" cy="0"/>
          </a:xfrm>
          <a:prstGeom prst="line">
            <a:avLst/>
          </a:prstGeom>
          <a:noFill/>
          <a:ln w="27940">
            <a:solidFill>
              <a:srgbClr val="67DCC5"/>
            </a:solidFill>
            <a:prstDash val="solid"/>
            <a:headEnd type="none"/>
            <a:tailEnd type="none"/>
          </a:ln>
        </p:spPr>
        <p:txBody>
          <a:bodyPr/>
          <a:lstStyle/>
          <a:p>
            <a:endParaRPr lang="en-US"/>
          </a:p>
        </p:txBody>
      </p:sp>
      <p:sp>
        <p:nvSpPr>
          <p:cNvPr id="27" name="Shape 25"/>
          <p:cNvSpPr/>
          <p:nvPr/>
        </p:nvSpPr>
        <p:spPr>
          <a:xfrm>
            <a:off x="4240439" y="3719596"/>
            <a:ext cx="652333" cy="0"/>
          </a:xfrm>
          <a:prstGeom prst="line">
            <a:avLst/>
          </a:prstGeom>
          <a:noFill/>
          <a:ln w="27940">
            <a:solidFill>
              <a:srgbClr val="67DCC5"/>
            </a:solidFill>
            <a:prstDash val="solid"/>
            <a:headEnd type="none"/>
            <a:tailEnd type="none"/>
          </a:ln>
        </p:spPr>
        <p:txBody>
          <a:bodyPr/>
          <a:lstStyle/>
          <a:p>
            <a:endParaRPr lang="en-US"/>
          </a:p>
        </p:txBody>
      </p:sp>
      <p:sp>
        <p:nvSpPr>
          <p:cNvPr id="28" name="Shape 26"/>
          <p:cNvSpPr/>
          <p:nvPr/>
        </p:nvSpPr>
        <p:spPr>
          <a:xfrm>
            <a:off x="4337914" y="3719596"/>
            <a:ext cx="0" cy="239939"/>
          </a:xfrm>
          <a:prstGeom prst="line">
            <a:avLst/>
          </a:prstGeom>
          <a:noFill/>
          <a:ln w="21590">
            <a:solidFill>
              <a:srgbClr val="67DCC5"/>
            </a:solidFill>
            <a:prstDash val="solid"/>
            <a:headEnd type="none"/>
            <a:tailEnd type="none"/>
          </a:ln>
        </p:spPr>
        <p:txBody>
          <a:bodyPr/>
          <a:lstStyle/>
          <a:p>
            <a:endParaRPr lang="en-US"/>
          </a:p>
        </p:txBody>
      </p:sp>
      <p:sp>
        <p:nvSpPr>
          <p:cNvPr id="29" name="Shape 27"/>
          <p:cNvSpPr/>
          <p:nvPr/>
        </p:nvSpPr>
        <p:spPr>
          <a:xfrm>
            <a:off x="4337914" y="3719596"/>
            <a:ext cx="89977" cy="239939"/>
          </a:xfrm>
          <a:prstGeom prst="line">
            <a:avLst/>
          </a:prstGeom>
          <a:noFill/>
          <a:ln w="21590">
            <a:solidFill>
              <a:srgbClr val="67DCC5"/>
            </a:solidFill>
            <a:prstDash val="solid"/>
            <a:headEnd type="none"/>
            <a:tailEnd type="none"/>
          </a:ln>
        </p:spPr>
        <p:txBody>
          <a:bodyPr/>
          <a:lstStyle/>
          <a:p>
            <a:endParaRPr lang="en-US"/>
          </a:p>
        </p:txBody>
      </p:sp>
      <p:sp>
        <p:nvSpPr>
          <p:cNvPr id="30" name="Shape 28"/>
          <p:cNvSpPr/>
          <p:nvPr/>
        </p:nvSpPr>
        <p:spPr>
          <a:xfrm>
            <a:off x="4262933" y="3959535"/>
            <a:ext cx="164958" cy="0"/>
          </a:xfrm>
          <a:prstGeom prst="line">
            <a:avLst/>
          </a:prstGeom>
          <a:noFill/>
          <a:ln w="27940">
            <a:solidFill>
              <a:srgbClr val="67DCC5"/>
            </a:solidFill>
            <a:prstDash val="solid"/>
            <a:headEnd type="none"/>
            <a:tailEnd type="none"/>
          </a:ln>
        </p:spPr>
        <p:txBody>
          <a:bodyPr/>
          <a:lstStyle/>
          <a:p>
            <a:endParaRPr lang="en-US"/>
          </a:p>
        </p:txBody>
      </p:sp>
      <p:sp>
        <p:nvSpPr>
          <p:cNvPr id="31" name="Shape 29"/>
          <p:cNvSpPr/>
          <p:nvPr/>
        </p:nvSpPr>
        <p:spPr>
          <a:xfrm>
            <a:off x="4787798" y="3719596"/>
            <a:ext cx="0" cy="239939"/>
          </a:xfrm>
          <a:prstGeom prst="line">
            <a:avLst/>
          </a:prstGeom>
          <a:noFill/>
          <a:ln w="21590">
            <a:solidFill>
              <a:srgbClr val="67DCC5"/>
            </a:solidFill>
            <a:prstDash val="solid"/>
            <a:headEnd type="none"/>
            <a:tailEnd type="none"/>
          </a:ln>
        </p:spPr>
        <p:txBody>
          <a:bodyPr/>
          <a:lstStyle/>
          <a:p>
            <a:endParaRPr lang="en-US"/>
          </a:p>
        </p:txBody>
      </p:sp>
      <p:sp>
        <p:nvSpPr>
          <p:cNvPr id="32" name="Shape 30"/>
          <p:cNvSpPr/>
          <p:nvPr/>
        </p:nvSpPr>
        <p:spPr>
          <a:xfrm>
            <a:off x="4787798" y="3719596"/>
            <a:ext cx="82479" cy="239939"/>
          </a:xfrm>
          <a:prstGeom prst="line">
            <a:avLst/>
          </a:prstGeom>
          <a:noFill/>
          <a:ln w="21590">
            <a:solidFill>
              <a:srgbClr val="67DCC5"/>
            </a:solidFill>
            <a:prstDash val="solid"/>
            <a:headEnd type="none"/>
            <a:tailEnd type="none"/>
          </a:ln>
        </p:spPr>
        <p:txBody>
          <a:bodyPr/>
          <a:lstStyle/>
          <a:p>
            <a:endParaRPr lang="en-US"/>
          </a:p>
        </p:txBody>
      </p:sp>
      <p:sp>
        <p:nvSpPr>
          <p:cNvPr id="33" name="Shape 31"/>
          <p:cNvSpPr/>
          <p:nvPr/>
        </p:nvSpPr>
        <p:spPr>
          <a:xfrm>
            <a:off x="4705320" y="3959535"/>
            <a:ext cx="164958" cy="0"/>
          </a:xfrm>
          <a:prstGeom prst="line">
            <a:avLst/>
          </a:prstGeom>
          <a:noFill/>
          <a:ln w="27940">
            <a:solidFill>
              <a:srgbClr val="67DCC5"/>
            </a:solidFill>
            <a:prstDash val="solid"/>
            <a:headEnd type="none"/>
            <a:tailEnd type="none"/>
          </a:ln>
        </p:spPr>
        <p:txBody>
          <a:bodyPr/>
          <a:lstStyle/>
          <a:p>
            <a:endParaRPr lang="en-US"/>
          </a:p>
        </p:txBody>
      </p:sp>
      <p:sp>
        <p:nvSpPr>
          <p:cNvPr id="34" name="Shape 32"/>
          <p:cNvSpPr/>
          <p:nvPr/>
        </p:nvSpPr>
        <p:spPr>
          <a:xfrm>
            <a:off x="4510369" y="3554639"/>
            <a:ext cx="104973" cy="104973"/>
          </a:xfrm>
          <a:prstGeom prst="ellipse">
            <a:avLst/>
          </a:prstGeom>
          <a:solidFill>
            <a:srgbClr val="67DCC5"/>
          </a:solidFill>
          <a:ln w="12700">
            <a:solidFill>
              <a:srgbClr val="67DCC5"/>
            </a:solidFill>
            <a:prstDash val="solid"/>
          </a:ln>
        </p:spPr>
        <p:txBody>
          <a:bodyPr/>
          <a:lstStyle/>
          <a:p>
            <a:endParaRPr lang="en-US"/>
          </a:p>
        </p:txBody>
      </p:sp>
      <p:sp>
        <p:nvSpPr>
          <p:cNvPr id="35" name="Text 33"/>
          <p:cNvSpPr/>
          <p:nvPr/>
        </p:nvSpPr>
        <p:spPr>
          <a:xfrm>
            <a:off x="3465576" y="4535424"/>
            <a:ext cx="2212848" cy="1216152"/>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Would you rather</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miss upside or risk</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a large drawdown?</a:t>
            </a:r>
            <a:endParaRPr lang="en-US" sz="2000" dirty="0"/>
          </a:p>
        </p:txBody>
      </p:sp>
      <p:sp>
        <p:nvSpPr>
          <p:cNvPr id="36" name="Shape 34"/>
          <p:cNvSpPr/>
          <p:nvPr/>
        </p:nvSpPr>
        <p:spPr>
          <a:xfrm>
            <a:off x="6062472" y="2679192"/>
            <a:ext cx="2578608" cy="3291840"/>
          </a:xfrm>
          <a:prstGeom prst="roundRect">
            <a:avLst>
              <a:gd name="adj" fmla="val 4965"/>
            </a:avLst>
          </a:prstGeom>
          <a:solidFill>
            <a:srgbClr val="193D46"/>
          </a:solidFill>
          <a:ln w="10160">
            <a:solidFill>
              <a:srgbClr val="294B54"/>
            </a:solidFill>
            <a:prstDash val="solid"/>
          </a:ln>
        </p:spPr>
        <p:txBody>
          <a:bodyPr/>
          <a:lstStyle/>
          <a:p>
            <a:endParaRPr lang="en-US"/>
          </a:p>
        </p:txBody>
      </p:sp>
      <p:sp>
        <p:nvSpPr>
          <p:cNvPr id="37" name="Text 35"/>
          <p:cNvSpPr/>
          <p:nvPr/>
        </p:nvSpPr>
        <p:spPr>
          <a:xfrm>
            <a:off x="6272784" y="2907792"/>
            <a:ext cx="2157984" cy="283464"/>
          </a:xfrm>
          <a:prstGeom prst="rect">
            <a:avLst/>
          </a:prstGeom>
          <a:noFill/>
          <a:ln/>
        </p:spPr>
        <p:txBody>
          <a:bodyPr wrap="square" lIns="0" tIns="0" rIns="0" bIns="0" rtlCol="0" anchor="ctr"/>
          <a:lstStyle/>
          <a:p>
            <a:pPr marL="0" indent="0">
              <a:buNone/>
            </a:pPr>
            <a:r>
              <a:rPr lang="en-US" sz="1800" b="1" dirty="0">
                <a:solidFill>
                  <a:srgbClr val="67DCC5"/>
                </a:solidFill>
                <a:latin typeface="Calibri" pitchFamily="34" charset="0"/>
                <a:ea typeface="Calibri" pitchFamily="34" charset="-122"/>
                <a:cs typeface="Calibri" pitchFamily="34" charset="-120"/>
              </a:rPr>
              <a:t>DISCIPLINE</a:t>
            </a:r>
            <a:endParaRPr lang="en-US" sz="1800" dirty="0"/>
          </a:p>
        </p:txBody>
      </p:sp>
      <p:sp>
        <p:nvSpPr>
          <p:cNvPr id="38" name="Shape 36"/>
          <p:cNvSpPr/>
          <p:nvPr/>
        </p:nvSpPr>
        <p:spPr>
          <a:xfrm>
            <a:off x="7027713" y="3577133"/>
            <a:ext cx="629839" cy="584850"/>
          </a:xfrm>
          <a:prstGeom prst="roundRect">
            <a:avLst>
              <a:gd name="adj" fmla="val 21889"/>
            </a:avLst>
          </a:prstGeom>
          <a:solidFill>
            <a:srgbClr val="193D46"/>
          </a:solidFill>
          <a:ln w="10160">
            <a:solidFill>
              <a:srgbClr val="67DCC5"/>
            </a:solidFill>
            <a:prstDash val="solid"/>
          </a:ln>
        </p:spPr>
        <p:txBody>
          <a:bodyPr/>
          <a:lstStyle/>
          <a:p>
            <a:endParaRPr lang="en-US"/>
          </a:p>
        </p:txBody>
      </p:sp>
      <p:sp>
        <p:nvSpPr>
          <p:cNvPr id="39" name="Shape 37"/>
          <p:cNvSpPr/>
          <p:nvPr/>
        </p:nvSpPr>
        <p:spPr>
          <a:xfrm>
            <a:off x="7125188" y="3689604"/>
            <a:ext cx="172456" cy="172456"/>
          </a:xfrm>
          <a:prstGeom prst="rect">
            <a:avLst/>
          </a:prstGeom>
          <a:solidFill>
            <a:srgbClr val="67DCC5"/>
          </a:solidFill>
          <a:ln w="12700">
            <a:solidFill>
              <a:srgbClr val="67DCC5"/>
            </a:solidFill>
            <a:prstDash val="solid"/>
          </a:ln>
        </p:spPr>
        <p:txBody>
          <a:bodyPr/>
          <a:lstStyle/>
          <a:p>
            <a:endParaRPr lang="en-US"/>
          </a:p>
        </p:txBody>
      </p:sp>
      <p:sp>
        <p:nvSpPr>
          <p:cNvPr id="40" name="Shape 38"/>
          <p:cNvSpPr/>
          <p:nvPr/>
        </p:nvSpPr>
        <p:spPr>
          <a:xfrm>
            <a:off x="7387620" y="3719596"/>
            <a:ext cx="164958" cy="0"/>
          </a:xfrm>
          <a:prstGeom prst="line">
            <a:avLst/>
          </a:prstGeom>
          <a:noFill/>
          <a:ln w="25400">
            <a:solidFill>
              <a:srgbClr val="67DCC5"/>
            </a:solidFill>
            <a:prstDash val="solid"/>
            <a:headEnd type="none"/>
            <a:tailEnd type="none"/>
          </a:ln>
        </p:spPr>
        <p:txBody>
          <a:bodyPr/>
          <a:lstStyle/>
          <a:p>
            <a:endParaRPr lang="en-US"/>
          </a:p>
        </p:txBody>
      </p:sp>
      <p:sp>
        <p:nvSpPr>
          <p:cNvPr id="41" name="Shape 39"/>
          <p:cNvSpPr/>
          <p:nvPr/>
        </p:nvSpPr>
        <p:spPr>
          <a:xfrm>
            <a:off x="7387620" y="3824569"/>
            <a:ext cx="164958" cy="0"/>
          </a:xfrm>
          <a:prstGeom prst="line">
            <a:avLst/>
          </a:prstGeom>
          <a:noFill/>
          <a:ln w="25400">
            <a:solidFill>
              <a:srgbClr val="67DCC5"/>
            </a:solidFill>
            <a:prstDash val="solid"/>
            <a:headEnd type="none"/>
            <a:tailEnd type="none"/>
          </a:ln>
        </p:spPr>
        <p:txBody>
          <a:bodyPr/>
          <a:lstStyle/>
          <a:p>
            <a:endParaRPr lang="en-US"/>
          </a:p>
        </p:txBody>
      </p:sp>
      <p:sp>
        <p:nvSpPr>
          <p:cNvPr id="42" name="Shape 40"/>
          <p:cNvSpPr/>
          <p:nvPr/>
        </p:nvSpPr>
        <p:spPr>
          <a:xfrm>
            <a:off x="7132686" y="3959535"/>
            <a:ext cx="419892" cy="0"/>
          </a:xfrm>
          <a:prstGeom prst="line">
            <a:avLst/>
          </a:prstGeom>
          <a:noFill/>
          <a:ln w="25400">
            <a:solidFill>
              <a:srgbClr val="67DCC5"/>
            </a:solidFill>
            <a:prstDash val="solid"/>
            <a:headEnd type="none"/>
            <a:tailEnd type="none"/>
          </a:ln>
        </p:spPr>
        <p:txBody>
          <a:bodyPr/>
          <a:lstStyle/>
          <a:p>
            <a:endParaRPr lang="en-US"/>
          </a:p>
        </p:txBody>
      </p:sp>
      <p:sp>
        <p:nvSpPr>
          <p:cNvPr id="43" name="Shape 41"/>
          <p:cNvSpPr/>
          <p:nvPr/>
        </p:nvSpPr>
        <p:spPr>
          <a:xfrm>
            <a:off x="7132686" y="4064508"/>
            <a:ext cx="314919" cy="0"/>
          </a:xfrm>
          <a:prstGeom prst="line">
            <a:avLst/>
          </a:prstGeom>
          <a:noFill/>
          <a:ln w="25400">
            <a:solidFill>
              <a:srgbClr val="67DCC5"/>
            </a:solidFill>
            <a:prstDash val="solid"/>
            <a:headEnd type="none"/>
            <a:tailEnd type="none"/>
          </a:ln>
        </p:spPr>
        <p:txBody>
          <a:bodyPr/>
          <a:lstStyle/>
          <a:p>
            <a:endParaRPr lang="en-US"/>
          </a:p>
        </p:txBody>
      </p:sp>
      <p:sp>
        <p:nvSpPr>
          <p:cNvPr id="44" name="Text 42"/>
          <p:cNvSpPr/>
          <p:nvPr/>
        </p:nvSpPr>
        <p:spPr>
          <a:xfrm>
            <a:off x="6245352" y="4535424"/>
            <a:ext cx="2212848" cy="1216152"/>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How often do</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headlines change</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your investment</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decisions?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5"/>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007F74">
              <a:alpha val="0"/>
            </a:srgbClr>
          </a:solidFill>
          <a:ln w="21590">
            <a:solidFill>
              <a:srgbClr val="007F74"/>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007F74">
              <a:alpha val="0"/>
            </a:srgbClr>
          </a:solidFill>
          <a:ln w="21590">
            <a:solidFill>
              <a:srgbClr val="007F74"/>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16333A"/>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5A7277"/>
                </a:solidFill>
                <a:latin typeface="Calibri" pitchFamily="34" charset="0"/>
                <a:ea typeface="Calibri" pitchFamily="34" charset="-122"/>
                <a:cs typeface="Calibri" pitchFamily="34" charset="-120"/>
              </a:rPr>
              <a:t>06</a:t>
            </a:r>
            <a:endParaRPr lang="en-US" sz="1800" dirty="0"/>
          </a:p>
        </p:txBody>
      </p:sp>
      <p:sp>
        <p:nvSpPr>
          <p:cNvPr id="6" name="Shape 4"/>
          <p:cNvSpPr/>
          <p:nvPr/>
        </p:nvSpPr>
        <p:spPr>
          <a:xfrm>
            <a:off x="502920" y="6318504"/>
            <a:ext cx="8138160" cy="0"/>
          </a:xfrm>
          <a:prstGeom prst="line">
            <a:avLst/>
          </a:prstGeom>
          <a:noFill/>
          <a:ln w="10160">
            <a:solidFill>
              <a:srgbClr val="D6E1DF"/>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PROPOSED MATCHING ENGINE</a:t>
            </a:r>
            <a:endParaRPr lang="en-US" sz="1800" dirty="0"/>
          </a:p>
        </p:txBody>
      </p:sp>
      <p:sp>
        <p:nvSpPr>
          <p:cNvPr id="8" name="Text 6"/>
          <p:cNvSpPr/>
          <p:nvPr/>
        </p:nvSpPr>
        <p:spPr>
          <a:xfrm>
            <a:off x="502920" y="896112"/>
            <a:ext cx="8183880" cy="594360"/>
          </a:xfrm>
          <a:prstGeom prst="rect">
            <a:avLst/>
          </a:prstGeom>
          <a:noFill/>
          <a:ln/>
        </p:spPr>
        <p:txBody>
          <a:bodyPr wrap="square" lIns="0" tIns="0" rIns="0" bIns="0" rtlCol="0" anchor="ctr"/>
          <a:lstStyle/>
          <a:p>
            <a:pPr marL="0" indent="0">
              <a:buNone/>
            </a:pPr>
            <a:r>
              <a:rPr lang="en-US" sz="3300" b="1" dirty="0">
                <a:solidFill>
                  <a:srgbClr val="16333A"/>
                </a:solidFill>
                <a:latin typeface="Calibri" pitchFamily="34" charset="0"/>
                <a:ea typeface="Calibri" pitchFamily="34" charset="-122"/>
                <a:cs typeface="Calibri" pitchFamily="34" charset="-120"/>
              </a:rPr>
              <a:t>Human context meets investment data.</a:t>
            </a:r>
            <a:endParaRPr lang="en-US" sz="3300" dirty="0"/>
          </a:p>
        </p:txBody>
      </p:sp>
      <p:sp>
        <p:nvSpPr>
          <p:cNvPr id="9" name="Text 7"/>
          <p:cNvSpPr/>
          <p:nvPr/>
        </p:nvSpPr>
        <p:spPr>
          <a:xfrm>
            <a:off x="502920" y="1517904"/>
            <a:ext cx="8138160" cy="384048"/>
          </a:xfrm>
          <a:prstGeom prst="rect">
            <a:avLst/>
          </a:prstGeom>
          <a:noFill/>
          <a:ln/>
        </p:spPr>
        <p:txBody>
          <a:bodyPr wrap="square" lIns="0" tIns="0" rIns="0" bIns="0" rtlCol="0" anchor="ctr"/>
          <a:lstStyle/>
          <a:p>
            <a:pPr marL="0" indent="0">
              <a:buNone/>
            </a:pPr>
            <a:r>
              <a:rPr lang="en-US" sz="2000" dirty="0">
                <a:solidFill>
                  <a:srgbClr val="5A7277"/>
                </a:solidFill>
                <a:latin typeface="Calibri" pitchFamily="34" charset="0"/>
                <a:ea typeface="Calibri" pitchFamily="34" charset="-122"/>
                <a:cs typeface="Calibri" pitchFamily="34" charset="-120"/>
              </a:rPr>
              <a:t>Translate answers into a profile, then explain each match.</a:t>
            </a:r>
            <a:endParaRPr lang="en-US" sz="2000" dirty="0"/>
          </a:p>
        </p:txBody>
      </p:sp>
      <p:sp>
        <p:nvSpPr>
          <p:cNvPr id="10" name="Text 8"/>
          <p:cNvSpPr/>
          <p:nvPr/>
        </p:nvSpPr>
        <p:spPr>
          <a:xfrm>
            <a:off x="502920" y="2103120"/>
            <a:ext cx="2514600" cy="283464"/>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INPUTS</a:t>
            </a:r>
            <a:endParaRPr lang="en-US" sz="1800" dirty="0"/>
          </a:p>
        </p:txBody>
      </p:sp>
      <p:sp>
        <p:nvSpPr>
          <p:cNvPr id="11" name="Text 9"/>
          <p:cNvSpPr/>
          <p:nvPr/>
        </p:nvSpPr>
        <p:spPr>
          <a:xfrm>
            <a:off x="3575304" y="2103120"/>
            <a:ext cx="2633472" cy="283464"/>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PROFILE + RANKING</a:t>
            </a:r>
            <a:endParaRPr lang="en-US" sz="1800" dirty="0"/>
          </a:p>
        </p:txBody>
      </p:sp>
      <p:sp>
        <p:nvSpPr>
          <p:cNvPr id="12" name="Text 10"/>
          <p:cNvSpPr/>
          <p:nvPr/>
        </p:nvSpPr>
        <p:spPr>
          <a:xfrm>
            <a:off x="6592824" y="2103120"/>
            <a:ext cx="2039112" cy="283464"/>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OUTPUT</a:t>
            </a:r>
            <a:endParaRPr lang="en-US" sz="1800" dirty="0"/>
          </a:p>
        </p:txBody>
      </p:sp>
      <p:sp>
        <p:nvSpPr>
          <p:cNvPr id="13" name="Shape 11"/>
          <p:cNvSpPr/>
          <p:nvPr/>
        </p:nvSpPr>
        <p:spPr>
          <a:xfrm>
            <a:off x="502920" y="2624328"/>
            <a:ext cx="2487168" cy="1435608"/>
          </a:xfrm>
          <a:prstGeom prst="roundRect">
            <a:avLst>
              <a:gd name="adj" fmla="val 8917"/>
            </a:avLst>
          </a:prstGeom>
          <a:solidFill>
            <a:srgbClr val="FFFFFF"/>
          </a:solidFill>
          <a:ln w="10160">
            <a:solidFill>
              <a:srgbClr val="D6E1DF"/>
            </a:solidFill>
            <a:prstDash val="solid"/>
          </a:ln>
        </p:spPr>
        <p:txBody>
          <a:bodyPr/>
          <a:lstStyle/>
          <a:p>
            <a:endParaRPr lang="en-US"/>
          </a:p>
        </p:txBody>
      </p:sp>
      <p:sp>
        <p:nvSpPr>
          <p:cNvPr id="14" name="Text 12"/>
          <p:cNvSpPr/>
          <p:nvPr/>
        </p:nvSpPr>
        <p:spPr>
          <a:xfrm>
            <a:off x="722376" y="2816352"/>
            <a:ext cx="2057400" cy="356616"/>
          </a:xfrm>
          <a:prstGeom prst="rect">
            <a:avLst/>
          </a:prstGeom>
          <a:noFill/>
          <a:ln/>
        </p:spPr>
        <p:txBody>
          <a:bodyPr wrap="square" lIns="0" tIns="0" rIns="0" bIns="0" rtlCol="0" anchor="ctr"/>
          <a:lstStyle/>
          <a:p>
            <a:pPr marL="0" indent="0">
              <a:buNone/>
            </a:pPr>
            <a:r>
              <a:rPr lang="en-US" sz="2500" b="1" dirty="0">
                <a:solidFill>
                  <a:srgbClr val="16333A"/>
                </a:solidFill>
                <a:latin typeface="Calibri" pitchFamily="34" charset="0"/>
                <a:ea typeface="Calibri" pitchFamily="34" charset="-122"/>
                <a:cs typeface="Calibri" pitchFamily="34" charset="-120"/>
              </a:rPr>
              <a:t>You</a:t>
            </a:r>
            <a:endParaRPr lang="en-US" sz="2500" dirty="0"/>
          </a:p>
        </p:txBody>
      </p:sp>
      <p:sp>
        <p:nvSpPr>
          <p:cNvPr id="15" name="Text 13"/>
          <p:cNvSpPr/>
          <p:nvPr/>
        </p:nvSpPr>
        <p:spPr>
          <a:xfrm>
            <a:off x="722376" y="3310128"/>
            <a:ext cx="2057400" cy="548640"/>
          </a:xfrm>
          <a:prstGeom prst="rect">
            <a:avLst/>
          </a:prstGeom>
          <a:noFill/>
          <a:ln/>
        </p:spPr>
        <p:txBody>
          <a:bodyPr wrap="square" lIns="0" tIns="0" rIns="0" bIns="0" rtlCol="0" anchor="t"/>
          <a:lstStyle/>
          <a:p>
            <a:pPr marL="0" indent="0">
              <a:buNone/>
            </a:pPr>
            <a:r>
              <a:rPr lang="en-US" sz="2000" dirty="0">
                <a:solidFill>
                  <a:srgbClr val="5A7277"/>
                </a:solidFill>
                <a:latin typeface="Calibri" pitchFamily="34" charset="0"/>
                <a:ea typeface="Calibri" pitchFamily="34" charset="-122"/>
                <a:cs typeface="Calibri" pitchFamily="34" charset="-120"/>
              </a:rPr>
              <a:t>Goals, horizon,</a:t>
            </a:r>
            <a:endParaRPr lang="en-US" sz="2000" dirty="0"/>
          </a:p>
          <a:p>
            <a:pPr marL="0" indent="0">
              <a:buNone/>
            </a:pPr>
            <a:r>
              <a:rPr lang="en-US" sz="2000" dirty="0">
                <a:solidFill>
                  <a:srgbClr val="5A7277"/>
                </a:solidFill>
                <a:latin typeface="Calibri" pitchFamily="34" charset="0"/>
                <a:ea typeface="Calibri" pitchFamily="34" charset="-122"/>
                <a:cs typeface="Calibri" pitchFamily="34" charset="-120"/>
              </a:rPr>
              <a:t>risk and behavior</a:t>
            </a:r>
            <a:endParaRPr lang="en-US" sz="2000" dirty="0"/>
          </a:p>
        </p:txBody>
      </p:sp>
      <p:sp>
        <p:nvSpPr>
          <p:cNvPr id="16" name="Shape 14"/>
          <p:cNvSpPr/>
          <p:nvPr/>
        </p:nvSpPr>
        <p:spPr>
          <a:xfrm>
            <a:off x="502920" y="4325112"/>
            <a:ext cx="2487168" cy="1435608"/>
          </a:xfrm>
          <a:prstGeom prst="roundRect">
            <a:avLst>
              <a:gd name="adj" fmla="val 8917"/>
            </a:avLst>
          </a:prstGeom>
          <a:solidFill>
            <a:srgbClr val="FFFFFF"/>
          </a:solidFill>
          <a:ln w="10160">
            <a:solidFill>
              <a:srgbClr val="D6E1DF"/>
            </a:solidFill>
            <a:prstDash val="solid"/>
          </a:ln>
        </p:spPr>
        <p:txBody>
          <a:bodyPr/>
          <a:lstStyle/>
          <a:p>
            <a:endParaRPr lang="en-US"/>
          </a:p>
        </p:txBody>
      </p:sp>
      <p:sp>
        <p:nvSpPr>
          <p:cNvPr id="17" name="Text 15"/>
          <p:cNvSpPr/>
          <p:nvPr/>
        </p:nvSpPr>
        <p:spPr>
          <a:xfrm>
            <a:off x="722376" y="4526280"/>
            <a:ext cx="2057400" cy="356616"/>
          </a:xfrm>
          <a:prstGeom prst="rect">
            <a:avLst/>
          </a:prstGeom>
          <a:noFill/>
          <a:ln/>
        </p:spPr>
        <p:txBody>
          <a:bodyPr wrap="square" lIns="0" tIns="0" rIns="0" bIns="0" rtlCol="0" anchor="ctr"/>
          <a:lstStyle/>
          <a:p>
            <a:pPr marL="0" indent="0">
              <a:buNone/>
            </a:pPr>
            <a:r>
              <a:rPr lang="en-US" sz="2400" b="1" dirty="0">
                <a:solidFill>
                  <a:srgbClr val="16333A"/>
                </a:solidFill>
                <a:latin typeface="Calibri" pitchFamily="34" charset="0"/>
                <a:ea typeface="Calibri" pitchFamily="34" charset="-122"/>
                <a:cs typeface="Calibri" pitchFamily="34" charset="-120"/>
              </a:rPr>
              <a:t>Stocks + ETFs</a:t>
            </a:r>
            <a:endParaRPr lang="en-US" sz="2400" dirty="0"/>
          </a:p>
        </p:txBody>
      </p:sp>
      <p:sp>
        <p:nvSpPr>
          <p:cNvPr id="18" name="Text 16"/>
          <p:cNvSpPr/>
          <p:nvPr/>
        </p:nvSpPr>
        <p:spPr>
          <a:xfrm>
            <a:off x="722376" y="5029200"/>
            <a:ext cx="2057400" cy="548640"/>
          </a:xfrm>
          <a:prstGeom prst="rect">
            <a:avLst/>
          </a:prstGeom>
          <a:noFill/>
          <a:ln/>
        </p:spPr>
        <p:txBody>
          <a:bodyPr wrap="square" lIns="0" tIns="0" rIns="0" bIns="0" rtlCol="0" anchor="t"/>
          <a:lstStyle/>
          <a:p>
            <a:pPr marL="0" indent="0">
              <a:buNone/>
            </a:pPr>
            <a:r>
              <a:rPr lang="en-US" sz="2000" dirty="0">
                <a:solidFill>
                  <a:srgbClr val="5A7277"/>
                </a:solidFill>
                <a:latin typeface="Calibri" pitchFamily="34" charset="0"/>
                <a:ea typeface="Calibri" pitchFamily="34" charset="-122"/>
                <a:cs typeface="Calibri" pitchFamily="34" charset="-120"/>
              </a:rPr>
              <a:t>Volatility,</a:t>
            </a:r>
            <a:endParaRPr lang="en-US" sz="2000" dirty="0"/>
          </a:p>
          <a:p>
            <a:pPr marL="0" indent="0">
              <a:buNone/>
            </a:pPr>
            <a:r>
              <a:rPr lang="en-US" sz="2000" dirty="0">
                <a:solidFill>
                  <a:srgbClr val="5A7277"/>
                </a:solidFill>
                <a:latin typeface="Calibri" pitchFamily="34" charset="0"/>
                <a:ea typeface="Calibri" pitchFamily="34" charset="-122"/>
                <a:cs typeface="Calibri" pitchFamily="34" charset="-120"/>
              </a:rPr>
              <a:t>sector and beta</a:t>
            </a:r>
            <a:endParaRPr lang="en-US" sz="2000" dirty="0"/>
          </a:p>
        </p:txBody>
      </p:sp>
      <p:sp>
        <p:nvSpPr>
          <p:cNvPr id="19" name="Shape 17"/>
          <p:cNvSpPr/>
          <p:nvPr/>
        </p:nvSpPr>
        <p:spPr>
          <a:xfrm>
            <a:off x="3575304" y="2624328"/>
            <a:ext cx="2633472" cy="1435608"/>
          </a:xfrm>
          <a:prstGeom prst="roundRect">
            <a:avLst>
              <a:gd name="adj" fmla="val 8917"/>
            </a:avLst>
          </a:prstGeom>
          <a:solidFill>
            <a:srgbClr val="E1F3ED"/>
          </a:solidFill>
          <a:ln w="12700">
            <a:solidFill>
              <a:srgbClr val="E1F3ED"/>
            </a:solidFill>
            <a:prstDash val="solid"/>
          </a:ln>
        </p:spPr>
        <p:txBody>
          <a:bodyPr/>
          <a:lstStyle/>
          <a:p>
            <a:endParaRPr lang="en-US"/>
          </a:p>
        </p:txBody>
      </p:sp>
      <p:sp>
        <p:nvSpPr>
          <p:cNvPr id="20" name="Text 18"/>
          <p:cNvSpPr/>
          <p:nvPr/>
        </p:nvSpPr>
        <p:spPr>
          <a:xfrm>
            <a:off x="3794760" y="2825496"/>
            <a:ext cx="2194560" cy="384048"/>
          </a:xfrm>
          <a:prstGeom prst="rect">
            <a:avLst/>
          </a:prstGeom>
          <a:noFill/>
          <a:ln/>
        </p:spPr>
        <p:txBody>
          <a:bodyPr wrap="square" lIns="0" tIns="0" rIns="0" bIns="0" rtlCol="0" anchor="ctr"/>
          <a:lstStyle/>
          <a:p>
            <a:pPr marL="0" indent="0">
              <a:buNone/>
            </a:pPr>
            <a:r>
              <a:rPr lang="en-US" sz="2500" b="1" dirty="0">
                <a:solidFill>
                  <a:srgbClr val="007F74"/>
                </a:solidFill>
                <a:latin typeface="Calibri" pitchFamily="34" charset="0"/>
                <a:ea typeface="Calibri" pitchFamily="34" charset="-122"/>
                <a:cs typeface="Calibri" pitchFamily="34" charset="-120"/>
              </a:rPr>
              <a:t>Investor DNA</a:t>
            </a:r>
            <a:endParaRPr lang="en-US" sz="2500" dirty="0"/>
          </a:p>
        </p:txBody>
      </p:sp>
      <p:sp>
        <p:nvSpPr>
          <p:cNvPr id="21" name="Text 19"/>
          <p:cNvSpPr/>
          <p:nvPr/>
        </p:nvSpPr>
        <p:spPr>
          <a:xfrm>
            <a:off x="3794760" y="3310128"/>
            <a:ext cx="2194560" cy="539496"/>
          </a:xfrm>
          <a:prstGeom prst="rect">
            <a:avLst/>
          </a:prstGeom>
          <a:noFill/>
          <a:ln/>
        </p:spPr>
        <p:txBody>
          <a:bodyPr wrap="square" lIns="0" tIns="0" rIns="0" bIns="0" rtlCol="0" anchor="t"/>
          <a:lstStyle/>
          <a:p>
            <a:pPr marL="0" indent="0">
              <a:buNone/>
            </a:pPr>
            <a:r>
              <a:rPr lang="en-US" sz="2000" dirty="0">
                <a:solidFill>
                  <a:srgbClr val="16333A"/>
                </a:solidFill>
                <a:latin typeface="Calibri" pitchFamily="34" charset="0"/>
                <a:ea typeface="Calibri" pitchFamily="34" charset="-122"/>
                <a:cs typeface="Calibri" pitchFamily="34" charset="-120"/>
              </a:rPr>
              <a:t>Risk appetite +</a:t>
            </a:r>
            <a:endParaRPr lang="en-US" sz="2000" dirty="0"/>
          </a:p>
          <a:p>
            <a:pPr marL="0" indent="0">
              <a:buNone/>
            </a:pPr>
            <a:r>
              <a:rPr lang="en-US" sz="2000" dirty="0">
                <a:solidFill>
                  <a:srgbClr val="16333A"/>
                </a:solidFill>
                <a:latin typeface="Calibri" pitchFamily="34" charset="0"/>
                <a:ea typeface="Calibri" pitchFamily="34" charset="-122"/>
                <a:cs typeface="Calibri" pitchFamily="34" charset="-120"/>
              </a:rPr>
              <a:t>decision style</a:t>
            </a:r>
            <a:endParaRPr lang="en-US" sz="2000" dirty="0"/>
          </a:p>
        </p:txBody>
      </p:sp>
      <p:sp>
        <p:nvSpPr>
          <p:cNvPr id="22" name="Shape 20"/>
          <p:cNvSpPr/>
          <p:nvPr/>
        </p:nvSpPr>
        <p:spPr>
          <a:xfrm>
            <a:off x="3575304" y="4325112"/>
            <a:ext cx="2633472" cy="1435608"/>
          </a:xfrm>
          <a:prstGeom prst="roundRect">
            <a:avLst>
              <a:gd name="adj" fmla="val 8917"/>
            </a:avLst>
          </a:prstGeom>
          <a:solidFill>
            <a:srgbClr val="102D36"/>
          </a:solidFill>
          <a:ln w="12700">
            <a:solidFill>
              <a:srgbClr val="102D36"/>
            </a:solidFill>
            <a:prstDash val="solid"/>
          </a:ln>
        </p:spPr>
        <p:txBody>
          <a:bodyPr/>
          <a:lstStyle/>
          <a:p>
            <a:endParaRPr lang="en-US"/>
          </a:p>
        </p:txBody>
      </p:sp>
      <p:sp>
        <p:nvSpPr>
          <p:cNvPr id="23" name="Text 21"/>
          <p:cNvSpPr/>
          <p:nvPr/>
        </p:nvSpPr>
        <p:spPr>
          <a:xfrm>
            <a:off x="3794760" y="4526280"/>
            <a:ext cx="2194560" cy="374904"/>
          </a:xfrm>
          <a:prstGeom prst="rect">
            <a:avLst/>
          </a:prstGeom>
          <a:noFill/>
          <a:ln/>
        </p:spPr>
        <p:txBody>
          <a:bodyPr wrap="square" lIns="0" tIns="0" rIns="0" bIns="0" rtlCol="0" anchor="ctr"/>
          <a:lstStyle/>
          <a:p>
            <a:pPr marL="0" indent="0">
              <a:buNone/>
            </a:pPr>
            <a:r>
              <a:rPr lang="en-US" sz="2500" b="1" dirty="0">
                <a:solidFill>
                  <a:srgbClr val="FFFFFF"/>
                </a:solidFill>
                <a:latin typeface="Calibri" pitchFamily="34" charset="0"/>
                <a:ea typeface="Calibri" pitchFamily="34" charset="-122"/>
                <a:cs typeface="Calibri" pitchFamily="34" charset="-120"/>
              </a:rPr>
              <a:t>Fit ranking</a:t>
            </a:r>
            <a:endParaRPr lang="en-US" sz="2500" dirty="0"/>
          </a:p>
        </p:txBody>
      </p:sp>
      <p:sp>
        <p:nvSpPr>
          <p:cNvPr id="24" name="Text 22"/>
          <p:cNvSpPr/>
          <p:nvPr/>
        </p:nvSpPr>
        <p:spPr>
          <a:xfrm>
            <a:off x="3794760" y="5029200"/>
            <a:ext cx="2194560" cy="557784"/>
          </a:xfrm>
          <a:prstGeom prst="rect">
            <a:avLst/>
          </a:prstGeom>
          <a:noFill/>
          <a:ln/>
        </p:spPr>
        <p:txBody>
          <a:bodyPr wrap="square" lIns="0" tIns="0" rIns="0" bIns="0" rtlCol="0" anchor="t"/>
          <a:lstStyle/>
          <a:p>
            <a:pPr marL="0" indent="0">
              <a:buNone/>
            </a:pPr>
            <a:r>
              <a:rPr lang="en-US" sz="2000" dirty="0">
                <a:solidFill>
                  <a:srgbClr val="B7D0D0"/>
                </a:solidFill>
                <a:latin typeface="Calibri" pitchFamily="34" charset="0"/>
                <a:ea typeface="Calibri" pitchFamily="34" charset="-122"/>
                <a:cs typeface="Calibri" pitchFamily="34" charset="-120"/>
              </a:rPr>
              <a:t>Filter constraints.</a:t>
            </a:r>
            <a:endParaRPr lang="en-US" sz="2000" dirty="0"/>
          </a:p>
          <a:p>
            <a:pPr marL="0" indent="0">
              <a:buNone/>
            </a:pPr>
            <a:r>
              <a:rPr lang="en-US" sz="2000" dirty="0">
                <a:solidFill>
                  <a:srgbClr val="B7D0D0"/>
                </a:solidFill>
                <a:latin typeface="Calibri" pitchFamily="34" charset="0"/>
                <a:ea typeface="Calibri" pitchFamily="34" charset="-122"/>
                <a:cs typeface="Calibri" pitchFamily="34" charset="-120"/>
              </a:rPr>
              <a:t>Rank by profile fit.</a:t>
            </a:r>
            <a:endParaRPr lang="en-US" sz="2000" dirty="0"/>
          </a:p>
        </p:txBody>
      </p:sp>
      <p:sp>
        <p:nvSpPr>
          <p:cNvPr id="25" name="Shape 23"/>
          <p:cNvSpPr/>
          <p:nvPr/>
        </p:nvSpPr>
        <p:spPr>
          <a:xfrm>
            <a:off x="3072384" y="3337560"/>
            <a:ext cx="411480" cy="0"/>
          </a:xfrm>
          <a:prstGeom prst="line">
            <a:avLst/>
          </a:prstGeom>
          <a:noFill/>
          <a:ln w="22860">
            <a:solidFill>
              <a:srgbClr val="007F74"/>
            </a:solidFill>
            <a:prstDash val="solid"/>
            <a:headEnd type="none"/>
            <a:tailEnd type="triangle"/>
          </a:ln>
        </p:spPr>
        <p:txBody>
          <a:bodyPr/>
          <a:lstStyle/>
          <a:p>
            <a:endParaRPr lang="en-US"/>
          </a:p>
        </p:txBody>
      </p:sp>
      <p:sp>
        <p:nvSpPr>
          <p:cNvPr id="26" name="Shape 24"/>
          <p:cNvSpPr/>
          <p:nvPr/>
        </p:nvSpPr>
        <p:spPr>
          <a:xfrm>
            <a:off x="3072384" y="5047488"/>
            <a:ext cx="411480" cy="0"/>
          </a:xfrm>
          <a:prstGeom prst="line">
            <a:avLst/>
          </a:prstGeom>
          <a:noFill/>
          <a:ln w="22860">
            <a:solidFill>
              <a:srgbClr val="007F74"/>
            </a:solidFill>
            <a:prstDash val="solid"/>
            <a:headEnd type="none"/>
            <a:tailEnd type="triangle"/>
          </a:ln>
        </p:spPr>
        <p:txBody>
          <a:bodyPr/>
          <a:lstStyle/>
          <a:p>
            <a:endParaRPr lang="en-US"/>
          </a:p>
        </p:txBody>
      </p:sp>
      <p:sp>
        <p:nvSpPr>
          <p:cNvPr id="27" name="Shape 25"/>
          <p:cNvSpPr/>
          <p:nvPr/>
        </p:nvSpPr>
        <p:spPr>
          <a:xfrm>
            <a:off x="4892040" y="4087368"/>
            <a:ext cx="0" cy="164592"/>
          </a:xfrm>
          <a:prstGeom prst="line">
            <a:avLst/>
          </a:prstGeom>
          <a:noFill/>
          <a:ln w="22860">
            <a:solidFill>
              <a:srgbClr val="007F74"/>
            </a:solidFill>
            <a:prstDash val="solid"/>
            <a:headEnd type="none"/>
            <a:tailEnd type="triangle"/>
          </a:ln>
        </p:spPr>
        <p:txBody>
          <a:bodyPr/>
          <a:lstStyle/>
          <a:p>
            <a:endParaRPr lang="en-US"/>
          </a:p>
        </p:txBody>
      </p:sp>
      <p:sp>
        <p:nvSpPr>
          <p:cNvPr id="28" name="Shape 26"/>
          <p:cNvSpPr/>
          <p:nvPr/>
        </p:nvSpPr>
        <p:spPr>
          <a:xfrm>
            <a:off x="6592824" y="3145536"/>
            <a:ext cx="2039112" cy="2615184"/>
          </a:xfrm>
          <a:prstGeom prst="roundRect">
            <a:avLst>
              <a:gd name="adj" fmla="val 6278"/>
            </a:avLst>
          </a:prstGeom>
          <a:solidFill>
            <a:srgbClr val="FFFFFF"/>
          </a:solidFill>
          <a:ln w="10160">
            <a:solidFill>
              <a:srgbClr val="D6E1DF"/>
            </a:solidFill>
            <a:prstDash val="solid"/>
          </a:ln>
        </p:spPr>
        <p:txBody>
          <a:bodyPr/>
          <a:lstStyle/>
          <a:p>
            <a:endParaRPr lang="en-US"/>
          </a:p>
        </p:txBody>
      </p:sp>
      <p:sp>
        <p:nvSpPr>
          <p:cNvPr id="29" name="Text 27"/>
          <p:cNvSpPr/>
          <p:nvPr/>
        </p:nvSpPr>
        <p:spPr>
          <a:xfrm>
            <a:off x="6793992" y="3364992"/>
            <a:ext cx="1636776" cy="420624"/>
          </a:xfrm>
          <a:prstGeom prst="rect">
            <a:avLst/>
          </a:prstGeom>
          <a:noFill/>
          <a:ln/>
        </p:spPr>
        <p:txBody>
          <a:bodyPr wrap="square" lIns="0" tIns="0" rIns="0" bIns="0" rtlCol="0" anchor="ctr"/>
          <a:lstStyle/>
          <a:p>
            <a:pPr marL="0" indent="0">
              <a:buNone/>
            </a:pPr>
            <a:r>
              <a:rPr lang="en-US" sz="2400" b="1" dirty="0">
                <a:solidFill>
                  <a:srgbClr val="16333A"/>
                </a:solidFill>
                <a:latin typeface="Calibri" pitchFamily="34" charset="0"/>
                <a:ea typeface="Calibri" pitchFamily="34" charset="-122"/>
                <a:cs typeface="Calibri" pitchFamily="34" charset="-120"/>
              </a:rPr>
              <a:t>Your report</a:t>
            </a:r>
            <a:endParaRPr lang="en-US" sz="2400" dirty="0"/>
          </a:p>
        </p:txBody>
      </p:sp>
      <p:sp>
        <p:nvSpPr>
          <p:cNvPr id="30" name="Text 28"/>
          <p:cNvSpPr/>
          <p:nvPr/>
        </p:nvSpPr>
        <p:spPr>
          <a:xfrm>
            <a:off x="6793992" y="3858768"/>
            <a:ext cx="1636776" cy="329184"/>
          </a:xfrm>
          <a:prstGeom prst="rect">
            <a:avLst/>
          </a:prstGeom>
          <a:noFill/>
          <a:ln/>
        </p:spPr>
        <p:txBody>
          <a:bodyPr wrap="square" lIns="0" tIns="0" rIns="0" bIns="0" rtlCol="0" anchor="ctr"/>
          <a:lstStyle/>
          <a:p>
            <a:pPr marL="0" indent="0">
              <a:buNone/>
            </a:pPr>
            <a:r>
              <a:rPr lang="en-US" sz="2500" b="1" dirty="0">
                <a:solidFill>
                  <a:srgbClr val="007F74"/>
                </a:solidFill>
                <a:latin typeface="Calibri" pitchFamily="34" charset="0"/>
                <a:ea typeface="Calibri" pitchFamily="34" charset="-122"/>
                <a:cs typeface="Calibri" pitchFamily="34" charset="-120"/>
              </a:rPr>
              <a:t>+</a:t>
            </a:r>
            <a:endParaRPr lang="en-US" sz="2500" dirty="0"/>
          </a:p>
        </p:txBody>
      </p:sp>
      <p:sp>
        <p:nvSpPr>
          <p:cNvPr id="31" name="Text 29"/>
          <p:cNvSpPr/>
          <p:nvPr/>
        </p:nvSpPr>
        <p:spPr>
          <a:xfrm>
            <a:off x="6793992" y="4370832"/>
            <a:ext cx="1636776" cy="768096"/>
          </a:xfrm>
          <a:prstGeom prst="rect">
            <a:avLst/>
          </a:prstGeom>
          <a:noFill/>
          <a:ln/>
        </p:spPr>
        <p:txBody>
          <a:bodyPr wrap="square" lIns="0" tIns="0" rIns="0" bIns="0" rtlCol="0" anchor="t"/>
          <a:lstStyle/>
          <a:p>
            <a:pPr marL="0" indent="0">
              <a:buNone/>
            </a:pPr>
            <a:r>
              <a:rPr lang="en-US" sz="2300" b="1" dirty="0">
                <a:solidFill>
                  <a:srgbClr val="16333A"/>
                </a:solidFill>
                <a:latin typeface="Calibri" pitchFamily="34" charset="0"/>
                <a:ea typeface="Calibri" pitchFamily="34" charset="-122"/>
                <a:cs typeface="Calibri" pitchFamily="34" charset="-120"/>
              </a:rPr>
              <a:t>Daily</a:t>
            </a:r>
            <a:endParaRPr lang="en-US" sz="2300" dirty="0"/>
          </a:p>
          <a:p>
            <a:pPr marL="0" indent="0">
              <a:buNone/>
            </a:pPr>
            <a:r>
              <a:rPr lang="en-US" sz="2300" b="1" dirty="0">
                <a:solidFill>
                  <a:srgbClr val="16333A"/>
                </a:solidFill>
                <a:latin typeface="Calibri" pitchFamily="34" charset="0"/>
                <a:ea typeface="Calibri" pitchFamily="34" charset="-122"/>
                <a:cs typeface="Calibri" pitchFamily="34" charset="-120"/>
              </a:rPr>
              <a:t>shortlist</a:t>
            </a:r>
            <a:endParaRPr lang="en-US" sz="2300" dirty="0"/>
          </a:p>
        </p:txBody>
      </p:sp>
      <p:sp>
        <p:nvSpPr>
          <p:cNvPr id="32" name="Shape 30"/>
          <p:cNvSpPr/>
          <p:nvPr/>
        </p:nvSpPr>
        <p:spPr>
          <a:xfrm>
            <a:off x="6263640" y="5047488"/>
            <a:ext cx="265176" cy="0"/>
          </a:xfrm>
          <a:prstGeom prst="line">
            <a:avLst/>
          </a:prstGeom>
          <a:noFill/>
          <a:ln w="22860">
            <a:solidFill>
              <a:srgbClr val="007F74"/>
            </a:solidFill>
            <a:prstDash val="solid"/>
            <a:headEnd type="none"/>
            <a:tailEnd type="triangle"/>
          </a:ln>
        </p:spPr>
        <p:txBody>
          <a:bodyPr/>
          <a:lstStyle/>
          <a:p>
            <a:endParaRPr lang="en-US"/>
          </a:p>
        </p:txBody>
      </p:sp>
      <p:sp>
        <p:nvSpPr>
          <p:cNvPr id="33" name="Text 31"/>
          <p:cNvSpPr/>
          <p:nvPr/>
        </p:nvSpPr>
        <p:spPr>
          <a:xfrm>
            <a:off x="502920" y="5907024"/>
            <a:ext cx="8138160" cy="301752"/>
          </a:xfrm>
          <a:prstGeom prst="rect">
            <a:avLst/>
          </a:prstGeom>
          <a:noFill/>
          <a:ln/>
        </p:spPr>
        <p:txBody>
          <a:bodyPr wrap="square" lIns="0" tIns="0" rIns="0" bIns="0" rtlCol="0" anchor="ctr"/>
          <a:lstStyle/>
          <a:p>
            <a:pPr marL="0" indent="0">
              <a:buNone/>
            </a:pPr>
            <a:r>
              <a:rPr lang="en-US" sz="2200" b="1" dirty="0">
                <a:solidFill>
                  <a:srgbClr val="007F74"/>
                </a:solidFill>
                <a:latin typeface="Calibri" pitchFamily="34" charset="0"/>
                <a:ea typeface="Calibri" pitchFamily="34" charset="-122"/>
                <a:cs typeface="Calibri" pitchFamily="34" charset="-120"/>
              </a:rPr>
              <a:t>Every match: reasons + watch-outs.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5"/>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007F74">
              <a:alpha val="0"/>
            </a:srgbClr>
          </a:solidFill>
          <a:ln w="21590">
            <a:solidFill>
              <a:srgbClr val="007F74"/>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007F74">
              <a:alpha val="0"/>
            </a:srgbClr>
          </a:solidFill>
          <a:ln w="21590">
            <a:solidFill>
              <a:srgbClr val="007F74"/>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16333A"/>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5A7277"/>
                </a:solidFill>
                <a:latin typeface="Calibri" pitchFamily="34" charset="0"/>
                <a:ea typeface="Calibri" pitchFamily="34" charset="-122"/>
                <a:cs typeface="Calibri" pitchFamily="34" charset="-120"/>
              </a:rPr>
              <a:t>07</a:t>
            </a:r>
            <a:endParaRPr lang="en-US" sz="1800" dirty="0"/>
          </a:p>
        </p:txBody>
      </p:sp>
      <p:sp>
        <p:nvSpPr>
          <p:cNvPr id="6" name="Shape 4"/>
          <p:cNvSpPr/>
          <p:nvPr/>
        </p:nvSpPr>
        <p:spPr>
          <a:xfrm>
            <a:off x="502920" y="6318504"/>
            <a:ext cx="8138160" cy="0"/>
          </a:xfrm>
          <a:prstGeom prst="line">
            <a:avLst/>
          </a:prstGeom>
          <a:noFill/>
          <a:ln w="10160">
            <a:solidFill>
              <a:srgbClr val="D6E1DF"/>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ILLUSTRATIVE PRODUCT  /  NOT AN INVESTMENT RECOMMENDATION</a:t>
            </a:r>
            <a:endParaRPr lang="en-US" sz="1800" dirty="0"/>
          </a:p>
        </p:txBody>
      </p:sp>
      <p:sp>
        <p:nvSpPr>
          <p:cNvPr id="8" name="Text 6"/>
          <p:cNvSpPr/>
          <p:nvPr/>
        </p:nvSpPr>
        <p:spPr>
          <a:xfrm>
            <a:off x="502920" y="896112"/>
            <a:ext cx="8183880" cy="594360"/>
          </a:xfrm>
          <a:prstGeom prst="rect">
            <a:avLst/>
          </a:prstGeom>
          <a:noFill/>
          <a:ln/>
        </p:spPr>
        <p:txBody>
          <a:bodyPr wrap="square" lIns="0" tIns="0" rIns="0" bIns="0" rtlCol="0" anchor="ctr"/>
          <a:lstStyle/>
          <a:p>
            <a:pPr marL="0" indent="0">
              <a:buNone/>
            </a:pPr>
            <a:r>
              <a:rPr lang="en-US" sz="3400" b="1" dirty="0">
                <a:solidFill>
                  <a:srgbClr val="16333A"/>
                </a:solidFill>
                <a:latin typeface="Calibri" pitchFamily="34" charset="0"/>
                <a:ea typeface="Calibri" pitchFamily="34" charset="-122"/>
                <a:cs typeface="Calibri" pitchFamily="34" charset="-120"/>
              </a:rPr>
              <a:t>A report first. A match second.</a:t>
            </a:r>
            <a:endParaRPr lang="en-US" sz="3400" dirty="0"/>
          </a:p>
        </p:txBody>
      </p:sp>
      <p:sp>
        <p:nvSpPr>
          <p:cNvPr id="9" name="Text 7"/>
          <p:cNvSpPr/>
          <p:nvPr/>
        </p:nvSpPr>
        <p:spPr>
          <a:xfrm>
            <a:off x="502920" y="1517904"/>
            <a:ext cx="8138160" cy="384048"/>
          </a:xfrm>
          <a:prstGeom prst="rect">
            <a:avLst/>
          </a:prstGeom>
          <a:noFill/>
          <a:ln/>
        </p:spPr>
        <p:txBody>
          <a:bodyPr wrap="square" lIns="0" tIns="0" rIns="0" bIns="0" rtlCol="0" anchor="ctr"/>
          <a:lstStyle/>
          <a:p>
            <a:pPr marL="0" indent="0">
              <a:buNone/>
            </a:pPr>
            <a:r>
              <a:rPr lang="en-US" sz="2000" dirty="0">
                <a:solidFill>
                  <a:srgbClr val="5A7277"/>
                </a:solidFill>
                <a:latin typeface="Calibri" pitchFamily="34" charset="0"/>
                <a:ea typeface="Calibri" pitchFamily="34" charset="-122"/>
                <a:cs typeface="Calibri" pitchFamily="34" charset="-120"/>
              </a:rPr>
              <a:t>Show the profile, explain the fit, make the trade-offs visible.</a:t>
            </a:r>
            <a:endParaRPr lang="en-US" sz="2000" dirty="0"/>
          </a:p>
        </p:txBody>
      </p:sp>
      <p:sp>
        <p:nvSpPr>
          <p:cNvPr id="10" name="Shape 8"/>
          <p:cNvSpPr/>
          <p:nvPr/>
        </p:nvSpPr>
        <p:spPr>
          <a:xfrm>
            <a:off x="502920" y="2121408"/>
            <a:ext cx="3785616" cy="3877056"/>
          </a:xfrm>
          <a:prstGeom prst="roundRect">
            <a:avLst>
              <a:gd name="adj" fmla="val 3382"/>
            </a:avLst>
          </a:prstGeom>
          <a:solidFill>
            <a:srgbClr val="FFFFFF"/>
          </a:solidFill>
          <a:ln w="10160">
            <a:solidFill>
              <a:srgbClr val="D6E1DF"/>
            </a:solidFill>
            <a:prstDash val="solid"/>
          </a:ln>
        </p:spPr>
        <p:txBody>
          <a:bodyPr/>
          <a:lstStyle/>
          <a:p>
            <a:endParaRPr lang="en-US"/>
          </a:p>
        </p:txBody>
      </p:sp>
      <p:sp>
        <p:nvSpPr>
          <p:cNvPr id="11" name="Text 9"/>
          <p:cNvSpPr/>
          <p:nvPr/>
        </p:nvSpPr>
        <p:spPr>
          <a:xfrm>
            <a:off x="758952" y="2368296"/>
            <a:ext cx="3264408" cy="301752"/>
          </a:xfrm>
          <a:prstGeom prst="rect">
            <a:avLst/>
          </a:prstGeom>
          <a:noFill/>
          <a:ln/>
        </p:spPr>
        <p:txBody>
          <a:bodyPr wrap="square" lIns="0" tIns="0" rIns="0" bIns="0" rtlCol="0" anchor="ctr"/>
          <a:lstStyle/>
          <a:p>
            <a:pPr marL="0" indent="0">
              <a:buNone/>
            </a:pPr>
            <a:r>
              <a:rPr lang="en-US" sz="1800" b="1" dirty="0">
                <a:solidFill>
                  <a:srgbClr val="007F74"/>
                </a:solidFill>
                <a:latin typeface="Calibri" pitchFamily="34" charset="0"/>
                <a:ea typeface="Calibri" pitchFamily="34" charset="-122"/>
                <a:cs typeface="Calibri" pitchFamily="34" charset="-120"/>
              </a:rPr>
              <a:t>YOUR INVESTOR DNA</a:t>
            </a:r>
            <a:endParaRPr lang="en-US" sz="1800" dirty="0"/>
          </a:p>
        </p:txBody>
      </p:sp>
      <p:sp>
        <p:nvSpPr>
          <p:cNvPr id="12" name="Text 10"/>
          <p:cNvSpPr/>
          <p:nvPr/>
        </p:nvSpPr>
        <p:spPr>
          <a:xfrm>
            <a:off x="758952" y="2898648"/>
            <a:ext cx="1060704" cy="338328"/>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Risk</a:t>
            </a:r>
            <a:endParaRPr lang="en-US" sz="1800" dirty="0"/>
          </a:p>
        </p:txBody>
      </p:sp>
      <p:sp>
        <p:nvSpPr>
          <p:cNvPr id="13" name="Text 11"/>
          <p:cNvSpPr/>
          <p:nvPr/>
        </p:nvSpPr>
        <p:spPr>
          <a:xfrm>
            <a:off x="1883664" y="2898648"/>
            <a:ext cx="2148840" cy="365760"/>
          </a:xfrm>
          <a:prstGeom prst="rect">
            <a:avLst/>
          </a:prstGeom>
          <a:noFill/>
          <a:ln/>
        </p:spPr>
        <p:txBody>
          <a:bodyPr wrap="square" lIns="0" tIns="0" rIns="0" bIns="0" rtlCol="0" anchor="ctr"/>
          <a:lstStyle/>
          <a:p>
            <a:pPr marL="0" indent="0">
              <a:buNone/>
            </a:pPr>
            <a:r>
              <a:rPr lang="en-US" sz="2400" b="1" dirty="0">
                <a:solidFill>
                  <a:srgbClr val="16333A"/>
                </a:solidFill>
                <a:latin typeface="Calibri" pitchFamily="34" charset="0"/>
                <a:ea typeface="Calibri" pitchFamily="34" charset="-122"/>
                <a:cs typeface="Calibri" pitchFamily="34" charset="-120"/>
              </a:rPr>
              <a:t>Moderate</a:t>
            </a:r>
            <a:endParaRPr lang="en-US" sz="2400" dirty="0"/>
          </a:p>
        </p:txBody>
      </p:sp>
      <p:sp>
        <p:nvSpPr>
          <p:cNvPr id="14" name="Shape 12"/>
          <p:cNvSpPr/>
          <p:nvPr/>
        </p:nvSpPr>
        <p:spPr>
          <a:xfrm>
            <a:off x="758952" y="3337560"/>
            <a:ext cx="3264408" cy="0"/>
          </a:xfrm>
          <a:prstGeom prst="line">
            <a:avLst/>
          </a:prstGeom>
          <a:noFill/>
          <a:ln w="10160">
            <a:solidFill>
              <a:srgbClr val="D6E1DF"/>
            </a:solidFill>
            <a:prstDash val="solid"/>
            <a:headEnd type="none"/>
            <a:tailEnd type="none"/>
          </a:ln>
        </p:spPr>
        <p:txBody>
          <a:bodyPr/>
          <a:lstStyle/>
          <a:p>
            <a:endParaRPr lang="en-US"/>
          </a:p>
        </p:txBody>
      </p:sp>
      <p:sp>
        <p:nvSpPr>
          <p:cNvPr id="15" name="Text 13"/>
          <p:cNvSpPr/>
          <p:nvPr/>
        </p:nvSpPr>
        <p:spPr>
          <a:xfrm>
            <a:off x="758952" y="3483864"/>
            <a:ext cx="1060704" cy="338328"/>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Horizon</a:t>
            </a:r>
            <a:endParaRPr lang="en-US" sz="1800" dirty="0"/>
          </a:p>
        </p:txBody>
      </p:sp>
      <p:sp>
        <p:nvSpPr>
          <p:cNvPr id="16" name="Text 14"/>
          <p:cNvSpPr/>
          <p:nvPr/>
        </p:nvSpPr>
        <p:spPr>
          <a:xfrm>
            <a:off x="1883664" y="3483864"/>
            <a:ext cx="2148840" cy="365760"/>
          </a:xfrm>
          <a:prstGeom prst="rect">
            <a:avLst/>
          </a:prstGeom>
          <a:noFill/>
          <a:ln/>
        </p:spPr>
        <p:txBody>
          <a:bodyPr wrap="square" lIns="0" tIns="0" rIns="0" bIns="0" rtlCol="0" anchor="ctr"/>
          <a:lstStyle/>
          <a:p>
            <a:pPr marL="0" indent="0">
              <a:buNone/>
            </a:pPr>
            <a:r>
              <a:rPr lang="en-US" sz="2400" b="1" dirty="0">
                <a:solidFill>
                  <a:srgbClr val="16333A"/>
                </a:solidFill>
                <a:latin typeface="Calibri" pitchFamily="34" charset="0"/>
                <a:ea typeface="Calibri" pitchFamily="34" charset="-122"/>
                <a:cs typeface="Calibri" pitchFamily="34" charset="-120"/>
              </a:rPr>
              <a:t>5+ years</a:t>
            </a:r>
            <a:endParaRPr lang="en-US" sz="2400" dirty="0"/>
          </a:p>
        </p:txBody>
      </p:sp>
      <p:sp>
        <p:nvSpPr>
          <p:cNvPr id="17" name="Shape 15"/>
          <p:cNvSpPr/>
          <p:nvPr/>
        </p:nvSpPr>
        <p:spPr>
          <a:xfrm>
            <a:off x="758952" y="3922776"/>
            <a:ext cx="3264408" cy="0"/>
          </a:xfrm>
          <a:prstGeom prst="line">
            <a:avLst/>
          </a:prstGeom>
          <a:noFill/>
          <a:ln w="10160">
            <a:solidFill>
              <a:srgbClr val="D6E1DF"/>
            </a:solidFill>
            <a:prstDash val="solid"/>
            <a:headEnd type="none"/>
            <a:tailEnd type="none"/>
          </a:ln>
        </p:spPr>
        <p:txBody>
          <a:bodyPr/>
          <a:lstStyle/>
          <a:p>
            <a:endParaRPr lang="en-US"/>
          </a:p>
        </p:txBody>
      </p:sp>
      <p:sp>
        <p:nvSpPr>
          <p:cNvPr id="18" name="Text 16"/>
          <p:cNvSpPr/>
          <p:nvPr/>
        </p:nvSpPr>
        <p:spPr>
          <a:xfrm>
            <a:off x="758952" y="4069080"/>
            <a:ext cx="1060704" cy="338328"/>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Style</a:t>
            </a:r>
            <a:endParaRPr lang="en-US" sz="1800" dirty="0"/>
          </a:p>
        </p:txBody>
      </p:sp>
      <p:sp>
        <p:nvSpPr>
          <p:cNvPr id="19" name="Text 17"/>
          <p:cNvSpPr/>
          <p:nvPr/>
        </p:nvSpPr>
        <p:spPr>
          <a:xfrm>
            <a:off x="1883664" y="4069080"/>
            <a:ext cx="2148840" cy="365760"/>
          </a:xfrm>
          <a:prstGeom prst="rect">
            <a:avLst/>
          </a:prstGeom>
          <a:noFill/>
          <a:ln/>
        </p:spPr>
        <p:txBody>
          <a:bodyPr wrap="square" lIns="0" tIns="0" rIns="0" bIns="0" rtlCol="0" anchor="ctr"/>
          <a:lstStyle/>
          <a:p>
            <a:pPr marL="0" indent="0">
              <a:buNone/>
            </a:pPr>
            <a:r>
              <a:rPr lang="en-US" sz="2400" b="1" dirty="0">
                <a:solidFill>
                  <a:srgbClr val="16333A"/>
                </a:solidFill>
                <a:latin typeface="Calibri" pitchFamily="34" charset="0"/>
                <a:ea typeface="Calibri" pitchFamily="34" charset="-122"/>
                <a:cs typeface="Calibri" pitchFamily="34" charset="-120"/>
              </a:rPr>
              <a:t>Rules-based</a:t>
            </a:r>
            <a:endParaRPr lang="en-US" sz="2400" dirty="0"/>
          </a:p>
        </p:txBody>
      </p:sp>
      <p:sp>
        <p:nvSpPr>
          <p:cNvPr id="20" name="Shape 18"/>
          <p:cNvSpPr/>
          <p:nvPr/>
        </p:nvSpPr>
        <p:spPr>
          <a:xfrm>
            <a:off x="758952" y="4700016"/>
            <a:ext cx="3264408" cy="1078992"/>
          </a:xfrm>
          <a:prstGeom prst="roundRect">
            <a:avLst>
              <a:gd name="adj" fmla="val 11864"/>
            </a:avLst>
          </a:prstGeom>
          <a:solidFill>
            <a:srgbClr val="FBF0E6"/>
          </a:solidFill>
          <a:ln w="12700">
            <a:solidFill>
              <a:srgbClr val="FBF0E6"/>
            </a:solidFill>
            <a:prstDash val="solid"/>
          </a:ln>
        </p:spPr>
        <p:txBody>
          <a:bodyPr/>
          <a:lstStyle/>
          <a:p>
            <a:endParaRPr lang="en-US"/>
          </a:p>
        </p:txBody>
      </p:sp>
      <p:sp>
        <p:nvSpPr>
          <p:cNvPr id="21" name="Text 19"/>
          <p:cNvSpPr/>
          <p:nvPr/>
        </p:nvSpPr>
        <p:spPr>
          <a:xfrm>
            <a:off x="932688" y="4846320"/>
            <a:ext cx="2907792" cy="265176"/>
          </a:xfrm>
          <a:prstGeom prst="rect">
            <a:avLst/>
          </a:prstGeom>
          <a:noFill/>
          <a:ln/>
        </p:spPr>
        <p:txBody>
          <a:bodyPr wrap="square" lIns="0" tIns="0" rIns="0" bIns="0" rtlCol="0" anchor="ctr"/>
          <a:lstStyle/>
          <a:p>
            <a:pPr marL="0" indent="0">
              <a:buNone/>
            </a:pPr>
            <a:r>
              <a:rPr lang="en-US" sz="1800" b="1" dirty="0">
                <a:solidFill>
                  <a:srgbClr val="C88841"/>
                </a:solidFill>
                <a:latin typeface="Calibri" pitchFamily="34" charset="0"/>
                <a:ea typeface="Calibri" pitchFamily="34" charset="-122"/>
                <a:cs typeface="Calibri" pitchFamily="34" charset="-120"/>
              </a:rPr>
              <a:t>WATCH-OUT</a:t>
            </a:r>
            <a:endParaRPr lang="en-US" sz="1800" dirty="0"/>
          </a:p>
        </p:txBody>
      </p:sp>
      <p:sp>
        <p:nvSpPr>
          <p:cNvPr id="22" name="Text 20"/>
          <p:cNvSpPr/>
          <p:nvPr/>
        </p:nvSpPr>
        <p:spPr>
          <a:xfrm>
            <a:off x="932688" y="5248656"/>
            <a:ext cx="2907792" cy="493776"/>
          </a:xfrm>
          <a:prstGeom prst="rect">
            <a:avLst/>
          </a:prstGeom>
          <a:noFill/>
          <a:ln/>
        </p:spPr>
        <p:txBody>
          <a:bodyPr wrap="square" lIns="0" tIns="0" rIns="0" bIns="0" rtlCol="0" anchor="t"/>
          <a:lstStyle/>
          <a:p>
            <a:pPr marL="0" indent="0">
              <a:buNone/>
            </a:pPr>
            <a:r>
              <a:rPr lang="en-US" sz="1800" dirty="0">
                <a:solidFill>
                  <a:srgbClr val="16333A"/>
                </a:solidFill>
                <a:latin typeface="Calibri" pitchFamily="34" charset="0"/>
                <a:ea typeface="Calibri" pitchFamily="34" charset="-122"/>
                <a:cs typeface="Calibri" pitchFamily="34" charset="-120"/>
              </a:rPr>
              <a:t>Sharp drawdowns may test</a:t>
            </a:r>
            <a:endParaRPr lang="en-US" sz="1800" dirty="0"/>
          </a:p>
          <a:p>
            <a:pPr marL="0" indent="0">
              <a:buNone/>
            </a:pPr>
            <a:r>
              <a:rPr lang="en-US" sz="1800" dirty="0">
                <a:solidFill>
                  <a:srgbClr val="16333A"/>
                </a:solidFill>
                <a:latin typeface="Calibri" pitchFamily="34" charset="0"/>
                <a:ea typeface="Calibri" pitchFamily="34" charset="-122"/>
                <a:cs typeface="Calibri" pitchFamily="34" charset="-120"/>
              </a:rPr>
              <a:t>your comfort.</a:t>
            </a:r>
            <a:endParaRPr lang="en-US" sz="1800" dirty="0"/>
          </a:p>
        </p:txBody>
      </p:sp>
      <p:sp>
        <p:nvSpPr>
          <p:cNvPr id="23" name="Shape 21"/>
          <p:cNvSpPr/>
          <p:nvPr/>
        </p:nvSpPr>
        <p:spPr>
          <a:xfrm>
            <a:off x="4690872" y="2121408"/>
            <a:ext cx="3950208" cy="1819656"/>
          </a:xfrm>
          <a:prstGeom prst="roundRect">
            <a:avLst>
              <a:gd name="adj" fmla="val 7035"/>
            </a:avLst>
          </a:prstGeom>
          <a:solidFill>
            <a:srgbClr val="102D36"/>
          </a:solidFill>
          <a:ln w="12700">
            <a:solidFill>
              <a:srgbClr val="102D36"/>
            </a:solidFill>
            <a:prstDash val="solid"/>
          </a:ln>
        </p:spPr>
        <p:txBody>
          <a:bodyPr/>
          <a:lstStyle/>
          <a:p>
            <a:endParaRPr lang="en-US"/>
          </a:p>
        </p:txBody>
      </p:sp>
      <p:sp>
        <p:nvSpPr>
          <p:cNvPr id="24" name="Shape 22"/>
          <p:cNvSpPr/>
          <p:nvPr/>
        </p:nvSpPr>
        <p:spPr>
          <a:xfrm>
            <a:off x="4919472" y="2340864"/>
            <a:ext cx="2368296" cy="393192"/>
          </a:xfrm>
          <a:prstGeom prst="roundRect">
            <a:avLst>
              <a:gd name="adj" fmla="val 32558"/>
            </a:avLst>
          </a:prstGeom>
          <a:solidFill>
            <a:srgbClr val="294B54"/>
          </a:solidFill>
          <a:ln w="12700">
            <a:solidFill>
              <a:srgbClr val="294B54"/>
            </a:solidFill>
            <a:prstDash val="solid"/>
          </a:ln>
        </p:spPr>
        <p:txBody>
          <a:bodyPr/>
          <a:lstStyle/>
          <a:p>
            <a:endParaRPr lang="en-US"/>
          </a:p>
        </p:txBody>
      </p:sp>
      <p:sp>
        <p:nvSpPr>
          <p:cNvPr id="25" name="Text 23"/>
          <p:cNvSpPr/>
          <p:nvPr/>
        </p:nvSpPr>
        <p:spPr>
          <a:xfrm>
            <a:off x="5029200" y="2382012"/>
            <a:ext cx="2148840" cy="301752"/>
          </a:xfrm>
          <a:prstGeom prst="rect">
            <a:avLst/>
          </a:prstGeom>
          <a:noFill/>
          <a:ln/>
        </p:spPr>
        <p:txBody>
          <a:bodyPr wrap="square" lIns="0" tIns="0" rIns="0" bIns="0" rtlCol="0" anchor="ctr"/>
          <a:lstStyle/>
          <a:p>
            <a:pPr marL="0" indent="0" algn="ctr">
              <a:buNone/>
            </a:pPr>
            <a:r>
              <a:rPr lang="en-US" sz="1800" b="1" dirty="0">
                <a:solidFill>
                  <a:srgbClr val="67DCC5"/>
                </a:solidFill>
                <a:latin typeface="Calibri" pitchFamily="34" charset="0"/>
                <a:ea typeface="Calibri" pitchFamily="34" charset="-122"/>
                <a:cs typeface="Calibri" pitchFamily="34" charset="-120"/>
              </a:rPr>
              <a:t>POTENTIAL CORE</a:t>
            </a:r>
            <a:endParaRPr lang="en-US" sz="1800" dirty="0"/>
          </a:p>
        </p:txBody>
      </p:sp>
      <p:sp>
        <p:nvSpPr>
          <p:cNvPr id="26" name="Text 24"/>
          <p:cNvSpPr/>
          <p:nvPr/>
        </p:nvSpPr>
        <p:spPr>
          <a:xfrm>
            <a:off x="4928616" y="2871216"/>
            <a:ext cx="3483864" cy="420624"/>
          </a:xfrm>
          <a:prstGeom prst="rect">
            <a:avLst/>
          </a:prstGeom>
          <a:noFill/>
          <a:ln/>
        </p:spPr>
        <p:txBody>
          <a:bodyPr wrap="square" lIns="0" tIns="0" rIns="0" bIns="0"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Broad-market ETF</a:t>
            </a:r>
            <a:endParaRPr lang="en-US" sz="2700" dirty="0"/>
          </a:p>
        </p:txBody>
      </p:sp>
      <p:sp>
        <p:nvSpPr>
          <p:cNvPr id="27" name="Text 25"/>
          <p:cNvSpPr/>
          <p:nvPr/>
        </p:nvSpPr>
        <p:spPr>
          <a:xfrm>
            <a:off x="4928616" y="3483864"/>
            <a:ext cx="3483864" cy="292608"/>
          </a:xfrm>
          <a:prstGeom prst="rect">
            <a:avLst/>
          </a:prstGeom>
          <a:noFill/>
          <a:ln/>
        </p:spPr>
        <p:txBody>
          <a:bodyPr wrap="square" lIns="0" tIns="0" rIns="0" bIns="0" rtlCol="0" anchor="ctr"/>
          <a:lstStyle/>
          <a:p>
            <a:pPr marL="0" indent="0">
              <a:buNone/>
            </a:pPr>
            <a:r>
              <a:rPr lang="en-US" sz="1800" dirty="0">
                <a:solidFill>
                  <a:srgbClr val="B7D0D0"/>
                </a:solidFill>
                <a:latin typeface="Calibri" pitchFamily="34" charset="0"/>
                <a:ea typeface="Calibri" pitchFamily="34" charset="-122"/>
                <a:cs typeface="Calibri" pitchFamily="34" charset="-120"/>
              </a:rPr>
              <a:t>Review: volatility + concentration</a:t>
            </a:r>
            <a:endParaRPr lang="en-US" sz="1800" dirty="0"/>
          </a:p>
        </p:txBody>
      </p:sp>
      <p:sp>
        <p:nvSpPr>
          <p:cNvPr id="28" name="Shape 26"/>
          <p:cNvSpPr/>
          <p:nvPr/>
        </p:nvSpPr>
        <p:spPr>
          <a:xfrm>
            <a:off x="4690872" y="4178808"/>
            <a:ext cx="3950208" cy="1819656"/>
          </a:xfrm>
          <a:prstGeom prst="roundRect">
            <a:avLst>
              <a:gd name="adj" fmla="val 7035"/>
            </a:avLst>
          </a:prstGeom>
          <a:solidFill>
            <a:srgbClr val="FFFFFF"/>
          </a:solidFill>
          <a:ln w="10160">
            <a:solidFill>
              <a:srgbClr val="D6E1DF"/>
            </a:solidFill>
            <a:prstDash val="solid"/>
          </a:ln>
        </p:spPr>
        <p:txBody>
          <a:bodyPr/>
          <a:lstStyle/>
          <a:p>
            <a:endParaRPr lang="en-US"/>
          </a:p>
        </p:txBody>
      </p:sp>
      <p:sp>
        <p:nvSpPr>
          <p:cNvPr id="29" name="Shape 27"/>
          <p:cNvSpPr/>
          <p:nvPr/>
        </p:nvSpPr>
        <p:spPr>
          <a:xfrm>
            <a:off x="4919472" y="4398264"/>
            <a:ext cx="3502152" cy="393192"/>
          </a:xfrm>
          <a:prstGeom prst="roundRect">
            <a:avLst>
              <a:gd name="adj" fmla="val 32558"/>
            </a:avLst>
          </a:prstGeom>
          <a:solidFill>
            <a:srgbClr val="E1F3ED"/>
          </a:solidFill>
          <a:ln w="12700">
            <a:solidFill>
              <a:srgbClr val="E1F3ED"/>
            </a:solidFill>
            <a:prstDash val="solid"/>
          </a:ln>
        </p:spPr>
        <p:txBody>
          <a:bodyPr/>
          <a:lstStyle/>
          <a:p>
            <a:endParaRPr lang="en-US"/>
          </a:p>
        </p:txBody>
      </p:sp>
      <p:sp>
        <p:nvSpPr>
          <p:cNvPr id="30" name="Text 28"/>
          <p:cNvSpPr/>
          <p:nvPr/>
        </p:nvSpPr>
        <p:spPr>
          <a:xfrm>
            <a:off x="5029200" y="4439412"/>
            <a:ext cx="3282696" cy="301752"/>
          </a:xfrm>
          <a:prstGeom prst="rect">
            <a:avLst/>
          </a:prstGeom>
          <a:noFill/>
          <a:ln/>
        </p:spPr>
        <p:txBody>
          <a:bodyPr wrap="square" lIns="0" tIns="0" rIns="0" bIns="0" rtlCol="0" anchor="ctr"/>
          <a:lstStyle/>
          <a:p>
            <a:pPr marL="0" indent="0" algn="ctr">
              <a:buNone/>
            </a:pPr>
            <a:r>
              <a:rPr lang="en-US" sz="1800" b="1" dirty="0">
                <a:solidFill>
                  <a:srgbClr val="007F74"/>
                </a:solidFill>
                <a:latin typeface="Calibri" pitchFamily="34" charset="0"/>
                <a:ea typeface="Calibri" pitchFamily="34" charset="-122"/>
                <a:cs typeface="Calibri" pitchFamily="34" charset="-120"/>
              </a:rPr>
              <a:t>INCOME-FOCUSED OPTION</a:t>
            </a:r>
            <a:endParaRPr lang="en-US" sz="1800" dirty="0"/>
          </a:p>
        </p:txBody>
      </p:sp>
      <p:sp>
        <p:nvSpPr>
          <p:cNvPr id="31" name="Text 29"/>
          <p:cNvSpPr/>
          <p:nvPr/>
        </p:nvSpPr>
        <p:spPr>
          <a:xfrm>
            <a:off x="4928616" y="4928616"/>
            <a:ext cx="3483864" cy="420624"/>
          </a:xfrm>
          <a:prstGeom prst="rect">
            <a:avLst/>
          </a:prstGeom>
          <a:noFill/>
          <a:ln/>
        </p:spPr>
        <p:txBody>
          <a:bodyPr wrap="square" lIns="0" tIns="0" rIns="0" bIns="0" rtlCol="0" anchor="ctr"/>
          <a:lstStyle/>
          <a:p>
            <a:pPr marL="0" indent="0">
              <a:buNone/>
            </a:pPr>
            <a:r>
              <a:rPr lang="en-US" sz="2700" b="1" dirty="0">
                <a:solidFill>
                  <a:srgbClr val="16333A"/>
                </a:solidFill>
                <a:latin typeface="Calibri" pitchFamily="34" charset="0"/>
                <a:ea typeface="Calibri" pitchFamily="34" charset="-122"/>
                <a:cs typeface="Calibri" pitchFamily="34" charset="-120"/>
              </a:rPr>
              <a:t>Dividend ETF</a:t>
            </a:r>
            <a:endParaRPr lang="en-US" sz="2700" dirty="0"/>
          </a:p>
        </p:txBody>
      </p:sp>
      <p:sp>
        <p:nvSpPr>
          <p:cNvPr id="32" name="Text 30"/>
          <p:cNvSpPr/>
          <p:nvPr/>
        </p:nvSpPr>
        <p:spPr>
          <a:xfrm>
            <a:off x="4928616" y="5541264"/>
            <a:ext cx="3483864" cy="292608"/>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Fit depends on your income needs.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5"/>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007F74">
              <a:alpha val="0"/>
            </a:srgbClr>
          </a:solidFill>
          <a:ln w="21590">
            <a:solidFill>
              <a:srgbClr val="007F74"/>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007F74">
              <a:alpha val="0"/>
            </a:srgbClr>
          </a:solidFill>
          <a:ln w="21590">
            <a:solidFill>
              <a:srgbClr val="007F74"/>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16333A"/>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5A7277"/>
                </a:solidFill>
                <a:latin typeface="Calibri" pitchFamily="34" charset="0"/>
                <a:ea typeface="Calibri" pitchFamily="34" charset="-122"/>
                <a:cs typeface="Calibri" pitchFamily="34" charset="-120"/>
              </a:rPr>
              <a:t>08</a:t>
            </a:r>
            <a:endParaRPr lang="en-US" sz="1800" dirty="0"/>
          </a:p>
        </p:txBody>
      </p:sp>
      <p:sp>
        <p:nvSpPr>
          <p:cNvPr id="6" name="Shape 4"/>
          <p:cNvSpPr/>
          <p:nvPr/>
        </p:nvSpPr>
        <p:spPr>
          <a:xfrm>
            <a:off x="502920" y="6318504"/>
            <a:ext cx="8138160" cy="0"/>
          </a:xfrm>
          <a:prstGeom prst="line">
            <a:avLst/>
          </a:prstGeom>
          <a:noFill/>
          <a:ln w="10160">
            <a:solidFill>
              <a:srgbClr val="D6E1DF"/>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PLANNED BETA  /  TARGETS, NOT TRACTION</a:t>
            </a:r>
            <a:endParaRPr lang="en-US" sz="1800" dirty="0"/>
          </a:p>
        </p:txBody>
      </p:sp>
      <p:sp>
        <p:nvSpPr>
          <p:cNvPr id="8" name="Text 6"/>
          <p:cNvSpPr/>
          <p:nvPr/>
        </p:nvSpPr>
        <p:spPr>
          <a:xfrm>
            <a:off x="502920" y="896112"/>
            <a:ext cx="8183880" cy="594360"/>
          </a:xfrm>
          <a:prstGeom prst="rect">
            <a:avLst/>
          </a:prstGeom>
          <a:noFill/>
          <a:ln/>
        </p:spPr>
        <p:txBody>
          <a:bodyPr wrap="square" lIns="0" tIns="0" rIns="0" bIns="0" rtlCol="0" anchor="ctr"/>
          <a:lstStyle/>
          <a:p>
            <a:pPr marL="0" indent="0">
              <a:buNone/>
            </a:pPr>
            <a:r>
              <a:rPr lang="en-US" sz="3200" b="1" dirty="0">
                <a:solidFill>
                  <a:srgbClr val="16333A"/>
                </a:solidFill>
                <a:latin typeface="Calibri" pitchFamily="34" charset="0"/>
                <a:ea typeface="Calibri" pitchFamily="34" charset="-122"/>
                <a:cs typeface="Calibri" pitchFamily="34" charset="-120"/>
              </a:rPr>
              <a:t>Test willingness to pay with 50 users.</a:t>
            </a:r>
            <a:endParaRPr lang="en-US" sz="3200" dirty="0"/>
          </a:p>
        </p:txBody>
      </p:sp>
      <p:sp>
        <p:nvSpPr>
          <p:cNvPr id="9" name="Text 7"/>
          <p:cNvSpPr/>
          <p:nvPr/>
        </p:nvSpPr>
        <p:spPr>
          <a:xfrm>
            <a:off x="502920" y="1517904"/>
            <a:ext cx="8138160" cy="384048"/>
          </a:xfrm>
          <a:prstGeom prst="rect">
            <a:avLst/>
          </a:prstGeom>
          <a:noFill/>
          <a:ln/>
        </p:spPr>
        <p:txBody>
          <a:bodyPr wrap="square" lIns="0" tIns="0" rIns="0" bIns="0" rtlCol="0" anchor="ctr"/>
          <a:lstStyle/>
          <a:p>
            <a:pPr marL="0" indent="0">
              <a:buNone/>
            </a:pPr>
            <a:r>
              <a:rPr lang="en-US" sz="2000" dirty="0">
                <a:solidFill>
                  <a:srgbClr val="5A7277"/>
                </a:solidFill>
                <a:latin typeface="Calibri" pitchFamily="34" charset="0"/>
                <a:ea typeface="Calibri" pitchFamily="34" charset="-122"/>
                <a:cs typeface="Calibri" pitchFamily="34" charset="-120"/>
              </a:rPr>
              <a:t>30-day beta. Directional learning before wider distribution.</a:t>
            </a:r>
            <a:endParaRPr lang="en-US" sz="2000" dirty="0"/>
          </a:p>
        </p:txBody>
      </p:sp>
      <p:sp>
        <p:nvSpPr>
          <p:cNvPr id="10" name="Text 8"/>
          <p:cNvSpPr/>
          <p:nvPr/>
        </p:nvSpPr>
        <p:spPr>
          <a:xfrm>
            <a:off x="502920" y="2308860"/>
            <a:ext cx="813816" cy="557784"/>
          </a:xfrm>
          <a:prstGeom prst="rect">
            <a:avLst/>
          </a:prstGeom>
          <a:noFill/>
          <a:ln/>
        </p:spPr>
        <p:txBody>
          <a:bodyPr wrap="square" lIns="0" tIns="0" rIns="0" bIns="0" rtlCol="0" anchor="ctr"/>
          <a:lstStyle/>
          <a:p>
            <a:pPr marL="0" indent="0">
              <a:buNone/>
            </a:pPr>
            <a:r>
              <a:rPr lang="en-US" sz="3900" b="1" dirty="0">
                <a:solidFill>
                  <a:srgbClr val="16333A"/>
                </a:solidFill>
                <a:latin typeface="Calibri" pitchFamily="34" charset="0"/>
                <a:ea typeface="Calibri" pitchFamily="34" charset="-122"/>
                <a:cs typeface="Calibri" pitchFamily="34" charset="-120"/>
              </a:rPr>
              <a:t>50</a:t>
            </a:r>
            <a:endParaRPr lang="en-US" sz="3900" dirty="0"/>
          </a:p>
        </p:txBody>
      </p:sp>
      <p:sp>
        <p:nvSpPr>
          <p:cNvPr id="11" name="Shape 9"/>
          <p:cNvSpPr/>
          <p:nvPr/>
        </p:nvSpPr>
        <p:spPr>
          <a:xfrm>
            <a:off x="1426464" y="2404872"/>
            <a:ext cx="2432304" cy="347472"/>
          </a:xfrm>
          <a:prstGeom prst="roundRect">
            <a:avLst>
              <a:gd name="adj" fmla="val 36842"/>
            </a:avLst>
          </a:prstGeom>
          <a:solidFill>
            <a:srgbClr val="E6EDEA"/>
          </a:solidFill>
          <a:ln w="12700">
            <a:solidFill>
              <a:srgbClr val="E6EDEA"/>
            </a:solidFill>
            <a:prstDash val="solid"/>
          </a:ln>
        </p:spPr>
        <p:txBody>
          <a:bodyPr/>
          <a:lstStyle/>
          <a:p>
            <a:endParaRPr lang="en-US"/>
          </a:p>
        </p:txBody>
      </p:sp>
      <p:sp>
        <p:nvSpPr>
          <p:cNvPr id="12" name="Shape 10"/>
          <p:cNvSpPr/>
          <p:nvPr/>
        </p:nvSpPr>
        <p:spPr>
          <a:xfrm>
            <a:off x="1426464" y="2404872"/>
            <a:ext cx="2432304" cy="347472"/>
          </a:xfrm>
          <a:prstGeom prst="roundRect">
            <a:avLst>
              <a:gd name="adj" fmla="val 36842"/>
            </a:avLst>
          </a:prstGeom>
          <a:solidFill>
            <a:srgbClr val="007F74"/>
          </a:solidFill>
          <a:ln w="12700">
            <a:solidFill>
              <a:srgbClr val="007F74"/>
            </a:solidFill>
            <a:prstDash val="solid"/>
          </a:ln>
        </p:spPr>
        <p:txBody>
          <a:bodyPr/>
          <a:lstStyle/>
          <a:p>
            <a:endParaRPr lang="en-US"/>
          </a:p>
        </p:txBody>
      </p:sp>
      <p:sp>
        <p:nvSpPr>
          <p:cNvPr id="13" name="Text 11"/>
          <p:cNvSpPr/>
          <p:nvPr/>
        </p:nvSpPr>
        <p:spPr>
          <a:xfrm>
            <a:off x="4059936" y="2382012"/>
            <a:ext cx="2130552" cy="429768"/>
          </a:xfrm>
          <a:prstGeom prst="rect">
            <a:avLst/>
          </a:prstGeom>
          <a:noFill/>
          <a:ln/>
        </p:spPr>
        <p:txBody>
          <a:bodyPr wrap="square" lIns="0" tIns="0" rIns="0" bIns="0" rtlCol="0" anchor="ctr"/>
          <a:lstStyle/>
          <a:p>
            <a:pPr marL="0" indent="0">
              <a:buNone/>
            </a:pPr>
            <a:r>
              <a:rPr lang="en-US" sz="2100" dirty="0">
                <a:solidFill>
                  <a:srgbClr val="16333A"/>
                </a:solidFill>
                <a:latin typeface="Calibri" pitchFamily="34" charset="0"/>
                <a:ea typeface="Calibri" pitchFamily="34" charset="-122"/>
                <a:cs typeface="Calibri" pitchFamily="34" charset="-120"/>
              </a:rPr>
              <a:t>Recruited users</a:t>
            </a:r>
            <a:endParaRPr lang="en-US" sz="2100" dirty="0"/>
          </a:p>
        </p:txBody>
      </p:sp>
      <p:sp>
        <p:nvSpPr>
          <p:cNvPr id="14" name="Text 12"/>
          <p:cNvSpPr/>
          <p:nvPr/>
        </p:nvSpPr>
        <p:spPr>
          <a:xfrm>
            <a:off x="502920" y="3031236"/>
            <a:ext cx="813816" cy="557784"/>
          </a:xfrm>
          <a:prstGeom prst="rect">
            <a:avLst/>
          </a:prstGeom>
          <a:noFill/>
          <a:ln/>
        </p:spPr>
        <p:txBody>
          <a:bodyPr wrap="square" lIns="0" tIns="0" rIns="0" bIns="0" rtlCol="0" anchor="ctr"/>
          <a:lstStyle/>
          <a:p>
            <a:pPr marL="0" indent="0">
              <a:buNone/>
            </a:pPr>
            <a:r>
              <a:rPr lang="en-US" sz="3900" b="1" dirty="0">
                <a:solidFill>
                  <a:srgbClr val="16333A"/>
                </a:solidFill>
                <a:latin typeface="Calibri" pitchFamily="34" charset="0"/>
                <a:ea typeface="Calibri" pitchFamily="34" charset="-122"/>
                <a:cs typeface="Calibri" pitchFamily="34" charset="-120"/>
              </a:rPr>
              <a:t>40</a:t>
            </a:r>
            <a:endParaRPr lang="en-US" sz="3900" dirty="0"/>
          </a:p>
        </p:txBody>
      </p:sp>
      <p:sp>
        <p:nvSpPr>
          <p:cNvPr id="15" name="Shape 13"/>
          <p:cNvSpPr/>
          <p:nvPr/>
        </p:nvSpPr>
        <p:spPr>
          <a:xfrm>
            <a:off x="1426464" y="3127248"/>
            <a:ext cx="2432304" cy="347472"/>
          </a:xfrm>
          <a:prstGeom prst="roundRect">
            <a:avLst>
              <a:gd name="adj" fmla="val 36842"/>
            </a:avLst>
          </a:prstGeom>
          <a:solidFill>
            <a:srgbClr val="E6EDEA"/>
          </a:solidFill>
          <a:ln w="12700">
            <a:solidFill>
              <a:srgbClr val="E6EDEA"/>
            </a:solidFill>
            <a:prstDash val="solid"/>
          </a:ln>
        </p:spPr>
        <p:txBody>
          <a:bodyPr/>
          <a:lstStyle/>
          <a:p>
            <a:endParaRPr lang="en-US"/>
          </a:p>
        </p:txBody>
      </p:sp>
      <p:sp>
        <p:nvSpPr>
          <p:cNvPr id="16" name="Shape 14"/>
          <p:cNvSpPr/>
          <p:nvPr/>
        </p:nvSpPr>
        <p:spPr>
          <a:xfrm>
            <a:off x="1426464" y="3127248"/>
            <a:ext cx="1945843" cy="347472"/>
          </a:xfrm>
          <a:prstGeom prst="roundRect">
            <a:avLst>
              <a:gd name="adj" fmla="val 36842"/>
            </a:avLst>
          </a:prstGeom>
          <a:solidFill>
            <a:srgbClr val="279A8C"/>
          </a:solidFill>
          <a:ln w="12700">
            <a:solidFill>
              <a:srgbClr val="279A8C"/>
            </a:solidFill>
            <a:prstDash val="solid"/>
          </a:ln>
        </p:spPr>
        <p:txBody>
          <a:bodyPr/>
          <a:lstStyle/>
          <a:p>
            <a:endParaRPr lang="en-US"/>
          </a:p>
        </p:txBody>
      </p:sp>
      <p:sp>
        <p:nvSpPr>
          <p:cNvPr id="17" name="Text 15"/>
          <p:cNvSpPr/>
          <p:nvPr/>
        </p:nvSpPr>
        <p:spPr>
          <a:xfrm>
            <a:off x="4059936" y="3104388"/>
            <a:ext cx="2130552" cy="429768"/>
          </a:xfrm>
          <a:prstGeom prst="rect">
            <a:avLst/>
          </a:prstGeom>
          <a:noFill/>
          <a:ln/>
        </p:spPr>
        <p:txBody>
          <a:bodyPr wrap="square" lIns="0" tIns="0" rIns="0" bIns="0" rtlCol="0" anchor="ctr"/>
          <a:lstStyle/>
          <a:p>
            <a:pPr marL="0" indent="0">
              <a:buNone/>
            </a:pPr>
            <a:r>
              <a:rPr lang="en-US" sz="2100" dirty="0">
                <a:solidFill>
                  <a:srgbClr val="16333A"/>
                </a:solidFill>
                <a:latin typeface="Calibri" pitchFamily="34" charset="0"/>
                <a:ea typeface="Calibri" pitchFamily="34" charset="-122"/>
                <a:cs typeface="Calibri" pitchFamily="34" charset="-120"/>
              </a:rPr>
              <a:t>Complete profile</a:t>
            </a:r>
            <a:endParaRPr lang="en-US" sz="2100" dirty="0"/>
          </a:p>
        </p:txBody>
      </p:sp>
      <p:sp>
        <p:nvSpPr>
          <p:cNvPr id="18" name="Text 16"/>
          <p:cNvSpPr/>
          <p:nvPr/>
        </p:nvSpPr>
        <p:spPr>
          <a:xfrm>
            <a:off x="502920" y="3753612"/>
            <a:ext cx="813816" cy="557784"/>
          </a:xfrm>
          <a:prstGeom prst="rect">
            <a:avLst/>
          </a:prstGeom>
          <a:noFill/>
          <a:ln/>
        </p:spPr>
        <p:txBody>
          <a:bodyPr wrap="square" lIns="0" tIns="0" rIns="0" bIns="0" rtlCol="0" anchor="ctr"/>
          <a:lstStyle/>
          <a:p>
            <a:pPr marL="0" indent="0">
              <a:buNone/>
            </a:pPr>
            <a:r>
              <a:rPr lang="en-US" sz="3900" b="1" dirty="0">
                <a:solidFill>
                  <a:srgbClr val="16333A"/>
                </a:solidFill>
                <a:latin typeface="Calibri" pitchFamily="34" charset="0"/>
                <a:ea typeface="Calibri" pitchFamily="34" charset="-122"/>
                <a:cs typeface="Calibri" pitchFamily="34" charset="-120"/>
              </a:rPr>
              <a:t>25</a:t>
            </a:r>
            <a:endParaRPr lang="en-US" sz="3900" dirty="0"/>
          </a:p>
        </p:txBody>
      </p:sp>
      <p:sp>
        <p:nvSpPr>
          <p:cNvPr id="19" name="Shape 17"/>
          <p:cNvSpPr/>
          <p:nvPr/>
        </p:nvSpPr>
        <p:spPr>
          <a:xfrm>
            <a:off x="1426464" y="3849624"/>
            <a:ext cx="2432304" cy="347472"/>
          </a:xfrm>
          <a:prstGeom prst="roundRect">
            <a:avLst>
              <a:gd name="adj" fmla="val 36842"/>
            </a:avLst>
          </a:prstGeom>
          <a:solidFill>
            <a:srgbClr val="E6EDEA"/>
          </a:solidFill>
          <a:ln w="12700">
            <a:solidFill>
              <a:srgbClr val="E6EDEA"/>
            </a:solidFill>
            <a:prstDash val="solid"/>
          </a:ln>
        </p:spPr>
        <p:txBody>
          <a:bodyPr/>
          <a:lstStyle/>
          <a:p>
            <a:endParaRPr lang="en-US"/>
          </a:p>
        </p:txBody>
      </p:sp>
      <p:sp>
        <p:nvSpPr>
          <p:cNvPr id="20" name="Shape 18"/>
          <p:cNvSpPr/>
          <p:nvPr/>
        </p:nvSpPr>
        <p:spPr>
          <a:xfrm>
            <a:off x="1426464" y="3849624"/>
            <a:ext cx="1216152" cy="347472"/>
          </a:xfrm>
          <a:prstGeom prst="roundRect">
            <a:avLst>
              <a:gd name="adj" fmla="val 36842"/>
            </a:avLst>
          </a:prstGeom>
          <a:solidFill>
            <a:srgbClr val="70BDAA"/>
          </a:solidFill>
          <a:ln w="12700">
            <a:solidFill>
              <a:srgbClr val="70BDAA"/>
            </a:solidFill>
            <a:prstDash val="solid"/>
          </a:ln>
        </p:spPr>
        <p:txBody>
          <a:bodyPr/>
          <a:lstStyle/>
          <a:p>
            <a:endParaRPr lang="en-US"/>
          </a:p>
        </p:txBody>
      </p:sp>
      <p:sp>
        <p:nvSpPr>
          <p:cNvPr id="21" name="Text 19"/>
          <p:cNvSpPr/>
          <p:nvPr/>
        </p:nvSpPr>
        <p:spPr>
          <a:xfrm>
            <a:off x="4059936" y="3826764"/>
            <a:ext cx="2130552" cy="429768"/>
          </a:xfrm>
          <a:prstGeom prst="rect">
            <a:avLst/>
          </a:prstGeom>
          <a:noFill/>
          <a:ln/>
        </p:spPr>
        <p:txBody>
          <a:bodyPr wrap="square" lIns="0" tIns="0" rIns="0" bIns="0" rtlCol="0" anchor="ctr"/>
          <a:lstStyle/>
          <a:p>
            <a:pPr marL="0" indent="0">
              <a:buNone/>
            </a:pPr>
            <a:r>
              <a:rPr lang="en-US" sz="2100" dirty="0">
                <a:solidFill>
                  <a:srgbClr val="16333A"/>
                </a:solidFill>
                <a:latin typeface="Calibri" pitchFamily="34" charset="0"/>
                <a:ea typeface="Calibri" pitchFamily="34" charset="-122"/>
                <a:cs typeface="Calibri" pitchFamily="34" charset="-120"/>
              </a:rPr>
              <a:t>Open report</a:t>
            </a:r>
            <a:endParaRPr lang="en-US" sz="2100" dirty="0"/>
          </a:p>
        </p:txBody>
      </p:sp>
      <p:sp>
        <p:nvSpPr>
          <p:cNvPr id="22" name="Text 20"/>
          <p:cNvSpPr/>
          <p:nvPr/>
        </p:nvSpPr>
        <p:spPr>
          <a:xfrm>
            <a:off x="502920" y="4475988"/>
            <a:ext cx="813816" cy="557784"/>
          </a:xfrm>
          <a:prstGeom prst="rect">
            <a:avLst/>
          </a:prstGeom>
          <a:noFill/>
          <a:ln/>
        </p:spPr>
        <p:txBody>
          <a:bodyPr wrap="square" lIns="0" tIns="0" rIns="0" bIns="0" rtlCol="0" anchor="ctr"/>
          <a:lstStyle/>
          <a:p>
            <a:pPr marL="0" indent="0">
              <a:buNone/>
            </a:pPr>
            <a:r>
              <a:rPr lang="en-US" sz="3900" b="1" dirty="0">
                <a:solidFill>
                  <a:srgbClr val="16333A"/>
                </a:solidFill>
                <a:latin typeface="Calibri" pitchFamily="34" charset="0"/>
                <a:ea typeface="Calibri" pitchFamily="34" charset="-122"/>
                <a:cs typeface="Calibri" pitchFamily="34" charset="-120"/>
              </a:rPr>
              <a:t>10</a:t>
            </a:r>
            <a:endParaRPr lang="en-US" sz="3900" dirty="0"/>
          </a:p>
        </p:txBody>
      </p:sp>
      <p:sp>
        <p:nvSpPr>
          <p:cNvPr id="23" name="Shape 21"/>
          <p:cNvSpPr/>
          <p:nvPr/>
        </p:nvSpPr>
        <p:spPr>
          <a:xfrm>
            <a:off x="1426464" y="4572000"/>
            <a:ext cx="2432304" cy="347472"/>
          </a:xfrm>
          <a:prstGeom prst="roundRect">
            <a:avLst>
              <a:gd name="adj" fmla="val 36842"/>
            </a:avLst>
          </a:prstGeom>
          <a:solidFill>
            <a:srgbClr val="E6EDEA"/>
          </a:solidFill>
          <a:ln w="12700">
            <a:solidFill>
              <a:srgbClr val="E6EDEA"/>
            </a:solidFill>
            <a:prstDash val="solid"/>
          </a:ln>
        </p:spPr>
        <p:txBody>
          <a:bodyPr/>
          <a:lstStyle/>
          <a:p>
            <a:endParaRPr lang="en-US"/>
          </a:p>
        </p:txBody>
      </p:sp>
      <p:sp>
        <p:nvSpPr>
          <p:cNvPr id="24" name="Shape 22"/>
          <p:cNvSpPr/>
          <p:nvPr/>
        </p:nvSpPr>
        <p:spPr>
          <a:xfrm>
            <a:off x="1426464" y="4572000"/>
            <a:ext cx="486461" cy="347472"/>
          </a:xfrm>
          <a:prstGeom prst="roundRect">
            <a:avLst>
              <a:gd name="adj" fmla="val 36842"/>
            </a:avLst>
          </a:prstGeom>
          <a:solidFill>
            <a:srgbClr val="E2A085"/>
          </a:solidFill>
          <a:ln w="12700">
            <a:solidFill>
              <a:srgbClr val="E2A085"/>
            </a:solidFill>
            <a:prstDash val="solid"/>
          </a:ln>
        </p:spPr>
        <p:txBody>
          <a:bodyPr/>
          <a:lstStyle/>
          <a:p>
            <a:endParaRPr lang="en-US"/>
          </a:p>
        </p:txBody>
      </p:sp>
      <p:sp>
        <p:nvSpPr>
          <p:cNvPr id="25" name="Text 23"/>
          <p:cNvSpPr/>
          <p:nvPr/>
        </p:nvSpPr>
        <p:spPr>
          <a:xfrm>
            <a:off x="4059936" y="4549140"/>
            <a:ext cx="2130552" cy="429768"/>
          </a:xfrm>
          <a:prstGeom prst="rect">
            <a:avLst/>
          </a:prstGeom>
          <a:noFill/>
          <a:ln/>
        </p:spPr>
        <p:txBody>
          <a:bodyPr wrap="square" lIns="0" tIns="0" rIns="0" bIns="0" rtlCol="0" anchor="ctr"/>
          <a:lstStyle/>
          <a:p>
            <a:pPr marL="0" indent="0">
              <a:buNone/>
            </a:pPr>
            <a:r>
              <a:rPr lang="en-US" sz="2100" b="1" dirty="0">
                <a:solidFill>
                  <a:srgbClr val="16333A"/>
                </a:solidFill>
                <a:latin typeface="Calibri" pitchFamily="34" charset="0"/>
                <a:ea typeface="Calibri" pitchFamily="34" charset="-122"/>
                <a:cs typeface="Calibri" pitchFamily="34" charset="-120"/>
              </a:rPr>
              <a:t>Pay for detail</a:t>
            </a:r>
            <a:endParaRPr lang="en-US" sz="2100" dirty="0"/>
          </a:p>
        </p:txBody>
      </p:sp>
      <p:sp>
        <p:nvSpPr>
          <p:cNvPr id="26" name="Shape 24"/>
          <p:cNvSpPr/>
          <p:nvPr/>
        </p:nvSpPr>
        <p:spPr>
          <a:xfrm>
            <a:off x="6519672" y="2167128"/>
            <a:ext cx="2121408" cy="3429000"/>
          </a:xfrm>
          <a:prstGeom prst="roundRect">
            <a:avLst>
              <a:gd name="adj" fmla="val 6034"/>
            </a:avLst>
          </a:prstGeom>
          <a:solidFill>
            <a:srgbClr val="102D36"/>
          </a:solidFill>
          <a:ln w="12700">
            <a:solidFill>
              <a:srgbClr val="102D36"/>
            </a:solidFill>
            <a:prstDash val="solid"/>
          </a:ln>
        </p:spPr>
        <p:txBody>
          <a:bodyPr/>
          <a:lstStyle/>
          <a:p>
            <a:endParaRPr lang="en-US"/>
          </a:p>
        </p:txBody>
      </p:sp>
      <p:sp>
        <p:nvSpPr>
          <p:cNvPr id="27" name="Text 25"/>
          <p:cNvSpPr/>
          <p:nvPr/>
        </p:nvSpPr>
        <p:spPr>
          <a:xfrm>
            <a:off x="6711696" y="2432304"/>
            <a:ext cx="1755648" cy="566928"/>
          </a:xfrm>
          <a:prstGeom prst="rect">
            <a:avLst/>
          </a:prstGeom>
          <a:noFill/>
          <a:ln/>
        </p:spPr>
        <p:txBody>
          <a:bodyPr wrap="square" lIns="0" tIns="0" rIns="0" bIns="0" rtlCol="0" anchor="t"/>
          <a:lstStyle/>
          <a:p>
            <a:pPr marL="0" indent="0">
              <a:buNone/>
            </a:pPr>
            <a:r>
              <a:rPr lang="en-US" sz="1800" b="1" dirty="0">
                <a:solidFill>
                  <a:srgbClr val="67DCC5"/>
                </a:solidFill>
                <a:latin typeface="Calibri" pitchFamily="34" charset="0"/>
                <a:ea typeface="Calibri" pitchFamily="34" charset="-122"/>
                <a:cs typeface="Calibri" pitchFamily="34" charset="-120"/>
              </a:rPr>
              <a:t>FIRST CHANNELS</a:t>
            </a:r>
            <a:endParaRPr lang="en-US" sz="1800" dirty="0"/>
          </a:p>
        </p:txBody>
      </p:sp>
      <p:sp>
        <p:nvSpPr>
          <p:cNvPr id="28" name="Text 26"/>
          <p:cNvSpPr/>
          <p:nvPr/>
        </p:nvSpPr>
        <p:spPr>
          <a:xfrm>
            <a:off x="6711696" y="3145536"/>
            <a:ext cx="1755648" cy="621792"/>
          </a:xfrm>
          <a:prstGeom prst="rect">
            <a:avLst/>
          </a:prstGeom>
          <a:noFill/>
          <a:ln/>
        </p:spPr>
        <p:txBody>
          <a:bodyPr wrap="square" lIns="0" tIns="0" rIns="0" bIns="0" rtlCol="0" anchor="t"/>
          <a:lstStyle/>
          <a:p>
            <a:pPr marL="0" indent="0">
              <a:buNone/>
            </a:pPr>
            <a:r>
              <a:rPr lang="en-US" sz="2100" b="1" dirty="0">
                <a:solidFill>
                  <a:srgbClr val="FFFFFF"/>
                </a:solidFill>
                <a:latin typeface="Calibri" pitchFamily="34" charset="0"/>
                <a:ea typeface="Calibri" pitchFamily="34" charset="-122"/>
                <a:cs typeface="Calibri" pitchFamily="34" charset="-120"/>
              </a:rPr>
              <a:t>University +</a:t>
            </a:r>
            <a:endParaRPr lang="en-US" sz="2100" dirty="0"/>
          </a:p>
          <a:p>
            <a:pPr marL="0" indent="0">
              <a:buNone/>
            </a:pPr>
            <a:r>
              <a:rPr lang="en-US" sz="2100" b="1" dirty="0">
                <a:solidFill>
                  <a:srgbClr val="FFFFFF"/>
                </a:solidFill>
                <a:latin typeface="Calibri" pitchFamily="34" charset="0"/>
                <a:ea typeface="Calibri" pitchFamily="34" charset="-122"/>
                <a:cs typeface="Calibri" pitchFamily="34" charset="-120"/>
              </a:rPr>
              <a:t>alumni</a:t>
            </a:r>
            <a:endParaRPr lang="en-US" sz="2100" dirty="0"/>
          </a:p>
        </p:txBody>
      </p:sp>
      <p:sp>
        <p:nvSpPr>
          <p:cNvPr id="29" name="Shape 27"/>
          <p:cNvSpPr/>
          <p:nvPr/>
        </p:nvSpPr>
        <p:spPr>
          <a:xfrm>
            <a:off x="6711696" y="3886200"/>
            <a:ext cx="1728216" cy="0"/>
          </a:xfrm>
          <a:prstGeom prst="line">
            <a:avLst/>
          </a:prstGeom>
          <a:noFill/>
          <a:ln w="10160">
            <a:solidFill>
              <a:srgbClr val="294B54"/>
            </a:solidFill>
            <a:prstDash val="solid"/>
            <a:headEnd type="none"/>
            <a:tailEnd type="none"/>
          </a:ln>
        </p:spPr>
        <p:txBody>
          <a:bodyPr/>
          <a:lstStyle/>
          <a:p>
            <a:endParaRPr lang="en-US"/>
          </a:p>
        </p:txBody>
      </p:sp>
      <p:sp>
        <p:nvSpPr>
          <p:cNvPr id="30" name="Text 28"/>
          <p:cNvSpPr/>
          <p:nvPr/>
        </p:nvSpPr>
        <p:spPr>
          <a:xfrm>
            <a:off x="6711696" y="4023360"/>
            <a:ext cx="1755648" cy="621792"/>
          </a:xfrm>
          <a:prstGeom prst="rect">
            <a:avLst/>
          </a:prstGeom>
          <a:noFill/>
          <a:ln/>
        </p:spPr>
        <p:txBody>
          <a:bodyPr wrap="square" lIns="0" tIns="0" rIns="0" bIns="0" rtlCol="0" anchor="t"/>
          <a:lstStyle/>
          <a:p>
            <a:pPr marL="0" indent="0">
              <a:buNone/>
            </a:pPr>
            <a:r>
              <a:rPr lang="en-US" sz="2100" b="1" dirty="0">
                <a:solidFill>
                  <a:srgbClr val="FFFFFF"/>
                </a:solidFill>
                <a:latin typeface="Calibri" pitchFamily="34" charset="0"/>
                <a:ea typeface="Calibri" pitchFamily="34" charset="-122"/>
                <a:cs typeface="Calibri" pitchFamily="34" charset="-120"/>
              </a:rPr>
              <a:t>Investing clubs</a:t>
            </a:r>
            <a:endParaRPr lang="en-US" sz="2100" dirty="0"/>
          </a:p>
          <a:p>
            <a:pPr marL="0" indent="0">
              <a:buNone/>
            </a:pPr>
            <a:r>
              <a:rPr lang="en-US" sz="2100" b="1" dirty="0">
                <a:solidFill>
                  <a:srgbClr val="FFFFFF"/>
                </a:solidFill>
                <a:latin typeface="Calibri" pitchFamily="34" charset="0"/>
                <a:ea typeface="Calibri" pitchFamily="34" charset="-122"/>
                <a:cs typeface="Calibri" pitchFamily="34" charset="-120"/>
              </a:rPr>
              <a:t>+ referrals</a:t>
            </a:r>
            <a:endParaRPr lang="en-US" sz="2100" dirty="0"/>
          </a:p>
        </p:txBody>
      </p:sp>
      <p:sp>
        <p:nvSpPr>
          <p:cNvPr id="31" name="Shape 29"/>
          <p:cNvSpPr/>
          <p:nvPr/>
        </p:nvSpPr>
        <p:spPr>
          <a:xfrm>
            <a:off x="6711696" y="4754880"/>
            <a:ext cx="1728216" cy="0"/>
          </a:xfrm>
          <a:prstGeom prst="line">
            <a:avLst/>
          </a:prstGeom>
          <a:noFill/>
          <a:ln w="10160">
            <a:solidFill>
              <a:srgbClr val="294B54"/>
            </a:solidFill>
            <a:prstDash val="solid"/>
            <a:headEnd type="none"/>
            <a:tailEnd type="none"/>
          </a:ln>
        </p:spPr>
        <p:txBody>
          <a:bodyPr/>
          <a:lstStyle/>
          <a:p>
            <a:endParaRPr lang="en-US"/>
          </a:p>
        </p:txBody>
      </p:sp>
      <p:sp>
        <p:nvSpPr>
          <p:cNvPr id="32" name="Text 30"/>
          <p:cNvSpPr/>
          <p:nvPr/>
        </p:nvSpPr>
        <p:spPr>
          <a:xfrm>
            <a:off x="6711696" y="4901184"/>
            <a:ext cx="1755648" cy="603504"/>
          </a:xfrm>
          <a:prstGeom prst="rect">
            <a:avLst/>
          </a:prstGeom>
          <a:noFill/>
          <a:ln/>
        </p:spPr>
        <p:txBody>
          <a:bodyPr wrap="square" lIns="0" tIns="0" rIns="0" bIns="0" rtlCol="0" anchor="t"/>
          <a:lstStyle/>
          <a:p>
            <a:pPr marL="0" indent="0">
              <a:buNone/>
            </a:pPr>
            <a:r>
              <a:rPr lang="en-US" sz="2100" b="1" dirty="0">
                <a:solidFill>
                  <a:srgbClr val="FFFFFF"/>
                </a:solidFill>
                <a:latin typeface="Calibri" pitchFamily="34" charset="0"/>
                <a:ea typeface="Calibri" pitchFamily="34" charset="-122"/>
                <a:cs typeface="Calibri" pitchFamily="34" charset="-120"/>
              </a:rPr>
              <a:t>Sample-report</a:t>
            </a:r>
            <a:endParaRPr lang="en-US" sz="2100" dirty="0"/>
          </a:p>
          <a:p>
            <a:pPr marL="0" indent="0">
              <a:buNone/>
            </a:pPr>
            <a:r>
              <a:rPr lang="en-US" sz="2100" b="1" dirty="0">
                <a:solidFill>
                  <a:srgbClr val="FFFFFF"/>
                </a:solidFill>
                <a:latin typeface="Calibri" pitchFamily="34" charset="0"/>
                <a:ea typeface="Calibri" pitchFamily="34" charset="-122"/>
                <a:cs typeface="Calibri" pitchFamily="34" charset="-120"/>
              </a:rPr>
              <a:t>content</a:t>
            </a:r>
            <a:endParaRPr lang="en-US" sz="2100" dirty="0"/>
          </a:p>
        </p:txBody>
      </p:sp>
      <p:sp>
        <p:nvSpPr>
          <p:cNvPr id="33" name="Shape 31"/>
          <p:cNvSpPr/>
          <p:nvPr/>
        </p:nvSpPr>
        <p:spPr>
          <a:xfrm>
            <a:off x="502920" y="5696712"/>
            <a:ext cx="8138160" cy="448056"/>
          </a:xfrm>
          <a:prstGeom prst="roundRect">
            <a:avLst>
              <a:gd name="adj" fmla="val 28571"/>
            </a:avLst>
          </a:prstGeom>
          <a:solidFill>
            <a:srgbClr val="E1F3ED"/>
          </a:solidFill>
          <a:ln w="12700">
            <a:solidFill>
              <a:srgbClr val="E1F3ED"/>
            </a:solidFill>
            <a:prstDash val="solid"/>
          </a:ln>
        </p:spPr>
        <p:txBody>
          <a:bodyPr/>
          <a:lstStyle/>
          <a:p>
            <a:endParaRPr lang="en-US"/>
          </a:p>
        </p:txBody>
      </p:sp>
      <p:sp>
        <p:nvSpPr>
          <p:cNvPr id="34" name="Text 32"/>
          <p:cNvSpPr/>
          <p:nvPr/>
        </p:nvSpPr>
        <p:spPr>
          <a:xfrm>
            <a:off x="713232" y="5774436"/>
            <a:ext cx="4005072" cy="274320"/>
          </a:xfrm>
          <a:prstGeom prst="rect">
            <a:avLst/>
          </a:prstGeom>
          <a:noFill/>
          <a:ln/>
        </p:spPr>
        <p:txBody>
          <a:bodyPr wrap="square" lIns="0" tIns="0" rIns="0" bIns="0" rtlCol="0" anchor="ctr"/>
          <a:lstStyle/>
          <a:p>
            <a:pPr marL="0" indent="0">
              <a:buNone/>
            </a:pPr>
            <a:r>
              <a:rPr lang="en-US" sz="2100" b="1" dirty="0">
                <a:solidFill>
                  <a:srgbClr val="007F74"/>
                </a:solidFill>
                <a:latin typeface="Calibri" pitchFamily="34" charset="0"/>
                <a:ea typeface="Calibri" pitchFamily="34" charset="-122"/>
                <a:cs typeface="Calibri" pitchFamily="34" charset="-120"/>
              </a:rPr>
              <a:t>80% profile completion target</a:t>
            </a:r>
            <a:endParaRPr lang="en-US" sz="2100" dirty="0"/>
          </a:p>
        </p:txBody>
      </p:sp>
      <p:sp>
        <p:nvSpPr>
          <p:cNvPr id="35" name="Text 33"/>
          <p:cNvSpPr/>
          <p:nvPr/>
        </p:nvSpPr>
        <p:spPr>
          <a:xfrm>
            <a:off x="4709160" y="5774436"/>
            <a:ext cx="3703320" cy="274320"/>
          </a:xfrm>
          <a:prstGeom prst="rect">
            <a:avLst/>
          </a:prstGeom>
          <a:noFill/>
          <a:ln/>
        </p:spPr>
        <p:txBody>
          <a:bodyPr wrap="square" lIns="0" tIns="0" rIns="0" bIns="0" rtlCol="0" anchor="ctr"/>
          <a:lstStyle/>
          <a:p>
            <a:pPr marL="0" indent="0">
              <a:buNone/>
            </a:pPr>
            <a:r>
              <a:rPr lang="en-US" sz="2100" b="1" dirty="0">
                <a:solidFill>
                  <a:srgbClr val="007F74"/>
                </a:solidFill>
                <a:latin typeface="Calibri" pitchFamily="34" charset="0"/>
                <a:ea typeface="Calibri" pitchFamily="34" charset="-122"/>
                <a:cs typeface="Calibri" pitchFamily="34" charset="-120"/>
              </a:rPr>
              <a:t>20% paid conversion target</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5"/>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007F74">
              <a:alpha val="0"/>
            </a:srgbClr>
          </a:solidFill>
          <a:ln w="21590">
            <a:solidFill>
              <a:srgbClr val="007F74"/>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007F74">
              <a:alpha val="0"/>
            </a:srgbClr>
          </a:solidFill>
          <a:ln w="21590">
            <a:solidFill>
              <a:srgbClr val="007F74"/>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16333A"/>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5A7277"/>
                </a:solidFill>
                <a:latin typeface="Calibri" pitchFamily="34" charset="0"/>
                <a:ea typeface="Calibri" pitchFamily="34" charset="-122"/>
                <a:cs typeface="Calibri" pitchFamily="34" charset="-120"/>
              </a:rPr>
              <a:t>09</a:t>
            </a:r>
            <a:endParaRPr lang="en-US" sz="1800" dirty="0"/>
          </a:p>
        </p:txBody>
      </p:sp>
      <p:sp>
        <p:nvSpPr>
          <p:cNvPr id="6" name="Shape 4"/>
          <p:cNvSpPr/>
          <p:nvPr/>
        </p:nvSpPr>
        <p:spPr>
          <a:xfrm>
            <a:off x="502920" y="6318504"/>
            <a:ext cx="8138160" cy="0"/>
          </a:xfrm>
          <a:prstGeom prst="line">
            <a:avLst/>
          </a:prstGeom>
          <a:noFill/>
          <a:ln w="10160">
            <a:solidFill>
              <a:srgbClr val="D6E1DF"/>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5A7277"/>
                </a:solidFill>
                <a:latin typeface="Calibri" pitchFamily="34" charset="0"/>
                <a:ea typeface="Calibri" pitchFamily="34" charset="-122"/>
                <a:cs typeface="Calibri" pitchFamily="34" charset="-120"/>
              </a:rPr>
              <a:t>BUDGET &amp; PRICING HYPOTHESES</a:t>
            </a:r>
            <a:endParaRPr lang="en-US" sz="1800" dirty="0"/>
          </a:p>
        </p:txBody>
      </p:sp>
      <p:sp>
        <p:nvSpPr>
          <p:cNvPr id="8" name="Text 6"/>
          <p:cNvSpPr/>
          <p:nvPr/>
        </p:nvSpPr>
        <p:spPr>
          <a:xfrm>
            <a:off x="502920" y="896112"/>
            <a:ext cx="8183880" cy="594360"/>
          </a:xfrm>
          <a:prstGeom prst="rect">
            <a:avLst/>
          </a:prstGeom>
          <a:noFill/>
          <a:ln/>
        </p:spPr>
        <p:txBody>
          <a:bodyPr wrap="square" lIns="0" tIns="0" rIns="0" bIns="0" rtlCol="0" anchor="ctr"/>
          <a:lstStyle/>
          <a:p>
            <a:pPr marL="0" indent="0">
              <a:buNone/>
            </a:pPr>
            <a:r>
              <a:rPr lang="en-US" sz="3300" b="1" dirty="0">
                <a:solidFill>
                  <a:srgbClr val="16333A"/>
                </a:solidFill>
                <a:latin typeface="Calibri" pitchFamily="34" charset="0"/>
                <a:ea typeface="Calibri" pitchFamily="34" charset="-122"/>
                <a:cs typeface="Calibri" pitchFamily="34" charset="-120"/>
              </a:rPr>
              <a:t>A small budget to test paid demand.</a:t>
            </a:r>
            <a:endParaRPr lang="en-US" sz="3300" dirty="0"/>
          </a:p>
        </p:txBody>
      </p:sp>
      <p:sp>
        <p:nvSpPr>
          <p:cNvPr id="9" name="Text 7"/>
          <p:cNvSpPr/>
          <p:nvPr/>
        </p:nvSpPr>
        <p:spPr>
          <a:xfrm>
            <a:off x="502920" y="1517904"/>
            <a:ext cx="8138160" cy="384048"/>
          </a:xfrm>
          <a:prstGeom prst="rect">
            <a:avLst/>
          </a:prstGeom>
          <a:noFill/>
          <a:ln/>
        </p:spPr>
        <p:txBody>
          <a:bodyPr wrap="square" lIns="0" tIns="0" rIns="0" bIns="0" rtlCol="0" anchor="ctr"/>
          <a:lstStyle/>
          <a:p>
            <a:pPr marL="0" indent="0">
              <a:buNone/>
            </a:pPr>
            <a:r>
              <a:rPr lang="en-US" sz="2000" dirty="0">
                <a:solidFill>
                  <a:srgbClr val="5A7277"/>
                </a:solidFill>
                <a:latin typeface="Calibri" pitchFamily="34" charset="0"/>
                <a:ea typeface="Calibri" pitchFamily="34" charset="-122"/>
                <a:cs typeface="Calibri" pitchFamily="34" charset="-120"/>
              </a:rPr>
              <a:t>Validate a one-time report before exploring subscriptions.</a:t>
            </a:r>
            <a:endParaRPr lang="en-US" sz="2000" dirty="0"/>
          </a:p>
        </p:txBody>
      </p:sp>
      <p:sp>
        <p:nvSpPr>
          <p:cNvPr id="10" name="Shape 8"/>
          <p:cNvSpPr/>
          <p:nvPr/>
        </p:nvSpPr>
        <p:spPr>
          <a:xfrm>
            <a:off x="502920" y="2103120"/>
            <a:ext cx="3255264" cy="3639312"/>
          </a:xfrm>
          <a:prstGeom prst="roundRect">
            <a:avLst>
              <a:gd name="adj" fmla="val 3933"/>
            </a:avLst>
          </a:prstGeom>
          <a:solidFill>
            <a:srgbClr val="102D36"/>
          </a:solidFill>
          <a:ln w="12700">
            <a:solidFill>
              <a:srgbClr val="102D36"/>
            </a:solidFill>
            <a:prstDash val="solid"/>
          </a:ln>
        </p:spPr>
        <p:txBody>
          <a:bodyPr/>
          <a:lstStyle/>
          <a:p>
            <a:endParaRPr lang="en-US"/>
          </a:p>
        </p:txBody>
      </p:sp>
      <p:sp>
        <p:nvSpPr>
          <p:cNvPr id="11" name="Text 9"/>
          <p:cNvSpPr/>
          <p:nvPr/>
        </p:nvSpPr>
        <p:spPr>
          <a:xfrm>
            <a:off x="768096" y="2395728"/>
            <a:ext cx="2724912" cy="301752"/>
          </a:xfrm>
          <a:prstGeom prst="rect">
            <a:avLst/>
          </a:prstGeom>
          <a:noFill/>
          <a:ln/>
        </p:spPr>
        <p:txBody>
          <a:bodyPr wrap="square" lIns="0" tIns="0" rIns="0" bIns="0" rtlCol="0" anchor="ctr"/>
          <a:lstStyle/>
          <a:p>
            <a:pPr marL="0" indent="0">
              <a:buNone/>
            </a:pPr>
            <a:r>
              <a:rPr lang="en-US" sz="1800" b="1" dirty="0">
                <a:solidFill>
                  <a:srgbClr val="67DCC5"/>
                </a:solidFill>
                <a:latin typeface="Calibri" pitchFamily="34" charset="0"/>
                <a:ea typeface="Calibri" pitchFamily="34" charset="-122"/>
                <a:cs typeface="Calibri" pitchFamily="34" charset="-120"/>
              </a:rPr>
              <a:t>DETAILED REPORT</a:t>
            </a:r>
            <a:endParaRPr lang="en-US" sz="1800" dirty="0"/>
          </a:p>
        </p:txBody>
      </p:sp>
      <p:sp>
        <p:nvSpPr>
          <p:cNvPr id="12" name="Text 10"/>
          <p:cNvSpPr/>
          <p:nvPr/>
        </p:nvSpPr>
        <p:spPr>
          <a:xfrm>
            <a:off x="768096" y="2880360"/>
            <a:ext cx="2724912" cy="850392"/>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$19</a:t>
            </a:r>
            <a:endParaRPr lang="en-US" sz="6400" dirty="0"/>
          </a:p>
        </p:txBody>
      </p:sp>
      <p:sp>
        <p:nvSpPr>
          <p:cNvPr id="13" name="Shape 11"/>
          <p:cNvSpPr/>
          <p:nvPr/>
        </p:nvSpPr>
        <p:spPr>
          <a:xfrm>
            <a:off x="768096" y="3968496"/>
            <a:ext cx="2724912" cy="0"/>
          </a:xfrm>
          <a:prstGeom prst="line">
            <a:avLst/>
          </a:prstGeom>
          <a:noFill/>
          <a:ln w="10160">
            <a:solidFill>
              <a:srgbClr val="294B54"/>
            </a:solidFill>
            <a:prstDash val="solid"/>
            <a:headEnd type="none"/>
            <a:tailEnd type="none"/>
          </a:ln>
        </p:spPr>
        <p:txBody>
          <a:bodyPr/>
          <a:lstStyle/>
          <a:p>
            <a:endParaRPr lang="en-US"/>
          </a:p>
        </p:txBody>
      </p:sp>
      <p:sp>
        <p:nvSpPr>
          <p:cNvPr id="14" name="Text 12"/>
          <p:cNvSpPr/>
          <p:nvPr/>
        </p:nvSpPr>
        <p:spPr>
          <a:xfrm>
            <a:off x="768096" y="4151376"/>
            <a:ext cx="2724912" cy="356616"/>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Free entry</a:t>
            </a:r>
            <a:endParaRPr lang="en-US" sz="2400" dirty="0"/>
          </a:p>
        </p:txBody>
      </p:sp>
      <p:sp>
        <p:nvSpPr>
          <p:cNvPr id="15" name="Text 13"/>
          <p:cNvSpPr/>
          <p:nvPr/>
        </p:nvSpPr>
        <p:spPr>
          <a:xfrm>
            <a:off x="768096" y="4590288"/>
            <a:ext cx="2724912" cy="310896"/>
          </a:xfrm>
          <a:prstGeom prst="rect">
            <a:avLst/>
          </a:prstGeom>
          <a:noFill/>
          <a:ln/>
        </p:spPr>
        <p:txBody>
          <a:bodyPr wrap="square" lIns="0" tIns="0" rIns="0" bIns="0" rtlCol="0" anchor="ctr"/>
          <a:lstStyle/>
          <a:p>
            <a:pPr marL="0" indent="0">
              <a:buNone/>
            </a:pPr>
            <a:r>
              <a:rPr lang="en-US" sz="2000" dirty="0">
                <a:solidFill>
                  <a:srgbClr val="B7D0D0"/>
                </a:solidFill>
                <a:latin typeface="Calibri" pitchFamily="34" charset="0"/>
                <a:ea typeface="Calibri" pitchFamily="34" charset="-122"/>
                <a:cs typeface="Calibri" pitchFamily="34" charset="-120"/>
              </a:rPr>
              <a:t>Basic profile summary</a:t>
            </a:r>
            <a:endParaRPr lang="en-US" sz="2000" dirty="0"/>
          </a:p>
        </p:txBody>
      </p:sp>
      <p:sp>
        <p:nvSpPr>
          <p:cNvPr id="16" name="Text 14"/>
          <p:cNvSpPr/>
          <p:nvPr/>
        </p:nvSpPr>
        <p:spPr>
          <a:xfrm>
            <a:off x="768096" y="5093208"/>
            <a:ext cx="2724912" cy="566928"/>
          </a:xfrm>
          <a:prstGeom prst="rect">
            <a:avLst/>
          </a:prstGeom>
          <a:noFill/>
          <a:ln/>
        </p:spPr>
        <p:txBody>
          <a:bodyPr wrap="square" lIns="0" tIns="0" rIns="0" bIns="0" rtlCol="0" anchor="t"/>
          <a:lstStyle/>
          <a:p>
            <a:pPr marL="0" indent="0">
              <a:buNone/>
            </a:pPr>
            <a:r>
              <a:rPr lang="en-US" sz="2000" dirty="0">
                <a:solidFill>
                  <a:srgbClr val="B7D0D0"/>
                </a:solidFill>
                <a:latin typeface="Calibri" pitchFamily="34" charset="0"/>
                <a:ea typeface="Calibri" pitchFamily="34" charset="-122"/>
                <a:cs typeface="Calibri" pitchFamily="34" charset="-120"/>
              </a:rPr>
              <a:t>Later: premium refresh</a:t>
            </a:r>
            <a:endParaRPr lang="en-US" sz="2000" dirty="0"/>
          </a:p>
          <a:p>
            <a:pPr marL="0" indent="0">
              <a:buNone/>
            </a:pPr>
            <a:r>
              <a:rPr lang="en-US" sz="2000" dirty="0">
                <a:solidFill>
                  <a:srgbClr val="B7D0D0"/>
                </a:solidFill>
                <a:latin typeface="Calibri" pitchFamily="34" charset="0"/>
                <a:ea typeface="Calibri" pitchFamily="34" charset="-122"/>
                <a:cs typeface="Calibri" pitchFamily="34" charset="-120"/>
              </a:rPr>
              <a:t>or subscription</a:t>
            </a:r>
            <a:endParaRPr lang="en-US" sz="2000" dirty="0"/>
          </a:p>
        </p:txBody>
      </p:sp>
      <p:sp>
        <p:nvSpPr>
          <p:cNvPr id="17" name="Text 15"/>
          <p:cNvSpPr/>
          <p:nvPr/>
        </p:nvSpPr>
        <p:spPr>
          <a:xfrm>
            <a:off x="4233672" y="2167128"/>
            <a:ext cx="4407408" cy="429768"/>
          </a:xfrm>
          <a:prstGeom prst="rect">
            <a:avLst/>
          </a:prstGeom>
          <a:noFill/>
          <a:ln/>
        </p:spPr>
        <p:txBody>
          <a:bodyPr wrap="square" lIns="0" tIns="0" rIns="0" bIns="0" rtlCol="0" anchor="ctr"/>
          <a:lstStyle/>
          <a:p>
            <a:pPr marL="0" indent="0">
              <a:buNone/>
            </a:pPr>
            <a:r>
              <a:rPr lang="en-US" sz="2800" b="1" dirty="0">
                <a:solidFill>
                  <a:srgbClr val="16333A"/>
                </a:solidFill>
                <a:latin typeface="Calibri" pitchFamily="34" charset="0"/>
                <a:ea typeface="Calibri" pitchFamily="34" charset="-122"/>
                <a:cs typeface="Calibri" pitchFamily="34" charset="-120"/>
              </a:rPr>
              <a:t>$1,000 beta budget</a:t>
            </a:r>
            <a:endParaRPr lang="en-US" sz="2800" dirty="0"/>
          </a:p>
        </p:txBody>
      </p:sp>
      <p:sp>
        <p:nvSpPr>
          <p:cNvPr id="18" name="Shape 16"/>
          <p:cNvSpPr/>
          <p:nvPr/>
        </p:nvSpPr>
        <p:spPr>
          <a:xfrm>
            <a:off x="4233672" y="2834640"/>
            <a:ext cx="1322222" cy="384048"/>
          </a:xfrm>
          <a:prstGeom prst="rect">
            <a:avLst/>
          </a:prstGeom>
          <a:solidFill>
            <a:srgbClr val="007F74"/>
          </a:solidFill>
          <a:ln w="12700">
            <a:solidFill>
              <a:srgbClr val="007F74"/>
            </a:solidFill>
            <a:prstDash val="solid"/>
          </a:ln>
        </p:spPr>
        <p:txBody>
          <a:bodyPr/>
          <a:lstStyle/>
          <a:p>
            <a:endParaRPr lang="en-US"/>
          </a:p>
        </p:txBody>
      </p:sp>
      <p:sp>
        <p:nvSpPr>
          <p:cNvPr id="19" name="Shape 17"/>
          <p:cNvSpPr/>
          <p:nvPr/>
        </p:nvSpPr>
        <p:spPr>
          <a:xfrm>
            <a:off x="5555894" y="2834640"/>
            <a:ext cx="1542593" cy="384048"/>
          </a:xfrm>
          <a:prstGeom prst="rect">
            <a:avLst/>
          </a:prstGeom>
          <a:solidFill>
            <a:srgbClr val="67B9A7"/>
          </a:solidFill>
          <a:ln w="12700">
            <a:solidFill>
              <a:srgbClr val="67B9A7"/>
            </a:solidFill>
            <a:prstDash val="solid"/>
          </a:ln>
        </p:spPr>
        <p:txBody>
          <a:bodyPr/>
          <a:lstStyle/>
          <a:p>
            <a:endParaRPr lang="en-US"/>
          </a:p>
        </p:txBody>
      </p:sp>
      <p:sp>
        <p:nvSpPr>
          <p:cNvPr id="20" name="Shape 18"/>
          <p:cNvSpPr/>
          <p:nvPr/>
        </p:nvSpPr>
        <p:spPr>
          <a:xfrm>
            <a:off x="7098487" y="2834640"/>
            <a:ext cx="440741" cy="384048"/>
          </a:xfrm>
          <a:prstGeom prst="rect">
            <a:avLst/>
          </a:prstGeom>
          <a:solidFill>
            <a:srgbClr val="E2A085"/>
          </a:solidFill>
          <a:ln w="12700">
            <a:solidFill>
              <a:srgbClr val="E2A085"/>
            </a:solidFill>
            <a:prstDash val="solid"/>
          </a:ln>
        </p:spPr>
        <p:txBody>
          <a:bodyPr/>
          <a:lstStyle/>
          <a:p>
            <a:endParaRPr lang="en-US"/>
          </a:p>
        </p:txBody>
      </p:sp>
      <p:sp>
        <p:nvSpPr>
          <p:cNvPr id="21" name="Shape 19"/>
          <p:cNvSpPr/>
          <p:nvPr/>
        </p:nvSpPr>
        <p:spPr>
          <a:xfrm>
            <a:off x="7539228" y="2834640"/>
            <a:ext cx="1101852" cy="384048"/>
          </a:xfrm>
          <a:prstGeom prst="rect">
            <a:avLst/>
          </a:prstGeom>
          <a:solidFill>
            <a:srgbClr val="8AA4A6"/>
          </a:solidFill>
          <a:ln w="12700">
            <a:solidFill>
              <a:srgbClr val="8AA4A6"/>
            </a:solidFill>
            <a:prstDash val="solid"/>
          </a:ln>
        </p:spPr>
        <p:txBody>
          <a:bodyPr/>
          <a:lstStyle/>
          <a:p>
            <a:endParaRPr lang="en-US"/>
          </a:p>
        </p:txBody>
      </p:sp>
      <p:sp>
        <p:nvSpPr>
          <p:cNvPr id="22" name="Shape 20"/>
          <p:cNvSpPr/>
          <p:nvPr/>
        </p:nvSpPr>
        <p:spPr>
          <a:xfrm>
            <a:off x="4233672" y="3639312"/>
            <a:ext cx="164592" cy="164592"/>
          </a:xfrm>
          <a:prstGeom prst="rect">
            <a:avLst/>
          </a:prstGeom>
          <a:solidFill>
            <a:srgbClr val="007F74"/>
          </a:solidFill>
          <a:ln w="12700">
            <a:solidFill>
              <a:srgbClr val="007F74"/>
            </a:solidFill>
            <a:prstDash val="solid"/>
          </a:ln>
        </p:spPr>
        <p:txBody>
          <a:bodyPr/>
          <a:lstStyle/>
          <a:p>
            <a:endParaRPr lang="en-US"/>
          </a:p>
        </p:txBody>
      </p:sp>
      <p:sp>
        <p:nvSpPr>
          <p:cNvPr id="23" name="Text 21"/>
          <p:cNvSpPr/>
          <p:nvPr/>
        </p:nvSpPr>
        <p:spPr>
          <a:xfrm>
            <a:off x="4562856" y="3547872"/>
            <a:ext cx="2926080" cy="356616"/>
          </a:xfrm>
          <a:prstGeom prst="rect">
            <a:avLst/>
          </a:prstGeom>
          <a:noFill/>
          <a:ln/>
        </p:spPr>
        <p:txBody>
          <a:bodyPr wrap="square" lIns="0" tIns="0" rIns="0" bIns="0" rtlCol="0" anchor="ctr"/>
          <a:lstStyle/>
          <a:p>
            <a:pPr marL="0" indent="0">
              <a:buNone/>
            </a:pPr>
            <a:r>
              <a:rPr lang="en-US" sz="2100" dirty="0">
                <a:solidFill>
                  <a:srgbClr val="16333A"/>
                </a:solidFill>
                <a:latin typeface="Calibri" pitchFamily="34" charset="0"/>
                <a:ea typeface="Calibri" pitchFamily="34" charset="-122"/>
                <a:cs typeface="Calibri" pitchFamily="34" charset="-120"/>
              </a:rPr>
              <a:t>AI / compute</a:t>
            </a:r>
            <a:endParaRPr lang="en-US" sz="2100" dirty="0"/>
          </a:p>
        </p:txBody>
      </p:sp>
      <p:sp>
        <p:nvSpPr>
          <p:cNvPr id="24" name="Text 22"/>
          <p:cNvSpPr/>
          <p:nvPr/>
        </p:nvSpPr>
        <p:spPr>
          <a:xfrm>
            <a:off x="7534656" y="3547872"/>
            <a:ext cx="1106424" cy="374904"/>
          </a:xfrm>
          <a:prstGeom prst="rect">
            <a:avLst/>
          </a:prstGeom>
          <a:noFill/>
          <a:ln/>
        </p:spPr>
        <p:txBody>
          <a:bodyPr wrap="square" lIns="0" tIns="0" rIns="0" bIns="0" rtlCol="0" anchor="ctr"/>
          <a:lstStyle/>
          <a:p>
            <a:pPr marL="0" indent="0" algn="r">
              <a:buNone/>
            </a:pPr>
            <a:r>
              <a:rPr lang="en-US" sz="2400" b="1" dirty="0">
                <a:solidFill>
                  <a:srgbClr val="16333A"/>
                </a:solidFill>
                <a:latin typeface="Calibri" pitchFamily="34" charset="0"/>
                <a:ea typeface="Calibri" pitchFamily="34" charset="-122"/>
                <a:cs typeface="Calibri" pitchFamily="34" charset="-120"/>
              </a:rPr>
              <a:t>$300</a:t>
            </a:r>
            <a:endParaRPr lang="en-US" sz="2400" dirty="0"/>
          </a:p>
        </p:txBody>
      </p:sp>
      <p:sp>
        <p:nvSpPr>
          <p:cNvPr id="25" name="Shape 23"/>
          <p:cNvSpPr/>
          <p:nvPr/>
        </p:nvSpPr>
        <p:spPr>
          <a:xfrm>
            <a:off x="4233672" y="4169664"/>
            <a:ext cx="164592" cy="164592"/>
          </a:xfrm>
          <a:prstGeom prst="rect">
            <a:avLst/>
          </a:prstGeom>
          <a:solidFill>
            <a:srgbClr val="67B9A7"/>
          </a:solidFill>
          <a:ln w="12700">
            <a:solidFill>
              <a:srgbClr val="67B9A7"/>
            </a:solidFill>
            <a:prstDash val="solid"/>
          </a:ln>
        </p:spPr>
        <p:txBody>
          <a:bodyPr/>
          <a:lstStyle/>
          <a:p>
            <a:endParaRPr lang="en-US"/>
          </a:p>
        </p:txBody>
      </p:sp>
      <p:sp>
        <p:nvSpPr>
          <p:cNvPr id="26" name="Text 24"/>
          <p:cNvSpPr/>
          <p:nvPr/>
        </p:nvSpPr>
        <p:spPr>
          <a:xfrm>
            <a:off x="4562856" y="4078224"/>
            <a:ext cx="2926080" cy="356616"/>
          </a:xfrm>
          <a:prstGeom prst="rect">
            <a:avLst/>
          </a:prstGeom>
          <a:noFill/>
          <a:ln/>
        </p:spPr>
        <p:txBody>
          <a:bodyPr wrap="square" lIns="0" tIns="0" rIns="0" bIns="0" rtlCol="0" anchor="ctr"/>
          <a:lstStyle/>
          <a:p>
            <a:pPr marL="0" indent="0">
              <a:buNone/>
            </a:pPr>
            <a:r>
              <a:rPr lang="en-US" sz="2100" dirty="0">
                <a:solidFill>
                  <a:srgbClr val="16333A"/>
                </a:solidFill>
                <a:latin typeface="Calibri" pitchFamily="34" charset="0"/>
                <a:ea typeface="Calibri" pitchFamily="34" charset="-122"/>
                <a:cs typeface="Calibri" pitchFamily="34" charset="-120"/>
              </a:rPr>
              <a:t>Marketing + sales</a:t>
            </a:r>
            <a:endParaRPr lang="en-US" sz="2100" dirty="0"/>
          </a:p>
        </p:txBody>
      </p:sp>
      <p:sp>
        <p:nvSpPr>
          <p:cNvPr id="27" name="Text 25"/>
          <p:cNvSpPr/>
          <p:nvPr/>
        </p:nvSpPr>
        <p:spPr>
          <a:xfrm>
            <a:off x="7534656" y="4078224"/>
            <a:ext cx="1106424" cy="374904"/>
          </a:xfrm>
          <a:prstGeom prst="rect">
            <a:avLst/>
          </a:prstGeom>
          <a:noFill/>
          <a:ln/>
        </p:spPr>
        <p:txBody>
          <a:bodyPr wrap="square" lIns="0" tIns="0" rIns="0" bIns="0" rtlCol="0" anchor="ctr"/>
          <a:lstStyle/>
          <a:p>
            <a:pPr marL="0" indent="0" algn="r">
              <a:buNone/>
            </a:pPr>
            <a:r>
              <a:rPr lang="en-US" sz="2400" b="1" dirty="0">
                <a:solidFill>
                  <a:srgbClr val="16333A"/>
                </a:solidFill>
                <a:latin typeface="Calibri" pitchFamily="34" charset="0"/>
                <a:ea typeface="Calibri" pitchFamily="34" charset="-122"/>
                <a:cs typeface="Calibri" pitchFamily="34" charset="-120"/>
              </a:rPr>
              <a:t>$350</a:t>
            </a:r>
            <a:endParaRPr lang="en-US" sz="2400" dirty="0"/>
          </a:p>
        </p:txBody>
      </p:sp>
      <p:sp>
        <p:nvSpPr>
          <p:cNvPr id="28" name="Shape 26"/>
          <p:cNvSpPr/>
          <p:nvPr/>
        </p:nvSpPr>
        <p:spPr>
          <a:xfrm>
            <a:off x="4233672" y="4700016"/>
            <a:ext cx="164592" cy="164592"/>
          </a:xfrm>
          <a:prstGeom prst="rect">
            <a:avLst/>
          </a:prstGeom>
          <a:solidFill>
            <a:srgbClr val="E2A085"/>
          </a:solidFill>
          <a:ln w="12700">
            <a:solidFill>
              <a:srgbClr val="E2A085"/>
            </a:solidFill>
            <a:prstDash val="solid"/>
          </a:ln>
        </p:spPr>
        <p:txBody>
          <a:bodyPr/>
          <a:lstStyle/>
          <a:p>
            <a:endParaRPr lang="en-US"/>
          </a:p>
        </p:txBody>
      </p:sp>
      <p:sp>
        <p:nvSpPr>
          <p:cNvPr id="29" name="Text 27"/>
          <p:cNvSpPr/>
          <p:nvPr/>
        </p:nvSpPr>
        <p:spPr>
          <a:xfrm>
            <a:off x="4562856" y="4608576"/>
            <a:ext cx="2926080" cy="356616"/>
          </a:xfrm>
          <a:prstGeom prst="rect">
            <a:avLst/>
          </a:prstGeom>
          <a:noFill/>
          <a:ln/>
        </p:spPr>
        <p:txBody>
          <a:bodyPr wrap="square" lIns="0" tIns="0" rIns="0" bIns="0" rtlCol="0" anchor="ctr"/>
          <a:lstStyle/>
          <a:p>
            <a:pPr marL="0" indent="0">
              <a:buNone/>
            </a:pPr>
            <a:r>
              <a:rPr lang="en-US" sz="2100" dirty="0">
                <a:solidFill>
                  <a:srgbClr val="16333A"/>
                </a:solidFill>
                <a:latin typeface="Calibri" pitchFamily="34" charset="0"/>
                <a:ea typeface="Calibri" pitchFamily="34" charset="-122"/>
                <a:cs typeface="Calibri" pitchFamily="34" charset="-120"/>
              </a:rPr>
              <a:t>Hosting / data</a:t>
            </a:r>
            <a:endParaRPr lang="en-US" sz="2100" dirty="0"/>
          </a:p>
        </p:txBody>
      </p:sp>
      <p:sp>
        <p:nvSpPr>
          <p:cNvPr id="30" name="Text 28"/>
          <p:cNvSpPr/>
          <p:nvPr/>
        </p:nvSpPr>
        <p:spPr>
          <a:xfrm>
            <a:off x="7534656" y="4608576"/>
            <a:ext cx="1106424" cy="374904"/>
          </a:xfrm>
          <a:prstGeom prst="rect">
            <a:avLst/>
          </a:prstGeom>
          <a:noFill/>
          <a:ln/>
        </p:spPr>
        <p:txBody>
          <a:bodyPr wrap="square" lIns="0" tIns="0" rIns="0" bIns="0" rtlCol="0" anchor="ctr"/>
          <a:lstStyle/>
          <a:p>
            <a:pPr marL="0" indent="0" algn="r">
              <a:buNone/>
            </a:pPr>
            <a:r>
              <a:rPr lang="en-US" sz="2400" b="1" dirty="0">
                <a:solidFill>
                  <a:srgbClr val="16333A"/>
                </a:solidFill>
                <a:latin typeface="Calibri" pitchFamily="34" charset="0"/>
                <a:ea typeface="Calibri" pitchFamily="34" charset="-122"/>
                <a:cs typeface="Calibri" pitchFamily="34" charset="-120"/>
              </a:rPr>
              <a:t>$100</a:t>
            </a:r>
            <a:endParaRPr lang="en-US" sz="2400" dirty="0"/>
          </a:p>
        </p:txBody>
      </p:sp>
      <p:sp>
        <p:nvSpPr>
          <p:cNvPr id="31" name="Shape 29"/>
          <p:cNvSpPr/>
          <p:nvPr/>
        </p:nvSpPr>
        <p:spPr>
          <a:xfrm>
            <a:off x="4233672" y="5230368"/>
            <a:ext cx="164592" cy="164592"/>
          </a:xfrm>
          <a:prstGeom prst="rect">
            <a:avLst/>
          </a:prstGeom>
          <a:solidFill>
            <a:srgbClr val="8AA4A6"/>
          </a:solidFill>
          <a:ln w="12700">
            <a:solidFill>
              <a:srgbClr val="8AA4A6"/>
            </a:solidFill>
            <a:prstDash val="solid"/>
          </a:ln>
        </p:spPr>
        <p:txBody>
          <a:bodyPr/>
          <a:lstStyle/>
          <a:p>
            <a:endParaRPr lang="en-US"/>
          </a:p>
        </p:txBody>
      </p:sp>
      <p:sp>
        <p:nvSpPr>
          <p:cNvPr id="32" name="Text 30"/>
          <p:cNvSpPr/>
          <p:nvPr/>
        </p:nvSpPr>
        <p:spPr>
          <a:xfrm>
            <a:off x="4562856" y="5138928"/>
            <a:ext cx="2926080" cy="356616"/>
          </a:xfrm>
          <a:prstGeom prst="rect">
            <a:avLst/>
          </a:prstGeom>
          <a:noFill/>
          <a:ln/>
        </p:spPr>
        <p:txBody>
          <a:bodyPr wrap="square" lIns="0" tIns="0" rIns="0" bIns="0" rtlCol="0" anchor="ctr"/>
          <a:lstStyle/>
          <a:p>
            <a:pPr marL="0" indent="0">
              <a:buNone/>
            </a:pPr>
            <a:r>
              <a:rPr lang="en-US" sz="2100" dirty="0">
                <a:solidFill>
                  <a:srgbClr val="16333A"/>
                </a:solidFill>
                <a:latin typeface="Calibri" pitchFamily="34" charset="0"/>
                <a:ea typeface="Calibri" pitchFamily="34" charset="-122"/>
                <a:cs typeface="Calibri" pitchFamily="34" charset="-120"/>
              </a:rPr>
              <a:t>QA + reserve</a:t>
            </a:r>
            <a:endParaRPr lang="en-US" sz="2100" dirty="0"/>
          </a:p>
        </p:txBody>
      </p:sp>
      <p:sp>
        <p:nvSpPr>
          <p:cNvPr id="33" name="Text 31"/>
          <p:cNvSpPr/>
          <p:nvPr/>
        </p:nvSpPr>
        <p:spPr>
          <a:xfrm>
            <a:off x="7534656" y="5138928"/>
            <a:ext cx="1106424" cy="374904"/>
          </a:xfrm>
          <a:prstGeom prst="rect">
            <a:avLst/>
          </a:prstGeom>
          <a:noFill/>
          <a:ln/>
        </p:spPr>
        <p:txBody>
          <a:bodyPr wrap="square" lIns="0" tIns="0" rIns="0" bIns="0" rtlCol="0" anchor="ctr"/>
          <a:lstStyle/>
          <a:p>
            <a:pPr marL="0" indent="0" algn="r">
              <a:buNone/>
            </a:pPr>
            <a:r>
              <a:rPr lang="en-US" sz="2400" b="1" dirty="0">
                <a:solidFill>
                  <a:srgbClr val="16333A"/>
                </a:solidFill>
                <a:latin typeface="Calibri" pitchFamily="34" charset="0"/>
                <a:ea typeface="Calibri" pitchFamily="34" charset="-122"/>
                <a:cs typeface="Calibri" pitchFamily="34" charset="-120"/>
              </a:rPr>
              <a:t>$250</a:t>
            </a:r>
            <a:endParaRPr lang="en-US" sz="2400" dirty="0"/>
          </a:p>
        </p:txBody>
      </p:sp>
      <p:sp>
        <p:nvSpPr>
          <p:cNvPr id="34" name="Shape 32"/>
          <p:cNvSpPr/>
          <p:nvPr/>
        </p:nvSpPr>
        <p:spPr>
          <a:xfrm>
            <a:off x="502920" y="5888736"/>
            <a:ext cx="8138160" cy="329184"/>
          </a:xfrm>
          <a:prstGeom prst="roundRect">
            <a:avLst>
              <a:gd name="adj" fmla="val 38889"/>
            </a:avLst>
          </a:prstGeom>
          <a:solidFill>
            <a:srgbClr val="E1F3ED"/>
          </a:solidFill>
          <a:ln w="12700">
            <a:solidFill>
              <a:srgbClr val="E1F3ED"/>
            </a:solidFill>
            <a:prstDash val="solid"/>
          </a:ln>
        </p:spPr>
        <p:txBody>
          <a:bodyPr/>
          <a:lstStyle/>
          <a:p>
            <a:endParaRPr lang="en-US"/>
          </a:p>
        </p:txBody>
      </p:sp>
      <p:sp>
        <p:nvSpPr>
          <p:cNvPr id="35" name="Text 33"/>
          <p:cNvSpPr/>
          <p:nvPr/>
        </p:nvSpPr>
        <p:spPr>
          <a:xfrm>
            <a:off x="685800" y="5897880"/>
            <a:ext cx="7772400" cy="301752"/>
          </a:xfrm>
          <a:prstGeom prst="rect">
            <a:avLst/>
          </a:prstGeom>
          <a:noFill/>
          <a:ln/>
        </p:spPr>
        <p:txBody>
          <a:bodyPr wrap="square" lIns="0" tIns="0" rIns="0" bIns="0" rtlCol="0" anchor="ctr"/>
          <a:lstStyle/>
          <a:p>
            <a:pPr marL="0" indent="0">
              <a:buNone/>
            </a:pPr>
            <a:r>
              <a:rPr lang="en-US" sz="2100" b="1" dirty="0">
                <a:solidFill>
                  <a:srgbClr val="007F74"/>
                </a:solidFill>
                <a:latin typeface="Calibri" pitchFamily="34" charset="0"/>
                <a:ea typeface="Calibri" pitchFamily="34" charset="-122"/>
                <a:cs typeface="Calibri" pitchFamily="34" charset="-120"/>
              </a:rPr>
              <a:t>Illustrative beta revenue: 10 paid reports × $19 = $190</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2D36"/>
        </a:solidFill>
        <a:effectLst/>
      </p:bgPr>
    </p:bg>
    <p:spTree>
      <p:nvGrpSpPr>
        <p:cNvPr id="1" name=""/>
        <p:cNvGrpSpPr/>
        <p:nvPr/>
      </p:nvGrpSpPr>
      <p:grpSpPr>
        <a:xfrm>
          <a:off x="0" y="0"/>
          <a:ext cx="0" cy="0"/>
          <a:chOff x="0" y="0"/>
          <a:chExt cx="0" cy="0"/>
        </a:xfrm>
      </p:grpSpPr>
      <p:sp>
        <p:nvSpPr>
          <p:cNvPr id="2" name="Shape 0"/>
          <p:cNvSpPr/>
          <p:nvPr/>
        </p:nvSpPr>
        <p:spPr>
          <a:xfrm>
            <a:off x="502920" y="315468"/>
            <a:ext cx="219456" cy="283464"/>
          </a:xfrm>
          <a:prstGeom prst="roundRect">
            <a:avLst>
              <a:gd name="adj" fmla="val 16667"/>
            </a:avLst>
          </a:prstGeom>
          <a:solidFill>
            <a:srgbClr val="67DCC5">
              <a:alpha val="0"/>
            </a:srgbClr>
          </a:solidFill>
          <a:ln w="21590">
            <a:solidFill>
              <a:srgbClr val="67DCC5"/>
            </a:solidFill>
            <a:prstDash val="solid"/>
          </a:ln>
        </p:spPr>
        <p:txBody>
          <a:bodyPr/>
          <a:lstStyle/>
          <a:p>
            <a:endParaRPr lang="en-US"/>
          </a:p>
        </p:txBody>
      </p:sp>
      <p:sp>
        <p:nvSpPr>
          <p:cNvPr id="3" name="Shape 1"/>
          <p:cNvSpPr/>
          <p:nvPr/>
        </p:nvSpPr>
        <p:spPr>
          <a:xfrm>
            <a:off x="621792" y="388620"/>
            <a:ext cx="219456" cy="283464"/>
          </a:xfrm>
          <a:prstGeom prst="roundRect">
            <a:avLst/>
          </a:prstGeom>
          <a:solidFill>
            <a:srgbClr val="67DCC5">
              <a:alpha val="0"/>
            </a:srgbClr>
          </a:solidFill>
          <a:ln w="21590">
            <a:solidFill>
              <a:srgbClr val="67DCC5"/>
            </a:solidFill>
            <a:prstDash val="solid"/>
          </a:ln>
        </p:spPr>
        <p:txBody>
          <a:bodyPr/>
          <a:lstStyle/>
          <a:p>
            <a:endParaRPr lang="en-US"/>
          </a:p>
        </p:txBody>
      </p:sp>
      <p:sp>
        <p:nvSpPr>
          <p:cNvPr id="4" name="Text 2"/>
          <p:cNvSpPr/>
          <p:nvPr/>
        </p:nvSpPr>
        <p:spPr>
          <a:xfrm>
            <a:off x="960120" y="292608"/>
            <a:ext cx="27432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InvestorMatch</a:t>
            </a:r>
            <a:endParaRPr lang="en-US" sz="1800" dirty="0"/>
          </a:p>
        </p:txBody>
      </p:sp>
      <p:sp>
        <p:nvSpPr>
          <p:cNvPr id="5" name="Text 3"/>
          <p:cNvSpPr/>
          <p:nvPr/>
        </p:nvSpPr>
        <p:spPr>
          <a:xfrm>
            <a:off x="8010144" y="292608"/>
            <a:ext cx="630936" cy="365760"/>
          </a:xfrm>
          <a:prstGeom prst="rect">
            <a:avLst/>
          </a:prstGeom>
          <a:noFill/>
          <a:ln/>
        </p:spPr>
        <p:txBody>
          <a:bodyPr wrap="square" lIns="0" tIns="0" rIns="0" bIns="0" rtlCol="0" anchor="ctr"/>
          <a:lstStyle/>
          <a:p>
            <a:pPr marL="0" indent="0" algn="r">
              <a:buNone/>
            </a:pPr>
            <a:r>
              <a:rPr lang="en-US" sz="1800" dirty="0">
                <a:solidFill>
                  <a:srgbClr val="B7D0D0"/>
                </a:solidFill>
                <a:latin typeface="Calibri" pitchFamily="34" charset="0"/>
                <a:ea typeface="Calibri" pitchFamily="34" charset="-122"/>
                <a:cs typeface="Calibri" pitchFamily="34" charset="-120"/>
              </a:rPr>
              <a:t>10</a:t>
            </a:r>
            <a:endParaRPr lang="en-US" sz="1800" dirty="0"/>
          </a:p>
        </p:txBody>
      </p:sp>
      <p:sp>
        <p:nvSpPr>
          <p:cNvPr id="6" name="Shape 4"/>
          <p:cNvSpPr/>
          <p:nvPr/>
        </p:nvSpPr>
        <p:spPr>
          <a:xfrm>
            <a:off x="502920" y="6318504"/>
            <a:ext cx="8138160" cy="0"/>
          </a:xfrm>
          <a:prstGeom prst="line">
            <a:avLst/>
          </a:prstGeom>
          <a:noFill/>
          <a:ln w="10160">
            <a:solidFill>
              <a:srgbClr val="294B54"/>
            </a:solidFill>
            <a:prstDash val="solid"/>
            <a:headEnd type="none"/>
            <a:tailEnd type="none"/>
          </a:ln>
        </p:spPr>
        <p:txBody>
          <a:bodyPr/>
          <a:lstStyle/>
          <a:p>
            <a:endParaRPr lang="en-US"/>
          </a:p>
        </p:txBody>
      </p:sp>
      <p:sp>
        <p:nvSpPr>
          <p:cNvPr id="7" name="Text 5"/>
          <p:cNvSpPr/>
          <p:nvPr/>
        </p:nvSpPr>
        <p:spPr>
          <a:xfrm>
            <a:off x="502920" y="6419088"/>
            <a:ext cx="8138160" cy="256032"/>
          </a:xfrm>
          <a:prstGeom prst="rect">
            <a:avLst/>
          </a:prstGeom>
          <a:noFill/>
          <a:ln/>
        </p:spPr>
        <p:txBody>
          <a:bodyPr wrap="square" lIns="0" tIns="0" rIns="0" bIns="0" rtlCol="0" anchor="ctr"/>
          <a:lstStyle/>
          <a:p>
            <a:pPr marL="0" indent="0">
              <a:buNone/>
            </a:pPr>
            <a:r>
              <a:rPr lang="en-US" sz="1800" dirty="0">
                <a:solidFill>
                  <a:srgbClr val="B7D0D0"/>
                </a:solidFill>
                <a:latin typeface="Calibri" pitchFamily="34" charset="0"/>
                <a:ea typeface="Calibri" pitchFamily="34" charset="-122"/>
                <a:cs typeface="Calibri" pitchFamily="34" charset="-120"/>
              </a:rPr>
              <a:t>KNOW YOURSELF. UNDERSTAND YOUR PROFILE. MAKE YOUR CHOICE.</a:t>
            </a:r>
            <a:endParaRPr lang="en-US" sz="1800" dirty="0"/>
          </a:p>
        </p:txBody>
      </p:sp>
      <p:sp>
        <p:nvSpPr>
          <p:cNvPr id="8" name="Text 6"/>
          <p:cNvSpPr/>
          <p:nvPr/>
        </p:nvSpPr>
        <p:spPr>
          <a:xfrm>
            <a:off x="502920" y="896112"/>
            <a:ext cx="818388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Fund the test. Earn the next decision.</a:t>
            </a:r>
            <a:endParaRPr lang="en-US" sz="3200" dirty="0"/>
          </a:p>
        </p:txBody>
      </p:sp>
      <p:sp>
        <p:nvSpPr>
          <p:cNvPr id="9" name="Text 7"/>
          <p:cNvSpPr/>
          <p:nvPr/>
        </p:nvSpPr>
        <p:spPr>
          <a:xfrm>
            <a:off x="502920" y="1517904"/>
            <a:ext cx="8138160" cy="384048"/>
          </a:xfrm>
          <a:prstGeom prst="rect">
            <a:avLst/>
          </a:prstGeom>
          <a:noFill/>
          <a:ln/>
        </p:spPr>
        <p:txBody>
          <a:bodyPr wrap="square" lIns="0" tIns="0" rIns="0" bIns="0" rtlCol="0" anchor="ctr"/>
          <a:lstStyle/>
          <a:p>
            <a:pPr marL="0" indent="0">
              <a:buNone/>
            </a:pPr>
            <a:r>
              <a:rPr lang="en-US" sz="2000" dirty="0">
                <a:solidFill>
                  <a:srgbClr val="B7D0D0"/>
                </a:solidFill>
                <a:latin typeface="Calibri" pitchFamily="34" charset="0"/>
                <a:ea typeface="Calibri" pitchFamily="34" charset="-122"/>
                <a:cs typeface="Calibri" pitchFamily="34" charset="-120"/>
              </a:rPr>
              <a:t>A focused beta to decide what to refine, stop or scale.</a:t>
            </a:r>
            <a:endParaRPr lang="en-US" sz="2000" dirty="0"/>
          </a:p>
        </p:txBody>
      </p:sp>
      <p:sp>
        <p:nvSpPr>
          <p:cNvPr id="10" name="Text 8"/>
          <p:cNvSpPr/>
          <p:nvPr/>
        </p:nvSpPr>
        <p:spPr>
          <a:xfrm>
            <a:off x="502920" y="2295144"/>
            <a:ext cx="4123944" cy="987552"/>
          </a:xfrm>
          <a:prstGeom prst="rect">
            <a:avLst/>
          </a:prstGeom>
          <a:noFill/>
          <a:ln/>
        </p:spPr>
        <p:txBody>
          <a:bodyPr wrap="square" lIns="0" tIns="0" rIns="0" bIns="0" rtlCol="0" anchor="ctr"/>
          <a:lstStyle/>
          <a:p>
            <a:pPr marL="0" indent="0">
              <a:buNone/>
            </a:pPr>
            <a:r>
              <a:rPr lang="en-US" sz="7000" b="1" dirty="0">
                <a:solidFill>
                  <a:srgbClr val="67DCC5"/>
                </a:solidFill>
                <a:latin typeface="Calibri" pitchFamily="34" charset="0"/>
                <a:ea typeface="Calibri" pitchFamily="34" charset="-122"/>
                <a:cs typeface="Calibri" pitchFamily="34" charset="-120"/>
              </a:rPr>
              <a:t>$1,000</a:t>
            </a:r>
            <a:endParaRPr lang="en-US" sz="7000" dirty="0"/>
          </a:p>
        </p:txBody>
      </p:sp>
      <p:sp>
        <p:nvSpPr>
          <p:cNvPr id="11" name="Text 9"/>
          <p:cNvSpPr/>
          <p:nvPr/>
        </p:nvSpPr>
        <p:spPr>
          <a:xfrm>
            <a:off x="557784" y="3447288"/>
            <a:ext cx="3968496" cy="512064"/>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30-day beta</a:t>
            </a:r>
            <a:endParaRPr lang="en-US" sz="3000" dirty="0"/>
          </a:p>
        </p:txBody>
      </p:sp>
      <p:sp>
        <p:nvSpPr>
          <p:cNvPr id="12" name="Text 10"/>
          <p:cNvSpPr/>
          <p:nvPr/>
        </p:nvSpPr>
        <p:spPr>
          <a:xfrm>
            <a:off x="557784" y="4023360"/>
            <a:ext cx="3968496" cy="347472"/>
          </a:xfrm>
          <a:prstGeom prst="rect">
            <a:avLst/>
          </a:prstGeom>
          <a:noFill/>
          <a:ln/>
        </p:spPr>
        <p:txBody>
          <a:bodyPr wrap="square" lIns="0" tIns="0" rIns="0" bIns="0" rtlCol="0" anchor="ctr"/>
          <a:lstStyle/>
          <a:p>
            <a:pPr marL="0" indent="0">
              <a:buNone/>
            </a:pPr>
            <a:r>
              <a:rPr lang="en-US" sz="2200" dirty="0">
                <a:solidFill>
                  <a:srgbClr val="B7D0D0"/>
                </a:solidFill>
                <a:latin typeface="Calibri" pitchFamily="34" charset="0"/>
                <a:ea typeface="Calibri" pitchFamily="34" charset="-122"/>
                <a:cs typeface="Calibri" pitchFamily="34" charset="-120"/>
              </a:rPr>
              <a:t>50-user target</a:t>
            </a:r>
            <a:endParaRPr lang="en-US" sz="2200" dirty="0"/>
          </a:p>
        </p:txBody>
      </p:sp>
      <p:sp>
        <p:nvSpPr>
          <p:cNvPr id="13" name="Shape 11"/>
          <p:cNvSpPr/>
          <p:nvPr/>
        </p:nvSpPr>
        <p:spPr>
          <a:xfrm>
            <a:off x="4626864" y="2258568"/>
            <a:ext cx="0" cy="2240280"/>
          </a:xfrm>
          <a:prstGeom prst="line">
            <a:avLst/>
          </a:prstGeom>
          <a:noFill/>
          <a:ln w="12700">
            <a:solidFill>
              <a:srgbClr val="294B54"/>
            </a:solidFill>
            <a:prstDash val="solid"/>
            <a:headEnd type="none"/>
            <a:tailEnd type="none"/>
          </a:ln>
        </p:spPr>
        <p:txBody>
          <a:bodyPr/>
          <a:lstStyle/>
          <a:p>
            <a:endParaRPr lang="en-US"/>
          </a:p>
        </p:txBody>
      </p:sp>
      <p:sp>
        <p:nvSpPr>
          <p:cNvPr id="14" name="Text 12"/>
          <p:cNvSpPr/>
          <p:nvPr/>
        </p:nvSpPr>
        <p:spPr>
          <a:xfrm>
            <a:off x="5056632" y="2423160"/>
            <a:ext cx="3575304" cy="1024128"/>
          </a:xfrm>
          <a:prstGeom prst="rect">
            <a:avLst/>
          </a:prstGeom>
          <a:noFill/>
          <a:ln/>
        </p:spPr>
        <p:txBody>
          <a:bodyPr wrap="square" lIns="0" tIns="0" rIns="0" bIns="0" rtlCol="0" anchor="t"/>
          <a:lstStyle/>
          <a:p>
            <a:pPr marL="0" indent="0">
              <a:buNone/>
            </a:pPr>
            <a:r>
              <a:rPr lang="en-US" sz="3100" b="1" dirty="0">
                <a:solidFill>
                  <a:srgbClr val="FFFFFF"/>
                </a:solidFill>
                <a:latin typeface="Calibri" pitchFamily="34" charset="0"/>
                <a:ea typeface="Calibri" pitchFamily="34" charset="-122"/>
                <a:cs typeface="Calibri" pitchFamily="34" charset="-120"/>
              </a:rPr>
              <a:t>Start with people.</a:t>
            </a:r>
            <a:endParaRPr lang="en-US" sz="3100" dirty="0"/>
          </a:p>
          <a:p>
            <a:pPr marL="0" indent="0">
              <a:buNone/>
            </a:pPr>
            <a:r>
              <a:rPr lang="en-US" sz="3100" b="1" dirty="0">
                <a:solidFill>
                  <a:srgbClr val="FFFFFF"/>
                </a:solidFill>
                <a:latin typeface="Calibri" pitchFamily="34" charset="0"/>
                <a:ea typeface="Calibri" pitchFamily="34" charset="-122"/>
                <a:cs typeface="Calibri" pitchFamily="34" charset="-120"/>
              </a:rPr>
              <a:t>Then investments.</a:t>
            </a:r>
            <a:endParaRPr lang="en-US" sz="3100" dirty="0"/>
          </a:p>
        </p:txBody>
      </p:sp>
      <p:sp>
        <p:nvSpPr>
          <p:cNvPr id="15" name="Text 13"/>
          <p:cNvSpPr/>
          <p:nvPr/>
        </p:nvSpPr>
        <p:spPr>
          <a:xfrm>
            <a:off x="5056632" y="3758184"/>
            <a:ext cx="3575304" cy="694944"/>
          </a:xfrm>
          <a:prstGeom prst="rect">
            <a:avLst/>
          </a:prstGeom>
          <a:noFill/>
          <a:ln/>
        </p:spPr>
        <p:txBody>
          <a:bodyPr wrap="square" lIns="0" tIns="0" rIns="0" bIns="0" rtlCol="0" anchor="t"/>
          <a:lstStyle/>
          <a:p>
            <a:pPr marL="0" indent="0">
              <a:buNone/>
            </a:pPr>
            <a:r>
              <a:rPr lang="en-US" sz="2300" dirty="0">
                <a:solidFill>
                  <a:srgbClr val="B7D0D0"/>
                </a:solidFill>
                <a:latin typeface="Calibri" pitchFamily="34" charset="0"/>
                <a:ea typeface="Calibri" pitchFamily="34" charset="-122"/>
                <a:cs typeface="Calibri" pitchFamily="34" charset="-120"/>
              </a:rPr>
              <a:t>Evidence first.</a:t>
            </a:r>
            <a:endParaRPr lang="en-US" sz="2300" dirty="0"/>
          </a:p>
          <a:p>
            <a:pPr marL="0" indent="0">
              <a:buNone/>
            </a:pPr>
            <a:r>
              <a:rPr lang="en-US" sz="2300" dirty="0">
                <a:solidFill>
                  <a:srgbClr val="B7D0D0"/>
                </a:solidFill>
                <a:latin typeface="Calibri" pitchFamily="34" charset="0"/>
                <a:ea typeface="Calibri" pitchFamily="34" charset="-122"/>
                <a:cs typeface="Calibri" pitchFamily="34" charset="-120"/>
              </a:rPr>
              <a:t>Wider distribution second.</a:t>
            </a:r>
            <a:endParaRPr lang="en-US" sz="2300" dirty="0"/>
          </a:p>
        </p:txBody>
      </p:sp>
      <p:sp>
        <p:nvSpPr>
          <p:cNvPr id="16" name="Shape 14"/>
          <p:cNvSpPr/>
          <p:nvPr/>
        </p:nvSpPr>
        <p:spPr>
          <a:xfrm>
            <a:off x="502920" y="4983480"/>
            <a:ext cx="2578608" cy="1069848"/>
          </a:xfrm>
          <a:prstGeom prst="roundRect">
            <a:avLst>
              <a:gd name="adj" fmla="val 11966"/>
            </a:avLst>
          </a:prstGeom>
          <a:solidFill>
            <a:srgbClr val="193D46"/>
          </a:solidFill>
          <a:ln w="10160">
            <a:solidFill>
              <a:srgbClr val="294B54"/>
            </a:solidFill>
            <a:prstDash val="solid"/>
          </a:ln>
        </p:spPr>
        <p:txBody>
          <a:bodyPr/>
          <a:lstStyle/>
          <a:p>
            <a:endParaRPr lang="en-US"/>
          </a:p>
        </p:txBody>
      </p:sp>
      <p:sp>
        <p:nvSpPr>
          <p:cNvPr id="17" name="Text 15"/>
          <p:cNvSpPr/>
          <p:nvPr/>
        </p:nvSpPr>
        <p:spPr>
          <a:xfrm>
            <a:off x="704088" y="5175504"/>
            <a:ext cx="2176272" cy="31089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User experience</a:t>
            </a:r>
            <a:endParaRPr lang="en-US" sz="2200" dirty="0"/>
          </a:p>
        </p:txBody>
      </p:sp>
      <p:sp>
        <p:nvSpPr>
          <p:cNvPr id="18" name="Text 16"/>
          <p:cNvSpPr/>
          <p:nvPr/>
        </p:nvSpPr>
        <p:spPr>
          <a:xfrm>
            <a:off x="704088" y="5623560"/>
            <a:ext cx="2176272" cy="274320"/>
          </a:xfrm>
          <a:prstGeom prst="rect">
            <a:avLst/>
          </a:prstGeom>
          <a:noFill/>
          <a:ln/>
        </p:spPr>
        <p:txBody>
          <a:bodyPr wrap="square" lIns="0" tIns="0" rIns="0" bIns="0" rtlCol="0" anchor="ctr"/>
          <a:lstStyle/>
          <a:p>
            <a:pPr marL="0" indent="0">
              <a:buNone/>
            </a:pPr>
            <a:r>
              <a:rPr lang="en-US" sz="1800" dirty="0">
                <a:solidFill>
                  <a:srgbClr val="67DCC5"/>
                </a:solidFill>
                <a:latin typeface="Calibri" pitchFamily="34" charset="0"/>
                <a:ea typeface="Calibri" pitchFamily="34" charset="-122"/>
                <a:cs typeface="Calibri" pitchFamily="34" charset="-120"/>
              </a:rPr>
              <a:t>Completion + feedback</a:t>
            </a:r>
            <a:endParaRPr lang="en-US" sz="1800" dirty="0"/>
          </a:p>
        </p:txBody>
      </p:sp>
      <p:sp>
        <p:nvSpPr>
          <p:cNvPr id="19" name="Shape 17"/>
          <p:cNvSpPr/>
          <p:nvPr/>
        </p:nvSpPr>
        <p:spPr>
          <a:xfrm>
            <a:off x="3282696" y="4983480"/>
            <a:ext cx="2578608" cy="1069848"/>
          </a:xfrm>
          <a:prstGeom prst="roundRect">
            <a:avLst>
              <a:gd name="adj" fmla="val 11966"/>
            </a:avLst>
          </a:prstGeom>
          <a:solidFill>
            <a:srgbClr val="193D46"/>
          </a:solidFill>
          <a:ln w="10160">
            <a:solidFill>
              <a:srgbClr val="294B54"/>
            </a:solidFill>
            <a:prstDash val="solid"/>
          </a:ln>
        </p:spPr>
        <p:txBody>
          <a:bodyPr/>
          <a:lstStyle/>
          <a:p>
            <a:endParaRPr lang="en-US"/>
          </a:p>
        </p:txBody>
      </p:sp>
      <p:sp>
        <p:nvSpPr>
          <p:cNvPr id="20" name="Text 18"/>
          <p:cNvSpPr/>
          <p:nvPr/>
        </p:nvSpPr>
        <p:spPr>
          <a:xfrm>
            <a:off x="3483864" y="5175504"/>
            <a:ext cx="2176272" cy="31089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Paid demand</a:t>
            </a:r>
            <a:endParaRPr lang="en-US" sz="2200" dirty="0"/>
          </a:p>
        </p:txBody>
      </p:sp>
      <p:sp>
        <p:nvSpPr>
          <p:cNvPr id="21" name="Text 19"/>
          <p:cNvSpPr/>
          <p:nvPr/>
        </p:nvSpPr>
        <p:spPr>
          <a:xfrm>
            <a:off x="3483864" y="5623560"/>
            <a:ext cx="2176272" cy="274320"/>
          </a:xfrm>
          <a:prstGeom prst="rect">
            <a:avLst/>
          </a:prstGeom>
          <a:noFill/>
          <a:ln/>
        </p:spPr>
        <p:txBody>
          <a:bodyPr wrap="square" lIns="0" tIns="0" rIns="0" bIns="0" rtlCol="0" anchor="ctr"/>
          <a:lstStyle/>
          <a:p>
            <a:pPr marL="0" indent="0">
              <a:buNone/>
            </a:pPr>
            <a:r>
              <a:rPr lang="en-US" sz="1800" dirty="0">
                <a:solidFill>
                  <a:srgbClr val="67DCC5"/>
                </a:solidFill>
                <a:latin typeface="Calibri" pitchFamily="34" charset="0"/>
                <a:ea typeface="Calibri" pitchFamily="34" charset="-122"/>
                <a:cs typeface="Calibri" pitchFamily="34" charset="-120"/>
              </a:rPr>
              <a:t>$19 report purchase</a:t>
            </a:r>
            <a:endParaRPr lang="en-US" sz="1800" dirty="0"/>
          </a:p>
        </p:txBody>
      </p:sp>
      <p:sp>
        <p:nvSpPr>
          <p:cNvPr id="22" name="Shape 20"/>
          <p:cNvSpPr/>
          <p:nvPr/>
        </p:nvSpPr>
        <p:spPr>
          <a:xfrm>
            <a:off x="6062472" y="4983480"/>
            <a:ext cx="2578608" cy="1069848"/>
          </a:xfrm>
          <a:prstGeom prst="roundRect">
            <a:avLst>
              <a:gd name="adj" fmla="val 11966"/>
            </a:avLst>
          </a:prstGeom>
          <a:solidFill>
            <a:srgbClr val="193D46"/>
          </a:solidFill>
          <a:ln w="10160">
            <a:solidFill>
              <a:srgbClr val="294B54"/>
            </a:solidFill>
            <a:prstDash val="solid"/>
          </a:ln>
        </p:spPr>
        <p:txBody>
          <a:bodyPr/>
          <a:lstStyle/>
          <a:p>
            <a:endParaRPr lang="en-US"/>
          </a:p>
        </p:txBody>
      </p:sp>
      <p:sp>
        <p:nvSpPr>
          <p:cNvPr id="23" name="Text 21"/>
          <p:cNvSpPr/>
          <p:nvPr/>
        </p:nvSpPr>
        <p:spPr>
          <a:xfrm>
            <a:off x="6263640" y="5175504"/>
            <a:ext cx="2176272" cy="310896"/>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Next decision</a:t>
            </a:r>
            <a:endParaRPr lang="en-US" sz="2200" dirty="0"/>
          </a:p>
        </p:txBody>
      </p:sp>
      <p:sp>
        <p:nvSpPr>
          <p:cNvPr id="24" name="Text 22"/>
          <p:cNvSpPr/>
          <p:nvPr/>
        </p:nvSpPr>
        <p:spPr>
          <a:xfrm>
            <a:off x="6263640" y="5623560"/>
            <a:ext cx="2176272" cy="274320"/>
          </a:xfrm>
          <a:prstGeom prst="rect">
            <a:avLst/>
          </a:prstGeom>
          <a:noFill/>
          <a:ln/>
        </p:spPr>
        <p:txBody>
          <a:bodyPr wrap="square" lIns="0" tIns="0" rIns="0" bIns="0" rtlCol="0" anchor="ctr"/>
          <a:lstStyle/>
          <a:p>
            <a:pPr marL="0" indent="0">
              <a:buNone/>
            </a:pPr>
            <a:r>
              <a:rPr lang="en-US" sz="1800" dirty="0">
                <a:solidFill>
                  <a:srgbClr val="67DCC5"/>
                </a:solidFill>
                <a:latin typeface="Calibri" pitchFamily="34" charset="0"/>
                <a:ea typeface="Calibri" pitchFamily="34" charset="-122"/>
                <a:cs typeface="Calibri" pitchFamily="34" charset="-120"/>
              </a:rPr>
              <a:t>Refine, stop or expand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2242</Words>
  <Application>Microsoft Office PowerPoint</Application>
  <PresentationFormat>On-screen Show (4:3)</PresentationFormat>
  <Paragraphs>224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InvestorMatch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InvestorMatch | Investor Presentation</dc:title>
  <dc:subject>Concept-stage investor presentation and 30-day beta proposal</dc:subject>
  <dc:creator>InvestorMatch</dc:creator>
  <cp:lastModifiedBy>Chen, Xavier</cp:lastModifiedBy>
  <cp:revision>2</cp:revision>
  <dcterms:created xsi:type="dcterms:W3CDTF">2026-10-10T18:20:45Z</dcterms:created>
  <dcterms:modified xsi:type="dcterms:W3CDTF">2026-10-12T19:53:40Z</dcterms:modified>
</cp:coreProperties>
</file>